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893" r:id="rId5"/>
    <p:sldMasterId id="2147483931" r:id="rId6"/>
  </p:sldMasterIdLst>
  <p:notesMasterIdLst>
    <p:notesMasterId r:id="rId63"/>
  </p:notesMasterIdLst>
  <p:handoutMasterIdLst>
    <p:handoutMasterId r:id="rId64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45EA2D-1AF0-34E0-A8D1-7DC498B324C6}" name="Leonardo Miller (International Supplier)" initials="LS" userId="S::v-lemiller@microsoft.com::b0ce1011-fe8a-48ce-b2f3-38c535a7b86f" providerId="AD"/>
  <p188:author id="{FC373C85-ECD1-2EBC-3625-F268C6A7DD7A}" name="Rajesh Doddapaneni (International Supplier)" initials="RD" userId="S::v-rajeshdo@microsoft.com::ee900ee1-8550-492f-8251-d7fc83307c82" providerId="AD"/>
  <p188:author id="{7C0DA9EE-7FEB-4CFD-0381-2DB8493D0D32}" name="Sunil Babu A V (International Supplier)" initials="SA" userId="S::v-veammi@microsoft.com::440459d4-1f85-4015-ac68-7529db0561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DF7D"/>
    <a:srgbClr val="FE8B00"/>
    <a:srgbClr val="F2F7FA"/>
    <a:srgbClr val="6C7E9C"/>
    <a:srgbClr val="C71C0F"/>
    <a:srgbClr val="66FF99"/>
    <a:srgbClr val="DEF6DF"/>
    <a:srgbClr val="66B3E4"/>
    <a:srgbClr val="7FA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10926-E7D1-4FF0-AB29-7A94F8F28BDE}" v="159" dt="2026-04-10T07:32:52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2" autoAdjust="0"/>
    <p:restoredTop sz="89212" autoAdjust="0"/>
  </p:normalViewPr>
  <p:slideViewPr>
    <p:cSldViewPr snapToGrid="0">
      <p:cViewPr varScale="1">
        <p:scale>
          <a:sx n="98" d="100"/>
          <a:sy n="98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63" Type="http://schemas.openxmlformats.org/officeDocument/2006/relationships/notesMaster" Target="notesMasters/notesMaster1.xml"/><Relationship Id="rId64" Type="http://schemas.openxmlformats.org/officeDocument/2006/relationships/handoutMaster" Target="handoutMasters/handout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microsoft.com/office/2015/10/relationships/revisionInfo" Target="revisionInfo.xml"/><Relationship Id="rId7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36652-5418-49D0-B2AF-7B23846B1C0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800DA-E989-494E-83A7-D0E152267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255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8.emf"/><Relationship Id="rId4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blue gradient">
    <p:bg>
      <p:bgPr>
        <a:gradFill>
          <a:gsLst>
            <a:gs pos="0">
              <a:schemeClr val="accent4"/>
            </a:gs>
            <a:gs pos="68000">
              <a:schemeClr val="accent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MS logo white - EMF" descr="Microsoft logo white text version">
            <a:extLst>
              <a:ext uri="{FF2B5EF4-FFF2-40B4-BE49-F238E27FC236}">
                <a16:creationId xmlns:a16="http://schemas.microsoft.com/office/drawing/2014/main" id="{B07EA41A-052C-9A8D-BC7D-FCDF9A324B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817E97-DBEB-FDDB-1B4E-61CD77C94EA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bg1"/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3" name="Picture 2" descr="Grey dots in a spiral">
            <a:extLst>
              <a:ext uri="{FF2B5EF4-FFF2-40B4-BE49-F238E27FC236}">
                <a16:creationId xmlns:a16="http://schemas.microsoft.com/office/drawing/2014/main" id="{69B9EDB1-0B22-7101-DC5D-3EBD7B3168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  <a14:imgEffect>
                      <a14:saturation sat="0"/>
                    </a14:imgEffect>
                    <a14:imgEffect>
                      <a14:brightnessContrast bright="3000" contras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35"/>
          <a:stretch>
            <a:fillRect/>
          </a:stretch>
        </p:blipFill>
        <p:spPr>
          <a:xfrm rot="17129996">
            <a:off x="5184478" y="-817591"/>
            <a:ext cx="9805678" cy="8054623"/>
          </a:xfrm>
          <a:custGeom>
            <a:avLst/>
            <a:gdLst>
              <a:gd name="connsiteX0" fmla="*/ 9805678 w 9805678"/>
              <a:gd name="connsiteY0" fmla="*/ 1 h 8054623"/>
              <a:gd name="connsiteX1" fmla="*/ 9805678 w 9805678"/>
              <a:gd name="connsiteY1" fmla="*/ 8054623 h 8054623"/>
              <a:gd name="connsiteX2" fmla="*/ 9350567 w 9805678"/>
              <a:gd name="connsiteY2" fmla="*/ 8054622 h 8054623"/>
              <a:gd name="connsiteX3" fmla="*/ 8558274 w 9805678"/>
              <a:gd name="connsiteY3" fmla="*/ 5197692 h 8054623"/>
              <a:gd name="connsiteX4" fmla="*/ 1949695 w 9805678"/>
              <a:gd name="connsiteY4" fmla="*/ 7030405 h 8054623"/>
              <a:gd name="connsiteX5" fmla="*/ 0 w 9805678"/>
              <a:gd name="connsiteY5" fmla="*/ 0 h 805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05678" h="8054623">
                <a:moveTo>
                  <a:pt x="9805678" y="1"/>
                </a:moveTo>
                <a:lnTo>
                  <a:pt x="9805678" y="8054623"/>
                </a:lnTo>
                <a:lnTo>
                  <a:pt x="9350567" y="8054622"/>
                </a:lnTo>
                <a:lnTo>
                  <a:pt x="8558274" y="5197692"/>
                </a:lnTo>
                <a:lnTo>
                  <a:pt x="1949695" y="7030405"/>
                </a:lnTo>
                <a:lnTo>
                  <a:pt x="0" y="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0434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0C0C6-8E74-F1C6-CB02-B90E834AB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433554" y="1734160"/>
            <a:ext cx="8825" cy="4367213"/>
          </a:xfrm>
          <a:prstGeom prst="line">
            <a:avLst/>
          </a:prstGeom>
          <a:ln w="12700" cap="rnd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6A6B21-0BB3-8590-D0F6-797F169E18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1947764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1770E4A-D94C-1440-96DB-11ED823507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6938" y="1947764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3773F22-97EC-FB3E-4D5B-9A9A1ED5EE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8263" y="3096951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18F8579-3664-D735-7F75-FD9D1C7D6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06938" y="3096951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D37564D-5CD2-62A4-1803-B42D96333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8263" y="4246138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04ECCB71-C833-E3E7-D4C2-2794E3F2F2D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938" y="4246138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13684C1-E303-03EA-424F-F44C5796D9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8263" y="5395325"/>
            <a:ext cx="480733" cy="492443"/>
          </a:xfrm>
        </p:spPr>
        <p:txBody>
          <a:bodyPr/>
          <a:lstStyle>
            <a:lvl1pPr marL="0" indent="0">
              <a:buNone/>
              <a:defRPr lang="en-US" sz="3200" b="1" kern="1200" spc="0" baseline="0" dirty="0">
                <a:gradFill>
                  <a:gsLst>
                    <a:gs pos="1100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" name="Text Placeholder 21">
            <a:extLst>
              <a:ext uri="{FF2B5EF4-FFF2-40B4-BE49-F238E27FC236}">
                <a16:creationId xmlns:a16="http://schemas.microsoft.com/office/drawing/2014/main" id="{82B21244-77F4-25F3-DAEE-DD3164EE2CD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806938" y="5395325"/>
            <a:ext cx="9813562" cy="492443"/>
          </a:xfrm>
        </p:spPr>
        <p:txBody>
          <a:bodyPr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</a:defRPr>
            </a:lvl1pPr>
            <a:lvl2pPr marL="228556" indent="0">
              <a:buNone/>
              <a:defRPr lang="en-US" sz="1600" dirty="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6" name="Picture 5" descr="Colorful blue and orange dots in a spiral">
            <a:extLst>
              <a:ext uri="{FF2B5EF4-FFF2-40B4-BE49-F238E27FC236}">
                <a16:creationId xmlns:a16="http://schemas.microsoft.com/office/drawing/2014/main" id="{11D5C2FF-9643-2529-88FD-6CE111F873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1" t="11117" r="16871"/>
          <a:stretch/>
        </p:blipFill>
        <p:spPr>
          <a:xfrm rot="18368998">
            <a:off x="11067826" y="-163464"/>
            <a:ext cx="1453231" cy="1530253"/>
          </a:xfrm>
          <a:custGeom>
            <a:avLst/>
            <a:gdLst>
              <a:gd name="connsiteX0" fmla="*/ 1453231 w 1453231"/>
              <a:gd name="connsiteY0" fmla="*/ 0 h 1530253"/>
              <a:gd name="connsiteX1" fmla="*/ 1453231 w 1453231"/>
              <a:gd name="connsiteY1" fmla="*/ 726645 h 1530253"/>
              <a:gd name="connsiteX2" fmla="*/ 353226 w 1453231"/>
              <a:gd name="connsiteY2" fmla="*/ 1530253 h 1530253"/>
              <a:gd name="connsiteX3" fmla="*/ 0 w 1453231"/>
              <a:gd name="connsiteY3" fmla="*/ 1530253 h 1530253"/>
              <a:gd name="connsiteX4" fmla="*/ 0 w 1453231"/>
              <a:gd name="connsiteY4" fmla="*/ 0 h 153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3231" h="1530253">
                <a:moveTo>
                  <a:pt x="1453231" y="0"/>
                </a:moveTo>
                <a:lnTo>
                  <a:pt x="1453231" y="726645"/>
                </a:lnTo>
                <a:lnTo>
                  <a:pt x="353226" y="1530253"/>
                </a:lnTo>
                <a:lnTo>
                  <a:pt x="0" y="1530253"/>
                </a:lnTo>
                <a:lnTo>
                  <a:pt x="0" y="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38998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17685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6D04CCF-14FA-CEB5-E030-6D6A6B163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152001"/>
            <a:ext cx="4634484" cy="553998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325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Divider</a:t>
            </a:r>
          </a:p>
        </p:txBody>
      </p:sp>
      <p:pic>
        <p:nvPicPr>
          <p:cNvPr id="16" name="Picture 15" descr="A colorful dots in a spiral">
            <a:extLst>
              <a:ext uri="{FF2B5EF4-FFF2-40B4-BE49-F238E27FC236}">
                <a16:creationId xmlns:a16="http://schemas.microsoft.com/office/drawing/2014/main" id="{F74F4322-8497-A551-1633-B7D13287D75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37" b="7924"/>
          <a:stretch>
            <a:fillRect/>
          </a:stretch>
        </p:blipFill>
        <p:spPr>
          <a:xfrm rot="240096" flipH="1">
            <a:off x="3825454" y="-881094"/>
            <a:ext cx="8615855" cy="80495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7882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: Top Corners Rounded 264">
            <a:extLst>
              <a:ext uri="{FF2B5EF4-FFF2-40B4-BE49-F238E27FC236}">
                <a16:creationId xmlns:a16="http://schemas.microsoft.com/office/drawing/2014/main" id="{F115F110-E677-8F61-1011-C854F8F41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5047344" y="-2667000"/>
            <a:ext cx="2097312" cy="121920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400F2C9-4D27-4A70-96EB-94073B1211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875002"/>
            <a:ext cx="5510783" cy="1107996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000" b="1" kern="1200" cap="none" spc="-100" baseline="0" dirty="0">
                <a:ln w="3175">
                  <a:noFill/>
                </a:ln>
                <a:solidFill>
                  <a:srgbClr val="1B87D8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272" name="MS logo gray - EMF" descr="Microsoft logo, gray text version">
            <a:extLst>
              <a:ext uri="{FF2B5EF4-FFF2-40B4-BE49-F238E27FC236}">
                <a16:creationId xmlns:a16="http://schemas.microsoft.com/office/drawing/2014/main" id="{2D2BFFA1-4E63-D173-568F-8EFA7A759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668662" y="1180148"/>
            <a:ext cx="1366440" cy="292608"/>
          </a:xfrm>
          <a:prstGeom prst="rect">
            <a:avLst/>
          </a:prstGeom>
        </p:spPr>
      </p:pic>
      <p:pic>
        <p:nvPicPr>
          <p:cNvPr id="4" name="Picture 3" descr="Grey dots in a spiral">
            <a:extLst>
              <a:ext uri="{FF2B5EF4-FFF2-40B4-BE49-F238E27FC236}">
                <a16:creationId xmlns:a16="http://schemas.microsoft.com/office/drawing/2014/main" id="{DD8E2EE1-B219-7AD0-95E9-3B9AB4E387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205" y="-1383478"/>
            <a:ext cx="10849756" cy="8516960"/>
          </a:xfrm>
          <a:prstGeom prst="rect">
            <a:avLst/>
          </a:prstGeom>
        </p:spPr>
      </p:pic>
      <p:pic>
        <p:nvPicPr>
          <p:cNvPr id="11" name="Picture 10" descr="Colorful blue and orange dots in a spiral">
            <a:extLst>
              <a:ext uri="{FF2B5EF4-FFF2-40B4-BE49-F238E27FC236}">
                <a16:creationId xmlns:a16="http://schemas.microsoft.com/office/drawing/2014/main" id="{4AAEA3C1-2FB5-2778-F403-804889B293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92" r="25143" b="31183"/>
          <a:stretch>
            <a:fillRect/>
          </a:stretch>
        </p:blipFill>
        <p:spPr>
          <a:xfrm>
            <a:off x="4070206" y="2380346"/>
            <a:ext cx="8121795" cy="2097312"/>
          </a:xfrm>
          <a:custGeom>
            <a:avLst/>
            <a:gdLst>
              <a:gd name="connsiteX0" fmla="*/ 0 w 8121795"/>
              <a:gd name="connsiteY0" fmla="*/ 0 h 2097312"/>
              <a:gd name="connsiteX1" fmla="*/ 8121795 w 8121795"/>
              <a:gd name="connsiteY1" fmla="*/ 0 h 2097312"/>
              <a:gd name="connsiteX2" fmla="*/ 8121795 w 8121795"/>
              <a:gd name="connsiteY2" fmla="*/ 2097312 h 2097312"/>
              <a:gd name="connsiteX3" fmla="*/ 0 w 8121795"/>
              <a:gd name="connsiteY3" fmla="*/ 2097312 h 209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21795" h="2097312">
                <a:moveTo>
                  <a:pt x="0" y="0"/>
                </a:moveTo>
                <a:lnTo>
                  <a:pt x="8121795" y="0"/>
                </a:lnTo>
                <a:lnTo>
                  <a:pt x="8121795" y="2097312"/>
                </a:lnTo>
                <a:lnTo>
                  <a:pt x="0" y="2097312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4244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A43683-6DA3-CAB4-0B24-22FD85FE8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0" y="0"/>
            <a:ext cx="12192000" cy="1188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</a:schemeClr>
              </a:gs>
              <a:gs pos="26000">
                <a:schemeClr val="accent2">
                  <a:lumMod val="50000"/>
                  <a:alpha val="92000"/>
                </a:scheme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0083922" cy="553998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1C0608-93BD-AA99-99FE-CE8B5C541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188720"/>
            <a:ext cx="12192000" cy="45719"/>
          </a:xfrm>
          <a:prstGeom prst="rect">
            <a:avLst/>
          </a:prstGeom>
          <a:solidFill>
            <a:srgbClr val="0178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 descr="Grey dots in a decorative spiral">
            <a:extLst>
              <a:ext uri="{FF2B5EF4-FFF2-40B4-BE49-F238E27FC236}">
                <a16:creationId xmlns:a16="http://schemas.microsoft.com/office/drawing/2014/main" id="{233A85F5-7EA5-D2AC-23E2-52EDBB1A0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392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1277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28907-B34B-EA5C-1932-0E6A41142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3A667-77F1-832C-B8F7-7508A647B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852E7-C8FB-4DA2-CDCB-A34BDD83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5BC0-4891-5505-4859-7947BCDF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FBA88-B499-1118-EC80-C7206D44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46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39EF-DFFF-D68B-DF06-AAD366734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2FD69-B14C-18E8-09A4-E45F4D372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16C19-7361-3743-5500-35D02624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E6084-AAAE-03BD-7178-EDBF83A1E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F7631-28B2-86FF-F99C-9FBCA4EA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8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0A0A-BE0C-B252-F913-577A75F3D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C9C56-EA9C-B39E-F4F1-EB9220FAB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2A18-4EEA-91F5-50C8-6551A4E7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8416-A8CD-4A77-47D0-2A4BA7BB3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8A763-0B34-E0D9-338A-0BCA0E47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3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A275-CC8E-AC00-E560-38823DCC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719D-0A05-6E51-2289-57CE6A23F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3CB6F-3885-C41F-6FCF-1A8E94483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FCE16-863E-C47B-BD5E-7E082204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40710-77AC-587D-9345-24988AACB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9A66C-64CC-F6A4-1EAB-FB436D9B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77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4146-955C-B96D-FB84-663421F2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C63DC-2B98-47CA-5A29-E78AE5B1F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F2291-4F15-F94E-DCE3-2B05B1B57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11724-D3AF-8984-BDF1-EDE643CE8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EAC95-B7F0-5CAA-278A-BE827929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29BD1-D504-8F66-71A7-B27708E0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A86E0-AEA2-2A5B-816F-D0F0F2F9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4A726-CDA9-CE16-656D-FE6DA092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72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953B-6D9C-6F4D-A79F-6C42DD5E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43C4E-2952-D239-054A-A530A862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98637-EE1F-4E91-F9E7-C09266D1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CE189-AC99-E8F8-FEF0-2E2CF518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85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BA6C5-065A-D2AF-A291-BAA7647B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67236-3677-B639-D8BD-BCDC8477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025FF-25C8-5AE8-E5C0-075DA858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166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FFCF-BCA4-6422-EF55-41874044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5162D-91AC-3CD0-063C-E0BBBE4F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01E6C-93B7-DB7B-2FF8-18E2CA47A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7B2EB-4B9F-4971-20DE-E2A0FC45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2A8C-4192-A960-0924-32DB65E41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0DA8B-C4F6-F6C3-4CE3-6687BB6D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23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A505-4EF4-4344-50A8-5C3F9D6C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6236DB-2AB7-8010-B7C4-9587733F86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2FC49-51D0-FAE6-AE4F-593E30C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D7ED5-3E99-EF65-A264-1FA60E01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4447A-20DA-776F-D992-D4C4F8FE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86DC0-2143-6FF7-D633-AEB90F17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97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C8807-8EA1-1E3F-C93C-53DC1495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E4496-F8E6-C5F2-080D-95D9D738D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A14D9-F8C6-8C40-2D38-4D310955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B8470-3C92-A110-4A16-6471243B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E333C-EE8B-4C6C-740C-83DD53D2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1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F8295-38FF-2EE2-BA5A-10F55BEC7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9746B-4BB9-92CC-BE72-BDD91738C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4B6F-9D5B-00D5-BC52-BFD90E7D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5D54D-8851-7681-87FF-AD0C685D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94E6-BFED-206F-8DBE-C80EB652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30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55519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18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82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34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66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620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603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8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993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198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704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013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9653392" cy="553998"/>
          </a:xfrm>
        </p:spPr>
        <p:txBody>
          <a:bodyPr/>
          <a:lstStyle>
            <a:lvl1pPr marL="0" algn="l" defTabSz="93238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Title only</a:t>
            </a:r>
          </a:p>
        </p:txBody>
      </p:sp>
      <p:pic>
        <p:nvPicPr>
          <p:cNvPr id="13" name="Picture 12" descr="Grey dots in a decorative spiral">
            <a:extLst>
              <a:ext uri="{FF2B5EF4-FFF2-40B4-BE49-F238E27FC236}">
                <a16:creationId xmlns:a16="http://schemas.microsoft.com/office/drawing/2014/main" id="{129FA58B-F4C2-FEF2-22E5-FAC33CC0D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39" t="18675" r="11937" b="17894"/>
          <a:stretch/>
        </p:blipFill>
        <p:spPr>
          <a:xfrm flipH="1">
            <a:off x="10728642" y="0"/>
            <a:ext cx="1463358" cy="1206500"/>
          </a:xfrm>
          <a:custGeom>
            <a:avLst/>
            <a:gdLst>
              <a:gd name="connsiteX0" fmla="*/ 1684338 w 1684338"/>
              <a:gd name="connsiteY0" fmla="*/ 0 h 1562100"/>
              <a:gd name="connsiteX1" fmla="*/ 0 w 1684338"/>
              <a:gd name="connsiteY1" fmla="*/ 0 h 1562100"/>
              <a:gd name="connsiteX2" fmla="*/ 0 w 1684338"/>
              <a:gd name="connsiteY2" fmla="*/ 1562100 h 1562100"/>
              <a:gd name="connsiteX3" fmla="*/ 1684338 w 1684338"/>
              <a:gd name="connsiteY3" fmla="*/ 156210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4338" h="1562100">
                <a:moveTo>
                  <a:pt x="1684338" y="0"/>
                </a:moveTo>
                <a:lnTo>
                  <a:pt x="0" y="0"/>
                </a:lnTo>
                <a:lnTo>
                  <a:pt x="0" y="1562100"/>
                </a:lnTo>
                <a:lnTo>
                  <a:pt x="1684338" y="1562100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9069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2">
          <p15:clr>
            <a:srgbClr val="5ACBF0"/>
          </p15:clr>
        </p15:guide>
        <p15:guide id="5" orient="horz" pos="283">
          <p15:clr>
            <a:srgbClr val="5ACBF0"/>
          </p15:clr>
        </p15:guide>
        <p15:guide id="6" pos="3917">
          <p15:clr>
            <a:srgbClr val="FBAE40"/>
          </p15:clr>
        </p15:guide>
        <p15:guide id="7" orient="horz" pos="220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_Custom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94391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tags" Target="../tags/tag1.xml"/><Relationship Id="rId10" Type="http://schemas.openxmlformats.org/officeDocument/2006/relationships/image" Target="../media/image1.emf"/><Relationship Id="rId11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460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863F8-3190-109C-7161-40345FE412FF}"/>
              </a:ext>
            </a:extLst>
          </p:cNvPr>
          <p:cNvSpPr/>
          <p:nvPr userDrawn="1"/>
        </p:nvSpPr>
        <p:spPr>
          <a:xfrm>
            <a:off x="584200" y="6496253"/>
            <a:ext cx="2727670" cy="20005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sz="700" b="0" i="0" spc="8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MICROSOFT CONFIDENTIAL. FOR INTERNAL USE ONLY</a:t>
            </a:r>
          </a:p>
        </p:txBody>
      </p:sp>
      <p:pic>
        <p:nvPicPr>
          <p:cNvPr id="64" name="NEW Brand Colors 2018">
            <a:extLst>
              <a:ext uri="{FF2B5EF4-FFF2-40B4-BE49-F238E27FC236}">
                <a16:creationId xmlns:a16="http://schemas.microsoft.com/office/drawing/2014/main" id="{A8BA6B64-5E5E-4B2E-8DF2-17DC5A1D39B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53628" y="2942644"/>
            <a:ext cx="6858000" cy="972712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A88F09E-5CD6-2540-F778-A9F2267C6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3373253" y="12841"/>
            <a:ext cx="340671" cy="6832318"/>
          </a:xfrm>
          <a:prstGeom prst="rect">
            <a:avLst/>
          </a:prstGeom>
        </p:spPr>
      </p:pic>
    </p:spTree>
    <p:custDataLst>
      <p:tags r:id="rId9"/>
    </p:custDataLst>
    <p:extLst>
      <p:ext uri="{BB962C8B-B14F-4D97-AF65-F5344CB8AC3E}">
        <p14:creationId xmlns:p14="http://schemas.microsoft.com/office/powerpoint/2010/main" val="292784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  <p:sldLayoutId id="2147483693" r:id="rId3"/>
    <p:sldLayoutId id="2147483723" r:id="rId4"/>
    <p:sldLayoutId id="2147483730" r:id="rId5"/>
    <p:sldLayoutId id="2147483800" r:id="rId6"/>
    <p:sldLayoutId id="2147483801" r:id="rId7"/>
  </p:sldLayoutIdLst>
  <p:transition>
    <p:fade/>
  </p:transition>
  <p:hf sldNum="0" hdr="0" ftr="0" dt="0"/>
  <p:txStyles>
    <p:titleStyle>
      <a:lvl1pPr algn="l" defTabSz="932563" rtl="0" eaLnBrk="1" latinLnBrk="0" hangingPunct="1">
        <a:lnSpc>
          <a:spcPct val="100000"/>
        </a:lnSpc>
        <a:spcBef>
          <a:spcPct val="0"/>
        </a:spcBef>
        <a:buNone/>
        <a:defRPr lang="en-US" sz="3529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556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Segoe UI Semilight" panose="020B0402040204020203" pitchFamily="34" charset="0"/>
        </a:defRPr>
      </a:lvl1pPr>
      <a:lvl2pPr marL="457112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099" marR="0" indent="-19998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801" marR="0" indent="-180940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741" marR="0" indent="-168243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372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4547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0830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111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3394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3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44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26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08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89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7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5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5">
          <p15:clr>
            <a:srgbClr val="C35EA4"/>
          </p15:clr>
        </p15:guide>
        <p15:guide id="17" pos="7661">
          <p15:clr>
            <a:srgbClr val="A4A3A4"/>
          </p15:clr>
        </p15:guide>
        <p15:guide id="25" orient="horz" pos="379">
          <p15:clr>
            <a:srgbClr val="C35EA4"/>
          </p15:clr>
        </p15:guide>
        <p15:guide id="26" orient="horz" pos="4027">
          <p15:clr>
            <a:srgbClr val="C35EA4"/>
          </p15:clr>
        </p15:guide>
        <p15:guide id="27" orient="horz" pos="187">
          <p15:clr>
            <a:srgbClr val="A4A3A4"/>
          </p15:clr>
        </p15:guide>
        <p15:guide id="28" pos="173">
          <p15:clr>
            <a:srgbClr val="A4A3A4"/>
          </p15:clr>
        </p15:guide>
        <p15:guide id="29" orient="horz" pos="2347">
          <p15:clr>
            <a:srgbClr val="A4A3A4"/>
          </p15:clr>
        </p15:guide>
        <p15:guide id="30" pos="7320">
          <p15:clr>
            <a:srgbClr val="C35EA4"/>
          </p15:clr>
        </p15:guide>
        <p15:guide id="31" pos="3917">
          <p15:clr>
            <a:srgbClr val="C35EA4"/>
          </p15:clr>
        </p15:guide>
        <p15:guide id="32" orient="horz" pos="2203">
          <p15:clr>
            <a:srgbClr val="F26B43"/>
          </p15:clr>
        </p15:guide>
        <p15:guide id="33" orient="horz" pos="4219">
          <p15:clr>
            <a:srgbClr val="A4A3A4"/>
          </p15:clr>
        </p15:guide>
        <p15:guide id="34" orient="horz" pos="2059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FFDEB-E59B-898A-0919-D2FCE426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73C94-ED43-8244-6B02-E7234CAF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D8F9E-0E0A-9154-6906-F2228259F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28125-7331-418B-970D-A88E73B188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9CEC8-4581-4497-9206-B9F450C3E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3F71B-B2A7-7E82-4132-62F4B834C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A5850-4711-418D-B090-9E8809BBE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4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2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egoe Sans Display Semibold"/>
              </a:defRPr>
            </a:pPr>
            <a:r>
              <a:t>Microsoft Accelerated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Copilot Squad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E5FF"/>
                </a:solidFill>
                <a:latin typeface="Aptos Display"/>
              </a:defRPr>
            </a:pPr>
            <a:r>
              <a:t>A New Delivery Model for Accelerated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D0F0"/>
                </a:solidFill>
                <a:latin typeface="Aptos"/>
              </a:defRPr>
            </a:pPr>
            <a:r>
              <a:t>Multi-agent AI orchestration enabling parallel execution,</a:t>
            </a:r>
            <a:br/>
            <a:r>
              <a:t>shared memory, and end-to-end delivery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B8E0"/>
                </a:solidFill>
                <a:latin typeface="Aptos"/>
              </a:defRPr>
            </a:pPr>
            <a:r>
              <a:t>Prepared for: Factory Leadership</a:t>
            </a:r>
            <a:br/>
            <a:r>
              <a:t>May 2026  |  Classification: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E5FF"/>
                </a:solidFill>
                <a:latin typeface="Aptos"/>
              </a:defRPr>
            </a:pPr>
            <a:r>
              <a:t>bradygaster.github.io/squad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228600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is Copilot Squad?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Copilot Squad is an open-source multi-agent AI framework that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deploys a coordinated team of specialized AI agents directly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inside your code repository.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Specialized agents (Architect, Developer, Tester, Docs,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GitOps) work in parallel — like a real engineering team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A Coordinator routes work to the right specialist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automatically, enforcing review gates and handoffs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Persistent shared memory means agents remember decisions,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conventions, and architecture across all sessions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Built-in governance: reviewer lockout, file-write guards,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escalation protocols, and human oversight at every step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Repository-native: lives as .squad/ in your repo — commit it,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clone it, share it. No external orchestration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21031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Why It Matters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Factory delivery is growing in complexity — more offerings,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more regions, tighter timelines, higher quality bars.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Individual Copilot usage is ad-hoc and uncoordinated —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each engineer prompts independently with no shared context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Squad shifts AI from "individual tool" to "delivery model"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that scales across teams and projects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Featured at Microsoft Build 2026 by Brady Gaster (GitHub)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as the future of developer productivity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Open source (MIT), installable today, compatible with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GitHub Copilot and VS Code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•  Early adopters gain competitive advantage in delivery</a:t>
            </a:r>
          </a:p>
          <a:p>
            <a:pPr>
              <a:spcAft>
                <a:spcPts val="400"/>
              </a:spcAft>
              <a:defRPr sz="1300" b="0">
                <a:solidFill>
                  <a:srgbClr val="333333"/>
                </a:solidFill>
                <a:latin typeface="Aptos"/>
              </a:defRPr>
            </a:pPr>
            <a:r>
              <a:t>     speed, quality, and 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27432" cy="4754880"/>
          </a:xfrm>
          <a:prstGeom prst="rect">
            <a:avLst/>
          </a:prstGeom>
          <a:solidFill>
            <a:srgbClr val="D0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Current Challenges in Factory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3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148840" cy="51206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057400" cy="45720"/>
          </a:xfrm>
          <a:prstGeom prst="rect">
            <a:avLst/>
          </a:prstGeom>
          <a:solidFill>
            <a:srgbClr val="D83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83B02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Aptos"/>
              </a:defRPr>
            </a:pPr>
            <a:r>
              <a:t>Fragmented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Work is split across multiple tools, platforms, and individuals with no unified orchestration or coordination layer.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5669280"/>
            <a:ext cx="164592" cy="164592"/>
          </a:xfrm>
          <a:prstGeom prst="ellipse">
            <a:avLst/>
          </a:prstGeom>
          <a:solidFill>
            <a:srgbClr val="D83B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06039" y="1005840"/>
            <a:ext cx="2148840" cy="51206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59" y="1051560"/>
            <a:ext cx="2057400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199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D7D31"/>
                </a:solidFill>
                <a:latin typeface="Aptos"/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Aptos"/>
              </a:defRPr>
            </a:pPr>
            <a:r>
              <a:t>Sequential Bottlenecks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199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Development → Testing → Documentation → Review runs serially. Each handoff adds latency and critical context loss.</a:t>
            </a:r>
          </a:p>
        </p:txBody>
      </p:sp>
      <p:sp>
        <p:nvSpPr>
          <p:cNvPr id="16" name="Oval 15"/>
          <p:cNvSpPr/>
          <p:nvPr/>
        </p:nvSpPr>
        <p:spPr>
          <a:xfrm>
            <a:off x="3520439" y="5669280"/>
            <a:ext cx="164592" cy="16459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7759" y="1005840"/>
            <a:ext cx="2148840" cy="51206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83479" y="1051560"/>
            <a:ext cx="205740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19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178D4"/>
                </a:solidFill>
                <a:latin typeface="Aptos"/>
              </a:defRPr>
            </a:pPr>
            <a: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1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Aptos"/>
              </a:defRPr>
            </a:pPr>
            <a:r>
              <a:t>Knowledge Silos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19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Critical project context, architecture decisions, and conventions live in people's heads. When people rotate, knowledge is lost.</a:t>
            </a:r>
          </a:p>
        </p:txBody>
      </p:sp>
      <p:sp>
        <p:nvSpPr>
          <p:cNvPr id="22" name="Oval 21"/>
          <p:cNvSpPr/>
          <p:nvPr/>
        </p:nvSpPr>
        <p:spPr>
          <a:xfrm>
            <a:off x="5852159" y="5669280"/>
            <a:ext cx="164592" cy="164592"/>
          </a:xfrm>
          <a:prstGeom prst="ellipse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69479" y="1005840"/>
            <a:ext cx="2148840" cy="51206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199" y="1051560"/>
            <a:ext cx="2057400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39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63668"/>
                </a:solidFill>
                <a:latin typeface="Aptos"/>
              </a:defRPr>
            </a:pPr>
            <a: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9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Aptos"/>
              </a:defRPr>
            </a:pPr>
            <a:r>
              <a:t>IC Dependency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39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Key deliverables depend on specific individual contributors. No standardized execution pattern exists across projects.</a:t>
            </a:r>
          </a:p>
        </p:txBody>
      </p:sp>
      <p:sp>
        <p:nvSpPr>
          <p:cNvPr id="28" name="Oval 27"/>
          <p:cNvSpPr/>
          <p:nvPr/>
        </p:nvSpPr>
        <p:spPr>
          <a:xfrm>
            <a:off x="8183879" y="5669280"/>
            <a:ext cx="164592" cy="164592"/>
          </a:xfrm>
          <a:prstGeom prst="ellipse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1005840"/>
            <a:ext cx="2148840" cy="512064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46920" y="1051560"/>
            <a:ext cx="20574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E0000"/>
                </a:solidFill>
                <a:latin typeface="Aptos"/>
              </a:defRPr>
            </a:pPr>
            <a:r>
              <a:t>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Aptos"/>
              </a:defRPr>
            </a:pPr>
            <a:r>
              <a:t>E2E Inefficiency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03120"/>
            <a:ext cx="1828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End-to-end delivery lacks automation. Teams spend significant time on manual reporting, status chasing, and rework cycles.</a:t>
            </a:r>
          </a:p>
        </p:txBody>
      </p:sp>
      <p:sp>
        <p:nvSpPr>
          <p:cNvPr id="34" name="Oval 33"/>
          <p:cNvSpPr/>
          <p:nvPr/>
        </p:nvSpPr>
        <p:spPr>
          <a:xfrm>
            <a:off x="10515600" y="5669280"/>
            <a:ext cx="164592" cy="164592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What is Copilot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ptos"/>
              </a:defRPr>
            </a:pPr>
            <a:r>
              <a:t>A multi-agent AI team that lives inside your repository — coordinated, governed, and persistent.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280160"/>
            <a:ext cx="4389120" cy="640080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🎯  COORDINATOR  —  Routes work  |  Enforces gates  |  Manages handoffs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560320" cy="1828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2468880" cy="45720"/>
          </a:xfrm>
          <a:prstGeom prst="rect">
            <a:avLst/>
          </a:prstGeom>
          <a:solidFill>
            <a:srgbClr val="2A4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46F"/>
                </a:solidFill>
                <a:latin typeface="Aptos"/>
              </a:defRPr>
            </a:pPr>
            <a:r>
              <a:t>🏛️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Lead /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System design, scope management,</a:t>
            </a:r>
            <a:br/>
            <a:r>
              <a:t>trade-offs, code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94560"/>
            <a:ext cx="2560320" cy="1828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240280"/>
            <a:ext cx="246888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8D4"/>
                </a:solidFill>
                <a:latin typeface="Aptos"/>
              </a:defRPr>
            </a:pPr>
            <a:r>
              <a:t>⌨️ 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Core 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Feature implementation, debugging,</a:t>
            </a:r>
            <a:br/>
            <a:r>
              <a:t>runtime, file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194560"/>
            <a:ext cx="2560320" cy="1828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2240280"/>
            <a:ext cx="2468880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  <a:latin typeface="Aptos"/>
              </a:defRPr>
            </a:pPr>
            <a:r>
              <a:t>🧪 Tester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Tester /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Tests, quality gates, edge cases,</a:t>
            </a:r>
            <a:br/>
            <a:r>
              <a:t>coverage, CI/CD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06240"/>
            <a:ext cx="2560320" cy="1828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251960"/>
            <a:ext cx="2468880" cy="45720"/>
          </a:xfrm>
          <a:prstGeom prst="rect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E8B00"/>
                </a:solidFill>
                <a:latin typeface="Aptos"/>
              </a:defRPr>
            </a:pPr>
            <a:r>
              <a:t>📖 DevRel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Docs / DevRel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README, documentation, messaging,</a:t>
            </a:r>
            <a:br/>
            <a:r>
              <a:t>onboarding, examples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4206240"/>
            <a:ext cx="2560320" cy="1828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46120" y="4251960"/>
            <a:ext cx="2468880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3668"/>
                </a:solidFill>
                <a:latin typeface="Aptos"/>
              </a:defRPr>
            </a:pPr>
            <a:r>
              <a:t>🚀 GitOps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GitOps /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Git workflow, PRs, releases,</a:t>
            </a:r>
            <a:br/>
            <a:r>
              <a:t>GitHub auth, CI/CD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4206240"/>
            <a:ext cx="2560320" cy="18288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9320" y="4251960"/>
            <a:ext cx="2468880" cy="45720"/>
          </a:xfrm>
          <a:prstGeom prst="rect">
            <a:avLst/>
          </a:prstGeom>
          <a:solidFill>
            <a:srgbClr val="22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5B62"/>
                </a:solidFill>
                <a:latin typeface="Aptos"/>
              </a:defRPr>
            </a:pPr>
            <a:r>
              <a:t>📜 Scribe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617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Historian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Decision logging, session history,</a:t>
            </a:r>
            <a:br/>
            <a:r>
              <a:t>team memory, journal updates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1280160"/>
            <a:ext cx="182880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Key Capabilities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✓  Parallel agent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✓  Persistent shared memory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✓  Repository-native (.squad/)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✓  Human oversight &amp; 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✓  Automatic role routing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✓  Design reviews &amp; retrospectives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709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✓  Exportable team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Key 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ptos"/>
              </a:defRPr>
            </a:pPr>
            <a:r>
              <a:t>What makes Squad fundamentally different from individual Copilot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25146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57784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78D4"/>
                </a:solidFill>
                <a:latin typeface="Aptos"/>
              </a:defRPr>
            </a:pPr>
            <a:r>
              <a:t>Parallel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Multiple agents fan out and work simultaneously on architecture, code, tests, and documentation. No more sequential handoffs — a team task that took days completes in hours.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06040"/>
            <a:ext cx="164592" cy="164592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Individual Copilot: One task at a time, sequential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926080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ptos"/>
              </a:defRPr>
            </a:pPr>
            <a:r>
              <a:t>Squad: 5+ agents working in parallel on the same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669280" cy="25146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5577840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  <a:latin typeface="Aptos"/>
              </a:defRPr>
            </a:pPr>
            <a:r>
              <a:t>Shared Memory &amp;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All agents read decisions.md before every task. Conventions, architecture choices, and preferences persist across sessions and compound over time.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606040"/>
            <a:ext cx="164592" cy="164592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Individual Copilot: Context lost every session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926080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ptos"/>
              </a:defRPr>
            </a:pPr>
            <a:r>
              <a:t>Squad: Memory compounds, agents get smarter over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86200"/>
            <a:ext cx="5669280" cy="25146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5577840" cy="45720"/>
          </a:xfrm>
          <a:prstGeom prst="rect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E8B00"/>
                </a:solidFill>
                <a:latin typeface="Aptos"/>
              </a:defRPr>
            </a:pPr>
            <a:r>
              <a:t>Repository-Native 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43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Squad lives as .squad/ in your repo. No external platforms, no SaaS dependencies. Commit it, clone it, share it — your team travels with your code.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303520"/>
            <a:ext cx="164592" cy="164592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Traditional: External orchestration tools and platforms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623560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ptos"/>
              </a:defRPr>
            </a:pPr>
            <a:r>
              <a:t>Squad: Git-native, version-controlled, zero infrastructure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886200"/>
            <a:ext cx="5669280" cy="25146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931920"/>
            <a:ext cx="5577840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63668"/>
                </a:solidFill>
                <a:latin typeface="Aptos"/>
              </a:defRPr>
            </a:pPr>
            <a:r>
              <a:t>Built-in 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Reviewer lockout, file-write guards, PII scrubbing, escalation paths, and decision logging. Rules enforced in code, not suggestions. Audit-ready from day one.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5303520"/>
            <a:ext cx="164592" cy="164592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257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Individual Copilot: Trust-based, no enforcement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0" y="5623560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ptos"/>
              </a:defRPr>
            </a:pPr>
            <a:r>
              <a:t>Squad: Governance enforced, audit-ready, accountable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Business Value for Accelerated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ptos"/>
              </a:defRPr>
            </a:pPr>
            <a:r>
              <a:t>Quantifiable impact across delivery speed, quality, and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697480" cy="1828800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80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2–3×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Faster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Parallel work replaces</a:t>
            </a:r>
            <a:br/>
            <a:r>
              <a:t>sequential handoffs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188720"/>
            <a:ext cx="2697480" cy="182880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40%+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Less Rework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945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Built-in testing &amp; review</a:t>
            </a:r>
            <a:br/>
            <a:r>
              <a:t>agents catch issues early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188720"/>
            <a:ext cx="2697480" cy="1828800"/>
          </a:xfrm>
          <a:prstGeom prst="round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280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Standardization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945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Reusable templates &amp;</a:t>
            </a:r>
            <a:br/>
            <a:r>
              <a:t>agent roles across projects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188720"/>
            <a:ext cx="2697480" cy="1828800"/>
          </a:xfrm>
          <a:prstGeom prst="round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2801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↑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8288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Per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94560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Each engineer operates</a:t>
            </a:r>
            <a:br/>
            <a:r>
              <a:t>with a full AI team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291840"/>
            <a:ext cx="3703320" cy="13258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337560"/>
            <a:ext cx="361188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42900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8D4"/>
                </a:solidFill>
                <a:latin typeface="Aptos"/>
              </a:defRPr>
            </a:pPr>
            <a:r>
              <a:t>Faster End-to-End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703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Architecture, development, testing, and documentation happen in parallel. Days of sequential work complete in hours.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291840"/>
            <a:ext cx="3703320" cy="13258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337560"/>
            <a:ext cx="361188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342900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8D4"/>
                </a:solidFill>
                <a:latin typeface="Aptos"/>
              </a:defRPr>
            </a:pPr>
            <a:r>
              <a:t>Increased Productivity Per Engineer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703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Each engineer is amplified by a full squad of AI agents. Context switching eliminated — agents remember across sessions.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291840"/>
            <a:ext cx="3703320" cy="13258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337560"/>
            <a:ext cx="361188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342900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8D4"/>
                </a:solidFill>
                <a:latin typeface="Aptos"/>
              </a:defRPr>
            </a:pPr>
            <a:r>
              <a:t>Reduced Rework &amp; Higher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70332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Testing agents write test cases while code is being built. Review agents catch issues before production.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4800600"/>
            <a:ext cx="3703320" cy="13258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846320"/>
            <a:ext cx="361188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9377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8D4"/>
                </a:solidFill>
                <a:latin typeface="Aptos"/>
              </a:defRPr>
            </a:pPr>
            <a:r>
              <a:t>Standardization Across Projects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21208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Reusable squad configs, agent charters, and skill libraries create consistent delivery across all Factory offerings.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4800600"/>
            <a:ext cx="3703320" cy="132588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0" y="4846320"/>
            <a:ext cx="361188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49377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8D4"/>
                </a:solidFill>
                <a:latin typeface="Aptos"/>
              </a:defRPr>
            </a:pPr>
            <a:r>
              <a:t>Improved Governance &amp; Compliance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21208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Reviewer lockout, file-write guards, decision logging provide audit-ready governance without slowing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End-to-End Scope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ptos"/>
              </a:defRPr>
            </a:pPr>
            <a:r>
              <a:t>Agents cover the full delivery lifecycle simultaneously — not sequentially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1783080" cy="1463040"/>
          </a:xfrm>
          <a:prstGeom prst="roundRect">
            <a:avLst/>
          </a:prstGeom>
          <a:solidFill>
            <a:srgbClr val="2A44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Architect analyzes</a:t>
            </a:r>
            <a:br/>
            <a:r>
              <a:t>scope &amp; trade-offs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79" y="1691640"/>
            <a:ext cx="228600" cy="228600"/>
          </a:xfrm>
          <a:prstGeom prst="rightArrow">
            <a:avLst/>
          </a:prstGeom>
          <a:solidFill>
            <a:srgbClr val="D0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40279" y="1280160"/>
            <a:ext cx="1783080" cy="1463040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19" y="1371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19" y="16916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Architect + Lead</a:t>
            </a:r>
            <a:br/>
            <a:r>
              <a:t>define contracts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77640" y="1691640"/>
            <a:ext cx="228600" cy="228600"/>
          </a:xfrm>
          <a:prstGeom prst="rightArrow">
            <a:avLst/>
          </a:prstGeom>
          <a:solidFill>
            <a:srgbClr val="D0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1280160"/>
            <a:ext cx="1783080" cy="1463040"/>
          </a:xfrm>
          <a:prstGeom prst="round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371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916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Coder agents</a:t>
            </a:r>
            <a:br/>
            <a:r>
              <a:t>build in parallel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3599" y="1691640"/>
            <a:ext cx="228600" cy="228600"/>
          </a:xfrm>
          <a:prstGeom prst="rightArrow">
            <a:avLst/>
          </a:prstGeom>
          <a:solidFill>
            <a:srgbClr val="D0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199" y="1280160"/>
            <a:ext cx="1783080" cy="146304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39" y="1371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39" y="16916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Tester writes cases</a:t>
            </a:r>
            <a:br/>
            <a:r>
              <a:t>from requirements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09560" y="1691640"/>
            <a:ext cx="228600" cy="228600"/>
          </a:xfrm>
          <a:prstGeom prst="rightArrow">
            <a:avLst/>
          </a:prstGeom>
          <a:solidFill>
            <a:srgbClr val="D0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1280160"/>
            <a:ext cx="1783080" cy="1463040"/>
          </a:xfrm>
          <a:prstGeom prst="round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371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6916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DevRel updates</a:t>
            </a:r>
            <a:br/>
            <a:r>
              <a:t>docs automatically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875520" y="1691640"/>
            <a:ext cx="228600" cy="228600"/>
          </a:xfrm>
          <a:prstGeom prst="rightArrow">
            <a:avLst/>
          </a:prstGeom>
          <a:solidFill>
            <a:srgbClr val="D0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04120" y="1280160"/>
            <a:ext cx="1783080" cy="1463040"/>
          </a:xfrm>
          <a:prstGeom prst="roundRect">
            <a:avLst/>
          </a:prstGeom>
          <a:solidFill>
            <a:srgbClr val="D83B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13716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169164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E8F0"/>
                </a:solidFill>
                <a:latin typeface="Aptos"/>
              </a:defRPr>
            </a:pPr>
            <a:r>
              <a:t>GitOps manages</a:t>
            </a:r>
            <a:br/>
            <a:r>
              <a:t>PRs &amp;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017520"/>
            <a:ext cx="11247120" cy="457200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⚡  ALL STAGES EXECUTE IN PARALLEL — NOT SEQUENTIAL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3749039"/>
            <a:ext cx="3703320" cy="2286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794760"/>
            <a:ext cx="361188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9319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178D4"/>
                </a:solidFill>
                <a:latin typeface="Aptos"/>
              </a:defRPr>
            </a:pPr>
            <a:r>
              <a:t>Continuous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976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Testing agents validate code as it's written. Architecture agents review design decisions in real-time. Quality is built in, not bolted 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3749039"/>
            <a:ext cx="3703320" cy="2286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3794760"/>
            <a:ext cx="3611880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39319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  <a:latin typeface="Aptos"/>
              </a:defRPr>
            </a:pPr>
            <a:r>
              <a:t>Shared Feedback Loops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2976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Agents share context through decisions.md and skills. When one agent makes an architectural choice, all others immediately incorporate it.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749039"/>
            <a:ext cx="3703320" cy="2286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3794760"/>
            <a:ext cx="3611880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9319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63668"/>
                </a:solidFill>
                <a:latin typeface="Aptos"/>
              </a:defRPr>
            </a:pPr>
            <a:r>
              <a:t>Full Lifecycle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2976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From initial requirements through deployment and documentation, the same Squad handles the entire lifecycle. No context loss. No handoff delays.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🏭  Arauco — Parallel Application Modernization with Copilot Squad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8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887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8D4"/>
                </a:solidFill>
                <a:latin typeface="Aptos"/>
              </a:defRPr>
            </a:pPr>
            <a:r>
              <a:t>Client: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80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Arauco Maderas Chile (forestry &amp; wood products, $5B+ revenue)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8D4"/>
                </a:solidFill>
                <a:latin typeface="Aptos"/>
              </a:defRPr>
            </a:pPr>
            <a:r>
              <a:t>Engagement: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544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Modernize GMC (Gestión de Mejora Continua) — mission-critical industrial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8D4"/>
                </a:solidFill>
                <a:latin typeface="Aptos"/>
              </a:defRPr>
            </a:pPr>
            <a:r>
              <a:t>From: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28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ASP.NET WebForms 4.8 / VB.NET (legacy, 15+ years)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8D4"/>
                </a:solidFill>
                <a:latin typeface="Aptos"/>
              </a:defRPr>
            </a:pPr>
            <a:r>
              <a:t>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03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.NET 10 + Blazor Server + Azure + AI capabilities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68880"/>
            <a:ext cx="16459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Scope at a Glance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74320" y="2834640"/>
          <a:ext cx="71323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834640"/>
                <a:gridCol w="283464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Legacy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Modernized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134 ASPX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132 Razor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Reports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217 RDLC templates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495 RDLC (expanded)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Database Objects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442 (211 tables, 178 SPs, 39 views)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119 DbSets mapped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Test Coverage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3,243 tests · 83% line coverage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17/18 complete (94%)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AI Capabilities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AI Search + Chat + ACR Assistant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89520" y="868680"/>
            <a:ext cx="182880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Key Differentiator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589520" y="1234440"/>
          <a:ext cx="42976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Traditional Approach</a:t>
                      </a:r>
                    </a:p>
                  </a:txBody>
                  <a:tcPr>
                    <a:solidFill>
                      <a:srgbClr val="4A4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Copilot Squad</a:t>
                      </a:r>
                    </a:p>
                  </a:txBody>
                  <a:tcPr>
                    <a:solidFill>
                      <a:srgbClr val="4A4E6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 app at a time, sequential phases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Multiple apps/modules in parallel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8–12 developers over 12+ months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20 AI agents + 1 architect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Manual analysis of legacy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Automated legacy scanning &amp; gap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Test coverage as afterthought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Tests built alongside code (83%)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Knowledge silos per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Shared context across entire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7589520" y="3794760"/>
            <a:ext cx="16459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Execution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1605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20 AI agents (DAFT Maderas Chile Squad)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Parallel across all layers: frontend, backend,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   database, auth, testing, docs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6 migration waves with reusable patterns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Fan-out: single prompt triggers parallel</a:t>
            </a:r>
          </a:p>
          <a:p>
            <a:pPr>
              <a:spcAft>
                <a:spcPts val="400"/>
              </a:spcAft>
              <a:defRPr sz="1100" b="0">
                <a:solidFill>
                  <a:srgbClr val="333333"/>
                </a:solidFill>
                <a:latin typeface="Aptos"/>
              </a:defRPr>
            </a:pPr>
            <a:r>
              <a:t>   investigation + implementation +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🏭  Arauco — Outcomes &amp;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9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887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280160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Aptos"/>
              </a:defRPr>
            </a:pPr>
            <a:r>
              <a:t>✅  94% module migration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17 of 18 modules fully operational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1783080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Aptos"/>
              </a:defRPr>
            </a:pPr>
            <a:r>
              <a:t>✅  3,243 unit tests — 100% pass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Zero tests at project start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2286000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Aptos"/>
              </a:defRPr>
            </a:pPr>
            <a:r>
              <a:t>✅  83% line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6888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Exceeding the 80% target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2788920"/>
            <a:ext cx="164592" cy="164592"/>
          </a:xfrm>
          <a:prstGeom prst="ellipse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Aptos"/>
              </a:defRPr>
            </a:pPr>
            <a:r>
              <a:t>✅  Dual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Entra ID + legacy local login preserved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3291840"/>
            <a:ext cx="164592" cy="164592"/>
          </a:xfrm>
          <a:prstGeom prst="ellipse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46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Aptos"/>
              </a:defRPr>
            </a:pPr>
            <a:r>
              <a:t>✅  AI-powered features added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7472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Search, Chat, ACR Assistant (not in legacy)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" y="3794759"/>
            <a:ext cx="164592" cy="164592"/>
          </a:xfrm>
          <a:prstGeom prst="ellipse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39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Aptos"/>
              </a:defRPr>
            </a:pPr>
            <a:r>
              <a:t>✅  Legacy UI fidelity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Customer-approved Color Admin theme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" y="4297680"/>
            <a:ext cx="164592" cy="164592"/>
          </a:xfrm>
          <a:prstGeom prst="ellipse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Aptos"/>
              </a:defRPr>
            </a:pPr>
            <a:r>
              <a:t>✅  Continuous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80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ptos"/>
              </a:defRPr>
            </a:pPr>
            <a:r>
              <a:t>CI/CD to Azure with automated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868680"/>
            <a:ext cx="16459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Business Impact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0" y="1234440"/>
          <a:ext cx="62179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84632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Delivery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Multi-module parallel execution vs. traditional sequential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Team Efficiency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20 specialized AI agents replace equivalent of 8–12 person team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3,243 automated tests ensure regression-free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Reusable patterns (migration wizards, SP contract, CQRS) for other apps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Time to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Working modules deployed to Azure continuously, not at end of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Risk Reduction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Legacy behavior preserved through SP-first architecture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274320" y="4754880"/>
            <a:ext cx="11430000" cy="1371600"/>
          </a:xfrm>
          <a:prstGeom prst="roundRect">
            <a:avLst/>
          </a:prstGeom>
          <a:solidFill>
            <a:srgbClr val="F2F7FA"/>
          </a:solidFill>
          <a:ln w="254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46320"/>
            <a:ext cx="16459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🎯 Key 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Aptos"/>
              </a:defRPr>
            </a:pPr>
            <a:r>
              <a:t>Arauco demonstrates a scalable, repeatable model for parallel application modernization. A single architect directing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Aptos"/>
              </a:defRPr>
            </a:pPr>
            <a:r>
              <a:t>a 20-agent Copilot Squad delivered what traditionally requires a 10+ person team over 12+ months — with higher test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Aptos"/>
              </a:defRPr>
            </a:pPr>
            <a:r>
              <a:t>coverage, continuous deployment, and AI capabilities the legacy system never had.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Aptos"/>
              </a:defRPr>
            </a:pPr>
            <a:r>
              <a:t>This is not a one-app story. This is a Factory model — the same squad, patterns, and execution framework can be applied to the next customer on Day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✈️  LATAM Airlines Peru — AI-Powered Parallel Migration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Aptos"/>
              </a:defRPr>
            </a:pPr>
            <a:r>
              <a:t>15 legacy applications modernized to Azure through coordinated AI execution — one engineer, 8 agents, full documentation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01168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Engagement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914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Client: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LATAM Airlines Peru — Internal IT Division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914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Scope: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64792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15 legacy applications (.NET 4.8, VB.NET, Python, SOAP)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914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Target: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0824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Azure App Service + Entra ID + SQL Managed 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76856"/>
            <a:ext cx="914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8D4"/>
                </a:solidFill>
                <a:latin typeface="Aptos"/>
              </a:defRPr>
            </a:pPr>
            <a:r>
              <a:t>Model: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276856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ptos"/>
              </a:defRPr>
            </a:pPr>
            <a:r>
              <a:t>1 engineer + 8 AI agents per wave — parallel factory 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143000"/>
            <a:ext cx="292608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Parallel Factory Execution Model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583680" y="1508760"/>
          <a:ext cx="53035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210312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4A4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Happened</a:t>
                      </a:r>
                    </a:p>
                  </a:txBody>
                  <a:tcPr>
                    <a:solidFill>
                      <a:srgbClr val="4A4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Squad Role</a:t>
                      </a:r>
                    </a:p>
                  </a:txBody>
                  <a:tcPr>
                    <a:solidFill>
                      <a:srgbClr val="4A4E6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Assess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All 15 apps scanned simultaneously for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dependencies, auth, and 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Halcón (Discovery) profiled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every app in parallel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Golden Pattern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Proven template extracted from OSCE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&amp; COMAT — auth, bindings, hardening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Forge + Sentinel validated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the pattern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Apply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Golden Pattern applied across all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remaining apps concurrently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8 agents worked in parallel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per wave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Validate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Automated cross-app comparison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reports against golden baseline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Sentinel ran validation;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Cronista documented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Full portfolio auto-generated: READMEs,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architecture diagrams, status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Cronista produced all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artifacts as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274320" y="2697480"/>
            <a:ext cx="274320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Portfolio Delivered — 15 Applications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3063240"/>
          <a:ext cx="4572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554480"/>
                <a:gridCol w="1188720"/>
                <a:gridCol w="14630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Seguridad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API Seguridad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8.0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SIVATM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OSCE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4.8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Golden Ref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API Vacaciones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Python 3.x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API Mensajería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4.8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COMAT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Golden 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SICAV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4.8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4320" y="5486400"/>
          <a:ext cx="4572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554480"/>
                <a:gridCol w="1188720"/>
                <a:gridCol w="146304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SISMOV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Gold Std (95/100)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SARA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4.8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GERMAN (+Carga)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4.8/9.0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SolicitudesWeb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VB.NET 4.8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Flydoc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.NET 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✅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583680" y="4526280"/>
            <a:ext cx="16459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4919472"/>
            <a:ext cx="164592" cy="164592"/>
          </a:xfrm>
          <a:prstGeom prst="ellipse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892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178D4"/>
                </a:solidFill>
                <a:latin typeface="Aptos"/>
              </a:defRPr>
            </a:pPr>
            <a:r>
              <a:t>⚡ Parallel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0749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ptos"/>
              </a:defRPr>
            </a:pPr>
            <a:r>
              <a:t>8 AI agents worked concurrently per wave across assessment, migration, validation, and documentation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5330952"/>
            <a:ext cx="164592" cy="16459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5303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050"/>
                </a:solidFill>
                <a:latin typeface="Aptos"/>
              </a:defRPr>
            </a:pPr>
            <a:r>
              <a:t>🔄 Golden Pattern reuse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4864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ptos"/>
              </a:defRPr>
            </a:pPr>
            <a:r>
              <a:t>One proven template replicated across 15 apps — 80% identical config, only app-specific values changed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5742432"/>
            <a:ext cx="164592" cy="164592"/>
          </a:xfrm>
          <a:prstGeom prst="ellipse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5715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E8B00"/>
                </a:solidFill>
                <a:latin typeface="Aptos"/>
              </a:defRPr>
            </a:pPr>
            <a:r>
              <a:t>📋 Docs as 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8978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ptos"/>
              </a:defRPr>
            </a:pPr>
            <a:r>
              <a:t>Full per-app documentation, cross-app comparison reports, and architecture diagrams generated inline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0" y="6153911"/>
            <a:ext cx="164592" cy="164592"/>
          </a:xfrm>
          <a:prstGeom prst="ellipse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612647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63668"/>
                </a:solidFill>
                <a:latin typeface="Aptos"/>
              </a:defRPr>
            </a:pPr>
            <a:r>
              <a:t>🔧 Self-correcting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6309359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Aptos"/>
              </a:defRPr>
            </a:pPr>
            <a:r>
              <a:t>Root-cause patterns discovered once and applied preventively across the entire portfolio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✈️  LATAM Airlines Peru — Outcomes &amp;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11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2697480" cy="1645920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Apps Modernized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8F0"/>
                </a:solidFill>
                <a:latin typeface="Aptos"/>
              </a:defRPr>
            </a:pPr>
            <a:r>
              <a:t>Legacy .NET, VB.NET, Python</a:t>
            </a:r>
            <a:br/>
            <a:r>
              <a:t>to Azure App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914400"/>
            <a:ext cx="2697480" cy="164592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005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46304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Azure Deployments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8F0"/>
                </a:solidFill>
                <a:latin typeface="Aptos"/>
              </a:defRPr>
            </a:pPr>
            <a:r>
              <a:t>Unique App Service slots</a:t>
            </a:r>
            <a:br/>
            <a:r>
              <a:t>provisioned and validated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914400"/>
            <a:ext cx="2697480" cy="1645920"/>
          </a:xfrm>
          <a:prstGeom prst="round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005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42+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6304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Patterns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8F0"/>
                </a:solidFill>
                <a:latin typeface="Aptos"/>
              </a:defRPr>
            </a:pPr>
            <a:r>
              <a:t>Refactoring opportunities</a:t>
            </a:r>
            <a:br/>
            <a:r>
              <a:t>across the portfolio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914400"/>
            <a:ext cx="2697480" cy="1645920"/>
          </a:xfrm>
          <a:prstGeom prst="roundRect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0058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30–40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46304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Dev-Weeks Saved/Yr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783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E8F0"/>
                </a:solidFill>
                <a:latin typeface="Aptos"/>
              </a:defRPr>
            </a:pPr>
            <a:r>
              <a:t>Through shared components</a:t>
            </a:r>
            <a:br/>
            <a:r>
              <a:t>and eliminated duplication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43200"/>
            <a:ext cx="146304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Business Impact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3108960"/>
          <a:ext cx="114300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78408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Impact for Factory</a:t>
                      </a:r>
                    </a:p>
                  </a:txBody>
                  <a:tcPr>
                    <a:solidFill>
                      <a:srgbClr val="0178D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Delivery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Wave-based parallel delivery dramatically reduced end-to-end timeline vs. sequential app-by-app migration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Consistency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Every application validated against the same golden baseline — zero configuration drift across the portfolio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Predictability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Repeatable factory model with clear gate enforcement: Assess → Prepare → Migrate → Validate →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Team Efficiency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 engineer + 8 AI agents replaced the need for a large multi-person migration team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Complete Deliverables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Full documentation portfolio delivered alongside the migration — not as a separate 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Code Reduction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60–70% of infrastructure code duplication eliminated through shared golden patterns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274320" y="5166360"/>
            <a:ext cx="320040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Traditional vs. Copilot Squad Delivery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74320" y="548640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Traditional Approach</a:t>
                      </a:r>
                    </a:p>
                  </a:txBody>
                  <a:tcPr>
                    <a:solidFill>
                      <a:srgbClr val="4A4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DAFT — Copilot Squad Model</a:t>
                      </a:r>
                    </a:p>
                  </a:txBody>
                  <a:tcPr>
                    <a:solidFill>
                      <a:srgbClr val="4A4E6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Sequential: 1 app at a time through all phases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Parallel: 15 apps processed concurrently in waves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Large migration team (8–12 developers)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1 engineer + 8 specialized AI agents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Documentation as afterthought (separate phase)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Documentation generated as part of delivery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Knowledge locked in individual developers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Shared context, golden patterns, cross-app intelligence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Months of sequential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Aptos"/>
                        </a:defRPr>
                      </a:pPr>
                      <a:r>
                        <a:t>Weeks of parallel execution with consistent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274320" y="6263640"/>
            <a:ext cx="11430000" cy="411480"/>
          </a:xfrm>
          <a:prstGeom prst="roundRect">
            <a:avLst/>
          </a:prstGeom>
          <a:solidFill>
            <a:srgbClr val="F2F7FA"/>
          </a:solidFill>
          <a:ln w="254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178D4"/>
                </a:solidFill>
                <a:latin typeface="Aptos"/>
              </a:defRPr>
            </a:pPr>
            <a:r>
              <a:t>"15 applications, one factory model, full documentation, consistent quality. This is ready to replicate across every Factory engagement."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Use Scenario — LATAM MCSA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ptos"/>
              </a:defRPr>
            </a:pPr>
            <a:r>
              <a:t>Real-world Squad deployment — automating daily reporting in Accelerated Factory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03320" cy="2286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6459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1 hour/day manual PowerPoint updates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219 nominations, 90 columns, $22.2M ACR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Chasing PMs for slide updates daily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Static slides — no search or filtering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Knowledge locked in one person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188720"/>
            <a:ext cx="3703320" cy="2286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16459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Squad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3 Coder agents worked in parallel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Architect designed the full spec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React dashboard with live analytics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PowerPoint export preserved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Built in a single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703320" cy="228600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16459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1 hour → 2 minutes daily process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Searchable, filterable, visual data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Richer analytics for leadership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Automated PowerPoint generation</a:t>
            </a:r>
          </a:p>
          <a:p>
            <a:pPr>
              <a:spcAft>
                <a:spcPts val="400"/>
              </a:spcAft>
              <a:defRPr sz="1200" b="0">
                <a:solidFill>
                  <a:srgbClr val="333333"/>
                </a:solidFill>
                <a:latin typeface="Aptos"/>
              </a:defRPr>
            </a:pPr>
            <a:r>
              <a:t>  •  Anyone can run it (no dependency)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2560320" cy="292608"/>
          </a:xfrm>
          <a:prstGeom prst="rect">
            <a:avLst/>
          </a:prstGeom>
          <a:solidFill>
            <a:srgbClr val="4A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How the Squad Operated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114800"/>
            <a:ext cx="164592" cy="164592"/>
          </a:xfrm>
          <a:prstGeom prst="ellipse">
            <a:avLst/>
          </a:prstGeom>
          <a:solidFill>
            <a:srgbClr val="2A4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446F"/>
                </a:solidFill>
                <a:latin typeface="Aptos"/>
              </a:defRPr>
            </a:pPr>
            <a:r>
              <a:t>Architect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069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Analyzed 90-column data model, defined React+Vite+Tailwind spec, chose component architecture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480560"/>
            <a:ext cx="164592" cy="164592"/>
          </a:xfrm>
          <a:prstGeom prst="ellipse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8D4"/>
                </a:solidFill>
                <a:latin typeface="Aptos"/>
              </a:defRPr>
            </a:pPr>
            <a:r>
              <a:t>Coder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434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Built upload page, app shell, glassmorphism dark theme, responsive layout system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846320"/>
            <a:ext cx="164592" cy="164592"/>
          </a:xfrm>
          <a:prstGeom prst="ellipse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63668"/>
                </a:solidFill>
                <a:latin typeface="Aptos"/>
              </a:defRPr>
            </a:pPr>
            <a:r>
              <a:t>Coder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00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Built executive dashboard — KPI cards, ACR donut chart, region bars, pipeline chart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5212080"/>
            <a:ext cx="164592" cy="164592"/>
          </a:xfrm>
          <a:prstGeom prst="ellipse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66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E8B00"/>
                </a:solidFill>
                <a:latin typeface="Aptos"/>
              </a:defRPr>
            </a:pPr>
            <a:r>
              <a:t>Coder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166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Built nominations table, project detail view, analytics page, PowerPoint export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577840"/>
            <a:ext cx="164592" cy="164592"/>
          </a:xfrm>
          <a:prstGeom prst="ellipse">
            <a:avLst/>
          </a:prstGeom>
          <a:solidFill>
            <a:srgbClr val="225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5B62"/>
                </a:solidFill>
                <a:latin typeface="Aptos"/>
              </a:defRPr>
            </a:pPr>
            <a:r>
              <a:t>Scribe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532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Logged decisions (D-001, D-002), updated JOURNAL.md with build story and steering moments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943600"/>
            <a:ext cx="11338560" cy="365760"/>
          </a:xfrm>
          <a:prstGeom prst="roundRect">
            <a:avLst/>
          </a:prstGeom>
          <a:solidFill>
            <a:srgbClr val="F2F7FA"/>
          </a:solidFill>
          <a:ln w="19050">
            <a:solidFill>
              <a:srgbClr val="01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178D4"/>
                </a:solidFill>
                <a:latin typeface="Aptos"/>
              </a:defRPr>
            </a:pPr>
            <a:r>
              <a:t>IMPACT:  1 hour → 2 min daily  |  219 nominations searchable  |  $22.2M ACR tracked real-time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The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ptos"/>
              </a:defRPr>
            </a:pPr>
            <a:r>
              <a:t>From prompting to orchestration — from tools to teams — from ad-hoc to standardized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11612880" cy="15087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152144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78D4"/>
                </a:solidFill>
                <a:latin typeface="Aptos Display"/>
              </a:defRPr>
            </a:pPr>
            <a:r>
              <a:t>From Prompting → To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Stop writing individual prompts for each task. Start directing a team of specialists that coordinate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114800" cy="914400"/>
          </a:xfrm>
          <a:prstGeom prst="round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Engineer writes 50 prompts/day  →  Engineer directs 1 squad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926080"/>
            <a:ext cx="11612880" cy="15087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971800"/>
            <a:ext cx="11521440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050"/>
                </a:solidFill>
                <a:latin typeface="Aptos Display"/>
              </a:defRPr>
            </a:pPr>
            <a:r>
              <a:t>From Tools → To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Stop using AI as a single-purpose tool. Start deploying AI as a multi-agent delivery team with full project coverage.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3200400"/>
            <a:ext cx="4114800" cy="914400"/>
          </a:xfrm>
          <a:prstGeom prst="round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 Copilot per engineer  →  1 Squad of 5–7 agents per engineer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617720"/>
            <a:ext cx="11612880" cy="150876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663440"/>
            <a:ext cx="11521440" cy="45720"/>
          </a:xfrm>
          <a:prstGeom prst="rect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E8B00"/>
                </a:solidFill>
                <a:latin typeface="Aptos Display"/>
              </a:defRPr>
            </a:pPr>
            <a:r>
              <a:t>From Ad-hoc → To Standardized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ptos"/>
              </a:defRPr>
            </a:pPr>
            <a:r>
              <a:t>Stop relying on individual prompt engineering skill. Start using reusable agent configurations and shared skill libraries.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892040"/>
            <a:ext cx="4114800" cy="914400"/>
          </a:xfrm>
          <a:prstGeom prst="roundRect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Tribal knowledge  →  Portable, version-controlled team intelligence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92000" cy="594360"/>
          </a:xfrm>
          <a:prstGeom prst="rect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ptos"/>
              </a:defRPr>
            </a:pPr>
            <a:r>
              <a:t>A phased approach to adopt Copilot Squad in Accelerated Factory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188720"/>
            <a:ext cx="2834640" cy="48463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2743200" cy="45720"/>
          </a:xfrm>
          <a:prstGeom prst="rect">
            <a:avLst/>
          </a:prstGeom>
          <a:solidFill>
            <a:srgbClr val="01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1371600"/>
            <a:ext cx="411480" cy="411480"/>
          </a:xfrm>
          <a:prstGeom prst="ellipse">
            <a:avLst/>
          </a:prstGeom>
          <a:solidFill>
            <a:srgbClr val="01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78D4"/>
                </a:solidFill>
                <a:latin typeface="Aptos"/>
              </a:defRPr>
            </a:pPr>
            <a:r>
              <a:t>Phase 1: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ptos"/>
              </a:defRPr>
            </a:pPr>
            <a: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Select 2–3 Factory projects for Squad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9747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Equip pilot teams with Squad CLI + 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Measure: delivery speed, rework, satisfaction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86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Document learnings &amp; refine agent configs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1188720"/>
            <a:ext cx="2834640" cy="48463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234440"/>
            <a:ext cx="2743200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91840" y="1371600"/>
            <a:ext cx="411480" cy="41148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050"/>
                </a:solidFill>
                <a:latin typeface="Aptos"/>
              </a:defRPr>
            </a:pPr>
            <a:r>
              <a:t>Phase 2: Standardize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1691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ptos"/>
              </a:defRPr>
            </a:pPr>
            <a: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103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Define reusable Squad templates per offering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69747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Create standard agent roles for Factory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2918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Build shared skill libraries (Azure, migrations)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886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Establish governance &amp; review gate standards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188720"/>
            <a:ext cx="2834640" cy="48463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234440"/>
            <a:ext cx="2743200" cy="45720"/>
          </a:xfrm>
          <a:prstGeom prst="rect">
            <a:avLst/>
          </a:prstGeom>
          <a:solidFill>
            <a:srgbClr val="FE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3640" y="1371600"/>
            <a:ext cx="411480" cy="411480"/>
          </a:xfrm>
          <a:prstGeom prst="ellipse">
            <a:avLst/>
          </a:prstGeom>
          <a:solidFill>
            <a:srgbClr val="FE8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E8B00"/>
                </a:solidFill>
                <a:latin typeface="Aptos"/>
              </a:defRPr>
            </a:pPr>
            <a:r>
              <a:t>Phase 3: 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1691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ptos"/>
              </a:defRPr>
            </a:pPr>
            <a:r>
              <a:t>Q1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103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Train Factory teams on agent-driven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69747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Create onboarding materials &amp; best practices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918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Establish Squad Champions program per region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86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Host internal hackathon to build skills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188720"/>
            <a:ext cx="2834640" cy="4846320"/>
          </a:xfrm>
          <a:prstGeom prst="roundRect">
            <a:avLst/>
          </a:prstGeom>
          <a:solidFill>
            <a:srgbClr val="F8F8FA"/>
          </a:solidFill>
          <a:ln w="12700">
            <a:solidFill>
              <a:srgbClr val="D0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1234440"/>
            <a:ext cx="2743200" cy="45720"/>
          </a:xfrm>
          <a:prstGeom prst="rect">
            <a:avLst/>
          </a:prstGeom>
          <a:solidFill>
            <a:srgbClr val="463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5440" y="1371600"/>
            <a:ext cx="411480" cy="411480"/>
          </a:xfrm>
          <a:prstGeom prst="ellipse">
            <a:avLst/>
          </a:prstGeom>
          <a:solidFill>
            <a:srgbClr val="46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63668"/>
                </a:solidFill>
                <a:latin typeface="Aptos"/>
              </a:defRPr>
            </a:pPr>
            <a:r>
              <a:t>Phase 4: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1691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Aptos"/>
              </a:defRPr>
            </a:pPr>
            <a:r>
              <a:t>Q2 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1031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Roll out Squad as standard Factory pattern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69747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Integrate metrics into delivery dashboards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29183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Extend Squad to partner-led engagements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886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ptos"/>
              </a:defRPr>
            </a:pPr>
            <a:r>
              <a:t>•  Contribute back to Squad open-source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D0F0"/>
                </a:solidFill>
                <a:latin typeface="Segoe Sans Display Semibold"/>
              </a:defRPr>
            </a:pPr>
            <a:r>
              <a:t>Microsoft Accelerated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The Future of Factory Delivery</a:t>
            </a:r>
            <a:br/>
            <a:r>
              <a:t>is Agent-Driven.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5FF"/>
                </a:solidFill>
                <a:latin typeface="Aptos"/>
              </a:defRPr>
            </a:pPr>
            <a:r>
              <a:t>Copilot Squad transforms how Accelerated Factory delivers.</a:t>
            </a:r>
            <a:br/>
            <a:r>
              <a:t>From individual prompting to coordinated orchestration.</a:t>
            </a:r>
            <a:br/>
            <a:r>
              <a:t>From sequential bottlenecks to parallel execution at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200400" cy="1188720"/>
          </a:xfrm>
          <a:prstGeom prst="roundRect">
            <a:avLst/>
          </a:prstGeom>
          <a:solidFill>
            <a:srgbClr val="1555A0"/>
          </a:solidFill>
          <a:ln w="12700">
            <a:solidFill>
              <a:srgbClr val="409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🎯  Approve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D0F0"/>
                </a:solidFill>
                <a:latin typeface="Aptos"/>
              </a:defRPr>
            </a:pPr>
            <a:r>
              <a:t>Select 2–3 projects for Q3 2026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114800"/>
            <a:ext cx="3200400" cy="1188720"/>
          </a:xfrm>
          <a:prstGeom prst="roundRect">
            <a:avLst/>
          </a:prstGeom>
          <a:solidFill>
            <a:srgbClr val="1555A0"/>
          </a:solidFill>
          <a:ln w="12700">
            <a:solidFill>
              <a:srgbClr val="409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👥  Assign Champions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572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D0F0"/>
                </a:solidFill>
                <a:latin typeface="Aptos"/>
              </a:defRPr>
            </a:pPr>
            <a:r>
              <a:t>Identify leads per region to drive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114800"/>
            <a:ext cx="3200400" cy="1188720"/>
          </a:xfrm>
          <a:prstGeom prst="roundRect">
            <a:avLst/>
          </a:prstGeom>
          <a:solidFill>
            <a:srgbClr val="1555A0"/>
          </a:solidFill>
          <a:ln w="12700">
            <a:solidFill>
              <a:srgbClr val="409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📊  Define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572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D0F0"/>
                </a:solidFill>
                <a:latin typeface="Aptos"/>
              </a:defRPr>
            </a:pPr>
            <a:r>
              <a:t>Set success criteria for pilot measurement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A0C0"/>
                </a:solidFill>
                <a:latin typeface="Aptos"/>
              </a:defRPr>
            </a:pPr>
            <a:r>
              <a:t>References:  bradygaster.github.io/squad  |  Microsoft Build 2026 (Brady Gaster)  |  github.com/bradygaster/squad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Aptos"/>
              </a:defRPr>
            </a:pPr>
            <a:r>
              <a:t>CONFIDENTIAL  |  Microsoft Accelerated Factory  |  Copilot Squad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172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ptos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FY24 Global Customer Success">
  <a:themeElements>
    <a:clrScheme name="GCS">
      <a:dk1>
        <a:srgbClr val="1A1A1A"/>
      </a:dk1>
      <a:lt1>
        <a:srgbClr val="FFFFFF"/>
      </a:lt1>
      <a:dk2>
        <a:srgbClr val="2A446F"/>
      </a:dk2>
      <a:lt2>
        <a:srgbClr val="F2F2F2"/>
      </a:lt2>
      <a:accent1>
        <a:srgbClr val="D83B02"/>
      </a:accent1>
      <a:accent2>
        <a:srgbClr val="0178D4"/>
      </a:accent2>
      <a:accent3>
        <a:srgbClr val="FE8B00"/>
      </a:accent3>
      <a:accent4>
        <a:srgbClr val="00BCF2"/>
      </a:accent4>
      <a:accent5>
        <a:srgbClr val="463668"/>
      </a:accent5>
      <a:accent6>
        <a:srgbClr val="225B62"/>
      </a:accent6>
      <a:hlink>
        <a:srgbClr val="00BCF2"/>
      </a:hlink>
      <a:folHlink>
        <a:srgbClr val="274B47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E3795941-59EF-4171-B17A-5159030DBA48}" vid="{3A2A1809-9A9C-4605-B72D-992B45BBB6BE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1d963b9-1180-4647-93d7-d11aa08e2421" xsi:nil="true"/>
    <lcf76f155ced4ddcb4097134ff3c332f xmlns="f3541473-4e72-4c17-b1a6-32770bb766bd">
      <Terms xmlns="http://schemas.microsoft.com/office/infopath/2007/PartnerControls"/>
    </lcf76f155ced4ddcb4097134ff3c332f>
    <PrimeCorrectedByUser xmlns="31d963b9-1180-4647-93d7-d11aa08e2421" xsi:nil="true"/>
    <PrimeClassificationStatus xmlns="31d963b9-1180-4647-93d7-d11aa08e2421" xsi:nil="true"/>
    <Buckets xmlns="f3541473-4e72-4c17-b1a6-32770bb766bd" xsi:nil="true"/>
    <PrimeClassificationStatusDetails xmlns="31d963b9-1180-4647-93d7-d11aa08e2421" xsi:nil="true"/>
    <PrimeLastClassified xmlns="31d963b9-1180-4647-93d7-d11aa08e2421" xsi:nil="true"/>
    <Comments xmlns="f3541473-4e72-4c17-b1a6-32770bb766bd" xsi:nil="true"/>
    <ApprovedBy xmlns="f3541473-4e72-4c17-b1a6-32770bb766bd" xsi:nil="true"/>
    <ToBeMigrated_x003f_0 xmlns="f3541473-4e72-4c17-b1a6-32770bb766bd">true</ToBeMigrated_x003f_0>
    <ContentCategory xmlns="f3541473-4e72-4c17-b1a6-32770bb766bd" xsi:nil="true"/>
    <ToBeMigrated_x003f_ xmlns="f3541473-4e72-4c17-b1a6-32770bb766bd">true</ToBeMigrated_x003f_>
    <MigrationStatus xmlns="f3541473-4e72-4c17-b1a6-32770bb766bd" xsi:nil="true"/>
    <MigrationApproved xmlns="f3541473-4e72-4c17-b1a6-32770bb766bd">true</MigrationApprove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F5606B695A84A87B74917185224FA" ma:contentTypeVersion="35" ma:contentTypeDescription="Create a new document." ma:contentTypeScope="" ma:versionID="780f07036e1844f54aa521de4e75515b">
  <xsd:schema xmlns:xsd="http://www.w3.org/2001/XMLSchema" xmlns:xs="http://www.w3.org/2001/XMLSchema" xmlns:p="http://schemas.microsoft.com/office/2006/metadata/properties" xmlns:ns1="http://schemas.microsoft.com/sharepoint/v3" xmlns:ns2="f3541473-4e72-4c17-b1a6-32770bb766bd" xmlns:ns3="31d963b9-1180-4647-93d7-d11aa08e2421" targetNamespace="http://schemas.microsoft.com/office/2006/metadata/properties" ma:root="true" ma:fieldsID="5f4092ba07087a62a5026b82b14c4bf7" ns1:_="" ns2:_="" ns3:_="">
    <xsd:import namespace="http://schemas.microsoft.com/sharepoint/v3"/>
    <xsd:import namespace="f3541473-4e72-4c17-b1a6-32770bb766bd"/>
    <xsd:import namespace="31d963b9-1180-4647-93d7-d11aa08e24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TranslatedLang" minOccurs="0"/>
                <xsd:element ref="ns2:MediaServiceBillingMetadata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2:Buckets" minOccurs="0"/>
                <xsd:element ref="ns2:MediaServiceLocation" minOccurs="0"/>
                <xsd:element ref="ns2:Comments" minOccurs="0"/>
                <xsd:element ref="ns2:ToBeMigrated_x003f_" minOccurs="0"/>
                <xsd:element ref="ns2:ToBeMigrated_x003f_0" minOccurs="0"/>
                <xsd:element ref="ns2:ApprovedBy" minOccurs="0"/>
                <xsd:element ref="ns2:MigrationApproved" minOccurs="0"/>
                <xsd:element ref="ns2:MigrationStatus" minOccurs="0"/>
                <xsd:element ref="ns2:Content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541473-4e72-4c17-b1a6-32770bb76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20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5" nillable="true" ma:displayName="TranslatedLang" ma:hidden="true" ma:internalName="TranslatedLang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Text"/>
      </xsd:simpleType>
    </xsd:element>
    <xsd:element name="Buckets" ma:index="31" nillable="true" ma:displayName="Buckets" ma:description="Describes the content and where it sits within Seismic" ma:format="Dropdown" ma:internalName="Bucket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ustomer"/>
                    <xsd:enumeration value="Field"/>
                    <xsd:enumeration value="Partner"/>
                    <xsd:enumeration value="Intake Nomination"/>
                    <xsd:enumeration value="RACI"/>
                  </xsd:restriction>
                </xsd:simpleType>
              </xsd:element>
            </xsd:sequence>
          </xsd:extension>
        </xsd:complexContent>
      </xsd:complexType>
    </xsd:element>
    <xsd:element name="MediaServiceLocation" ma:index="32" nillable="true" ma:displayName="Location" ma:description="" ma:indexed="true" ma:internalName="MediaServiceLocation" ma:readOnly="true">
      <xsd:simpleType>
        <xsd:restriction base="dms:Text"/>
      </xsd:simpleType>
    </xsd:element>
    <xsd:element name="Comments" ma:index="33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ToBeMigrated_x003f_" ma:index="34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">
      <xsd:simpleType>
        <xsd:restriction base="dms:Boolean"/>
      </xsd:simpleType>
    </xsd:element>
    <xsd:element name="ToBeMigrated_x003f_0" ma:index="35" nillable="true" ma:displayName="To Be Migrated?" ma:default="1" ma:description="Indicates whether this folder or content is intended to be migrated to the new SharePoint location. Set to Yes only after reviewing relevance, ownership, and usefulness." ma:format="Dropdown" ma:internalName="ToBeMigrated_x003f_0">
      <xsd:simpleType>
        <xsd:restriction base="dms:Boolean"/>
      </xsd:simpleType>
    </xsd:element>
    <xsd:element name="ApprovedBy" ma:index="36" nillable="true" ma:displayName="Approved By" ma:description="Identifies the individual who approved the migration of this content to the new SharePoint location. Used for audit and accountability purposes." ma:format="Dropdown" ma:internalName="ApprovedBy">
      <xsd:simpleType>
        <xsd:restriction base="dms:Text">
          <xsd:maxLength value="255"/>
        </xsd:restriction>
      </xsd:simpleType>
    </xsd:element>
    <xsd:element name="MigrationApproved" ma:index="37" nillable="true" ma:displayName="Migration Approved" ma:default="1" ma:description="Shows the approval decision for migrating this content. Content should be migrated only when the status is set to Approved." ma:format="Dropdown" ma:internalName="MigrationApproved">
      <xsd:simpleType>
        <xsd:restriction base="dms:Boolean"/>
      </xsd:simpleType>
    </xsd:element>
    <xsd:element name="MigrationStatus" ma:index="38" nillable="true" ma:displayName="Migration Status" ma:description="Tracks the current state of the migration activity for this content, from planning through completion or exception handling." ma:format="Dropdown" ma:internalName="MigrationStatus">
      <xsd:simpleType>
        <xsd:restriction base="dms:Text">
          <xsd:maxLength value="255"/>
        </xsd:restriction>
      </xsd:simpleType>
    </xsd:element>
    <xsd:element name="ContentCategory" ma:index="39" nillable="true" ma:displayName="Content Category" ma:description="Classifies the business nature of the content to support migration decisions, prioritization, and future governance." ma:format="Dropdown" ma:internalName="ContentCategory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d963b9-1180-4647-93d7-d11aa08e242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00b8a8-7722-4866-9ef1-0499ba3ec9e1}" ma:internalName="TaxCatchAll" ma:showField="CatchAllData" ma:web="31d963b9-1180-4647-93d7-d11aa08e24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7" nillable="true" ma:displayName="Processing status" ma:internalName="PrimeClassificationStatus">
      <xsd:simpleType>
        <xsd:restriction base="dms:Text"/>
      </xsd:simpleType>
    </xsd:element>
    <xsd:element name="PrimeClassificationStatusDetails" ma:index="28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9" nillable="true" ma:displayName="Processed" ma:internalName="PrimeLastClassified">
      <xsd:simpleType>
        <xsd:restriction base="dms:DateTime"/>
      </xsd:simpleType>
    </xsd:element>
    <xsd:element name="PrimeCorrectedByUser" ma:index="30" nillable="true" ma:displayName="Corrected" ma:internalName="PrimeCorrectedByUser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55CB52-33A3-4B47-8C1D-0EE24875E3DC}">
  <ds:schemaRefs>
    <ds:schemaRef ds:uri="http://schemas.microsoft.com/sharepoint/v3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1d963b9-1180-4647-93d7-d11aa08e2421"/>
    <ds:schemaRef ds:uri="f3541473-4e72-4c17-b1a6-32770bb766bd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7418BF-5125-468A-8024-F23D251B58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3541473-4e72-4c17-b1a6-32770bb766bd"/>
    <ds:schemaRef ds:uri="31d963b9-1180-4647-93d7-d11aa08e24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6953</TotalTime>
  <Words>15713</Words>
  <Application>Microsoft Office PowerPoint</Application>
  <PresentationFormat>Widescreen</PresentationFormat>
  <Paragraphs>4452</Paragraphs>
  <Slides>56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56</vt:i4>
      </vt:variant>
    </vt:vector>
  </HeadingPairs>
  <TitlesOfParts>
    <vt:vector size="70" baseType="lpstr">
      <vt:lpstr>Aptos</vt:lpstr>
      <vt:lpstr>Aptos Display</vt:lpstr>
      <vt:lpstr>Aptos Narrow</vt:lpstr>
      <vt:lpstr>Arial</vt:lpstr>
      <vt:lpstr>Arial,Sans-Serif</vt:lpstr>
      <vt:lpstr>Calibri</vt:lpstr>
      <vt:lpstr>Segoe Sans Display Semibold</vt:lpstr>
      <vt:lpstr>Segoe Sans Text</vt:lpstr>
      <vt:lpstr>Segoe UI</vt:lpstr>
      <vt:lpstr>Segoe UI Semibold</vt:lpstr>
      <vt:lpstr>Wingdings</vt:lpstr>
      <vt:lpstr>FY24 Global Customer Success</vt:lpstr>
      <vt:lpstr>1_Office Theme</vt:lpstr>
      <vt:lpstr>3_office theme</vt:lpstr>
      <vt:lpstr>Accounts Status – Area LATAM (MCSA)  Reporting Period – 04/03/2026 – 04/09/2026    Date : April 10, 2026 Generated By: Mani Kunda</vt:lpstr>
      <vt:lpstr>PowerPoint Presentation</vt:lpstr>
      <vt:lpstr>LATAM (MCSA) Nominations – Help required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LATAM (MCSA) Nominations – Stage 2 (1/2)</vt:lpstr>
      <vt:lpstr>LATAM (MCSA) Nominations – Stage 2 (2/2)</vt:lpstr>
      <vt:lpstr>LATAM (MCSA) Nominations – Stage 3</vt:lpstr>
      <vt:lpstr>LATAM (MCSA) Nominations – Stage 4 (1/2)</vt:lpstr>
      <vt:lpstr>LATAM (MCSA) Nominations – Stage 4 (2/2)</vt:lpstr>
      <vt:lpstr>LATAM (MCSA) Nominations – Stage 1</vt:lpstr>
      <vt:lpstr>LATAM (MCSA) Nominations – Deferred</vt:lpstr>
      <vt:lpstr>LATAM (MCSA) Nominations – Deferred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Sign off</dc:title>
  <dc:creator>Ancy Alexander (International Supplier)</dc:creator>
  <cp:keywords>CMF;</cp:keywords>
  <cp:lastModifiedBy>Misa Breton (International Supplier)</cp:lastModifiedBy>
  <cp:revision>45</cp:revision>
  <dcterms:created xsi:type="dcterms:W3CDTF">2024-07-26T14:11:23Z</dcterms:created>
  <dcterms:modified xsi:type="dcterms:W3CDTF">2026-04-10T13:35:33Z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0x010100CC4F5606B695A84A87B74917185224FA</vt:lpwstr>
  </property>
  <property fmtid="{D5CDD505-2E9C-101B-9397-08002B2CF9AE}" pid="3" name="_dlc_DocIdItemGuid">
    <vt:lpwstr>36da67c7-b504-4aea-865b-0e87cedc899d</vt:lpwstr>
  </property>
  <property fmtid="{D5CDD505-2E9C-101B-9397-08002B2CF9AE}" pid="4" name="MediaServiceImageTags">
    <vt:lpwstr/>
  </property>
</Properties>
</file>