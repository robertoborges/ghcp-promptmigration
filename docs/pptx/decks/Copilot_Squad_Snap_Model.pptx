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0" r:id="rId4"/>
    <p:sldMasterId id="2147483893" r:id="rId5"/>
    <p:sldMasterId id="2147483931" r:id="rId6"/>
  </p:sldMasterIdLst>
  <p:notesMasterIdLst>
    <p:notesMasterId r:id="rId63"/>
  </p:notesMasterIdLst>
  <p:handoutMasterIdLst>
    <p:handoutMasterId r:id="rId64"/>
  </p:handoutMasterIdLst>
  <p:sldIdLst>
    <p:sldId id="256" r:id="rId15"/>
    <p:sldId id="257" r:id="rId16"/>
    <p:sldId id="258" r:id="rId17"/>
    <p:sldId id="259" r:id="rId18"/>
    <p:sldId id="260" r:id="rId19"/>
    <p:sldId id="261" r:id="rId20"/>
    <p:sldId id="262" r:id="rId21"/>
    <p:sldId id="263" r:id="rId22"/>
    <p:sldId id="264" r:id="rId23"/>
    <p:sldId id="265" r:id="rId24"/>
    <p:sldId id="266" r:id="rId25"/>
    <p:sldId id="267" r:id="rId26"/>
    <p:sldId id="268" r:id="rId27"/>
    <p:sldId id="269" r:id="rId28"/>
    <p:sldId id="270"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B45EA2D-1AF0-34E0-A8D1-7DC498B324C6}" name="Leonardo Miller (International Supplier)" initials="LS" userId="S::v-lemiller@microsoft.com::b0ce1011-fe8a-48ce-b2f3-38c535a7b86f" providerId="AD"/>
  <p188:author id="{FC373C85-ECD1-2EBC-3625-F268C6A7DD7A}" name="Rajesh Doddapaneni (International Supplier)" initials="RD" userId="S::v-rajeshdo@microsoft.com::ee900ee1-8550-492f-8251-d7fc83307c82" providerId="AD"/>
  <p188:author id="{7C0DA9EE-7FEB-4CFD-0381-2DB8493D0D32}" name="Sunil Babu A V (International Supplier)" initials="SA" userId="S::v-veammi@microsoft.com::440459d4-1f85-4015-ac68-7529db05610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50"/>
    <a:srgbClr val="FFDF7D"/>
    <a:srgbClr val="FE8B00"/>
    <a:srgbClr val="F2F7FA"/>
    <a:srgbClr val="6C7E9C"/>
    <a:srgbClr val="C71C0F"/>
    <a:srgbClr val="66FF99"/>
    <a:srgbClr val="DEF6DF"/>
    <a:srgbClr val="66B3E4"/>
    <a:srgbClr val="7FA3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110926-E7D1-4FF0-AB29-7A94F8F28BDE}" v="159" dt="2026-04-10T07:32:52.5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122" autoAdjust="0"/>
    <p:restoredTop sz="89212" autoAdjust="0"/>
  </p:normalViewPr>
  <p:slideViewPr>
    <p:cSldViewPr snapToGrid="0">
      <p:cViewPr varScale="1">
        <p:scale>
          <a:sx n="98" d="100"/>
          <a:sy n="98"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15" Type="http://schemas.openxmlformats.org/officeDocument/2006/relationships/slide" Target="slides/slide1.xml"/><Relationship Id="rId16" Type="http://schemas.openxmlformats.org/officeDocument/2006/relationships/slide" Target="slides/slide2.xml"/><Relationship Id="rId17" Type="http://schemas.openxmlformats.org/officeDocument/2006/relationships/slide" Target="slides/slide3.xml"/><Relationship Id="rId18" Type="http://schemas.openxmlformats.org/officeDocument/2006/relationships/slide" Target="slides/slide4.xml"/><Relationship Id="rId19" Type="http://schemas.openxmlformats.org/officeDocument/2006/relationships/slide" Target="slides/slide5.xml"/><Relationship Id="rId20" Type="http://schemas.openxmlformats.org/officeDocument/2006/relationships/slide" Target="slides/slide6.xml"/><Relationship Id="rId21" Type="http://schemas.openxmlformats.org/officeDocument/2006/relationships/slide" Target="slides/slide7.xml"/><Relationship Id="rId22" Type="http://schemas.openxmlformats.org/officeDocument/2006/relationships/slide" Target="slides/slide8.xml"/><Relationship Id="rId23" Type="http://schemas.openxmlformats.org/officeDocument/2006/relationships/slide" Target="slides/slide9.xml"/><Relationship Id="rId24" Type="http://schemas.openxmlformats.org/officeDocument/2006/relationships/slide" Target="slides/slide10.xml"/><Relationship Id="rId25" Type="http://schemas.openxmlformats.org/officeDocument/2006/relationships/slide" Target="slides/slide11.xml"/><Relationship Id="rId26" Type="http://schemas.openxmlformats.org/officeDocument/2006/relationships/slide" Target="slides/slide12.xml"/><Relationship Id="rId27" Type="http://schemas.openxmlformats.org/officeDocument/2006/relationships/slide" Target="slides/slide13.xml"/><Relationship Id="rId28" Type="http://schemas.openxmlformats.org/officeDocument/2006/relationships/slide" Target="slides/slide14.xml"/><Relationship Id="rId29" Type="http://schemas.openxmlformats.org/officeDocument/2006/relationships/slide" Target="slides/slide15.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 Id="rId69" Type="http://schemas.microsoft.com/office/2015/10/relationships/revisionInfo" Target="revisionInfo.xml"/><Relationship Id="rId70"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C412D67-2B4E-9F55-6EDC-F2256BD0218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5668C3D-E520-C942-CFB7-27E263C06F0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D5296E7-6EEA-4CEF-8F27-97AAB1939405}" type="datetimeFigureOut">
              <a:rPr lang="en-US" smtClean="0"/>
              <a:t>4/10/2026</a:t>
            </a:fld>
            <a:endParaRPr lang="en-US"/>
          </a:p>
        </p:txBody>
      </p:sp>
      <p:sp>
        <p:nvSpPr>
          <p:cNvPr id="4" name="Footer Placeholder 3">
            <a:extLst>
              <a:ext uri="{FF2B5EF4-FFF2-40B4-BE49-F238E27FC236}">
                <a16:creationId xmlns:a16="http://schemas.microsoft.com/office/drawing/2014/main" id="{15EDE418-482A-7A43-F10A-2705951C158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43D5FD8-B708-FF93-D8FD-7A2F3AD6180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978EA95-EEDE-466E-B94C-8B572EEF9CB7}" type="slidenum">
              <a:rPr lang="en-US" smtClean="0"/>
              <a:t>‹#›</a:t>
            </a:fld>
            <a:endParaRPr lang="en-US"/>
          </a:p>
        </p:txBody>
      </p:sp>
    </p:spTree>
    <p:extLst>
      <p:ext uri="{BB962C8B-B14F-4D97-AF65-F5344CB8AC3E}">
        <p14:creationId xmlns:p14="http://schemas.microsoft.com/office/powerpoint/2010/main" val="6989948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B36652-5418-49D0-B2AF-7B23846B1C09}" type="datetimeFigureOut">
              <a:rPr lang="en-IN" smtClean="0"/>
              <a:t>10-04-2026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6800DA-E989-494E-83A7-D0E15226734A}" type="slidenum">
              <a:rPr lang="en-IN" smtClean="0"/>
              <a:t>‹#›</a:t>
            </a:fld>
            <a:endParaRPr lang="en-IN"/>
          </a:p>
        </p:txBody>
      </p:sp>
    </p:spTree>
    <p:extLst>
      <p:ext uri="{BB962C8B-B14F-4D97-AF65-F5344CB8AC3E}">
        <p14:creationId xmlns:p14="http://schemas.microsoft.com/office/powerpoint/2010/main" val="2462255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Welcome everyone. Today we're going to walk through a fundamental shift in how we run the Accelerate Factory. We're moving from manual, portal-driven execution to an AI-driven model where agents do the repetitive work and teams focus on decisions.</a:t>
            </a:r>
          </a:p>
          <a:p/>
          <a:p>
            <a:r>
              <a:t>WHY IT MATTERS:</a:t>
            </a:r>
          </a:p>
          <a:p>
            <a:r>
              <a:t>Right now, every engagement starts from scratch. Teams rebuild the same agents, write the same templates, and sit through the same status meetings. That doesn't scale. This model fixes it.</a:t>
            </a:r>
          </a:p>
          <a:p/>
          <a:p>
            <a:r>
              <a:t>SCENARIO:</a:t>
            </a:r>
          </a:p>
          <a:p>
            <a:r>
              <a:t>Imagine a new project kicks off next Monday. Instead of spending two weeks assembling a team and writing infrastructure from scratch, the lead runs one command and gets a pre-configured squad with agents, prompts, patterns, and routing rules -- ready to execute in hours, not weeks.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Let's be honest about where we are. Four problems are holding us back, and they compound.</a:t>
            </a:r>
          </a:p>
          <a:p/>
          <a:p>
            <a:r>
              <a:t>First, portal-driven execution. Clicking through the Azure Portal is not scalable. It's not auditable, it's not repeatable, and it's slow.</a:t>
            </a:r>
          </a:p>
          <a:p/>
          <a:p>
            <a:r>
              <a:t>Second, duplication. We had three teams last quarter building similar backend services. Each wrote their own IaC templates from scratch. None knew the others existed.</a:t>
            </a:r>
          </a:p>
          <a:p/>
          <a:p>
            <a:r>
              <a:t>Third, meetings. We're spending over 12 hours a week in coordination meetings. That's not collaboration -- that's a symptom of missing automation.</a:t>
            </a:r>
          </a:p>
          <a:p/>
          <a:p>
            <a:r>
              <a:t>Fourth, no memory. When a project ends, the knowledge walks out the door. The next team starts from zero.</a:t>
            </a:r>
          </a:p>
          <a:p/>
          <a:p>
            <a:r>
              <a:t>WHY IT MATTERS:</a:t>
            </a:r>
          </a:p>
          <a:p>
            <a:r>
              <a:t>These aren't minor inefficiencies. They're structural problems that get worse as we scale.</a:t>
            </a:r>
          </a:p>
          <a:p/>
          <a:p>
            <a:r>
              <a:t>SCENARIO:</a:t>
            </a:r>
          </a:p>
          <a:p>
            <a:r>
              <a:t>Last quarter, Project Alpha spent 3 weeks building an IaC framework that Project Beta had already built two months earlier. Neither team knew.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The fundamental issue: our current model scales linearly. Every new project costs the same as the last one. We don't get faster, we just get bigger.</a:t>
            </a:r>
          </a:p>
          <a:p/>
          <a:p>
            <a:r>
              <a:t>Look at the math on the right. Five projects means five times the setup, five times the templates, five times the coordination. Ten projects? Ten times everything.</a:t>
            </a:r>
          </a:p>
          <a:p/>
          <a:p>
            <a:r>
              <a:t>The model we're proposing flips this. Shared agents mean you build once and reuse forever. The tenth project is dramatically cheaper than the first.</a:t>
            </a:r>
          </a:p>
          <a:p/>
          <a:p>
            <a:r>
              <a:t>WHY IT MATTERS:</a:t>
            </a:r>
          </a:p>
          <a:p>
            <a:r>
              <a:t>Factory leadership is asking us to double throughput without doubling headcount. That's only possible if we stop doing the same work over and over.</a:t>
            </a:r>
          </a:p>
          <a:p/>
          <a:p>
            <a:r>
              <a:t>SCENARIO:</a:t>
            </a:r>
          </a:p>
          <a:p>
            <a:r>
              <a:t>We currently onboard a new team in 2-3 weeks. With shared agents and snap presets, that drops to hours. The agents carry the institutional knowledge.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Here's the vision. Three building blocks, each with a clear job.</a:t>
            </a:r>
          </a:p>
          <a:p/>
          <a:p>
            <a:r>
              <a:t>Central Squad is the brain. It owns the shared agents, the standards, and the institutional memory. Think of it as the control plane for all delivery.</a:t>
            </a:r>
          </a:p>
          <a:p/>
          <a:p>
            <a:r>
              <a:t>Snap Squads are the playbook. Pre-built team configurations that define which agents, roles, and workflows a team needs. You initialize one with a single command.</a:t>
            </a:r>
          </a:p>
          <a:p/>
          <a:p>
            <a:r>
              <a:t>SubSquads are the execution engines. They pull a Snap preset, configure it for the specific engagement, and deliver. When they're done, improvements flow back to Central.</a:t>
            </a:r>
          </a:p>
          <a:p/>
          <a:p>
            <a:r>
              <a:t>WHY IT MATTERS:</a:t>
            </a:r>
          </a:p>
          <a:p>
            <a:r>
              <a:t>This separation means you can scale execution without scaling complexity. Central manages quality. Snaps manage consistency. SubSquads manage speed.</a:t>
            </a:r>
          </a:p>
          <a:p/>
          <a:p>
            <a:r>
              <a:t>SCENARIO:</a:t>
            </a:r>
          </a:p>
          <a:p>
            <a:r>
              <a:t>A new Azure migration engagement starts. The lead selects the 'cloud-migration' Snap preset. In minutes, they have a SubSquad with IaC agents, migration agents, QA agents, and documentation agents -- all pre-configured and ready to go.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This is the hub-and-spoke model. Central Squad sits in the middle. SubSquads orbit around it.</a:t>
            </a:r>
          </a:p>
          <a:p/>
          <a:p>
            <a:r>
              <a:t>Central owns five things: the agent registry, the Snap preset library, shared prompts and patterns, governance gates, and institutional memory.</a:t>
            </a:r>
          </a:p>
          <a:p/>
          <a:p>
            <a:r>
              <a:t>Each SubSquad pulls what it needs from Central, configures for its specific project, and executes. When they find improvements, those flow back to Central so every team benefits.</a:t>
            </a:r>
          </a:p>
          <a:p/>
          <a:p>
            <a:r>
              <a:t>WHY IT MATTERS:</a:t>
            </a:r>
          </a:p>
          <a:p>
            <a:r>
              <a:t>Without a central hub, every team reinvents the wheel. With it, we get compounding returns -- the more teams use the system, the better it gets for everyone.</a:t>
            </a:r>
          </a:p>
          <a:p/>
          <a:p>
            <a:r>
              <a:t>SCENARIO:</a:t>
            </a:r>
          </a:p>
          <a:p>
            <a:r>
              <a:t>SubSquad B is working on an AI integration project. They pull the AI agent and the IaC agent from Central. During the project, they improve the AI agent's prompt for Azure OpenAI deployments. They submit that improvement back. Now SubSquad D can use the improved agent next month.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A Snap is like a Docker image for teams. It defines everything a squad needs: which roles exist, which agents fill them, how work gets routed, and what memory structures are used.</a:t>
            </a:r>
          </a:p>
          <a:p/>
          <a:p>
            <a:r>
              <a:t>You initialize one with a single command. The Snap creates the .squad directory, populates agent charters, sets up routing rules, and configures session memory.</a:t>
            </a:r>
          </a:p>
          <a:p/>
          <a:p>
            <a:r>
              <a:t>We currently have four presets. 'Default' is the generalist -- nine agents covering all domains. 'Fast' is minimal for quick tasks. 'Mentors' adds coaching capabilities. 'Specialists' goes deep.</a:t>
            </a:r>
          </a:p>
          <a:p/>
          <a:p>
            <a:r>
              <a:t>WHY IT MATTERS:</a:t>
            </a:r>
          </a:p>
          <a:p>
            <a:r>
              <a:t>Without Snaps, every new project starts with 'who's on the team and what tools do we use?' With Snaps, that question is already answered. You just configure for your specific engagement.</a:t>
            </a:r>
          </a:p>
          <a:p/>
          <a:p>
            <a:r>
              <a:t>SCENARIO:</a:t>
            </a:r>
          </a:p>
          <a:p>
            <a:r>
              <a:t>A team lead needs to spin up a product launch readiness review. They run the command shown here. In seconds, they have an Architect for system design, a Tester for edge cases, a DevRel for docs, and a GitOps agent for release management -- all pre-configured.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Here's a real example. The Default squad preset gives you nine agents, each with a clear domain.</a:t>
            </a:r>
          </a:p>
          <a:p/>
          <a:p>
            <a:r>
              <a:t>Architect handles system design and scope. Coder implements. Tester validates. DevRel writes docs. GitOps manages releases. And so on.</a:t>
            </a:r>
          </a:p>
          <a:p/>
          <a:p>
            <a:r>
              <a:t>The routing rules at the bottom show how work gets dispatched automatically. When code changes, Coder leads and Tester validates. When architecture decisions are needed, Architect leads and Coder implements. No one has to manually assign work.</a:t>
            </a:r>
          </a:p>
          <a:p/>
          <a:p>
            <a:r>
              <a:t>WHY IT MATTERS:</a:t>
            </a:r>
          </a:p>
          <a:p>
            <a:r>
              <a:t>This eliminates the 'who should do this?' question that slows down every team. The routing rules are defined once in the Snap and applied consistently across every engagement.</a:t>
            </a:r>
          </a:p>
          <a:p/>
          <a:p>
            <a:r>
              <a:t>SCENARIO:</a:t>
            </a:r>
          </a:p>
          <a:p>
            <a:r>
              <a:t>A pull request comes in with infrastructure changes. The routing rules automatically engage the Architect for review, the Coder for implementation guidance, and the Tester for validation. No meeting needed. No Slack message. It just happens.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Here's how SubSquads actually work. Five steps: select a Snap, pull agents, configure, execute, and contribute back.</a:t>
            </a:r>
          </a:p>
          <a:p/>
          <a:p>
            <a:r>
              <a:t>The key insight is step 3: configure, don't modify. You never change the shared agent logic. You set project-specific inputs through configuration files -- CLAUDE.md, routing.md, environment variables.</a:t>
            </a:r>
          </a:p>
          <a:p/>
          <a:p>
            <a:r>
              <a:t>At the bottom, you can see how multiple SubSquads run in parallel. Alpha is doing a migration, Beta is building an API platform, Gamma is working on data pipelines. They all pull from the same Central Squad, but they're independent in execution.</a:t>
            </a:r>
          </a:p>
          <a:p/>
          <a:p>
            <a:r>
              <a:t>WHY IT MATTERS:</a:t>
            </a:r>
          </a:p>
          <a:p>
            <a:r>
              <a:t>Parallel execution without shared agents means chaos. With shared agents and clear boundaries, you get speed AND consistency.</a:t>
            </a:r>
          </a:p>
          <a:p/>
          <a:p>
            <a:r>
              <a:t>SCENARIO:</a:t>
            </a:r>
          </a:p>
          <a:p>
            <a:r>
              <a:t>Last month we had three SubSquads running simultaneously. Because they all used the same IaC agent, all three deployed infrastructure the same way. When one team found a Bicep optimization, the other two got it automatically through Central.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Agents aren't throwaway scripts. They're organizational assets with a proper lifecycle.</a:t>
            </a:r>
          </a:p>
          <a:p/>
          <a:p>
            <a:r>
              <a:t>Create with a clear charter. Validate that it works in isolation with no client data. Publish through a PR with peer review. Then teams reuse it, improve it, and version it.</a:t>
            </a:r>
          </a:p>
          <a:p/>
          <a:p>
            <a:r>
              <a:t>The governance gates at the bottom are non-negotiable. Security scan, isolation test, peer review, and documentation. Every agent must pass all four before it enters the Central catalog.</a:t>
            </a:r>
          </a:p>
          <a:p/>
          <a:p>
            <a:r>
              <a:t>WHY IT MATTERS:</a:t>
            </a:r>
          </a:p>
          <a:p>
            <a:r>
              <a:t>Without governance, shared agents become a liability. One team embeds client data, another breaks backward compatibility, and suddenly the whole system is unreliable.</a:t>
            </a:r>
          </a:p>
          <a:p/>
          <a:p>
            <a:r>
              <a:t>SCENARIO:</a:t>
            </a:r>
          </a:p>
          <a:p>
            <a:r>
              <a:t>A Coder agent gets improved by SubSquad Alpha to handle Azure Functions v4 better. They submit a PR. The Architect reviews it, the security scan passes, isolation test confirms it's generic. It's published as v1.2.0. Every SubSquad using the Coder agent gets the improvement.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Snaps have their own lifecycle, separate from individual agents. Seven stages: create, validate, publish, adopt, improve, version, and eventually retire.</a:t>
            </a:r>
          </a:p>
          <a:p/>
          <a:p>
            <a:r>
              <a:t>The key difference from the agent lifecycle: Snaps are compositions. They bundle multiple agents together with routing rules and memory structures. When you version a Snap, you're versioning the entire team configuration.</a:t>
            </a:r>
          </a:p>
          <a:p/>
          <a:p>
            <a:r>
              <a:t>Notice the 'Retire' stage. Not every Snap lives forever. When a better configuration emerges, the old one gets retired gracefully.</a:t>
            </a:r>
          </a:p>
          <a:p/>
          <a:p>
            <a:r>
              <a:t>WHY IT MATTERS:</a:t>
            </a:r>
          </a:p>
          <a:p>
            <a:r>
              <a:t>Without lifecycle management, your Snap library becomes a junk drawer. Old presets that nobody maintains but everyone's afraid to delete. This lifecycle prevents that.</a:t>
            </a:r>
          </a:p>
          <a:p/>
          <a:p>
            <a:r>
              <a:t>SCENARIO:</a:t>
            </a:r>
          </a:p>
          <a:p>
            <a:r>
              <a:t>The 'fast' preset was originally just Coder + Tester. After six months, teams kept adding GitOps manually. Version 2.0 of the 'fast' preset now includes GitOps by default. Teams using v1.0 can upgrade when ready.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This is the flywheel. It's the most important concept in the entire model.</a:t>
            </a:r>
          </a:p>
          <a:p/>
          <a:p>
            <a:r>
              <a:t>Teams USE agents in real engagements. They IMPROVE them when they find gaps. They SHARE improvements back to Central. Central makes updated agents available for REUSE. More teams adopt, which SCALES the system. And the cycle repeats.</a:t>
            </a:r>
          </a:p>
          <a:p/>
          <a:p>
            <a:r>
              <a:t>Look at the bottom bar. Engagement 1 is your baseline. By engagement 5, you're 30% faster. By engagement 10, 50%. By engagement 20, 70%. That's compounding.</a:t>
            </a:r>
          </a:p>
          <a:p/>
          <a:p>
            <a:r>
              <a:t>WHY IT MATTERS:</a:t>
            </a:r>
          </a:p>
          <a:p>
            <a:r>
              <a:t>In the current model, engagement 20 is the same speed as engagement 1. We don't learn, we don't improve, we just repeat. The flywheel changes that fundamentally.</a:t>
            </a:r>
          </a:p>
          <a:p/>
          <a:p>
            <a:r>
              <a:t>SCENARIO:</a:t>
            </a:r>
          </a:p>
          <a:p>
            <a:r>
              <a:t>The IaC agent started as a basic Bicep template generator. After 8 engagements, it now handles multi-region deployments, disaster recovery patterns, and Azure Front Door configurations -- all because teams contributed improvements back. Team 9 gets all of that for free.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Here's how agents map to each Factory phase. Every column is a phase. Every bullet is an agent action.</a:t>
            </a:r>
          </a:p>
          <a:p/>
          <a:p>
            <a:r>
              <a:t>At Intake, agents scan requirements and auto-select the right Snap preset. At Design, they generate architecture decision records. At Build, SubSquads execute in parallel using shared agents. At Deploy, it's IaC-first -- no portal clicks. At Handover, docs and runbooks are auto-generated.</a:t>
            </a:r>
          </a:p>
          <a:p/>
          <a:p>
            <a:r>
              <a:t>The blue bar at the bottom represents the continuous loop: improvements from Handover flow back to Intake for the next engagement.</a:t>
            </a:r>
          </a:p>
          <a:p/>
          <a:p>
            <a:r>
              <a:t>WHY IT MATTERS:</a:t>
            </a:r>
          </a:p>
          <a:p>
            <a:r>
              <a:t>In the current model, agents are ad-hoc additions. In this model, they're embedded in every phase. There's no phase where 'we'll do it manually.' Every phase has agent support.</a:t>
            </a:r>
          </a:p>
          <a:p/>
          <a:p>
            <a:r>
              <a:t>SCENARIO:</a:t>
            </a:r>
          </a:p>
          <a:p>
            <a:r>
              <a:t>During a recent engagement, the Handover phase generated a 40-page documentation package in minutes -- including architecture diagrams, API docs, runbooks, and onboarding guides. Previously, that took a week of manual writing.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Let's look at this side by side. Left is where we are. Right is where we're going.</a:t>
            </a:r>
          </a:p>
          <a:p/>
          <a:p>
            <a:r>
              <a:t>Team setup: from weeks to hours. IaC templates: from scratch to shared library. Status updates: from 12 hours of meetings to agent-generated dashboards. Knowledge transfer: from multi-day sessions to persistent memory. Quality: from 'depends who built it' to 'same standard everywhere.' Post-engagement: from 'lessons lost' to 'lessons compounded.'</a:t>
            </a:r>
          </a:p>
          <a:p/>
          <a:p>
            <a:r>
              <a:t>WHY IT MATTERS:</a:t>
            </a:r>
          </a:p>
          <a:p>
            <a:r>
              <a:t>Every row on the left is a tax we pay on every engagement. Every row on the right is that tax eliminated or dramatically reduced.</a:t>
            </a:r>
          </a:p>
          <a:p/>
          <a:p>
            <a:r>
              <a:t>SCENARIO:</a:t>
            </a:r>
          </a:p>
          <a:p>
            <a:r>
              <a:t>Project Delta launched last month. Using the Snap model, the team was executing within 4 hours of kickoff. The previous comparable project took 11 business days to reach the same point.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If we're going to share agents across teams, we need to trust them completely. That trust comes from governance.</a:t>
            </a:r>
          </a:p>
          <a:p/>
          <a:p>
            <a:r>
              <a:t>Three pillars. Agent governance: every agent passes security scans and isolation tests before it enters the catalog. Data governance: client data never touches shared agents. Period. Operational governance: everything is version-controlled, PR-based, and auditable.</a:t>
            </a:r>
          </a:p>
          <a:p/>
          <a:p>
            <a:r>
              <a:t>The red banner at the top is our non-negotiable rule. No client data in shared agents. Not in prompts, not in charters, not in templates. If it's client-specific, it stays in the SubSquad.</a:t>
            </a:r>
          </a:p>
          <a:p/>
          <a:p>
            <a:r>
              <a:t>WHY IT MATTERS:</a:t>
            </a:r>
          </a:p>
          <a:p>
            <a:r>
              <a:t>One data leak in a shared agent and we lose trust across every team. These guardrails prevent that.</a:t>
            </a:r>
          </a:p>
          <a:p/>
          <a:p>
            <a:r>
              <a:t>SCENARIO:</a:t>
            </a:r>
          </a:p>
          <a:p>
            <a:r>
              <a:t>A team submitted an agent improvement that included a client's Azure subscription ID in the example. The automated security scan caught it. The PR was rejected with a clear explanation. The team resubmitted with a template variable instead. System works.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Let me bring it all together. Four components.</a:t>
            </a:r>
          </a:p>
          <a:p/>
          <a:p>
            <a:r>
              <a:t>Central Squad is the brain -- it manages everything shared. Snap presets are the playbook -- they eliminate team setup time. SubSquads are the execution engines -- they deliver using shared assets. And skills compound -- every engagement makes the next one faster.</a:t>
            </a:r>
          </a:p>
          <a:p/>
          <a:p>
            <a:r>
              <a:t>The tagline at the bottom: 'Reuse is the default. Creating is the exception. Every engagement makes us smarter.' That's the culture shift we're driving.</a:t>
            </a:r>
          </a:p>
          <a:p/>
          <a:p>
            <a:r>
              <a:t>WHY IT MATTERS:</a:t>
            </a:r>
          </a:p>
          <a:p>
            <a:r>
              <a:t>This isn't a technology change. It's an operating model change. The technology is ready. The agents exist. The Snap presets exist. The question is: are we ready to stop doing the same work over and over?</a:t>
            </a:r>
          </a:p>
          <a:p/>
          <a:p>
            <a:r>
              <a:t>NEXT STEPS:</a:t>
            </a:r>
          </a:p>
          <a:p>
            <a:r>
              <a:t>1. Pilot with two engagements using the Default Snap preset</a:t>
            </a:r>
          </a:p>
          <a:p>
            <a:r>
              <a:t>2. Measure: agent reuse rate, setup time, cycle time</a:t>
            </a:r>
          </a:p>
          <a:p>
            <a:r>
              <a:t>3. Iterate on Snap presets based on pilot feedback</a:t>
            </a:r>
          </a:p>
          <a:p>
            <a:r>
              <a:t>4. Scale to all Factory engagements in Q3</a:t>
            </a:r>
          </a:p>
          <a:p/>
          <a:p>
            <a:r>
              <a:t>SCENARIO:</a:t>
            </a:r>
          </a:p>
          <a:p>
            <a:r>
              <a:t>The pilot team reported: setup time dropped from 11 days to 4 hours. IaC deployment time dropped from 3 days to 45 minutes. Status meetings reduced by 60%. Those aren't projections -- those are real numbers from the first adoption.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 Id="rId3" Type="http://schemas.openxmlformats.org/officeDocument/2006/relationships/image" Target="../media/image4.png"/><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image" Target="../media/image8.emf"/><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3.xml"/><Relationship Id="rId3" Type="http://schemas.openxmlformats.org/officeDocument/2006/relationships/image" Target="../media/image6.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blue gradient">
    <p:bg>
      <p:bgPr>
        <a:gradFill>
          <a:gsLst>
            <a:gs pos="0">
              <a:schemeClr val="accent4"/>
            </a:gs>
            <a:gs pos="68000">
              <a:schemeClr val="accent2"/>
            </a:gs>
          </a:gsLst>
          <a:path path="circle">
            <a:fillToRect l="100000" t="100000"/>
          </a:path>
        </a:gra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bg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 text</a:t>
            </a:r>
          </a:p>
        </p:txBody>
      </p:sp>
      <p:pic>
        <p:nvPicPr>
          <p:cNvPr id="8" name="MS logo white - EMF" descr="Microsoft logo white text version">
            <a:extLst>
              <a:ext uri="{FF2B5EF4-FFF2-40B4-BE49-F238E27FC236}">
                <a16:creationId xmlns:a16="http://schemas.microsoft.com/office/drawing/2014/main" id="{B07EA41A-052C-9A8D-BC7D-FCDF9A324B66}"/>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2" name="Rectangle 1">
            <a:extLst>
              <a:ext uri="{FF2B5EF4-FFF2-40B4-BE49-F238E27FC236}">
                <a16:creationId xmlns:a16="http://schemas.microsoft.com/office/drawing/2014/main" id="{F3817E97-DBEB-FDDB-1B4E-61CD77C94EAF}"/>
              </a:ext>
            </a:extLst>
          </p:cNvPr>
          <p:cNvSpPr/>
          <p:nvPr userDrawn="1"/>
        </p:nvSpPr>
        <p:spPr>
          <a:xfrm>
            <a:off x="584200" y="6496253"/>
            <a:ext cx="2727670" cy="200055"/>
          </a:xfrm>
          <a:prstGeom prst="rect">
            <a:avLst/>
          </a:prstGeom>
        </p:spPr>
        <p:txBody>
          <a:bodyPr wrap="none" lIns="0">
            <a:spAutoFit/>
          </a:bodyPr>
          <a:lstStyle/>
          <a:p>
            <a:r>
              <a:rPr lang="en-US" sz="700" b="0" i="0" spc="80" baseline="0">
                <a:solidFill>
                  <a:schemeClr val="bg1"/>
                </a:solidFill>
                <a:latin typeface="+mn-lt"/>
              </a:rPr>
              <a:t>MICROSOFT CONFIDENTIAL. FOR INTERNAL USE ONLY</a:t>
            </a:r>
          </a:p>
        </p:txBody>
      </p:sp>
      <p:pic>
        <p:nvPicPr>
          <p:cNvPr id="3" name="Picture 2" descr="Grey dots in a spiral">
            <a:extLst>
              <a:ext uri="{FF2B5EF4-FFF2-40B4-BE49-F238E27FC236}">
                <a16:creationId xmlns:a16="http://schemas.microsoft.com/office/drawing/2014/main" id="{69B9EDB1-0B22-7101-DC5D-3EBD7B31689E}"/>
              </a:ext>
              <a:ext uri="{C183D7F6-B498-43B3-948B-1728B52AA6E4}">
                <adec:decorative xmlns:adec="http://schemas.microsoft.com/office/drawing/2017/decorative" val="0"/>
              </a:ext>
            </a:extLst>
          </p:cNvPr>
          <p:cNvPicPr>
            <a:picLocks noChangeAspect="1"/>
          </p:cNvPicPr>
          <p:nvPr userDrawn="1"/>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colorTemperature colorTemp="5300"/>
                    </a14:imgEffect>
                    <a14:imgEffect>
                      <a14:saturation sat="0"/>
                    </a14:imgEffect>
                    <a14:imgEffect>
                      <a14:brightnessContrast bright="3000" contrast="-12000"/>
                    </a14:imgEffect>
                  </a14:imgLayer>
                </a14:imgProps>
              </a:ext>
              <a:ext uri="{28A0092B-C50C-407E-A947-70E740481C1C}">
                <a14:useLocalDpi xmlns:a14="http://schemas.microsoft.com/office/drawing/2010/main" val="0"/>
              </a:ext>
            </a:extLst>
          </a:blip>
          <a:srcRect l="4435"/>
          <a:stretch>
            <a:fillRect/>
          </a:stretch>
        </p:blipFill>
        <p:spPr>
          <a:xfrm rot="17129996">
            <a:off x="5184478" y="-817591"/>
            <a:ext cx="9805678" cy="8054623"/>
          </a:xfrm>
          <a:custGeom>
            <a:avLst/>
            <a:gdLst>
              <a:gd name="connsiteX0" fmla="*/ 9805678 w 9805678"/>
              <a:gd name="connsiteY0" fmla="*/ 1 h 8054623"/>
              <a:gd name="connsiteX1" fmla="*/ 9805678 w 9805678"/>
              <a:gd name="connsiteY1" fmla="*/ 8054623 h 8054623"/>
              <a:gd name="connsiteX2" fmla="*/ 9350567 w 9805678"/>
              <a:gd name="connsiteY2" fmla="*/ 8054622 h 8054623"/>
              <a:gd name="connsiteX3" fmla="*/ 8558274 w 9805678"/>
              <a:gd name="connsiteY3" fmla="*/ 5197692 h 8054623"/>
              <a:gd name="connsiteX4" fmla="*/ 1949695 w 9805678"/>
              <a:gd name="connsiteY4" fmla="*/ 7030405 h 8054623"/>
              <a:gd name="connsiteX5" fmla="*/ 0 w 9805678"/>
              <a:gd name="connsiteY5" fmla="*/ 0 h 8054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805678" h="8054623">
                <a:moveTo>
                  <a:pt x="9805678" y="1"/>
                </a:moveTo>
                <a:lnTo>
                  <a:pt x="9805678" y="8054623"/>
                </a:lnTo>
                <a:lnTo>
                  <a:pt x="9350567" y="8054622"/>
                </a:lnTo>
                <a:lnTo>
                  <a:pt x="8558274" y="5197692"/>
                </a:lnTo>
                <a:lnTo>
                  <a:pt x="1949695" y="7030405"/>
                </a:lnTo>
                <a:lnTo>
                  <a:pt x="0" y="0"/>
                </a:lnTo>
                <a:close/>
              </a:path>
            </a:pathLst>
          </a:custGeom>
        </p:spPr>
      </p:pic>
    </p:spTree>
    <p:extLst>
      <p:ext uri="{BB962C8B-B14F-4D97-AF65-F5344CB8AC3E}">
        <p14:creationId xmlns:p14="http://schemas.microsoft.com/office/powerpoint/2010/main" val="1204349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Agenda_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hasCustomPrompt="1"/>
          </p:nvPr>
        </p:nvSpPr>
        <p:spPr>
          <a:xfrm>
            <a:off x="588263" y="457200"/>
            <a:ext cx="11018520" cy="553998"/>
          </a:xfrm>
        </p:spPr>
        <p:txBody>
          <a:bodyPr/>
          <a:lstStyle>
            <a:lvl1pPr>
              <a:defRPr sz="3600">
                <a:solidFill>
                  <a:schemeClr val="tx1"/>
                </a:solidFill>
              </a:defRPr>
            </a:lvl1pPr>
          </a:lstStyle>
          <a:p>
            <a:r>
              <a:rPr lang="en-US"/>
              <a:t>Agenda</a:t>
            </a:r>
          </a:p>
        </p:txBody>
      </p:sp>
      <p:cxnSp>
        <p:nvCxnSpPr>
          <p:cNvPr id="9" name="Straight Connector 8">
            <a:extLst>
              <a:ext uri="{FF2B5EF4-FFF2-40B4-BE49-F238E27FC236}">
                <a16:creationId xmlns:a16="http://schemas.microsoft.com/office/drawing/2014/main" id="{2AF0C0C6-8E74-F1C6-CB02-B90E834ABF03}"/>
              </a:ext>
              <a:ext uri="{C183D7F6-B498-43B3-948B-1728B52AA6E4}">
                <adec:decorative xmlns:adec="http://schemas.microsoft.com/office/drawing/2017/decorative" val="1"/>
              </a:ext>
            </a:extLst>
          </p:cNvPr>
          <p:cNvCxnSpPr>
            <a:cxnSpLocks/>
          </p:cNvCxnSpPr>
          <p:nvPr userDrawn="1"/>
        </p:nvCxnSpPr>
        <p:spPr>
          <a:xfrm flipH="1">
            <a:off x="1433554" y="1734160"/>
            <a:ext cx="8825" cy="4367213"/>
          </a:xfrm>
          <a:prstGeom prst="line">
            <a:avLst/>
          </a:prstGeom>
          <a:ln w="12700" cap="rnd">
            <a:gradFill>
              <a:gsLst>
                <a:gs pos="0">
                  <a:schemeClr val="accent3"/>
                </a:gs>
                <a:gs pos="100000">
                  <a:schemeClr val="accent1"/>
                </a:gs>
              </a:gsLst>
              <a:lin ang="5400000" scaled="1"/>
            </a:gra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Text Placeholder 10">
            <a:extLst>
              <a:ext uri="{FF2B5EF4-FFF2-40B4-BE49-F238E27FC236}">
                <a16:creationId xmlns:a16="http://schemas.microsoft.com/office/drawing/2014/main" id="{276A6B21-0BB3-8590-D0F6-797F169E1857}"/>
              </a:ext>
            </a:extLst>
          </p:cNvPr>
          <p:cNvSpPr>
            <a:spLocks noGrp="1"/>
          </p:cNvSpPr>
          <p:nvPr>
            <p:ph type="body" sz="quarter" idx="10" hasCustomPrompt="1"/>
          </p:nvPr>
        </p:nvSpPr>
        <p:spPr>
          <a:xfrm>
            <a:off x="588263" y="1947764"/>
            <a:ext cx="480733" cy="492443"/>
          </a:xfrm>
        </p:spPr>
        <p:txBody>
          <a:bodyPr/>
          <a:lstStyle>
            <a:lvl1pPr marL="0" indent="0">
              <a:buNone/>
              <a:defRPr lang="en-US" sz="3200" b="1" kern="1200" dirty="0">
                <a:gradFill>
                  <a:gsLst>
                    <a:gs pos="11000">
                      <a:schemeClr val="accent3"/>
                    </a:gs>
                    <a:gs pos="100000">
                      <a:schemeClr val="accent1"/>
                    </a:gs>
                  </a:gsLst>
                  <a:path path="circle">
                    <a:fillToRect r="100000" b="100000"/>
                  </a:path>
                </a:gradFill>
                <a:latin typeface="+mn-lt"/>
                <a:ea typeface="+mn-ea"/>
                <a:cs typeface="+mn-cs"/>
              </a:defRPr>
            </a:lvl1pPr>
          </a:lstStyle>
          <a:p>
            <a:pPr lvl="0"/>
            <a:r>
              <a:rPr lang="en-US"/>
              <a:t>01</a:t>
            </a:r>
          </a:p>
        </p:txBody>
      </p:sp>
      <p:sp>
        <p:nvSpPr>
          <p:cNvPr id="22" name="Text Placeholder 21">
            <a:extLst>
              <a:ext uri="{FF2B5EF4-FFF2-40B4-BE49-F238E27FC236}">
                <a16:creationId xmlns:a16="http://schemas.microsoft.com/office/drawing/2014/main" id="{C1770E4A-D94C-1440-96DB-11ED8235076D}"/>
              </a:ext>
            </a:extLst>
          </p:cNvPr>
          <p:cNvSpPr>
            <a:spLocks noGrp="1"/>
          </p:cNvSpPr>
          <p:nvPr>
            <p:ph type="body" sz="quarter" idx="14"/>
          </p:nvPr>
        </p:nvSpPr>
        <p:spPr>
          <a:xfrm>
            <a:off x="1806938" y="1947764"/>
            <a:ext cx="9813562" cy="492443"/>
          </a:xfrm>
        </p:spPr>
        <p:txBody>
          <a:bodyPr>
            <a:noAutofit/>
          </a:bodyPr>
          <a:lstStyle>
            <a:lvl1pPr marL="0" indent="0">
              <a:buNone/>
              <a:defRPr lang="en-US" sz="1600" dirty="0" smtClean="0">
                <a:solidFill>
                  <a:schemeClr val="tx1"/>
                </a:solidFill>
                <a:latin typeface="+mn-lt"/>
              </a:defRPr>
            </a:lvl1pPr>
            <a:lvl2pPr marL="228556" indent="0">
              <a:buNone/>
              <a:defRPr lang="en-US" sz="1600" dirty="0">
                <a:solidFill>
                  <a:schemeClr val="tx1"/>
                </a:solidFill>
                <a:latin typeface="+mn-lt"/>
              </a:defRPr>
            </a:lvl2pPr>
          </a:lstStyle>
          <a:p>
            <a:pPr lvl="0"/>
            <a:r>
              <a:rPr lang="en-US"/>
              <a:t>Click to edit Master text styles</a:t>
            </a:r>
          </a:p>
          <a:p>
            <a:pPr lvl="1"/>
            <a:r>
              <a:rPr lang="en-US"/>
              <a:t>Second level</a:t>
            </a:r>
          </a:p>
        </p:txBody>
      </p:sp>
      <p:sp>
        <p:nvSpPr>
          <p:cNvPr id="40" name="Text Placeholder 39">
            <a:extLst>
              <a:ext uri="{FF2B5EF4-FFF2-40B4-BE49-F238E27FC236}">
                <a16:creationId xmlns:a16="http://schemas.microsoft.com/office/drawing/2014/main" id="{93773F22-97EC-FB3E-4D5B-9A9A1ED5EE89}"/>
              </a:ext>
            </a:extLst>
          </p:cNvPr>
          <p:cNvSpPr>
            <a:spLocks noGrp="1"/>
          </p:cNvSpPr>
          <p:nvPr>
            <p:ph type="body" sz="quarter" idx="25" hasCustomPrompt="1"/>
          </p:nvPr>
        </p:nvSpPr>
        <p:spPr>
          <a:xfrm>
            <a:off x="588263" y="3096951"/>
            <a:ext cx="480733" cy="492443"/>
          </a:xfrm>
        </p:spPr>
        <p:txBody>
          <a:bodyPr/>
          <a:lstStyle>
            <a:lvl1pPr marL="0" indent="0">
              <a:buNone/>
              <a:defRPr lang="en-US" sz="3200" b="1" kern="1200" spc="0" baseline="0" dirty="0">
                <a:gradFill>
                  <a:gsLst>
                    <a:gs pos="11000">
                      <a:schemeClr val="accent3"/>
                    </a:gs>
                    <a:gs pos="100000">
                      <a:schemeClr val="accent1"/>
                    </a:gs>
                  </a:gsLst>
                  <a:path path="circle">
                    <a:fillToRect r="100000" b="100000"/>
                  </a:path>
                </a:gradFill>
                <a:latin typeface="+mn-lt"/>
                <a:ea typeface="+mn-ea"/>
                <a:cs typeface="+mn-cs"/>
              </a:defRPr>
            </a:lvl1pPr>
          </a:lstStyle>
          <a:p>
            <a:pPr lvl="0"/>
            <a:r>
              <a:rPr lang="en-US"/>
              <a:t>02</a:t>
            </a:r>
          </a:p>
        </p:txBody>
      </p:sp>
      <p:sp>
        <p:nvSpPr>
          <p:cNvPr id="5" name="Text Placeholder 21">
            <a:extLst>
              <a:ext uri="{FF2B5EF4-FFF2-40B4-BE49-F238E27FC236}">
                <a16:creationId xmlns:a16="http://schemas.microsoft.com/office/drawing/2014/main" id="{918F8579-3664-D735-7F75-FD9D1C7D64CC}"/>
              </a:ext>
            </a:extLst>
          </p:cNvPr>
          <p:cNvSpPr>
            <a:spLocks noGrp="1"/>
          </p:cNvSpPr>
          <p:nvPr>
            <p:ph type="body" sz="quarter" idx="26"/>
          </p:nvPr>
        </p:nvSpPr>
        <p:spPr>
          <a:xfrm>
            <a:off x="1806938" y="3096951"/>
            <a:ext cx="9813562" cy="492443"/>
          </a:xfrm>
        </p:spPr>
        <p:txBody>
          <a:bodyPr>
            <a:noAutofit/>
          </a:bodyPr>
          <a:lstStyle>
            <a:lvl1pPr marL="0" indent="0">
              <a:buNone/>
              <a:defRPr lang="en-US" sz="1600" dirty="0" smtClean="0">
                <a:solidFill>
                  <a:schemeClr val="tx1"/>
                </a:solidFill>
                <a:latin typeface="+mn-lt"/>
              </a:defRPr>
            </a:lvl1pPr>
            <a:lvl2pPr marL="228556" indent="0">
              <a:buNone/>
              <a:defRPr lang="en-US" sz="1600" dirty="0">
                <a:solidFill>
                  <a:schemeClr val="tx1"/>
                </a:solidFill>
                <a:latin typeface="+mn-lt"/>
              </a:defRPr>
            </a:lvl2pPr>
          </a:lstStyle>
          <a:p>
            <a:pPr lvl="0"/>
            <a:r>
              <a:rPr lang="en-US"/>
              <a:t>Click to edit Master text styles</a:t>
            </a:r>
          </a:p>
          <a:p>
            <a:pPr lvl="1"/>
            <a:r>
              <a:rPr lang="en-US"/>
              <a:t>Second level</a:t>
            </a:r>
          </a:p>
        </p:txBody>
      </p:sp>
      <p:sp>
        <p:nvSpPr>
          <p:cNvPr id="36" name="Text Placeholder 35">
            <a:extLst>
              <a:ext uri="{FF2B5EF4-FFF2-40B4-BE49-F238E27FC236}">
                <a16:creationId xmlns:a16="http://schemas.microsoft.com/office/drawing/2014/main" id="{BD37564D-5CD2-62A4-1803-B42D963333A8}"/>
              </a:ext>
            </a:extLst>
          </p:cNvPr>
          <p:cNvSpPr>
            <a:spLocks noGrp="1"/>
          </p:cNvSpPr>
          <p:nvPr>
            <p:ph type="body" sz="quarter" idx="23" hasCustomPrompt="1"/>
          </p:nvPr>
        </p:nvSpPr>
        <p:spPr>
          <a:xfrm>
            <a:off x="588263" y="4246138"/>
            <a:ext cx="480733" cy="492443"/>
          </a:xfrm>
        </p:spPr>
        <p:txBody>
          <a:bodyPr/>
          <a:lstStyle>
            <a:lvl1pPr marL="0" indent="0">
              <a:buNone/>
              <a:defRPr lang="en-US" sz="3200" b="1" kern="1200" spc="0" baseline="0" dirty="0">
                <a:gradFill>
                  <a:gsLst>
                    <a:gs pos="11000">
                      <a:schemeClr val="accent3"/>
                    </a:gs>
                    <a:gs pos="100000">
                      <a:schemeClr val="accent1"/>
                    </a:gs>
                  </a:gsLst>
                  <a:path path="circle">
                    <a:fillToRect r="100000" b="100000"/>
                  </a:path>
                </a:gradFill>
                <a:latin typeface="+mn-lt"/>
                <a:ea typeface="+mn-ea"/>
                <a:cs typeface="+mn-cs"/>
              </a:defRPr>
            </a:lvl1pPr>
          </a:lstStyle>
          <a:p>
            <a:pPr lvl="0"/>
            <a:r>
              <a:rPr lang="en-US"/>
              <a:t>03</a:t>
            </a:r>
          </a:p>
        </p:txBody>
      </p:sp>
      <p:sp>
        <p:nvSpPr>
          <p:cNvPr id="7" name="Text Placeholder 21">
            <a:extLst>
              <a:ext uri="{FF2B5EF4-FFF2-40B4-BE49-F238E27FC236}">
                <a16:creationId xmlns:a16="http://schemas.microsoft.com/office/drawing/2014/main" id="{04ECCB71-C833-E3E7-D4C2-2794E3F2F2DB}"/>
              </a:ext>
            </a:extLst>
          </p:cNvPr>
          <p:cNvSpPr>
            <a:spLocks noGrp="1"/>
          </p:cNvSpPr>
          <p:nvPr>
            <p:ph type="body" sz="quarter" idx="27"/>
          </p:nvPr>
        </p:nvSpPr>
        <p:spPr>
          <a:xfrm>
            <a:off x="1806938" y="4246138"/>
            <a:ext cx="9813562" cy="492443"/>
          </a:xfrm>
        </p:spPr>
        <p:txBody>
          <a:bodyPr>
            <a:noAutofit/>
          </a:bodyPr>
          <a:lstStyle>
            <a:lvl1pPr marL="0" indent="0">
              <a:buNone/>
              <a:defRPr lang="en-US" sz="1600" dirty="0" smtClean="0">
                <a:solidFill>
                  <a:schemeClr val="tx1"/>
                </a:solidFill>
                <a:latin typeface="+mn-lt"/>
              </a:defRPr>
            </a:lvl1pPr>
            <a:lvl2pPr marL="228556" indent="0">
              <a:buNone/>
              <a:defRPr lang="en-US" sz="1600" dirty="0">
                <a:solidFill>
                  <a:schemeClr val="tx1"/>
                </a:solidFill>
                <a:latin typeface="+mn-lt"/>
              </a:defRPr>
            </a:lvl2pPr>
          </a:lstStyle>
          <a:p>
            <a:pPr lvl="0"/>
            <a:r>
              <a:rPr lang="en-US"/>
              <a:t>Click to edit Master text styles</a:t>
            </a:r>
          </a:p>
          <a:p>
            <a:pPr lvl="1"/>
            <a:r>
              <a:rPr lang="en-US"/>
              <a:t>Second level</a:t>
            </a:r>
          </a:p>
        </p:txBody>
      </p:sp>
      <p:sp>
        <p:nvSpPr>
          <p:cNvPr id="38" name="Text Placeholder 37">
            <a:extLst>
              <a:ext uri="{FF2B5EF4-FFF2-40B4-BE49-F238E27FC236}">
                <a16:creationId xmlns:a16="http://schemas.microsoft.com/office/drawing/2014/main" id="{C13684C1-E303-03EA-424F-F44C5796D988}"/>
              </a:ext>
            </a:extLst>
          </p:cNvPr>
          <p:cNvSpPr>
            <a:spLocks noGrp="1"/>
          </p:cNvSpPr>
          <p:nvPr>
            <p:ph type="body" sz="quarter" idx="24" hasCustomPrompt="1"/>
          </p:nvPr>
        </p:nvSpPr>
        <p:spPr>
          <a:xfrm>
            <a:off x="588263" y="5395325"/>
            <a:ext cx="480733" cy="492443"/>
          </a:xfrm>
        </p:spPr>
        <p:txBody>
          <a:bodyPr/>
          <a:lstStyle>
            <a:lvl1pPr marL="0" indent="0">
              <a:buNone/>
              <a:defRPr lang="en-US" sz="3200" b="1" kern="1200" spc="0" baseline="0" dirty="0">
                <a:gradFill>
                  <a:gsLst>
                    <a:gs pos="11000">
                      <a:schemeClr val="accent3"/>
                    </a:gs>
                    <a:gs pos="100000">
                      <a:schemeClr val="accent1"/>
                    </a:gs>
                  </a:gsLst>
                  <a:path path="circle">
                    <a:fillToRect r="100000" b="100000"/>
                  </a:path>
                </a:gradFill>
                <a:latin typeface="+mn-lt"/>
                <a:ea typeface="+mn-ea"/>
                <a:cs typeface="+mn-cs"/>
              </a:defRPr>
            </a:lvl1pPr>
          </a:lstStyle>
          <a:p>
            <a:pPr lvl="0"/>
            <a:r>
              <a:rPr lang="en-US"/>
              <a:t>04</a:t>
            </a:r>
          </a:p>
        </p:txBody>
      </p:sp>
      <p:sp>
        <p:nvSpPr>
          <p:cNvPr id="10" name="Text Placeholder 21">
            <a:extLst>
              <a:ext uri="{FF2B5EF4-FFF2-40B4-BE49-F238E27FC236}">
                <a16:creationId xmlns:a16="http://schemas.microsoft.com/office/drawing/2014/main" id="{82B21244-77F4-25F3-DAEE-DD3164EE2CDD}"/>
              </a:ext>
            </a:extLst>
          </p:cNvPr>
          <p:cNvSpPr>
            <a:spLocks noGrp="1"/>
          </p:cNvSpPr>
          <p:nvPr>
            <p:ph type="body" sz="quarter" idx="28"/>
          </p:nvPr>
        </p:nvSpPr>
        <p:spPr>
          <a:xfrm>
            <a:off x="1806938" y="5395325"/>
            <a:ext cx="9813562" cy="492443"/>
          </a:xfrm>
        </p:spPr>
        <p:txBody>
          <a:bodyPr>
            <a:noAutofit/>
          </a:bodyPr>
          <a:lstStyle>
            <a:lvl1pPr marL="0" indent="0">
              <a:buNone/>
              <a:defRPr lang="en-US" sz="1600" dirty="0" smtClean="0">
                <a:solidFill>
                  <a:schemeClr val="tx1"/>
                </a:solidFill>
                <a:latin typeface="+mn-lt"/>
              </a:defRPr>
            </a:lvl1pPr>
            <a:lvl2pPr marL="228556" indent="0">
              <a:buNone/>
              <a:defRPr lang="en-US" sz="1600" dirty="0">
                <a:solidFill>
                  <a:schemeClr val="tx1"/>
                </a:solidFill>
                <a:latin typeface="+mn-lt"/>
              </a:defRPr>
            </a:lvl2pPr>
          </a:lstStyle>
          <a:p>
            <a:pPr lvl="0"/>
            <a:r>
              <a:rPr lang="en-US"/>
              <a:t>Click to edit Master text styles</a:t>
            </a:r>
          </a:p>
          <a:p>
            <a:pPr lvl="1"/>
            <a:r>
              <a:rPr lang="en-US"/>
              <a:t>Second level</a:t>
            </a:r>
          </a:p>
        </p:txBody>
      </p:sp>
      <p:pic>
        <p:nvPicPr>
          <p:cNvPr id="6" name="Picture 5" descr="Colorful blue and orange dots in a spiral">
            <a:extLst>
              <a:ext uri="{FF2B5EF4-FFF2-40B4-BE49-F238E27FC236}">
                <a16:creationId xmlns:a16="http://schemas.microsoft.com/office/drawing/2014/main" id="{11D5C2FF-9643-2529-88FD-6CE111F87329}"/>
              </a:ext>
              <a:ext uri="{C183D7F6-B498-43B3-948B-1728B52AA6E4}">
                <adec:decorative xmlns:adec="http://schemas.microsoft.com/office/drawing/2017/decorative" val="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16871" t="11117" r="16871"/>
          <a:stretch/>
        </p:blipFill>
        <p:spPr>
          <a:xfrm rot="18368998">
            <a:off x="11067826" y="-163464"/>
            <a:ext cx="1453231" cy="1530253"/>
          </a:xfrm>
          <a:custGeom>
            <a:avLst/>
            <a:gdLst>
              <a:gd name="connsiteX0" fmla="*/ 1453231 w 1453231"/>
              <a:gd name="connsiteY0" fmla="*/ 0 h 1530253"/>
              <a:gd name="connsiteX1" fmla="*/ 1453231 w 1453231"/>
              <a:gd name="connsiteY1" fmla="*/ 726645 h 1530253"/>
              <a:gd name="connsiteX2" fmla="*/ 353226 w 1453231"/>
              <a:gd name="connsiteY2" fmla="*/ 1530253 h 1530253"/>
              <a:gd name="connsiteX3" fmla="*/ 0 w 1453231"/>
              <a:gd name="connsiteY3" fmla="*/ 1530253 h 1530253"/>
              <a:gd name="connsiteX4" fmla="*/ 0 w 1453231"/>
              <a:gd name="connsiteY4" fmla="*/ 0 h 1530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3231" h="1530253">
                <a:moveTo>
                  <a:pt x="1453231" y="0"/>
                </a:moveTo>
                <a:lnTo>
                  <a:pt x="1453231" y="726645"/>
                </a:lnTo>
                <a:lnTo>
                  <a:pt x="353226" y="1530253"/>
                </a:lnTo>
                <a:lnTo>
                  <a:pt x="0" y="1530253"/>
                </a:lnTo>
                <a:lnTo>
                  <a:pt x="0" y="0"/>
                </a:lnTo>
                <a:close/>
              </a:path>
            </a:pathLst>
          </a:custGeom>
        </p:spPr>
      </p:pic>
    </p:spTree>
    <p:custDataLst>
      <p:tags r:id="rId1"/>
    </p:custDataLst>
    <p:extLst>
      <p:ext uri="{BB962C8B-B14F-4D97-AF65-F5344CB8AC3E}">
        <p14:creationId xmlns:p14="http://schemas.microsoft.com/office/powerpoint/2010/main" val="3673899805"/>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3">
          <p15:clr>
            <a:srgbClr val="5ACBF0"/>
          </p15:clr>
        </p15:guide>
        <p15:guide id="6" pos="3917">
          <p15:clr>
            <a:srgbClr val="FBAE40"/>
          </p15:clr>
        </p15:guide>
        <p15:guide id="7" orient="horz" pos="2203">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_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hasCustomPrompt="1"/>
          </p:nvPr>
        </p:nvSpPr>
        <p:spPr>
          <a:xfrm>
            <a:off x="588263" y="457200"/>
            <a:ext cx="9653392" cy="553998"/>
          </a:xfrm>
        </p:spPr>
        <p:txBody>
          <a:bodyPr/>
          <a:lstStyle>
            <a:lvl1pPr marL="0" algn="l" defTabSz="932384" rtl="0" eaLnBrk="1" latinLnBrk="0" hangingPunct="1">
              <a:lnSpc>
                <a:spcPct val="100000"/>
              </a:lnSpc>
              <a:spcBef>
                <a:spcPct val="0"/>
              </a:spcBef>
              <a:buNone/>
              <a:defRPr lang="en-US" sz="3600" b="0" kern="1200" cap="none" spc="-50" baseline="0" dirty="0">
                <a:ln w="3175">
                  <a:noFill/>
                </a:ln>
                <a:solidFill>
                  <a:schemeClr val="accent2">
                    <a:lumMod val="50000"/>
                  </a:schemeClr>
                </a:solidFill>
                <a:effectLst/>
                <a:latin typeface="+mj-lt"/>
                <a:ea typeface="+mn-ea"/>
                <a:cs typeface="Segoe UI" pitchFamily="34" charset="0"/>
              </a:defRPr>
            </a:lvl1pPr>
          </a:lstStyle>
          <a:p>
            <a:r>
              <a:rPr lang="en-US"/>
              <a:t>Title only</a:t>
            </a:r>
          </a:p>
        </p:txBody>
      </p:sp>
      <p:pic>
        <p:nvPicPr>
          <p:cNvPr id="13" name="Picture 12" descr="Grey dots in a decorative spiral">
            <a:extLst>
              <a:ext uri="{FF2B5EF4-FFF2-40B4-BE49-F238E27FC236}">
                <a16:creationId xmlns:a16="http://schemas.microsoft.com/office/drawing/2014/main" id="{129FA58B-F4C2-FEF2-22E5-FAC33CC0DA58}"/>
              </a:ext>
              <a:ext uri="{C183D7F6-B498-43B3-948B-1728B52AA6E4}">
                <adec:decorative xmlns:adec="http://schemas.microsoft.com/office/drawing/2017/decorative" val="0"/>
              </a:ext>
            </a:extLst>
          </p:cNvPr>
          <p:cNvPicPr>
            <a:picLocks noChangeAspect="1"/>
          </p:cNvPicPr>
          <p:nvPr userDrawn="1"/>
        </p:nvPicPr>
        <p:blipFill rotWithShape="1">
          <a:blip r:embed="rId3" cstate="print">
            <a:alphaModFix amt="48000"/>
            <a:grayscl/>
            <a:extLst>
              <a:ext uri="{28A0092B-C50C-407E-A947-70E740481C1C}">
                <a14:useLocalDpi xmlns:a14="http://schemas.microsoft.com/office/drawing/2010/main" val="0"/>
              </a:ext>
            </a:extLst>
          </a:blip>
          <a:srcRect l="27639" t="18675" r="11937" b="17894"/>
          <a:stretch/>
        </p:blipFill>
        <p:spPr>
          <a:xfrm flipH="1">
            <a:off x="10728642" y="0"/>
            <a:ext cx="1463358" cy="1206500"/>
          </a:xfrm>
          <a:custGeom>
            <a:avLst/>
            <a:gdLst>
              <a:gd name="connsiteX0" fmla="*/ 1684338 w 1684338"/>
              <a:gd name="connsiteY0" fmla="*/ 0 h 1562100"/>
              <a:gd name="connsiteX1" fmla="*/ 0 w 1684338"/>
              <a:gd name="connsiteY1" fmla="*/ 0 h 1562100"/>
              <a:gd name="connsiteX2" fmla="*/ 0 w 1684338"/>
              <a:gd name="connsiteY2" fmla="*/ 1562100 h 1562100"/>
              <a:gd name="connsiteX3" fmla="*/ 1684338 w 1684338"/>
              <a:gd name="connsiteY3" fmla="*/ 1562100 h 1562100"/>
            </a:gdLst>
            <a:ahLst/>
            <a:cxnLst>
              <a:cxn ang="0">
                <a:pos x="connsiteX0" y="connsiteY0"/>
              </a:cxn>
              <a:cxn ang="0">
                <a:pos x="connsiteX1" y="connsiteY1"/>
              </a:cxn>
              <a:cxn ang="0">
                <a:pos x="connsiteX2" y="connsiteY2"/>
              </a:cxn>
              <a:cxn ang="0">
                <a:pos x="connsiteX3" y="connsiteY3"/>
              </a:cxn>
            </a:cxnLst>
            <a:rect l="l" t="t" r="r" b="b"/>
            <a:pathLst>
              <a:path w="1684338" h="1562100">
                <a:moveTo>
                  <a:pt x="1684338" y="0"/>
                </a:moveTo>
                <a:lnTo>
                  <a:pt x="0" y="0"/>
                </a:lnTo>
                <a:lnTo>
                  <a:pt x="0" y="1562100"/>
                </a:lnTo>
                <a:lnTo>
                  <a:pt x="1684338" y="1562100"/>
                </a:lnTo>
                <a:close/>
              </a:path>
            </a:pathLst>
          </a:custGeom>
        </p:spPr>
      </p:pic>
    </p:spTree>
    <p:custDataLst>
      <p:tags r:id="rId1"/>
    </p:custDataLst>
    <p:extLst>
      <p:ext uri="{BB962C8B-B14F-4D97-AF65-F5344CB8AC3E}">
        <p14:creationId xmlns:p14="http://schemas.microsoft.com/office/powerpoint/2010/main" val="3661768528"/>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2">
          <p15:clr>
            <a:srgbClr val="5ACBF0"/>
          </p15:clr>
        </p15:guide>
        <p15:guide id="5" orient="horz" pos="283">
          <p15:clr>
            <a:srgbClr val="5ACBF0"/>
          </p15:clr>
        </p15:guide>
        <p15:guide id="6" pos="3917">
          <p15:clr>
            <a:srgbClr val="FBAE40"/>
          </p15:clr>
        </p15:guide>
        <p15:guide id="7" orient="horz" pos="2203">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Divider with image 1">
    <p:bg>
      <p:bgPr>
        <a:solidFill>
          <a:schemeClr val="bg1"/>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6D04CCF-14FA-CEB5-E030-6D6A6B1637AF}"/>
              </a:ext>
            </a:extLst>
          </p:cNvPr>
          <p:cNvSpPr>
            <a:spLocks noGrp="1"/>
          </p:cNvSpPr>
          <p:nvPr>
            <p:ph type="title" hasCustomPrompt="1"/>
          </p:nvPr>
        </p:nvSpPr>
        <p:spPr>
          <a:xfrm>
            <a:off x="585216" y="3152001"/>
            <a:ext cx="4634484" cy="553998"/>
          </a:xfrm>
          <a:noFill/>
        </p:spPr>
        <p:txBody>
          <a:bodyPr wrap="square" lIns="0" tIns="0" rIns="0" bIns="0" anchor="b" anchorCtr="0">
            <a:spAutoFit/>
          </a:bodyPr>
          <a:lstStyle>
            <a:lvl1pPr marL="0" algn="l" defTabSz="932563" rtl="0" eaLnBrk="1" latinLnBrk="0" hangingPunct="1">
              <a:lnSpc>
                <a:spcPct val="10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Divider</a:t>
            </a:r>
          </a:p>
        </p:txBody>
      </p:sp>
      <p:pic>
        <p:nvPicPr>
          <p:cNvPr id="16" name="Picture 15" descr="A colorful dots in a spiral">
            <a:extLst>
              <a:ext uri="{FF2B5EF4-FFF2-40B4-BE49-F238E27FC236}">
                <a16:creationId xmlns:a16="http://schemas.microsoft.com/office/drawing/2014/main" id="{F74F4322-8497-A551-1633-B7D13287D757}"/>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l="22637" b="7924"/>
          <a:stretch>
            <a:fillRect/>
          </a:stretch>
        </p:blipFill>
        <p:spPr>
          <a:xfrm rot="240096" flipH="1">
            <a:off x="3825454" y="-881094"/>
            <a:ext cx="8615855" cy="8049533"/>
          </a:xfrm>
          <a:prstGeom prst="rect">
            <a:avLst/>
          </a:prstGeom>
        </p:spPr>
      </p:pic>
    </p:spTree>
    <p:custDataLst>
      <p:tags r:id="rId1"/>
    </p:custDataLst>
    <p:extLst>
      <p:ext uri="{BB962C8B-B14F-4D97-AF65-F5344CB8AC3E}">
        <p14:creationId xmlns:p14="http://schemas.microsoft.com/office/powerpoint/2010/main" val="13178820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hank You Slide 2">
    <p:bg>
      <p:bgPr>
        <a:solidFill>
          <a:srgbClr val="F7F7F7"/>
        </a:solidFill>
        <a:effectLst/>
      </p:bgPr>
    </p:bg>
    <p:spTree>
      <p:nvGrpSpPr>
        <p:cNvPr id="1" name=""/>
        <p:cNvGrpSpPr/>
        <p:nvPr/>
      </p:nvGrpSpPr>
      <p:grpSpPr>
        <a:xfrm>
          <a:off x="0" y="0"/>
          <a:ext cx="0" cy="0"/>
          <a:chOff x="0" y="0"/>
          <a:chExt cx="0" cy="0"/>
        </a:xfrm>
      </p:grpSpPr>
      <p:sp>
        <p:nvSpPr>
          <p:cNvPr id="265" name="Rectangle: Top Corners Rounded 264">
            <a:extLst>
              <a:ext uri="{FF2B5EF4-FFF2-40B4-BE49-F238E27FC236}">
                <a16:creationId xmlns:a16="http://schemas.microsoft.com/office/drawing/2014/main" id="{F115F110-E677-8F61-1011-C854F8F41079}"/>
              </a:ext>
              <a:ext uri="{C183D7F6-B498-43B3-948B-1728B52AA6E4}">
                <adec:decorative xmlns:adec="http://schemas.microsoft.com/office/drawing/2017/decorative" val="1"/>
              </a:ext>
            </a:extLst>
          </p:cNvPr>
          <p:cNvSpPr/>
          <p:nvPr userDrawn="1"/>
        </p:nvSpPr>
        <p:spPr bwMode="auto">
          <a:xfrm rot="16200000" flipH="1">
            <a:off x="5047344" y="-2667000"/>
            <a:ext cx="2097312" cy="12192001"/>
          </a:xfrm>
          <a:prstGeom prst="round2SameRect">
            <a:avLst>
              <a:gd name="adj1" fmla="val 0"/>
              <a:gd name="adj2" fmla="val 0"/>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err="1">
              <a:gradFill>
                <a:gsLst>
                  <a:gs pos="0">
                    <a:srgbClr val="FFFFFF"/>
                  </a:gs>
                  <a:gs pos="100000">
                    <a:srgbClr val="FFFFFF"/>
                  </a:gs>
                </a:gsLst>
                <a:lin ang="5400000" scaled="0"/>
              </a:gradFill>
              <a:ea typeface="Segoe UI" pitchFamily="34" charset="0"/>
              <a:cs typeface="Segoe UI" pitchFamily="34" charset="0"/>
            </a:endParaRPr>
          </a:p>
        </p:txBody>
      </p:sp>
      <p:sp>
        <p:nvSpPr>
          <p:cNvPr id="10" name="Title 1">
            <a:extLst>
              <a:ext uri="{FF2B5EF4-FFF2-40B4-BE49-F238E27FC236}">
                <a16:creationId xmlns:a16="http://schemas.microsoft.com/office/drawing/2014/main" id="{2400F2C9-4D27-4A70-96EB-94073B12115C}"/>
              </a:ext>
            </a:extLst>
          </p:cNvPr>
          <p:cNvSpPr>
            <a:spLocks noGrp="1"/>
          </p:cNvSpPr>
          <p:nvPr>
            <p:ph type="title" hasCustomPrompt="1"/>
          </p:nvPr>
        </p:nvSpPr>
        <p:spPr>
          <a:xfrm>
            <a:off x="585216" y="2875002"/>
            <a:ext cx="5510783" cy="1107996"/>
          </a:xfrm>
          <a:noFill/>
        </p:spPr>
        <p:txBody>
          <a:bodyPr wrap="square" lIns="0" tIns="0" rIns="0" bIns="0" anchor="b" anchorCtr="0">
            <a:spAutoFit/>
          </a:bodyPr>
          <a:lstStyle>
            <a:lvl1pPr marL="0" algn="l" defTabSz="914400" rtl="0" eaLnBrk="1" latinLnBrk="0" hangingPunct="1">
              <a:lnSpc>
                <a:spcPct val="90000"/>
              </a:lnSpc>
              <a:spcBef>
                <a:spcPct val="0"/>
              </a:spcBef>
              <a:buNone/>
              <a:defRPr lang="en-US" sz="8000" b="1" kern="1200" cap="none" spc="-100" baseline="0" dirty="0">
                <a:ln w="3175">
                  <a:noFill/>
                </a:ln>
                <a:solidFill>
                  <a:srgbClr val="1B87D8"/>
                </a:solidFill>
                <a:effectLst/>
                <a:latin typeface="+mn-lt"/>
                <a:ea typeface="+mn-ea"/>
                <a:cs typeface="+mn-cs"/>
              </a:defRPr>
            </a:lvl1pPr>
          </a:lstStyle>
          <a:p>
            <a:r>
              <a:rPr lang="en-US"/>
              <a:t>Thank You</a:t>
            </a:r>
          </a:p>
        </p:txBody>
      </p:sp>
      <p:pic>
        <p:nvPicPr>
          <p:cNvPr id="272" name="MS logo gray - EMF" descr="Microsoft logo, gray text version">
            <a:extLst>
              <a:ext uri="{FF2B5EF4-FFF2-40B4-BE49-F238E27FC236}">
                <a16:creationId xmlns:a16="http://schemas.microsoft.com/office/drawing/2014/main" id="{2D2BFFA1-4E63-D173-568F-8EFA7A759798}"/>
              </a:ext>
            </a:extLst>
          </p:cNvPr>
          <p:cNvPicPr>
            <a:picLocks noChangeAspect="1"/>
          </p:cNvPicPr>
          <p:nvPr userDrawn="1"/>
        </p:nvPicPr>
        <p:blipFill>
          <a:blip r:embed="rId3"/>
          <a:stretch>
            <a:fillRect/>
          </a:stretch>
        </p:blipFill>
        <p:spPr bwMode="black">
          <a:xfrm>
            <a:off x="668662" y="1180148"/>
            <a:ext cx="1366440" cy="292608"/>
          </a:xfrm>
          <a:prstGeom prst="rect">
            <a:avLst/>
          </a:prstGeom>
        </p:spPr>
      </p:pic>
      <p:pic>
        <p:nvPicPr>
          <p:cNvPr id="4" name="Picture 3" descr="Grey dots in a spiral">
            <a:extLst>
              <a:ext uri="{FF2B5EF4-FFF2-40B4-BE49-F238E27FC236}">
                <a16:creationId xmlns:a16="http://schemas.microsoft.com/office/drawing/2014/main" id="{DD8E2EE1-B219-7AD0-95E9-3B9AB4E38744}"/>
              </a:ext>
            </a:extLst>
          </p:cNvPr>
          <p:cNvPicPr>
            <a:picLocks noChangeAspect="1"/>
          </p:cNvPicPr>
          <p:nvPr userDrawn="1"/>
        </p:nvPicPr>
        <p:blipFill>
          <a:blip r:embed="rId4" cstate="print">
            <a:duotone>
              <a:schemeClr val="bg2">
                <a:shade val="45000"/>
                <a:satMod val="135000"/>
              </a:schemeClr>
              <a:prstClr val="white"/>
            </a:duotone>
            <a:alphaModFix/>
            <a:extLst>
              <a:ext uri="{28A0092B-C50C-407E-A947-70E740481C1C}">
                <a14:useLocalDpi xmlns:a14="http://schemas.microsoft.com/office/drawing/2010/main" val="0"/>
              </a:ext>
            </a:extLst>
          </a:blip>
          <a:stretch>
            <a:fillRect/>
          </a:stretch>
        </p:blipFill>
        <p:spPr>
          <a:xfrm>
            <a:off x="4070205" y="-1383478"/>
            <a:ext cx="10849756" cy="8516960"/>
          </a:xfrm>
          <a:prstGeom prst="rect">
            <a:avLst/>
          </a:prstGeom>
        </p:spPr>
      </p:pic>
      <p:pic>
        <p:nvPicPr>
          <p:cNvPr id="11" name="Picture 10" descr="Colorful blue and orange dots in a spiral">
            <a:extLst>
              <a:ext uri="{FF2B5EF4-FFF2-40B4-BE49-F238E27FC236}">
                <a16:creationId xmlns:a16="http://schemas.microsoft.com/office/drawing/2014/main" id="{4AAEA3C1-2FB5-2778-F403-804889B29359}"/>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t="44192" r="25143" b="31183"/>
          <a:stretch>
            <a:fillRect/>
          </a:stretch>
        </p:blipFill>
        <p:spPr>
          <a:xfrm>
            <a:off x="4070206" y="2380346"/>
            <a:ext cx="8121795" cy="2097312"/>
          </a:xfrm>
          <a:custGeom>
            <a:avLst/>
            <a:gdLst>
              <a:gd name="connsiteX0" fmla="*/ 0 w 8121795"/>
              <a:gd name="connsiteY0" fmla="*/ 0 h 2097312"/>
              <a:gd name="connsiteX1" fmla="*/ 8121795 w 8121795"/>
              <a:gd name="connsiteY1" fmla="*/ 0 h 2097312"/>
              <a:gd name="connsiteX2" fmla="*/ 8121795 w 8121795"/>
              <a:gd name="connsiteY2" fmla="*/ 2097312 h 2097312"/>
              <a:gd name="connsiteX3" fmla="*/ 0 w 8121795"/>
              <a:gd name="connsiteY3" fmla="*/ 2097312 h 2097312"/>
            </a:gdLst>
            <a:ahLst/>
            <a:cxnLst>
              <a:cxn ang="0">
                <a:pos x="connsiteX0" y="connsiteY0"/>
              </a:cxn>
              <a:cxn ang="0">
                <a:pos x="connsiteX1" y="connsiteY1"/>
              </a:cxn>
              <a:cxn ang="0">
                <a:pos x="connsiteX2" y="connsiteY2"/>
              </a:cxn>
              <a:cxn ang="0">
                <a:pos x="connsiteX3" y="connsiteY3"/>
              </a:cxn>
            </a:cxnLst>
            <a:rect l="l" t="t" r="r" b="b"/>
            <a:pathLst>
              <a:path w="8121795" h="2097312">
                <a:moveTo>
                  <a:pt x="0" y="0"/>
                </a:moveTo>
                <a:lnTo>
                  <a:pt x="8121795" y="0"/>
                </a:lnTo>
                <a:lnTo>
                  <a:pt x="8121795" y="2097312"/>
                </a:lnTo>
                <a:lnTo>
                  <a:pt x="0" y="2097312"/>
                </a:lnTo>
                <a:close/>
              </a:path>
            </a:pathLst>
          </a:custGeom>
        </p:spPr>
      </p:pic>
    </p:spTree>
    <p:custDataLst>
      <p:tags r:id="rId1"/>
    </p:custDataLst>
    <p:extLst>
      <p:ext uri="{BB962C8B-B14F-4D97-AF65-F5344CB8AC3E}">
        <p14:creationId xmlns:p14="http://schemas.microsoft.com/office/powerpoint/2010/main" val="150424424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Only_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5A43683-6DA3-CAB4-0B24-22FD85FE89C2}"/>
              </a:ext>
              <a:ext uri="{C183D7F6-B498-43B3-948B-1728B52AA6E4}">
                <adec:decorative xmlns:adec="http://schemas.microsoft.com/office/drawing/2017/decorative" val="1"/>
              </a:ext>
            </a:extLst>
          </p:cNvPr>
          <p:cNvSpPr/>
          <p:nvPr userDrawn="1"/>
        </p:nvSpPr>
        <p:spPr bwMode="auto">
          <a:xfrm flipH="1">
            <a:off x="0" y="0"/>
            <a:ext cx="12192000" cy="1188720"/>
          </a:xfrm>
          <a:prstGeom prst="rect">
            <a:avLst/>
          </a:prstGeom>
          <a:gradFill flip="none" rotWithShape="1">
            <a:gsLst>
              <a:gs pos="0">
                <a:schemeClr val="accent2">
                  <a:lumMod val="75000"/>
                </a:schemeClr>
              </a:gs>
              <a:gs pos="26000">
                <a:schemeClr val="accent2">
                  <a:lumMod val="50000"/>
                  <a:alpha val="9200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IN" sz="2000" err="1">
              <a:gradFill>
                <a:gsLst>
                  <a:gs pos="0">
                    <a:srgbClr val="FFFFFF"/>
                  </a:gs>
                  <a:gs pos="100000">
                    <a:srgbClr val="FFFFFF"/>
                  </a:gs>
                </a:gsLst>
                <a:lin ang="5400000" scaled="0"/>
              </a:gradFill>
              <a:cs typeface="Segoe UI" pitchFamily="34" charset="0"/>
            </a:endParaRPr>
          </a:p>
        </p:txBody>
      </p:sp>
      <p:sp>
        <p:nvSpPr>
          <p:cNvPr id="2" name="Title 1">
            <a:extLst>
              <a:ext uri="{FF2B5EF4-FFF2-40B4-BE49-F238E27FC236}">
                <a16:creationId xmlns:a16="http://schemas.microsoft.com/office/drawing/2014/main" id="{562754DF-CB0E-46F9-AA3C-00BC673EBDF3}"/>
              </a:ext>
            </a:extLst>
          </p:cNvPr>
          <p:cNvSpPr>
            <a:spLocks noGrp="1"/>
          </p:cNvSpPr>
          <p:nvPr>
            <p:ph type="title" hasCustomPrompt="1"/>
          </p:nvPr>
        </p:nvSpPr>
        <p:spPr>
          <a:xfrm>
            <a:off x="588263" y="457200"/>
            <a:ext cx="10083922" cy="553998"/>
          </a:xfrm>
        </p:spPr>
        <p:txBody>
          <a:bodyPr/>
          <a:lstStyle>
            <a:lvl1pPr>
              <a:defRPr sz="3600">
                <a:solidFill>
                  <a:schemeClr val="bg1"/>
                </a:solidFill>
              </a:defRPr>
            </a:lvl1pPr>
          </a:lstStyle>
          <a:p>
            <a:r>
              <a:rPr lang="en-US"/>
              <a:t>Title only</a:t>
            </a:r>
          </a:p>
        </p:txBody>
      </p:sp>
      <p:sp>
        <p:nvSpPr>
          <p:cNvPr id="5" name="Rectangle 4">
            <a:extLst>
              <a:ext uri="{FF2B5EF4-FFF2-40B4-BE49-F238E27FC236}">
                <a16:creationId xmlns:a16="http://schemas.microsoft.com/office/drawing/2014/main" id="{2C1C0608-93BD-AA99-99FE-CE8B5C541457}"/>
              </a:ext>
              <a:ext uri="{C183D7F6-B498-43B3-948B-1728B52AA6E4}">
                <adec:decorative xmlns:adec="http://schemas.microsoft.com/office/drawing/2017/decorative" val="1"/>
              </a:ext>
            </a:extLst>
          </p:cNvPr>
          <p:cNvSpPr/>
          <p:nvPr userDrawn="1"/>
        </p:nvSpPr>
        <p:spPr bwMode="auto">
          <a:xfrm>
            <a:off x="0" y="1188720"/>
            <a:ext cx="12192000" cy="45719"/>
          </a:xfrm>
          <a:prstGeom prst="rect">
            <a:avLst/>
          </a:prstGeom>
          <a:solidFill>
            <a:srgbClr val="01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pic>
        <p:nvPicPr>
          <p:cNvPr id="7" name="Picture 6" descr="Grey dots in a decorative spiral">
            <a:extLst>
              <a:ext uri="{FF2B5EF4-FFF2-40B4-BE49-F238E27FC236}">
                <a16:creationId xmlns:a16="http://schemas.microsoft.com/office/drawing/2014/main" id="{233A85F5-7EA5-D2AC-23E2-52EDBB1A0887}"/>
              </a:ext>
            </a:extLst>
          </p:cNvPr>
          <p:cNvPicPr>
            <a:picLocks noChangeAspect="1"/>
          </p:cNvPicPr>
          <p:nvPr userDrawn="1"/>
        </p:nvPicPr>
        <p:blipFill rotWithShape="1">
          <a:blip r:embed="rId3" cstate="print">
            <a:alphaModFix/>
            <a:duotone>
              <a:schemeClr val="bg2">
                <a:shade val="45000"/>
                <a:satMod val="135000"/>
              </a:schemeClr>
              <a:prstClr val="white"/>
            </a:duotone>
            <a:extLst>
              <a:ext uri="{28A0092B-C50C-407E-A947-70E740481C1C}">
                <a14:useLocalDpi xmlns:a14="http://schemas.microsoft.com/office/drawing/2010/main" val="0"/>
              </a:ext>
            </a:extLst>
          </a:blip>
          <a:srcRect l="27639" t="18675" r="11937" b="17894"/>
          <a:stretch/>
        </p:blipFill>
        <p:spPr>
          <a:xfrm flipH="1">
            <a:off x="10728642" y="0"/>
            <a:ext cx="1463358" cy="1206500"/>
          </a:xfrm>
          <a:custGeom>
            <a:avLst/>
            <a:gdLst>
              <a:gd name="connsiteX0" fmla="*/ 1684338 w 1684338"/>
              <a:gd name="connsiteY0" fmla="*/ 0 h 1562100"/>
              <a:gd name="connsiteX1" fmla="*/ 0 w 1684338"/>
              <a:gd name="connsiteY1" fmla="*/ 0 h 1562100"/>
              <a:gd name="connsiteX2" fmla="*/ 0 w 1684338"/>
              <a:gd name="connsiteY2" fmla="*/ 1562100 h 1562100"/>
              <a:gd name="connsiteX3" fmla="*/ 1684338 w 1684338"/>
              <a:gd name="connsiteY3" fmla="*/ 1562100 h 1562100"/>
            </a:gdLst>
            <a:ahLst/>
            <a:cxnLst>
              <a:cxn ang="0">
                <a:pos x="connsiteX0" y="connsiteY0"/>
              </a:cxn>
              <a:cxn ang="0">
                <a:pos x="connsiteX1" y="connsiteY1"/>
              </a:cxn>
              <a:cxn ang="0">
                <a:pos x="connsiteX2" y="connsiteY2"/>
              </a:cxn>
              <a:cxn ang="0">
                <a:pos x="connsiteX3" y="connsiteY3"/>
              </a:cxn>
            </a:cxnLst>
            <a:rect l="l" t="t" r="r" b="b"/>
            <a:pathLst>
              <a:path w="1684338" h="1562100">
                <a:moveTo>
                  <a:pt x="1684338" y="0"/>
                </a:moveTo>
                <a:lnTo>
                  <a:pt x="0" y="0"/>
                </a:lnTo>
                <a:lnTo>
                  <a:pt x="0" y="1562100"/>
                </a:lnTo>
                <a:lnTo>
                  <a:pt x="1684338" y="1562100"/>
                </a:lnTo>
                <a:close/>
              </a:path>
            </a:pathLst>
          </a:custGeom>
        </p:spPr>
      </p:pic>
    </p:spTree>
    <p:custDataLst>
      <p:tags r:id="rId1"/>
    </p:custDataLst>
    <p:extLst>
      <p:ext uri="{BB962C8B-B14F-4D97-AF65-F5344CB8AC3E}">
        <p14:creationId xmlns:p14="http://schemas.microsoft.com/office/powerpoint/2010/main" val="3953922826"/>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3">
          <p15:clr>
            <a:srgbClr val="5ACBF0"/>
          </p15:clr>
        </p15:guide>
        <p15:guide id="6" pos="3917">
          <p15:clr>
            <a:srgbClr val="FBAE40"/>
          </p15:clr>
        </p15:guide>
        <p15:guide id="7" orient="horz" pos="2203">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6127785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28907-B34B-EA5C-1932-0E6A411429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CD3A667-77F1-832C-B8F7-7508A647BE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62852E7-C8FB-4DA2-CDCB-A34BDD83C1F6}"/>
              </a:ext>
            </a:extLst>
          </p:cNvPr>
          <p:cNvSpPr>
            <a:spLocks noGrp="1"/>
          </p:cNvSpPr>
          <p:nvPr>
            <p:ph type="dt" sz="half" idx="10"/>
          </p:nvPr>
        </p:nvSpPr>
        <p:spPr/>
        <p:txBody>
          <a:bodyPr/>
          <a:lstStyle/>
          <a:p>
            <a:fld id="{9E128125-7331-418B-970D-A88E73B1885B}" type="datetimeFigureOut">
              <a:rPr lang="en-US" smtClean="0"/>
              <a:t>4/10/2026</a:t>
            </a:fld>
            <a:endParaRPr lang="en-US"/>
          </a:p>
        </p:txBody>
      </p:sp>
      <p:sp>
        <p:nvSpPr>
          <p:cNvPr id="5" name="Footer Placeholder 4">
            <a:extLst>
              <a:ext uri="{FF2B5EF4-FFF2-40B4-BE49-F238E27FC236}">
                <a16:creationId xmlns:a16="http://schemas.microsoft.com/office/drawing/2014/main" id="{714B5BC0-4891-5505-4859-7947BCDF71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2FBA88-B499-1118-EC80-C7206D44486E}"/>
              </a:ext>
            </a:extLst>
          </p:cNvPr>
          <p:cNvSpPr>
            <a:spLocks noGrp="1"/>
          </p:cNvSpPr>
          <p:nvPr>
            <p:ph type="sldNum" sz="quarter" idx="12"/>
          </p:nvPr>
        </p:nvSpPr>
        <p:spPr/>
        <p:txBody>
          <a:bodyPr/>
          <a:lstStyle/>
          <a:p>
            <a:fld id="{C8CA5850-4711-418D-B090-9E8809BBEA03}" type="slidenum">
              <a:rPr lang="en-US" smtClean="0"/>
              <a:t>‹#›</a:t>
            </a:fld>
            <a:endParaRPr lang="en-US"/>
          </a:p>
        </p:txBody>
      </p:sp>
    </p:spTree>
    <p:extLst>
      <p:ext uri="{BB962C8B-B14F-4D97-AF65-F5344CB8AC3E}">
        <p14:creationId xmlns:p14="http://schemas.microsoft.com/office/powerpoint/2010/main" val="15865466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D39EF-DFFF-D68B-DF06-AAD3667348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4A2FD69-B14C-18E8-09A4-E45F4D37205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F16C19-7361-3743-5500-35D026249CF9}"/>
              </a:ext>
            </a:extLst>
          </p:cNvPr>
          <p:cNvSpPr>
            <a:spLocks noGrp="1"/>
          </p:cNvSpPr>
          <p:nvPr>
            <p:ph type="dt" sz="half" idx="10"/>
          </p:nvPr>
        </p:nvSpPr>
        <p:spPr/>
        <p:txBody>
          <a:bodyPr/>
          <a:lstStyle/>
          <a:p>
            <a:fld id="{9E128125-7331-418B-970D-A88E73B1885B}" type="datetimeFigureOut">
              <a:rPr lang="en-US" smtClean="0"/>
              <a:t>4/10/2026</a:t>
            </a:fld>
            <a:endParaRPr lang="en-US"/>
          </a:p>
        </p:txBody>
      </p:sp>
      <p:sp>
        <p:nvSpPr>
          <p:cNvPr id="5" name="Footer Placeholder 4">
            <a:extLst>
              <a:ext uri="{FF2B5EF4-FFF2-40B4-BE49-F238E27FC236}">
                <a16:creationId xmlns:a16="http://schemas.microsoft.com/office/drawing/2014/main" id="{16FE6084-AAAE-03BD-7178-EDBF83A1E2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3F7631-28B2-86FF-F99C-9FBCA4EA38FA}"/>
              </a:ext>
            </a:extLst>
          </p:cNvPr>
          <p:cNvSpPr>
            <a:spLocks noGrp="1"/>
          </p:cNvSpPr>
          <p:nvPr>
            <p:ph type="sldNum" sz="quarter" idx="12"/>
          </p:nvPr>
        </p:nvSpPr>
        <p:spPr/>
        <p:txBody>
          <a:bodyPr/>
          <a:lstStyle/>
          <a:p>
            <a:fld id="{C8CA5850-4711-418D-B090-9E8809BBEA03}" type="slidenum">
              <a:rPr lang="en-US" smtClean="0"/>
              <a:t>‹#›</a:t>
            </a:fld>
            <a:endParaRPr lang="en-US"/>
          </a:p>
        </p:txBody>
      </p:sp>
    </p:spTree>
    <p:extLst>
      <p:ext uri="{BB962C8B-B14F-4D97-AF65-F5344CB8AC3E}">
        <p14:creationId xmlns:p14="http://schemas.microsoft.com/office/powerpoint/2010/main" val="37462812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30A0A-BE0C-B252-F913-577A75F3D0F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C9C56-EA9C-B39E-F4F1-EB9220FAB89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F1A2A18-4EEA-91F5-50C8-6551A4E748EF}"/>
              </a:ext>
            </a:extLst>
          </p:cNvPr>
          <p:cNvSpPr>
            <a:spLocks noGrp="1"/>
          </p:cNvSpPr>
          <p:nvPr>
            <p:ph type="dt" sz="half" idx="10"/>
          </p:nvPr>
        </p:nvSpPr>
        <p:spPr/>
        <p:txBody>
          <a:bodyPr/>
          <a:lstStyle/>
          <a:p>
            <a:fld id="{9E128125-7331-418B-970D-A88E73B1885B}" type="datetimeFigureOut">
              <a:rPr lang="en-US" smtClean="0"/>
              <a:t>4/10/2026</a:t>
            </a:fld>
            <a:endParaRPr lang="en-US"/>
          </a:p>
        </p:txBody>
      </p:sp>
      <p:sp>
        <p:nvSpPr>
          <p:cNvPr id="5" name="Footer Placeholder 4">
            <a:extLst>
              <a:ext uri="{FF2B5EF4-FFF2-40B4-BE49-F238E27FC236}">
                <a16:creationId xmlns:a16="http://schemas.microsoft.com/office/drawing/2014/main" id="{A2C28416-A8CD-4A77-47D0-2A4BA7BB34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B8A763-0B34-E0D9-338A-0BCA0E47E448}"/>
              </a:ext>
            </a:extLst>
          </p:cNvPr>
          <p:cNvSpPr>
            <a:spLocks noGrp="1"/>
          </p:cNvSpPr>
          <p:nvPr>
            <p:ph type="sldNum" sz="quarter" idx="12"/>
          </p:nvPr>
        </p:nvSpPr>
        <p:spPr/>
        <p:txBody>
          <a:bodyPr/>
          <a:lstStyle/>
          <a:p>
            <a:fld id="{C8CA5850-4711-418D-B090-9E8809BBEA03}" type="slidenum">
              <a:rPr lang="en-US" smtClean="0"/>
              <a:t>‹#›</a:t>
            </a:fld>
            <a:endParaRPr lang="en-US"/>
          </a:p>
        </p:txBody>
      </p:sp>
    </p:spTree>
    <p:extLst>
      <p:ext uri="{BB962C8B-B14F-4D97-AF65-F5344CB8AC3E}">
        <p14:creationId xmlns:p14="http://schemas.microsoft.com/office/powerpoint/2010/main" val="35321364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FA275-CC8E-AC00-E560-38823DCCD4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8A719D-0A05-6E51-2289-57CE6A23F1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C33CB6F-3885-C41F-6FCF-1A8E944838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FCFCE16-863E-C47B-BD5E-7E082204753C}"/>
              </a:ext>
            </a:extLst>
          </p:cNvPr>
          <p:cNvSpPr>
            <a:spLocks noGrp="1"/>
          </p:cNvSpPr>
          <p:nvPr>
            <p:ph type="dt" sz="half" idx="10"/>
          </p:nvPr>
        </p:nvSpPr>
        <p:spPr/>
        <p:txBody>
          <a:bodyPr/>
          <a:lstStyle/>
          <a:p>
            <a:fld id="{9E128125-7331-418B-970D-A88E73B1885B}" type="datetimeFigureOut">
              <a:rPr lang="en-US" smtClean="0"/>
              <a:t>4/10/2026</a:t>
            </a:fld>
            <a:endParaRPr lang="en-US"/>
          </a:p>
        </p:txBody>
      </p:sp>
      <p:sp>
        <p:nvSpPr>
          <p:cNvPr id="6" name="Footer Placeholder 5">
            <a:extLst>
              <a:ext uri="{FF2B5EF4-FFF2-40B4-BE49-F238E27FC236}">
                <a16:creationId xmlns:a16="http://schemas.microsoft.com/office/drawing/2014/main" id="{9B740710-77AC-587D-9345-24988AACBF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F9A66C-64CC-F6A4-1EAB-FB436D9BE144}"/>
              </a:ext>
            </a:extLst>
          </p:cNvPr>
          <p:cNvSpPr>
            <a:spLocks noGrp="1"/>
          </p:cNvSpPr>
          <p:nvPr>
            <p:ph type="sldNum" sz="quarter" idx="12"/>
          </p:nvPr>
        </p:nvSpPr>
        <p:spPr/>
        <p:txBody>
          <a:bodyPr/>
          <a:lstStyle/>
          <a:p>
            <a:fld id="{C8CA5850-4711-418D-B090-9E8809BBEA03}" type="slidenum">
              <a:rPr lang="en-US" smtClean="0"/>
              <a:t>‹#›</a:t>
            </a:fld>
            <a:endParaRPr lang="en-US"/>
          </a:p>
        </p:txBody>
      </p:sp>
    </p:spTree>
    <p:extLst>
      <p:ext uri="{BB962C8B-B14F-4D97-AF65-F5344CB8AC3E}">
        <p14:creationId xmlns:p14="http://schemas.microsoft.com/office/powerpoint/2010/main" val="21295777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F4146-955C-B96D-FB84-663421F2953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5C63DC-2B98-47CA-5A29-E78AE5B1F4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2FF2291-4F15-F94E-DCE3-2B05B1B57BF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2511724-D3AF-8984-BDF1-EDE643CE82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9CEAC95-B7F0-5CAA-278A-BE82792952B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229BD1-D504-8F66-71A7-B27708E02BC4}"/>
              </a:ext>
            </a:extLst>
          </p:cNvPr>
          <p:cNvSpPr>
            <a:spLocks noGrp="1"/>
          </p:cNvSpPr>
          <p:nvPr>
            <p:ph type="dt" sz="half" idx="10"/>
          </p:nvPr>
        </p:nvSpPr>
        <p:spPr/>
        <p:txBody>
          <a:bodyPr/>
          <a:lstStyle/>
          <a:p>
            <a:fld id="{9E128125-7331-418B-970D-A88E73B1885B}" type="datetimeFigureOut">
              <a:rPr lang="en-US" smtClean="0"/>
              <a:t>4/10/2026</a:t>
            </a:fld>
            <a:endParaRPr lang="en-US"/>
          </a:p>
        </p:txBody>
      </p:sp>
      <p:sp>
        <p:nvSpPr>
          <p:cNvPr id="8" name="Footer Placeholder 7">
            <a:extLst>
              <a:ext uri="{FF2B5EF4-FFF2-40B4-BE49-F238E27FC236}">
                <a16:creationId xmlns:a16="http://schemas.microsoft.com/office/drawing/2014/main" id="{6F1A86E0-AEA2-2A5B-816F-D0F0F2F9962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D54A726-CDA9-CE16-656D-FE6DA092584A}"/>
              </a:ext>
            </a:extLst>
          </p:cNvPr>
          <p:cNvSpPr>
            <a:spLocks noGrp="1"/>
          </p:cNvSpPr>
          <p:nvPr>
            <p:ph type="sldNum" sz="quarter" idx="12"/>
          </p:nvPr>
        </p:nvSpPr>
        <p:spPr/>
        <p:txBody>
          <a:bodyPr/>
          <a:lstStyle/>
          <a:p>
            <a:fld id="{C8CA5850-4711-418D-B090-9E8809BBEA03}" type="slidenum">
              <a:rPr lang="en-US" smtClean="0"/>
              <a:t>‹#›</a:t>
            </a:fld>
            <a:endParaRPr lang="en-US"/>
          </a:p>
        </p:txBody>
      </p:sp>
    </p:spTree>
    <p:extLst>
      <p:ext uri="{BB962C8B-B14F-4D97-AF65-F5344CB8AC3E}">
        <p14:creationId xmlns:p14="http://schemas.microsoft.com/office/powerpoint/2010/main" val="5135728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6953B-6D9C-6F4D-A79F-6C42DD5E97A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743C4E-2952-D239-054A-A530A862B6D8}"/>
              </a:ext>
            </a:extLst>
          </p:cNvPr>
          <p:cNvSpPr>
            <a:spLocks noGrp="1"/>
          </p:cNvSpPr>
          <p:nvPr>
            <p:ph type="dt" sz="half" idx="10"/>
          </p:nvPr>
        </p:nvSpPr>
        <p:spPr/>
        <p:txBody>
          <a:bodyPr/>
          <a:lstStyle/>
          <a:p>
            <a:fld id="{9E128125-7331-418B-970D-A88E73B1885B}" type="datetimeFigureOut">
              <a:rPr lang="en-US" smtClean="0"/>
              <a:t>4/10/2026</a:t>
            </a:fld>
            <a:endParaRPr lang="en-US"/>
          </a:p>
        </p:txBody>
      </p:sp>
      <p:sp>
        <p:nvSpPr>
          <p:cNvPr id="4" name="Footer Placeholder 3">
            <a:extLst>
              <a:ext uri="{FF2B5EF4-FFF2-40B4-BE49-F238E27FC236}">
                <a16:creationId xmlns:a16="http://schemas.microsoft.com/office/drawing/2014/main" id="{FEC98637-EE1F-4E91-F9E7-C09266D1D8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9CE189-AC99-E8F8-FEF0-2E2CF518BF14}"/>
              </a:ext>
            </a:extLst>
          </p:cNvPr>
          <p:cNvSpPr>
            <a:spLocks noGrp="1"/>
          </p:cNvSpPr>
          <p:nvPr>
            <p:ph type="sldNum" sz="quarter" idx="12"/>
          </p:nvPr>
        </p:nvSpPr>
        <p:spPr/>
        <p:txBody>
          <a:bodyPr/>
          <a:lstStyle/>
          <a:p>
            <a:fld id="{C8CA5850-4711-418D-B090-9E8809BBEA03}" type="slidenum">
              <a:rPr lang="en-US" smtClean="0"/>
              <a:t>‹#›</a:t>
            </a:fld>
            <a:endParaRPr lang="en-US"/>
          </a:p>
        </p:txBody>
      </p:sp>
    </p:spTree>
    <p:extLst>
      <p:ext uri="{BB962C8B-B14F-4D97-AF65-F5344CB8AC3E}">
        <p14:creationId xmlns:p14="http://schemas.microsoft.com/office/powerpoint/2010/main" val="5910852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BBA6C5-065A-D2AF-A291-BAA7647BCC9C}"/>
              </a:ext>
            </a:extLst>
          </p:cNvPr>
          <p:cNvSpPr>
            <a:spLocks noGrp="1"/>
          </p:cNvSpPr>
          <p:nvPr>
            <p:ph type="dt" sz="half" idx="10"/>
          </p:nvPr>
        </p:nvSpPr>
        <p:spPr/>
        <p:txBody>
          <a:bodyPr/>
          <a:lstStyle/>
          <a:p>
            <a:fld id="{9E128125-7331-418B-970D-A88E73B1885B}" type="datetimeFigureOut">
              <a:rPr lang="en-US" smtClean="0"/>
              <a:t>4/10/2026</a:t>
            </a:fld>
            <a:endParaRPr lang="en-US"/>
          </a:p>
        </p:txBody>
      </p:sp>
      <p:sp>
        <p:nvSpPr>
          <p:cNvPr id="3" name="Footer Placeholder 2">
            <a:extLst>
              <a:ext uri="{FF2B5EF4-FFF2-40B4-BE49-F238E27FC236}">
                <a16:creationId xmlns:a16="http://schemas.microsoft.com/office/drawing/2014/main" id="{BC667236-3677-B639-D8BD-BCDC8477AC6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50025FF-25C8-5AE8-E5C0-075DA858ACD4}"/>
              </a:ext>
            </a:extLst>
          </p:cNvPr>
          <p:cNvSpPr>
            <a:spLocks noGrp="1"/>
          </p:cNvSpPr>
          <p:nvPr>
            <p:ph type="sldNum" sz="quarter" idx="12"/>
          </p:nvPr>
        </p:nvSpPr>
        <p:spPr/>
        <p:txBody>
          <a:bodyPr/>
          <a:lstStyle/>
          <a:p>
            <a:fld id="{C8CA5850-4711-418D-B090-9E8809BBEA03}" type="slidenum">
              <a:rPr lang="en-US" smtClean="0"/>
              <a:t>‹#›</a:t>
            </a:fld>
            <a:endParaRPr lang="en-US"/>
          </a:p>
        </p:txBody>
      </p:sp>
    </p:spTree>
    <p:extLst>
      <p:ext uri="{BB962C8B-B14F-4D97-AF65-F5344CB8AC3E}">
        <p14:creationId xmlns:p14="http://schemas.microsoft.com/office/powerpoint/2010/main" val="42664166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5FFCF-BCA4-6422-EF55-4187404405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2A5162D-91AC-3CD0-063C-E0BBBE4F78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2301E6C-93B7-DB7B-2FF8-18E2CA47A7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07B2EB-4B9F-4971-20DE-E2A0FC45D622}"/>
              </a:ext>
            </a:extLst>
          </p:cNvPr>
          <p:cNvSpPr>
            <a:spLocks noGrp="1"/>
          </p:cNvSpPr>
          <p:nvPr>
            <p:ph type="dt" sz="half" idx="10"/>
          </p:nvPr>
        </p:nvSpPr>
        <p:spPr/>
        <p:txBody>
          <a:bodyPr/>
          <a:lstStyle/>
          <a:p>
            <a:fld id="{9E128125-7331-418B-970D-A88E73B1885B}" type="datetimeFigureOut">
              <a:rPr lang="en-US" smtClean="0"/>
              <a:t>4/10/2026</a:t>
            </a:fld>
            <a:endParaRPr lang="en-US"/>
          </a:p>
        </p:txBody>
      </p:sp>
      <p:sp>
        <p:nvSpPr>
          <p:cNvPr id="6" name="Footer Placeholder 5">
            <a:extLst>
              <a:ext uri="{FF2B5EF4-FFF2-40B4-BE49-F238E27FC236}">
                <a16:creationId xmlns:a16="http://schemas.microsoft.com/office/drawing/2014/main" id="{33312A8C-4192-A960-0924-32DB65E413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10DA8B-C4F6-F6C3-4CE3-6687BB6DE5DF}"/>
              </a:ext>
            </a:extLst>
          </p:cNvPr>
          <p:cNvSpPr>
            <a:spLocks noGrp="1"/>
          </p:cNvSpPr>
          <p:nvPr>
            <p:ph type="sldNum" sz="quarter" idx="12"/>
          </p:nvPr>
        </p:nvSpPr>
        <p:spPr/>
        <p:txBody>
          <a:bodyPr/>
          <a:lstStyle/>
          <a:p>
            <a:fld id="{C8CA5850-4711-418D-B090-9E8809BBEA03}" type="slidenum">
              <a:rPr lang="en-US" smtClean="0"/>
              <a:t>‹#›</a:t>
            </a:fld>
            <a:endParaRPr lang="en-US"/>
          </a:p>
        </p:txBody>
      </p:sp>
    </p:spTree>
    <p:extLst>
      <p:ext uri="{BB962C8B-B14F-4D97-AF65-F5344CB8AC3E}">
        <p14:creationId xmlns:p14="http://schemas.microsoft.com/office/powerpoint/2010/main" val="9860234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5A505-4EF4-4344-50A8-5C3F9D6C83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E6236DB-2AB7-8010-B7C4-9587733F86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232FC49-51D0-FAE6-AE4F-593E30C1D0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4D7ED5-3E99-EF65-A264-1FA60E019AE3}"/>
              </a:ext>
            </a:extLst>
          </p:cNvPr>
          <p:cNvSpPr>
            <a:spLocks noGrp="1"/>
          </p:cNvSpPr>
          <p:nvPr>
            <p:ph type="dt" sz="half" idx="10"/>
          </p:nvPr>
        </p:nvSpPr>
        <p:spPr/>
        <p:txBody>
          <a:bodyPr/>
          <a:lstStyle/>
          <a:p>
            <a:fld id="{9E128125-7331-418B-970D-A88E73B1885B}" type="datetimeFigureOut">
              <a:rPr lang="en-US" smtClean="0"/>
              <a:t>4/10/2026</a:t>
            </a:fld>
            <a:endParaRPr lang="en-US"/>
          </a:p>
        </p:txBody>
      </p:sp>
      <p:sp>
        <p:nvSpPr>
          <p:cNvPr id="6" name="Footer Placeholder 5">
            <a:extLst>
              <a:ext uri="{FF2B5EF4-FFF2-40B4-BE49-F238E27FC236}">
                <a16:creationId xmlns:a16="http://schemas.microsoft.com/office/drawing/2014/main" id="{3FF4447A-20DA-776F-D992-D4C4F8FED4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786DC0-2143-6FF7-D633-AEB90F170132}"/>
              </a:ext>
            </a:extLst>
          </p:cNvPr>
          <p:cNvSpPr>
            <a:spLocks noGrp="1"/>
          </p:cNvSpPr>
          <p:nvPr>
            <p:ph type="sldNum" sz="quarter" idx="12"/>
          </p:nvPr>
        </p:nvSpPr>
        <p:spPr/>
        <p:txBody>
          <a:bodyPr/>
          <a:lstStyle/>
          <a:p>
            <a:fld id="{C8CA5850-4711-418D-B090-9E8809BBEA03}" type="slidenum">
              <a:rPr lang="en-US" smtClean="0"/>
              <a:t>‹#›</a:t>
            </a:fld>
            <a:endParaRPr lang="en-US"/>
          </a:p>
        </p:txBody>
      </p:sp>
    </p:spTree>
    <p:extLst>
      <p:ext uri="{BB962C8B-B14F-4D97-AF65-F5344CB8AC3E}">
        <p14:creationId xmlns:p14="http://schemas.microsoft.com/office/powerpoint/2010/main" val="4300974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C8807-8EA1-1E3F-C93C-53DC1495715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0E4496-F8E6-C5F2-080D-95D9D738D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5A14D9-F8C6-8C40-2D38-4D310955402B}"/>
              </a:ext>
            </a:extLst>
          </p:cNvPr>
          <p:cNvSpPr>
            <a:spLocks noGrp="1"/>
          </p:cNvSpPr>
          <p:nvPr>
            <p:ph type="dt" sz="half" idx="10"/>
          </p:nvPr>
        </p:nvSpPr>
        <p:spPr/>
        <p:txBody>
          <a:bodyPr/>
          <a:lstStyle/>
          <a:p>
            <a:fld id="{9E128125-7331-418B-970D-A88E73B1885B}" type="datetimeFigureOut">
              <a:rPr lang="en-US" smtClean="0"/>
              <a:t>4/10/2026</a:t>
            </a:fld>
            <a:endParaRPr lang="en-US"/>
          </a:p>
        </p:txBody>
      </p:sp>
      <p:sp>
        <p:nvSpPr>
          <p:cNvPr id="5" name="Footer Placeholder 4">
            <a:extLst>
              <a:ext uri="{FF2B5EF4-FFF2-40B4-BE49-F238E27FC236}">
                <a16:creationId xmlns:a16="http://schemas.microsoft.com/office/drawing/2014/main" id="{C78B8470-3C92-A110-4A16-6471243BBF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3E333C-EE8B-4C6C-740C-83DD53D29AAB}"/>
              </a:ext>
            </a:extLst>
          </p:cNvPr>
          <p:cNvSpPr>
            <a:spLocks noGrp="1"/>
          </p:cNvSpPr>
          <p:nvPr>
            <p:ph type="sldNum" sz="quarter" idx="12"/>
          </p:nvPr>
        </p:nvSpPr>
        <p:spPr/>
        <p:txBody>
          <a:bodyPr/>
          <a:lstStyle/>
          <a:p>
            <a:fld id="{C8CA5850-4711-418D-B090-9E8809BBEA03}" type="slidenum">
              <a:rPr lang="en-US" smtClean="0"/>
              <a:t>‹#›</a:t>
            </a:fld>
            <a:endParaRPr lang="en-US"/>
          </a:p>
        </p:txBody>
      </p:sp>
    </p:spTree>
    <p:extLst>
      <p:ext uri="{BB962C8B-B14F-4D97-AF65-F5344CB8AC3E}">
        <p14:creationId xmlns:p14="http://schemas.microsoft.com/office/powerpoint/2010/main" val="3212218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EF8295-38FF-2EE2-BA5A-10F55BEC751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A9746B-4BB9-92CC-BE72-BDD91738C96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E74B6F-9D5B-00D5-BC52-BFD90E7DF413}"/>
              </a:ext>
            </a:extLst>
          </p:cNvPr>
          <p:cNvSpPr>
            <a:spLocks noGrp="1"/>
          </p:cNvSpPr>
          <p:nvPr>
            <p:ph type="dt" sz="half" idx="10"/>
          </p:nvPr>
        </p:nvSpPr>
        <p:spPr/>
        <p:txBody>
          <a:bodyPr/>
          <a:lstStyle/>
          <a:p>
            <a:fld id="{9E128125-7331-418B-970D-A88E73B1885B}" type="datetimeFigureOut">
              <a:rPr lang="en-US" smtClean="0"/>
              <a:t>4/10/2026</a:t>
            </a:fld>
            <a:endParaRPr lang="en-US"/>
          </a:p>
        </p:txBody>
      </p:sp>
      <p:sp>
        <p:nvSpPr>
          <p:cNvPr id="5" name="Footer Placeholder 4">
            <a:extLst>
              <a:ext uri="{FF2B5EF4-FFF2-40B4-BE49-F238E27FC236}">
                <a16:creationId xmlns:a16="http://schemas.microsoft.com/office/drawing/2014/main" id="{7C45D54D-8851-7681-87FF-AD0C685D50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9E94E6-BFED-206F-8DBE-C80EB6527FC5}"/>
              </a:ext>
            </a:extLst>
          </p:cNvPr>
          <p:cNvSpPr>
            <a:spLocks noGrp="1"/>
          </p:cNvSpPr>
          <p:nvPr>
            <p:ph type="sldNum" sz="quarter" idx="12"/>
          </p:nvPr>
        </p:nvSpPr>
        <p:spPr/>
        <p:txBody>
          <a:bodyPr/>
          <a:lstStyle/>
          <a:p>
            <a:fld id="{C8CA5850-4711-418D-B090-9E8809BBEA03}" type="slidenum">
              <a:rPr lang="en-US" smtClean="0"/>
              <a:t>‹#›</a:t>
            </a:fld>
            <a:endParaRPr lang="en-US"/>
          </a:p>
        </p:txBody>
      </p:sp>
    </p:spTree>
    <p:extLst>
      <p:ext uri="{BB962C8B-B14F-4D97-AF65-F5344CB8AC3E}">
        <p14:creationId xmlns:p14="http://schemas.microsoft.com/office/powerpoint/2010/main" val="15486300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Title Only_Custom Background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7555195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9952189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9260823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8062342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92146694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4/10/2026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016620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4/10/2026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515603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873806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08299931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47001986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39997046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83290133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only_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hasCustomPrompt="1"/>
          </p:nvPr>
        </p:nvSpPr>
        <p:spPr>
          <a:xfrm>
            <a:off x="588263" y="457200"/>
            <a:ext cx="9653392" cy="553998"/>
          </a:xfrm>
        </p:spPr>
        <p:txBody>
          <a:bodyPr/>
          <a:lstStyle>
            <a:lvl1pPr marL="0" algn="l" defTabSz="932384" rtl="0" eaLnBrk="1" latinLnBrk="0" hangingPunct="1">
              <a:lnSpc>
                <a:spcPct val="100000"/>
              </a:lnSpc>
              <a:spcBef>
                <a:spcPct val="0"/>
              </a:spcBef>
              <a:buNone/>
              <a:defRPr lang="en-US" sz="3600" b="0" kern="1200" cap="none" spc="-50" baseline="0" dirty="0">
                <a:ln w="3175">
                  <a:noFill/>
                </a:ln>
                <a:solidFill>
                  <a:schemeClr val="accent2">
                    <a:lumMod val="50000"/>
                  </a:schemeClr>
                </a:solidFill>
                <a:effectLst/>
                <a:latin typeface="+mj-lt"/>
                <a:ea typeface="+mn-ea"/>
                <a:cs typeface="Segoe UI" pitchFamily="34" charset="0"/>
              </a:defRPr>
            </a:lvl1pPr>
          </a:lstStyle>
          <a:p>
            <a:r>
              <a:rPr lang="en-US"/>
              <a:t>Title only</a:t>
            </a:r>
          </a:p>
        </p:txBody>
      </p:sp>
      <p:pic>
        <p:nvPicPr>
          <p:cNvPr id="13" name="Picture 12" descr="Grey dots in a decorative spiral">
            <a:extLst>
              <a:ext uri="{FF2B5EF4-FFF2-40B4-BE49-F238E27FC236}">
                <a16:creationId xmlns:a16="http://schemas.microsoft.com/office/drawing/2014/main" id="{129FA58B-F4C2-FEF2-22E5-FAC33CC0DA58}"/>
              </a:ext>
              <a:ext uri="{C183D7F6-B498-43B3-948B-1728B52AA6E4}">
                <adec:decorative xmlns:adec="http://schemas.microsoft.com/office/drawing/2017/decorative" val="0"/>
              </a:ext>
            </a:extLst>
          </p:cNvPr>
          <p:cNvPicPr>
            <a:picLocks noChangeAspect="1"/>
          </p:cNvPicPr>
          <p:nvPr userDrawn="1"/>
        </p:nvPicPr>
        <p:blipFill rotWithShape="1">
          <a:blip r:embed="rId3" cstate="print">
            <a:alphaModFix amt="48000"/>
            <a:grayscl/>
            <a:extLst>
              <a:ext uri="{28A0092B-C50C-407E-A947-70E740481C1C}">
                <a14:useLocalDpi xmlns:a14="http://schemas.microsoft.com/office/drawing/2010/main" val="0"/>
              </a:ext>
            </a:extLst>
          </a:blip>
          <a:srcRect l="27639" t="18675" r="11937" b="17894"/>
          <a:stretch/>
        </p:blipFill>
        <p:spPr>
          <a:xfrm flipH="1">
            <a:off x="10728642" y="0"/>
            <a:ext cx="1463358" cy="1206500"/>
          </a:xfrm>
          <a:custGeom>
            <a:avLst/>
            <a:gdLst>
              <a:gd name="connsiteX0" fmla="*/ 1684338 w 1684338"/>
              <a:gd name="connsiteY0" fmla="*/ 0 h 1562100"/>
              <a:gd name="connsiteX1" fmla="*/ 0 w 1684338"/>
              <a:gd name="connsiteY1" fmla="*/ 0 h 1562100"/>
              <a:gd name="connsiteX2" fmla="*/ 0 w 1684338"/>
              <a:gd name="connsiteY2" fmla="*/ 1562100 h 1562100"/>
              <a:gd name="connsiteX3" fmla="*/ 1684338 w 1684338"/>
              <a:gd name="connsiteY3" fmla="*/ 1562100 h 1562100"/>
            </a:gdLst>
            <a:ahLst/>
            <a:cxnLst>
              <a:cxn ang="0">
                <a:pos x="connsiteX0" y="connsiteY0"/>
              </a:cxn>
              <a:cxn ang="0">
                <a:pos x="connsiteX1" y="connsiteY1"/>
              </a:cxn>
              <a:cxn ang="0">
                <a:pos x="connsiteX2" y="connsiteY2"/>
              </a:cxn>
              <a:cxn ang="0">
                <a:pos x="connsiteX3" y="connsiteY3"/>
              </a:cxn>
            </a:cxnLst>
            <a:rect l="l" t="t" r="r" b="b"/>
            <a:pathLst>
              <a:path w="1684338" h="1562100">
                <a:moveTo>
                  <a:pt x="1684338" y="0"/>
                </a:moveTo>
                <a:lnTo>
                  <a:pt x="0" y="0"/>
                </a:lnTo>
                <a:lnTo>
                  <a:pt x="0" y="1562100"/>
                </a:lnTo>
                <a:lnTo>
                  <a:pt x="1684338" y="1562100"/>
                </a:lnTo>
                <a:close/>
              </a:path>
            </a:pathLst>
          </a:custGeom>
        </p:spPr>
      </p:pic>
    </p:spTree>
    <p:custDataLst>
      <p:tags r:id="rId1"/>
    </p:custDataLst>
    <p:extLst>
      <p:ext uri="{BB962C8B-B14F-4D97-AF65-F5344CB8AC3E}">
        <p14:creationId xmlns:p14="http://schemas.microsoft.com/office/powerpoint/2010/main" val="300906940"/>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2">
          <p15:clr>
            <a:srgbClr val="5ACBF0"/>
          </p15:clr>
        </p15:guide>
        <p15:guide id="5" orient="horz" pos="283">
          <p15:clr>
            <a:srgbClr val="5ACBF0"/>
          </p15:clr>
        </p15:guide>
        <p15:guide id="6" pos="3917">
          <p15:clr>
            <a:srgbClr val="FBAE40"/>
          </p15:clr>
        </p15:guide>
        <p15:guide id="7" orient="horz" pos="2203">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Title Only_Custom Background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5943918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9" Type="http://schemas.openxmlformats.org/officeDocument/2006/relationships/tags" Target="../tags/tag1.xml"/><Relationship Id="rId10" Type="http://schemas.openxmlformats.org/officeDocument/2006/relationships/image" Target="../media/image1.emf"/><Relationship Id="rId11"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slideLayout" Target="../slideLayouts/slideLayout15.xml"/><Relationship Id="rId9" Type="http://schemas.openxmlformats.org/officeDocument/2006/relationships/slideLayout" Target="../slideLayouts/slideLayout16.xml"/><Relationship Id="rId10" Type="http://schemas.openxmlformats.org/officeDocument/2006/relationships/slideLayout" Target="../slideLayouts/slideLayout17.xml"/><Relationship Id="rId11" Type="http://schemas.openxmlformats.org/officeDocument/2006/relationships/slideLayout" Target="../slideLayouts/slideLayout18.xml"/><Relationship Id="rId12" Type="http://schemas.openxmlformats.org/officeDocument/2006/relationships/slideLayout" Target="../slideLayouts/slideLayout19.xml"/><Relationship Id="rId1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Layout" Target="../slideLayouts/slideLayout21.xml"/><Relationship Id="rId3" Type="http://schemas.openxmlformats.org/officeDocument/2006/relationships/slideLayout" Target="../slideLayouts/slideLayout22.xml"/><Relationship Id="rId4" Type="http://schemas.openxmlformats.org/officeDocument/2006/relationships/slideLayout" Target="../slideLayouts/slideLayout23.xml"/><Relationship Id="rId5" Type="http://schemas.openxmlformats.org/officeDocument/2006/relationships/slideLayout" Target="../slideLayouts/slideLayout24.xml"/><Relationship Id="rId6" Type="http://schemas.openxmlformats.org/officeDocument/2006/relationships/slideLayout" Target="../slideLayouts/slideLayout25.xml"/><Relationship Id="rId7" Type="http://schemas.openxmlformats.org/officeDocument/2006/relationships/slideLayout" Target="../slideLayouts/slideLayout26.xml"/><Relationship Id="rId8" Type="http://schemas.openxmlformats.org/officeDocument/2006/relationships/slideLayout" Target="../slideLayouts/slideLayout27.xml"/><Relationship Id="rId9" Type="http://schemas.openxmlformats.org/officeDocument/2006/relationships/slideLayout" Target="../slideLayouts/slideLayout28.xml"/><Relationship Id="rId10" Type="http://schemas.openxmlformats.org/officeDocument/2006/relationships/slideLayout" Target="../slideLayouts/slideLayout29.xml"/><Relationship Id="rId11" Type="http://schemas.openxmlformats.org/officeDocument/2006/relationships/slideLayout" Target="../slideLayouts/slideLayout30.xml"/><Relationship Id="rId12" Type="http://schemas.openxmlformats.org/officeDocument/2006/relationships/slideLayout" Target="../slideLayouts/slideLayout31.xml"/><Relationship Id="rId13" Type="http://schemas.openxmlformats.org/officeDocument/2006/relationships/slideLayout" Target="../slideLayouts/slideLayout32.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460563"/>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A4F863F8-3190-109C-7161-40345FE412FF}"/>
              </a:ext>
            </a:extLst>
          </p:cNvPr>
          <p:cNvSpPr/>
          <p:nvPr userDrawn="1"/>
        </p:nvSpPr>
        <p:spPr>
          <a:xfrm>
            <a:off x="584200" y="6496253"/>
            <a:ext cx="2727670" cy="200055"/>
          </a:xfrm>
          <a:prstGeom prst="rect">
            <a:avLst/>
          </a:prstGeom>
        </p:spPr>
        <p:txBody>
          <a:bodyPr wrap="none" lIns="0">
            <a:spAutoFit/>
          </a:bodyPr>
          <a:lstStyle/>
          <a:p>
            <a:r>
              <a:rPr lang="en-US" sz="700" b="0" i="0" spc="80" baseline="0">
                <a:solidFill>
                  <a:schemeClr val="tx1">
                    <a:lumMod val="50000"/>
                    <a:lumOff val="50000"/>
                  </a:schemeClr>
                </a:solidFill>
                <a:latin typeface="+mn-lt"/>
              </a:rPr>
              <a:t>MICROSOFT CONFIDENTIAL. FOR INTERNAL USE ONLY</a:t>
            </a:r>
          </a:p>
        </p:txBody>
      </p:sp>
      <p:pic>
        <p:nvPicPr>
          <p:cNvPr id="64" name="NEW Brand Colors 2018">
            <a:extLst>
              <a:ext uri="{FF2B5EF4-FFF2-40B4-BE49-F238E27FC236}">
                <a16:creationId xmlns:a16="http://schemas.microsoft.com/office/drawing/2014/main" id="{A8BA6B64-5E5E-4B2E-8DF2-17DC5A1D39B7}"/>
              </a:ext>
            </a:extLst>
          </p:cNvPr>
          <p:cNvPicPr>
            <a:picLocks noChangeAspect="1"/>
          </p:cNvPicPr>
          <p:nvPr userDrawn="1"/>
        </p:nvPicPr>
        <p:blipFill>
          <a:blip r:embed="rId10" cstate="screen">
            <a:extLst>
              <a:ext uri="{28A0092B-C50C-407E-A947-70E740481C1C}">
                <a14:useLocalDpi xmlns:a14="http://schemas.microsoft.com/office/drawing/2010/main"/>
              </a:ext>
            </a:extLst>
          </a:blip>
          <a:stretch>
            <a:fillRect/>
          </a:stretch>
        </p:blipFill>
        <p:spPr>
          <a:xfrm rot="5400000">
            <a:off x="9353628" y="2942644"/>
            <a:ext cx="6858000" cy="972712"/>
          </a:xfrm>
          <a:prstGeom prst="rect">
            <a:avLst/>
          </a:prstGeom>
        </p:spPr>
      </p:pic>
      <p:pic>
        <p:nvPicPr>
          <p:cNvPr id="94" name="Picture 93">
            <a:extLst>
              <a:ext uri="{FF2B5EF4-FFF2-40B4-BE49-F238E27FC236}">
                <a16:creationId xmlns:a16="http://schemas.microsoft.com/office/drawing/2014/main" id="{6A88F09E-5CD6-2540-F778-A9F2267C630D}"/>
              </a:ext>
              <a:ext uri="{C183D7F6-B498-43B3-948B-1728B52AA6E4}">
                <adec:decorative xmlns:adec="http://schemas.microsoft.com/office/drawing/2017/decorative" val="1"/>
              </a:ext>
            </a:extLst>
          </p:cNvPr>
          <p:cNvPicPr>
            <a:picLocks noChangeAspect="1"/>
          </p:cNvPicPr>
          <p:nvPr userDrawn="1"/>
        </p:nvPicPr>
        <p:blipFill>
          <a:blip r:embed="rId11"/>
          <a:stretch>
            <a:fillRect/>
          </a:stretch>
        </p:blipFill>
        <p:spPr>
          <a:xfrm>
            <a:off x="13373253" y="12841"/>
            <a:ext cx="340671" cy="6832318"/>
          </a:xfrm>
          <a:prstGeom prst="rect">
            <a:avLst/>
          </a:prstGeom>
        </p:spPr>
      </p:pic>
    </p:spTree>
    <p:custDataLst>
      <p:tags r:id="rId9"/>
    </p:custDataLst>
    <p:extLst>
      <p:ext uri="{BB962C8B-B14F-4D97-AF65-F5344CB8AC3E}">
        <p14:creationId xmlns:p14="http://schemas.microsoft.com/office/powerpoint/2010/main" val="2927840230"/>
      </p:ext>
    </p:extLst>
  </p:cSld>
  <p:clrMap bg1="lt1" tx1="dk1" bg2="lt2" tx2="dk2" accent1="accent1" accent2="accent2" accent3="accent3" accent4="accent4" accent5="accent5" accent6="accent6" hlink="hlink" folHlink="folHlink"/>
  <p:sldLayoutIdLst>
    <p:sldLayoutId id="2147483685" r:id="rId1"/>
    <p:sldLayoutId id="2147483689" r:id="rId2"/>
    <p:sldLayoutId id="2147483693" r:id="rId3"/>
    <p:sldLayoutId id="2147483723" r:id="rId4"/>
    <p:sldLayoutId id="2147483730" r:id="rId5"/>
    <p:sldLayoutId id="2147483800" r:id="rId6"/>
    <p:sldLayoutId id="2147483801" r:id="rId7"/>
  </p:sldLayoutIdLst>
  <p:transition>
    <p:fade/>
  </p:transition>
  <p:hf sldNum="0" hdr="0" ftr="0" dt="0"/>
  <p:txStyles>
    <p:titleStyle>
      <a:lvl1pPr algn="l" defTabSz="932563" rtl="0" eaLnBrk="1" latinLnBrk="0" hangingPunct="1">
        <a:lnSpc>
          <a:spcPct val="100000"/>
        </a:lnSpc>
        <a:spcBef>
          <a:spcPct val="0"/>
        </a:spcBef>
        <a:buNone/>
        <a:defRPr lang="en-US" sz="3529"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556"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961" kern="1200" spc="0" baseline="0">
          <a:gradFill>
            <a:gsLst>
              <a:gs pos="1250">
                <a:schemeClr val="tx1"/>
              </a:gs>
              <a:gs pos="100000">
                <a:schemeClr val="tx1"/>
              </a:gs>
            </a:gsLst>
            <a:lin ang="5400000" scaled="0"/>
          </a:gradFill>
          <a:latin typeface="+mj-lt"/>
          <a:ea typeface="+mn-ea"/>
          <a:cs typeface="Segoe UI Semilight" panose="020B0402040204020203" pitchFamily="34" charset="0"/>
        </a:defRPr>
      </a:lvl1pPr>
      <a:lvl2pPr marL="457112"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961" kern="1200" spc="0" baseline="0">
          <a:gradFill>
            <a:gsLst>
              <a:gs pos="1250">
                <a:schemeClr val="tx1"/>
              </a:gs>
              <a:gs pos="100000">
                <a:schemeClr val="tx1"/>
              </a:gs>
            </a:gsLst>
            <a:lin ang="5400000" scaled="0"/>
          </a:gradFill>
          <a:latin typeface="+mn-lt"/>
          <a:ea typeface="+mn-ea"/>
          <a:cs typeface="+mn-cs"/>
        </a:defRPr>
      </a:lvl2pPr>
      <a:lvl3pPr marL="657099" marR="0" indent="-19998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372" kern="1200" spc="0" baseline="0">
          <a:gradFill>
            <a:gsLst>
              <a:gs pos="1250">
                <a:schemeClr val="tx1"/>
              </a:gs>
              <a:gs pos="100000">
                <a:schemeClr val="tx1"/>
              </a:gs>
            </a:gsLst>
            <a:lin ang="5400000" scaled="0"/>
          </a:gradFill>
          <a:latin typeface="+mn-lt"/>
          <a:ea typeface="+mn-ea"/>
          <a:cs typeface="+mn-cs"/>
        </a:defRPr>
      </a:lvl3pPr>
      <a:lvl4pPr marL="842801" marR="0" indent="-180940"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372" kern="1200" spc="0" baseline="0">
          <a:gradFill>
            <a:gsLst>
              <a:gs pos="1250">
                <a:schemeClr val="tx1"/>
              </a:gs>
              <a:gs pos="100000">
                <a:schemeClr val="tx1"/>
              </a:gs>
            </a:gsLst>
            <a:lin ang="5400000" scaled="0"/>
          </a:gradFill>
          <a:latin typeface="+mn-lt"/>
          <a:ea typeface="+mn-ea"/>
          <a:cs typeface="+mn-cs"/>
        </a:defRPr>
      </a:lvl4pPr>
      <a:lvl5pPr marL="1023741" marR="0" indent="-168243"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372" kern="1200" spc="0" baseline="0">
          <a:gradFill>
            <a:gsLst>
              <a:gs pos="1250">
                <a:schemeClr val="tx1"/>
              </a:gs>
              <a:gs pos="100000">
                <a:schemeClr val="tx1"/>
              </a:gs>
            </a:gsLst>
            <a:lin ang="5400000" scaled="0"/>
          </a:gradFill>
          <a:latin typeface="+mn-lt"/>
          <a:ea typeface="+mn-ea"/>
          <a:cs typeface="+mn-cs"/>
        </a:defRPr>
      </a:lvl5pPr>
      <a:lvl6pPr marL="2564547"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30"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111"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94"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563" rtl="0" eaLnBrk="1" latinLnBrk="0" hangingPunct="1">
        <a:defRPr sz="1800" kern="1200">
          <a:solidFill>
            <a:schemeClr val="tx1"/>
          </a:solidFill>
          <a:latin typeface="+mn-lt"/>
          <a:ea typeface="+mn-ea"/>
          <a:cs typeface="+mn-cs"/>
        </a:defRPr>
      </a:lvl1pPr>
      <a:lvl2pPr marL="466282" algn="l" defTabSz="932563" rtl="0" eaLnBrk="1" latinLnBrk="0" hangingPunct="1">
        <a:defRPr sz="1800" kern="1200">
          <a:solidFill>
            <a:schemeClr val="tx1"/>
          </a:solidFill>
          <a:latin typeface="+mn-lt"/>
          <a:ea typeface="+mn-ea"/>
          <a:cs typeface="+mn-cs"/>
        </a:defRPr>
      </a:lvl2pPr>
      <a:lvl3pPr marL="932563" algn="l" defTabSz="932563" rtl="0" eaLnBrk="1" latinLnBrk="0" hangingPunct="1">
        <a:defRPr sz="1800" kern="1200">
          <a:solidFill>
            <a:schemeClr val="tx1"/>
          </a:solidFill>
          <a:latin typeface="+mn-lt"/>
          <a:ea typeface="+mn-ea"/>
          <a:cs typeface="+mn-cs"/>
        </a:defRPr>
      </a:lvl3pPr>
      <a:lvl4pPr marL="1398844" algn="l" defTabSz="932563" rtl="0" eaLnBrk="1" latinLnBrk="0" hangingPunct="1">
        <a:defRPr sz="1800" kern="1200">
          <a:solidFill>
            <a:schemeClr val="tx1"/>
          </a:solidFill>
          <a:latin typeface="+mn-lt"/>
          <a:ea typeface="+mn-ea"/>
          <a:cs typeface="+mn-cs"/>
        </a:defRPr>
      </a:lvl4pPr>
      <a:lvl5pPr marL="1865126" algn="l" defTabSz="932563" rtl="0" eaLnBrk="1" latinLnBrk="0" hangingPunct="1">
        <a:defRPr sz="1800" kern="1200">
          <a:solidFill>
            <a:schemeClr val="tx1"/>
          </a:solidFill>
          <a:latin typeface="+mn-lt"/>
          <a:ea typeface="+mn-ea"/>
          <a:cs typeface="+mn-cs"/>
        </a:defRPr>
      </a:lvl5pPr>
      <a:lvl6pPr marL="2331408" algn="l" defTabSz="932563" rtl="0" eaLnBrk="1" latinLnBrk="0" hangingPunct="1">
        <a:defRPr sz="1800" kern="1200">
          <a:solidFill>
            <a:schemeClr val="tx1"/>
          </a:solidFill>
          <a:latin typeface="+mn-lt"/>
          <a:ea typeface="+mn-ea"/>
          <a:cs typeface="+mn-cs"/>
        </a:defRPr>
      </a:lvl6pPr>
      <a:lvl7pPr marL="2797689" algn="l" defTabSz="932563" rtl="0" eaLnBrk="1" latinLnBrk="0" hangingPunct="1">
        <a:defRPr sz="1800" kern="1200">
          <a:solidFill>
            <a:schemeClr val="tx1"/>
          </a:solidFill>
          <a:latin typeface="+mn-lt"/>
          <a:ea typeface="+mn-ea"/>
          <a:cs typeface="+mn-cs"/>
        </a:defRPr>
      </a:lvl7pPr>
      <a:lvl8pPr marL="3263970" algn="l" defTabSz="932563" rtl="0" eaLnBrk="1" latinLnBrk="0" hangingPunct="1">
        <a:defRPr sz="1800" kern="1200">
          <a:solidFill>
            <a:schemeClr val="tx1"/>
          </a:solidFill>
          <a:latin typeface="+mn-lt"/>
          <a:ea typeface="+mn-ea"/>
          <a:cs typeface="+mn-cs"/>
        </a:defRPr>
      </a:lvl8pPr>
      <a:lvl9pPr marL="3730252" algn="l" defTabSz="93256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5">
          <p15:clr>
            <a:srgbClr val="C35EA4"/>
          </p15:clr>
        </p15:guide>
        <p15:guide id="17" pos="7661">
          <p15:clr>
            <a:srgbClr val="A4A3A4"/>
          </p15:clr>
        </p15:guide>
        <p15:guide id="25" orient="horz" pos="379">
          <p15:clr>
            <a:srgbClr val="C35EA4"/>
          </p15:clr>
        </p15:guide>
        <p15:guide id="26" orient="horz" pos="4027">
          <p15:clr>
            <a:srgbClr val="C35EA4"/>
          </p15:clr>
        </p15:guide>
        <p15:guide id="27" orient="horz" pos="187">
          <p15:clr>
            <a:srgbClr val="A4A3A4"/>
          </p15:clr>
        </p15:guide>
        <p15:guide id="28" pos="173">
          <p15:clr>
            <a:srgbClr val="A4A3A4"/>
          </p15:clr>
        </p15:guide>
        <p15:guide id="29" orient="horz" pos="2347">
          <p15:clr>
            <a:srgbClr val="A4A3A4"/>
          </p15:clr>
        </p15:guide>
        <p15:guide id="30" pos="7320">
          <p15:clr>
            <a:srgbClr val="C35EA4"/>
          </p15:clr>
        </p15:guide>
        <p15:guide id="31" pos="3917">
          <p15:clr>
            <a:srgbClr val="C35EA4"/>
          </p15:clr>
        </p15:guide>
        <p15:guide id="32" orient="horz" pos="2203">
          <p15:clr>
            <a:srgbClr val="F26B43"/>
          </p15:clr>
        </p15:guide>
        <p15:guide id="33" orient="horz" pos="4219">
          <p15:clr>
            <a:srgbClr val="A4A3A4"/>
          </p15:clr>
        </p15:guide>
        <p15:guide id="34" orient="horz" pos="2059">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8FFDEB-E59B-898A-0919-D2FCE42638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7773C94-ED43-8244-6B02-E7234CAF92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4D8F9E-0E0A-9154-6906-F2228259F9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E128125-7331-418B-970D-A88E73B1885B}" type="datetimeFigureOut">
              <a:rPr lang="en-US" smtClean="0"/>
              <a:t>4/10/2026</a:t>
            </a:fld>
            <a:endParaRPr lang="en-US"/>
          </a:p>
        </p:txBody>
      </p:sp>
      <p:sp>
        <p:nvSpPr>
          <p:cNvPr id="5" name="Footer Placeholder 4">
            <a:extLst>
              <a:ext uri="{FF2B5EF4-FFF2-40B4-BE49-F238E27FC236}">
                <a16:creationId xmlns:a16="http://schemas.microsoft.com/office/drawing/2014/main" id="{9399CEC8-4581-4497-9206-B9F450C3E8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F03F71B-B2A7-7E82-4132-62F4B834C1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CA5850-4711-418D-B090-9E8809BBEA03}" type="slidenum">
              <a:rPr lang="en-US" smtClean="0"/>
              <a:t>‹#›</a:t>
            </a:fld>
            <a:endParaRPr lang="en-US"/>
          </a:p>
        </p:txBody>
      </p:sp>
    </p:spTree>
    <p:extLst>
      <p:ext uri="{BB962C8B-B14F-4D97-AF65-F5344CB8AC3E}">
        <p14:creationId xmlns:p14="http://schemas.microsoft.com/office/powerpoint/2010/main" val="174378396"/>
      </p:ext>
    </p:extLst>
  </p:cSld>
  <p:clrMap bg1="lt1" tx1="dk1" bg2="lt2" tx2="dk2" accent1="accent1" accent2="accent2" accent3="accent3" accent4="accent4" accent5="accent5" accent6="accent6" hlink="hlink" folHlink="folHlink"/>
  <p:sldLayoutIdLst>
    <p:sldLayoutId id="2147483894" r:id="rId1"/>
    <p:sldLayoutId id="2147483895" r:id="rId2"/>
    <p:sldLayoutId id="2147483896" r:id="rId3"/>
    <p:sldLayoutId id="2147483897" r:id="rId4"/>
    <p:sldLayoutId id="2147483898" r:id="rId5"/>
    <p:sldLayoutId id="2147483899" r:id="rId6"/>
    <p:sldLayoutId id="2147483900" r:id="rId7"/>
    <p:sldLayoutId id="2147483901" r:id="rId8"/>
    <p:sldLayoutId id="2147483902" r:id="rId9"/>
    <p:sldLayoutId id="2147483903" r:id="rId10"/>
    <p:sldLayoutId id="2147483904" r:id="rId11"/>
    <p:sldLayoutId id="214748394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4/10/2026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1930422111"/>
      </p:ext>
    </p:extLst>
  </p:cSld>
  <p:clrMap bg1="lt1" tx1="dk1" bg2="lt2" tx2="dk2" accent1="accent1" accent2="accent2" accent3="accent3" accent4="accent4" accent5="accent5" accent6="accent6" hlink="hlink" folHlink="folHlink"/>
  <p:sldLayoutIdLst>
    <p:sldLayoutId id="2147483932" r:id="rId1"/>
    <p:sldLayoutId id="2147483933" r:id="rId2"/>
    <p:sldLayoutId id="2147483934" r:id="rId3"/>
    <p:sldLayoutId id="2147483935" r:id="rId4"/>
    <p:sldLayoutId id="2147483936" r:id="rId5"/>
    <p:sldLayoutId id="2147483937" r:id="rId6"/>
    <p:sldLayoutId id="2147483938" r:id="rId7"/>
    <p:sldLayoutId id="2147483939" r:id="rId8"/>
    <p:sldLayoutId id="2147483940" r:id="rId9"/>
    <p:sldLayoutId id="2147483941" r:id="rId10"/>
    <p:sldLayoutId id="2147483942" r:id="rId11"/>
    <p:sldLayoutId id="2147483943" r:id="rId12"/>
    <p:sldLayoutId id="2147483944"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097280"/>
            <a:ext cx="10058400" cy="457200"/>
          </a:xfrm>
          <a:prstGeom prst="rect">
            <a:avLst/>
          </a:prstGeom>
          <a:noFill/>
        </p:spPr>
        <p:txBody>
          <a:bodyPr wrap="square">
            <a:spAutoFit/>
          </a:bodyPr>
          <a:lstStyle/>
          <a:p>
            <a:pPr algn="l">
              <a:defRPr sz="1800" b="0">
                <a:solidFill>
                  <a:srgbClr val="FFFFFF"/>
                </a:solidFill>
                <a:latin typeface="Segoe Sans Display Semibold"/>
              </a:defRPr>
            </a:pPr>
            <a:r>
              <a:t>Microsoft Accelerated Factory</a:t>
            </a:r>
          </a:p>
        </p:txBody>
      </p:sp>
      <p:sp>
        <p:nvSpPr>
          <p:cNvPr id="3" name="TextBox 2"/>
          <p:cNvSpPr txBox="1"/>
          <p:nvPr/>
        </p:nvSpPr>
        <p:spPr>
          <a:xfrm>
            <a:off x="731520" y="1828800"/>
            <a:ext cx="10058400" cy="1097280"/>
          </a:xfrm>
          <a:prstGeom prst="rect">
            <a:avLst/>
          </a:prstGeom>
          <a:noFill/>
        </p:spPr>
        <p:txBody>
          <a:bodyPr wrap="square">
            <a:spAutoFit/>
          </a:bodyPr>
          <a:lstStyle/>
          <a:p>
            <a:pPr algn="l">
              <a:defRPr sz="4200" b="1">
                <a:solidFill>
                  <a:srgbClr val="FFFFFF"/>
                </a:solidFill>
                <a:latin typeface="Aptos Display"/>
              </a:defRPr>
            </a:pPr>
            <a:r>
              <a:t>Transforming Accelerate Factory</a:t>
            </a:r>
            <a:br/>
            <a:r>
              <a:t>with Copilot Squad + Snap Model</a:t>
            </a:r>
          </a:p>
        </p:txBody>
      </p:sp>
      <p:sp>
        <p:nvSpPr>
          <p:cNvPr id="4" name="TextBox 3"/>
          <p:cNvSpPr txBox="1"/>
          <p:nvPr/>
        </p:nvSpPr>
        <p:spPr>
          <a:xfrm>
            <a:off x="731520" y="3474720"/>
            <a:ext cx="10058400" cy="548640"/>
          </a:xfrm>
          <a:prstGeom prst="rect">
            <a:avLst/>
          </a:prstGeom>
          <a:noFill/>
        </p:spPr>
        <p:txBody>
          <a:bodyPr wrap="square">
            <a:spAutoFit/>
          </a:bodyPr>
          <a:lstStyle/>
          <a:p>
            <a:pPr algn="l">
              <a:defRPr sz="2200" b="0">
                <a:solidFill>
                  <a:srgbClr val="CCE5FF"/>
                </a:solidFill>
                <a:latin typeface="Aptos Display"/>
              </a:defRPr>
            </a:pPr>
            <a:r>
              <a:t>From Manual Execution to AI-Driven Delivery at Scale</a:t>
            </a:r>
          </a:p>
        </p:txBody>
      </p:sp>
      <p:sp>
        <p:nvSpPr>
          <p:cNvPr id="5" name="TextBox 4"/>
          <p:cNvSpPr txBox="1"/>
          <p:nvPr/>
        </p:nvSpPr>
        <p:spPr>
          <a:xfrm>
            <a:off x="731520" y="4389120"/>
            <a:ext cx="8229600" cy="731520"/>
          </a:xfrm>
          <a:prstGeom prst="rect">
            <a:avLst/>
          </a:prstGeom>
          <a:noFill/>
        </p:spPr>
        <p:txBody>
          <a:bodyPr wrap="square">
            <a:spAutoFit/>
          </a:bodyPr>
          <a:lstStyle/>
          <a:p>
            <a:pPr algn="l">
              <a:defRPr sz="1400" b="0">
                <a:solidFill>
                  <a:srgbClr val="B0D0F0"/>
                </a:solidFill>
                <a:latin typeface="Aptos"/>
              </a:defRPr>
            </a:pPr>
            <a:r>
              <a:t>How centralized squads, reusable agents, and snap presets</a:t>
            </a:r>
            <a:br/>
            <a:r>
              <a:t>enable faster, more consistent delivery across every engagement</a:t>
            </a:r>
          </a:p>
        </p:txBody>
      </p:sp>
      <p:sp>
        <p:nvSpPr>
          <p:cNvPr id="6" name="TextBox 5"/>
          <p:cNvSpPr txBox="1"/>
          <p:nvPr/>
        </p:nvSpPr>
        <p:spPr>
          <a:xfrm>
            <a:off x="731520" y="5486400"/>
            <a:ext cx="5486400" cy="640080"/>
          </a:xfrm>
          <a:prstGeom prst="rect">
            <a:avLst/>
          </a:prstGeom>
          <a:noFill/>
        </p:spPr>
        <p:txBody>
          <a:bodyPr wrap="square">
            <a:spAutoFit/>
          </a:bodyPr>
          <a:lstStyle/>
          <a:p>
            <a:pPr algn="l">
              <a:defRPr sz="1100" b="0">
                <a:solidFill>
                  <a:srgbClr val="90B8E0"/>
                </a:solidFill>
                <a:latin typeface="Aptos"/>
              </a:defRPr>
            </a:pPr>
            <a:r>
              <a:t>Audience: Architects, Delivery Leads, Factory Leadership</a:t>
            </a:r>
            <a:br/>
            <a:r>
              <a:t>Version 1.0  |  May 2026  |  Classification: Confidential</a:t>
            </a:r>
          </a:p>
        </p:txBody>
      </p:sp>
      <p:sp>
        <p:nvSpPr>
          <p:cNvPr id="7" name="TextBox 6"/>
          <p:cNvSpPr txBox="1"/>
          <p:nvPr/>
        </p:nvSpPr>
        <p:spPr>
          <a:xfrm>
            <a:off x="274320" y="6263640"/>
            <a:ext cx="9144000" cy="274320"/>
          </a:xfrm>
          <a:prstGeom prst="rect">
            <a:avLst/>
          </a:prstGeom>
          <a:noFill/>
        </p:spPr>
        <p:txBody>
          <a:bodyPr wrap="square">
            <a:spAutoFit/>
          </a:bodyPr>
          <a:lstStyle/>
          <a:p>
            <a:pPr algn="l">
              <a:defRPr sz="800" b="0">
                <a:solidFill>
                  <a:srgbClr val="666666"/>
                </a:solidFill>
                <a:latin typeface="Aptos"/>
              </a:defRPr>
            </a:pPr>
            <a:r>
              <a:t>CONFIDENTIAL  |  Microsoft Accelerate Factory  |  Copilot Squad + Snap Model</a:t>
            </a:r>
          </a:p>
        </p:txBody>
      </p:sp>
      <p:sp>
        <p:nvSpPr>
          <p:cNvPr id="8" name="TextBox 7"/>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1 /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
            <a:ext cx="12192000" cy="566928"/>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600" b="1">
                <a:solidFill>
                  <a:srgbClr val="FFFFFF"/>
                </a:solidFill>
                <a:latin typeface="Aptos Display"/>
              </a:defRPr>
            </a:pPr>
            <a:r>
              <a:t>The Problem Today</a:t>
            </a:r>
          </a:p>
        </p:txBody>
      </p:sp>
      <p:sp>
        <p:nvSpPr>
          <p:cNvPr id="3" name="TextBox 2"/>
          <p:cNvSpPr txBox="1"/>
          <p:nvPr/>
        </p:nvSpPr>
        <p:spPr>
          <a:xfrm>
            <a:off x="457200" y="914400"/>
            <a:ext cx="10972800" cy="320040"/>
          </a:xfrm>
          <a:prstGeom prst="rect">
            <a:avLst/>
          </a:prstGeom>
          <a:noFill/>
        </p:spPr>
        <p:txBody>
          <a:bodyPr wrap="square">
            <a:spAutoFit/>
          </a:bodyPr>
          <a:lstStyle/>
          <a:p>
            <a:pPr algn="l">
              <a:defRPr sz="1300" b="0">
                <a:solidFill>
                  <a:srgbClr val="4A4E66"/>
                </a:solidFill>
                <a:latin typeface="Aptos"/>
              </a:defRPr>
            </a:pPr>
            <a:r>
              <a:t>The current Factory model creates friction at every stage. Teams are slowed by process, not complexity.</a:t>
            </a:r>
          </a:p>
        </p:txBody>
      </p:sp>
      <p:sp>
        <p:nvSpPr>
          <p:cNvPr id="4" name="Rounded Rectangle 3"/>
          <p:cNvSpPr/>
          <p:nvPr/>
        </p:nvSpPr>
        <p:spPr>
          <a:xfrm>
            <a:off x="457200" y="1417320"/>
            <a:ext cx="7772400" cy="1005840"/>
          </a:xfrm>
          <a:prstGeom prst="roundRect">
            <a:avLst/>
          </a:prstGeom>
          <a:solidFill>
            <a:srgbClr val="F8F8FA"/>
          </a:solidFill>
          <a:ln w="12700">
            <a:solidFill>
              <a:srgbClr val="D83B0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90472"/>
            <a:ext cx="7315200" cy="274320"/>
          </a:xfrm>
          <a:prstGeom prst="rect">
            <a:avLst/>
          </a:prstGeom>
          <a:noFill/>
        </p:spPr>
        <p:txBody>
          <a:bodyPr wrap="square">
            <a:spAutoFit/>
          </a:bodyPr>
          <a:lstStyle/>
          <a:p>
            <a:pPr algn="l">
              <a:defRPr sz="1400" b="1">
                <a:solidFill>
                  <a:srgbClr val="D83B02"/>
                </a:solidFill>
                <a:latin typeface="Aptos"/>
              </a:defRPr>
            </a:pPr>
            <a:r>
              <a:t>Manual, Portal-Driven Execution</a:t>
            </a:r>
          </a:p>
        </p:txBody>
      </p:sp>
      <p:sp>
        <p:nvSpPr>
          <p:cNvPr id="6" name="TextBox 5"/>
          <p:cNvSpPr txBox="1"/>
          <p:nvPr/>
        </p:nvSpPr>
        <p:spPr>
          <a:xfrm>
            <a:off x="731520" y="1783080"/>
            <a:ext cx="7315200" cy="548640"/>
          </a:xfrm>
          <a:prstGeom prst="rect">
            <a:avLst/>
          </a:prstGeom>
          <a:noFill/>
        </p:spPr>
        <p:txBody>
          <a:bodyPr wrap="square">
            <a:spAutoFit/>
          </a:bodyPr>
          <a:lstStyle/>
          <a:p>
            <a:pPr algn="l">
              <a:defRPr sz="1000" b="0">
                <a:solidFill>
                  <a:srgbClr val="333333"/>
                </a:solidFill>
                <a:latin typeface="Aptos"/>
              </a:defRPr>
            </a:pPr>
            <a:r>
              <a:t>Teams deploy through Azure Portal clicks, not code. Every deployment is a one-off. No repeatability, no auditability, no speed.</a:t>
            </a:r>
          </a:p>
        </p:txBody>
      </p:sp>
      <p:sp>
        <p:nvSpPr>
          <p:cNvPr id="7" name="Rounded Rectangle 6"/>
          <p:cNvSpPr/>
          <p:nvPr/>
        </p:nvSpPr>
        <p:spPr>
          <a:xfrm>
            <a:off x="8503920" y="1554480"/>
            <a:ext cx="2926080" cy="731520"/>
          </a:xfrm>
          <a:prstGeom prst="roundRect">
            <a:avLst/>
          </a:prstGeom>
          <a:solidFill>
            <a:srgbClr val="F2F7FA"/>
          </a:solidFill>
          <a:ln w="12700">
            <a:solidFill>
              <a:srgbClr val="D83B0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0" y="1645920"/>
            <a:ext cx="2560320" cy="548640"/>
          </a:xfrm>
          <a:prstGeom prst="rect">
            <a:avLst/>
          </a:prstGeom>
          <a:noFill/>
        </p:spPr>
        <p:txBody>
          <a:bodyPr wrap="square">
            <a:spAutoFit/>
          </a:bodyPr>
          <a:lstStyle/>
          <a:p>
            <a:pPr algn="ctr">
              <a:defRPr sz="1100" b="1">
                <a:solidFill>
                  <a:srgbClr val="D83B02"/>
                </a:solidFill>
                <a:latin typeface="Aptos"/>
              </a:defRPr>
            </a:pPr>
            <a:r>
              <a:t>70%+ of deployment time is portal navigation</a:t>
            </a:r>
          </a:p>
        </p:txBody>
      </p:sp>
      <p:sp>
        <p:nvSpPr>
          <p:cNvPr id="9" name="Rounded Rectangle 8"/>
          <p:cNvSpPr/>
          <p:nvPr/>
        </p:nvSpPr>
        <p:spPr>
          <a:xfrm>
            <a:off x="457200" y="2560320"/>
            <a:ext cx="7772400" cy="1005840"/>
          </a:xfrm>
          <a:prstGeom prst="roundRect">
            <a:avLst/>
          </a:prstGeom>
          <a:solidFill>
            <a:srgbClr val="F8F8FA"/>
          </a:solidFill>
          <a:ln w="12700">
            <a:solidFill>
              <a:srgbClr val="FE8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633472"/>
            <a:ext cx="7315200" cy="274320"/>
          </a:xfrm>
          <a:prstGeom prst="rect">
            <a:avLst/>
          </a:prstGeom>
          <a:noFill/>
        </p:spPr>
        <p:txBody>
          <a:bodyPr wrap="square">
            <a:spAutoFit/>
          </a:bodyPr>
          <a:lstStyle/>
          <a:p>
            <a:pPr algn="l">
              <a:defRPr sz="1400" b="1">
                <a:solidFill>
                  <a:srgbClr val="FE8B00"/>
                </a:solidFill>
                <a:latin typeface="Aptos"/>
              </a:defRPr>
            </a:pPr>
            <a:r>
              <a:t>Repeated Work Across Teams</a:t>
            </a:r>
          </a:p>
        </p:txBody>
      </p:sp>
      <p:sp>
        <p:nvSpPr>
          <p:cNvPr id="11" name="TextBox 10"/>
          <p:cNvSpPr txBox="1"/>
          <p:nvPr/>
        </p:nvSpPr>
        <p:spPr>
          <a:xfrm>
            <a:off x="731520" y="2926080"/>
            <a:ext cx="7315200" cy="548640"/>
          </a:xfrm>
          <a:prstGeom prst="rect">
            <a:avLst/>
          </a:prstGeom>
          <a:noFill/>
        </p:spPr>
        <p:txBody>
          <a:bodyPr wrap="square">
            <a:spAutoFit/>
          </a:bodyPr>
          <a:lstStyle/>
          <a:p>
            <a:pPr algn="l">
              <a:defRPr sz="1000" b="0">
                <a:solidFill>
                  <a:srgbClr val="333333"/>
                </a:solidFill>
                <a:latin typeface="Aptos"/>
              </a:defRPr>
            </a:pPr>
            <a:r>
              <a:t>Three teams building similar backends write three separate IaC templates, three CI/CD pipelines, three test frameworks. None of them know the others exist.</a:t>
            </a:r>
          </a:p>
        </p:txBody>
      </p:sp>
      <p:sp>
        <p:nvSpPr>
          <p:cNvPr id="12" name="Rounded Rectangle 11"/>
          <p:cNvSpPr/>
          <p:nvPr/>
        </p:nvSpPr>
        <p:spPr>
          <a:xfrm>
            <a:off x="8503920" y="2697480"/>
            <a:ext cx="2926080" cy="731520"/>
          </a:xfrm>
          <a:prstGeom prst="roundRect">
            <a:avLst/>
          </a:prstGeom>
          <a:solidFill>
            <a:srgbClr val="F2F7FA"/>
          </a:solidFill>
          <a:ln w="12700">
            <a:solidFill>
              <a:srgbClr val="FE8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0" y="2788920"/>
            <a:ext cx="2560320" cy="548640"/>
          </a:xfrm>
          <a:prstGeom prst="rect">
            <a:avLst/>
          </a:prstGeom>
          <a:noFill/>
        </p:spPr>
        <p:txBody>
          <a:bodyPr wrap="square">
            <a:spAutoFit/>
          </a:bodyPr>
          <a:lstStyle/>
          <a:p>
            <a:pPr algn="ctr">
              <a:defRPr sz="1100" b="1">
                <a:solidFill>
                  <a:srgbClr val="FE8B00"/>
                </a:solidFill>
                <a:latin typeface="Aptos"/>
              </a:defRPr>
            </a:pPr>
            <a:r>
              <a:t>Estimated 40% duplication across engagements</a:t>
            </a:r>
          </a:p>
        </p:txBody>
      </p:sp>
      <p:sp>
        <p:nvSpPr>
          <p:cNvPr id="14" name="Rounded Rectangle 13"/>
          <p:cNvSpPr/>
          <p:nvPr/>
        </p:nvSpPr>
        <p:spPr>
          <a:xfrm>
            <a:off x="457200" y="3703320"/>
            <a:ext cx="7772400" cy="1005840"/>
          </a:xfrm>
          <a:prstGeom prst="roundRect">
            <a:avLst/>
          </a:prstGeom>
          <a:solidFill>
            <a:srgbClr val="F8F8FA"/>
          </a:solidFill>
          <a:ln w="12700">
            <a:solidFill>
              <a:srgbClr val="4636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776472"/>
            <a:ext cx="7315200" cy="274320"/>
          </a:xfrm>
          <a:prstGeom prst="rect">
            <a:avLst/>
          </a:prstGeom>
          <a:noFill/>
        </p:spPr>
        <p:txBody>
          <a:bodyPr wrap="square">
            <a:spAutoFit/>
          </a:bodyPr>
          <a:lstStyle/>
          <a:p>
            <a:pPr algn="l">
              <a:defRPr sz="1400" b="1">
                <a:solidFill>
                  <a:srgbClr val="463668"/>
                </a:solidFill>
                <a:latin typeface="Aptos"/>
              </a:defRPr>
            </a:pPr>
            <a:r>
              <a:t>Meeting-Heavy Coordination</a:t>
            </a:r>
          </a:p>
        </p:txBody>
      </p:sp>
      <p:sp>
        <p:nvSpPr>
          <p:cNvPr id="16" name="TextBox 15"/>
          <p:cNvSpPr txBox="1"/>
          <p:nvPr/>
        </p:nvSpPr>
        <p:spPr>
          <a:xfrm>
            <a:off x="731520" y="4069080"/>
            <a:ext cx="7315200" cy="548640"/>
          </a:xfrm>
          <a:prstGeom prst="rect">
            <a:avLst/>
          </a:prstGeom>
          <a:noFill/>
        </p:spPr>
        <p:txBody>
          <a:bodyPr wrap="square">
            <a:spAutoFit/>
          </a:bodyPr>
          <a:lstStyle/>
          <a:p>
            <a:pPr algn="l">
              <a:defRPr sz="1000" b="0">
                <a:solidFill>
                  <a:srgbClr val="333333"/>
                </a:solidFill>
                <a:latin typeface="Aptos"/>
              </a:defRPr>
            </a:pPr>
            <a:r>
              <a:t>Status updates, architecture reviews, knowledge transfers -- all happen in meetings. Information is trapped in people's heads and calendar invites.</a:t>
            </a:r>
          </a:p>
        </p:txBody>
      </p:sp>
      <p:sp>
        <p:nvSpPr>
          <p:cNvPr id="17" name="Rounded Rectangle 16"/>
          <p:cNvSpPr/>
          <p:nvPr/>
        </p:nvSpPr>
        <p:spPr>
          <a:xfrm>
            <a:off x="8503920" y="3840480"/>
            <a:ext cx="2926080" cy="731520"/>
          </a:xfrm>
          <a:prstGeom prst="roundRect">
            <a:avLst/>
          </a:prstGeom>
          <a:solidFill>
            <a:srgbClr val="F2F7FA"/>
          </a:solidFill>
          <a:ln w="12700">
            <a:solidFill>
              <a:srgbClr val="4636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0" y="3931920"/>
            <a:ext cx="2560320" cy="548640"/>
          </a:xfrm>
          <a:prstGeom prst="rect">
            <a:avLst/>
          </a:prstGeom>
          <a:noFill/>
        </p:spPr>
        <p:txBody>
          <a:bodyPr wrap="square">
            <a:spAutoFit/>
          </a:bodyPr>
          <a:lstStyle/>
          <a:p>
            <a:pPr algn="ctr">
              <a:defRPr sz="1100" b="1">
                <a:solidFill>
                  <a:srgbClr val="463668"/>
                </a:solidFill>
                <a:latin typeface="Aptos"/>
              </a:defRPr>
            </a:pPr>
            <a:r>
              <a:t>Average: 12+ hours/week in coordination meetings</a:t>
            </a:r>
          </a:p>
        </p:txBody>
      </p:sp>
      <p:sp>
        <p:nvSpPr>
          <p:cNvPr id="19" name="Rounded Rectangle 18"/>
          <p:cNvSpPr/>
          <p:nvPr/>
        </p:nvSpPr>
        <p:spPr>
          <a:xfrm>
            <a:off x="457200" y="4846320"/>
            <a:ext cx="7772400" cy="1005840"/>
          </a:xfrm>
          <a:prstGeom prst="roundRect">
            <a:avLst/>
          </a:prstGeom>
          <a:solidFill>
            <a:srgbClr val="F8F8FA"/>
          </a:solidFill>
          <a:ln w="12700">
            <a:solidFill>
              <a:srgbClr val="225B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919472"/>
            <a:ext cx="7315200" cy="274320"/>
          </a:xfrm>
          <a:prstGeom prst="rect">
            <a:avLst/>
          </a:prstGeom>
          <a:noFill/>
        </p:spPr>
        <p:txBody>
          <a:bodyPr wrap="square">
            <a:spAutoFit/>
          </a:bodyPr>
          <a:lstStyle/>
          <a:p>
            <a:pPr algn="l">
              <a:defRPr sz="1400" b="1">
                <a:solidFill>
                  <a:srgbClr val="225B62"/>
                </a:solidFill>
                <a:latin typeface="Aptos"/>
              </a:defRPr>
            </a:pPr>
            <a:r>
              <a:t>No Institutional Memory</a:t>
            </a:r>
          </a:p>
        </p:txBody>
      </p:sp>
      <p:sp>
        <p:nvSpPr>
          <p:cNvPr id="21" name="TextBox 20"/>
          <p:cNvSpPr txBox="1"/>
          <p:nvPr/>
        </p:nvSpPr>
        <p:spPr>
          <a:xfrm>
            <a:off x="731520" y="5212080"/>
            <a:ext cx="7315200" cy="548640"/>
          </a:xfrm>
          <a:prstGeom prst="rect">
            <a:avLst/>
          </a:prstGeom>
          <a:noFill/>
        </p:spPr>
        <p:txBody>
          <a:bodyPr wrap="square">
            <a:spAutoFit/>
          </a:bodyPr>
          <a:lstStyle/>
          <a:p>
            <a:pPr algn="l">
              <a:defRPr sz="1000" b="0">
                <a:solidFill>
                  <a:srgbClr val="333333"/>
                </a:solidFill>
                <a:latin typeface="Aptos"/>
              </a:defRPr>
            </a:pPr>
            <a:r>
              <a:t>When a project ends, the lessons, patterns, and workarounds leave with the team. The next team starts from zero.</a:t>
            </a:r>
          </a:p>
        </p:txBody>
      </p:sp>
      <p:sp>
        <p:nvSpPr>
          <p:cNvPr id="22" name="Rounded Rectangle 21"/>
          <p:cNvSpPr/>
          <p:nvPr/>
        </p:nvSpPr>
        <p:spPr>
          <a:xfrm>
            <a:off x="8503920" y="4983480"/>
            <a:ext cx="2926080" cy="731520"/>
          </a:xfrm>
          <a:prstGeom prst="roundRect">
            <a:avLst/>
          </a:prstGeom>
          <a:solidFill>
            <a:srgbClr val="F2F7FA"/>
          </a:solidFill>
          <a:ln w="12700">
            <a:solidFill>
              <a:srgbClr val="225B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0" y="5074920"/>
            <a:ext cx="2560320" cy="548640"/>
          </a:xfrm>
          <a:prstGeom prst="rect">
            <a:avLst/>
          </a:prstGeom>
          <a:noFill/>
        </p:spPr>
        <p:txBody>
          <a:bodyPr wrap="square">
            <a:spAutoFit/>
          </a:bodyPr>
          <a:lstStyle/>
          <a:p>
            <a:pPr algn="ctr">
              <a:defRPr sz="1100" b="1">
                <a:solidFill>
                  <a:srgbClr val="225B62"/>
                </a:solidFill>
                <a:latin typeface="Aptos"/>
              </a:defRPr>
            </a:pPr>
            <a:r>
              <a:t>Onboarding new teams takes 2-3 weeks per engagement</a:t>
            </a:r>
          </a:p>
        </p:txBody>
      </p:sp>
      <p:sp>
        <p:nvSpPr>
          <p:cNvPr id="24" name="TextBox 23"/>
          <p:cNvSpPr txBox="1"/>
          <p:nvPr/>
        </p:nvSpPr>
        <p:spPr>
          <a:xfrm>
            <a:off x="274320" y="6263640"/>
            <a:ext cx="9144000" cy="274320"/>
          </a:xfrm>
          <a:prstGeom prst="rect">
            <a:avLst/>
          </a:prstGeom>
          <a:noFill/>
        </p:spPr>
        <p:txBody>
          <a:bodyPr wrap="square">
            <a:spAutoFit/>
          </a:bodyPr>
          <a:lstStyle/>
          <a:p>
            <a:pPr algn="l">
              <a:defRPr sz="800" b="0">
                <a:solidFill>
                  <a:srgbClr val="666666"/>
                </a:solidFill>
                <a:latin typeface="Aptos"/>
              </a:defRPr>
            </a:pPr>
            <a:r>
              <a:t>CONFIDENTIAL  |  Microsoft Accelerate Factory  |  Copilot Squad + Snap Model</a:t>
            </a:r>
          </a:p>
        </p:txBody>
      </p:sp>
      <p:sp>
        <p:nvSpPr>
          <p:cNvPr id="25" name="TextBox 24"/>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
            <a:ext cx="12192000" cy="566928"/>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600" b="1">
                <a:solidFill>
                  <a:srgbClr val="FFFFFF"/>
                </a:solidFill>
                <a:latin typeface="Aptos Display"/>
              </a:defRPr>
            </a:pPr>
            <a:r>
              <a:t>Why the Current Model Doesn't Scale</a:t>
            </a:r>
          </a:p>
        </p:txBody>
      </p:sp>
      <p:sp>
        <p:nvSpPr>
          <p:cNvPr id="3" name="TextBox 2"/>
          <p:cNvSpPr txBox="1"/>
          <p:nvPr/>
        </p:nvSpPr>
        <p:spPr>
          <a:xfrm>
            <a:off x="457200" y="914400"/>
            <a:ext cx="10972800" cy="320040"/>
          </a:xfrm>
          <a:prstGeom prst="rect">
            <a:avLst/>
          </a:prstGeom>
          <a:noFill/>
        </p:spPr>
        <p:txBody>
          <a:bodyPr wrap="square">
            <a:spAutoFit/>
          </a:bodyPr>
          <a:lstStyle/>
          <a:p>
            <a:pPr algn="l">
              <a:defRPr sz="1300" b="0">
                <a:solidFill>
                  <a:srgbClr val="4A4E66"/>
                </a:solidFill>
                <a:latin typeface="Aptos"/>
              </a:defRPr>
            </a:pPr>
            <a:r>
              <a:t>Adding more people to the current model makes it worse, not better. Here's why.</a:t>
            </a:r>
          </a:p>
        </p:txBody>
      </p:sp>
      <p:sp>
        <p:nvSpPr>
          <p:cNvPr id="4" name="Rectangle 3"/>
          <p:cNvSpPr/>
          <p:nvPr/>
        </p:nvSpPr>
        <p:spPr>
          <a:xfrm>
            <a:off x="457200" y="1417320"/>
            <a:ext cx="2286000" cy="256032"/>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1600" rIns="101600"/>
          <a:lstStyle/>
          <a:p>
            <a:pPr algn="ctr">
              <a:defRPr sz="1000" b="1">
                <a:solidFill>
                  <a:srgbClr val="FFFFFF"/>
                </a:solidFill>
                <a:latin typeface="Aptos"/>
              </a:defRPr>
            </a:pPr>
            <a:r>
              <a:t>SCALING BOTTLENECKS</a:t>
            </a:r>
          </a:p>
        </p:txBody>
      </p:sp>
      <p:sp>
        <p:nvSpPr>
          <p:cNvPr id="5" name="Oval 4"/>
          <p:cNvSpPr/>
          <p:nvPr/>
        </p:nvSpPr>
        <p:spPr>
          <a:xfrm>
            <a:off x="548640" y="1874520"/>
            <a:ext cx="320040" cy="320040"/>
          </a:xfrm>
          <a:prstGeom prst="ellipse">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FFFFFF"/>
                </a:solidFill>
                <a:latin typeface="Aptos"/>
              </a:defRPr>
            </a:pPr>
            <a:r>
              <a:t>1</a:t>
            </a:r>
          </a:p>
        </p:txBody>
      </p:sp>
      <p:sp>
        <p:nvSpPr>
          <p:cNvPr id="6" name="TextBox 5"/>
          <p:cNvSpPr txBox="1"/>
          <p:nvPr/>
        </p:nvSpPr>
        <p:spPr>
          <a:xfrm>
            <a:off x="1005840" y="1828800"/>
            <a:ext cx="4572000" cy="274320"/>
          </a:xfrm>
          <a:prstGeom prst="rect">
            <a:avLst/>
          </a:prstGeom>
          <a:noFill/>
        </p:spPr>
        <p:txBody>
          <a:bodyPr wrap="square">
            <a:spAutoFit/>
          </a:bodyPr>
          <a:lstStyle/>
          <a:p>
            <a:pPr algn="l">
              <a:defRPr sz="1200" b="1">
                <a:solidFill>
                  <a:srgbClr val="EE0000"/>
                </a:solidFill>
                <a:latin typeface="Aptos"/>
              </a:defRPr>
            </a:pPr>
            <a:r>
              <a:t>Linear cost growth</a:t>
            </a:r>
          </a:p>
        </p:txBody>
      </p:sp>
      <p:sp>
        <p:nvSpPr>
          <p:cNvPr id="7" name="TextBox 6"/>
          <p:cNvSpPr txBox="1"/>
          <p:nvPr/>
        </p:nvSpPr>
        <p:spPr>
          <a:xfrm>
            <a:off x="1005840" y="2103120"/>
            <a:ext cx="4572000" cy="365760"/>
          </a:xfrm>
          <a:prstGeom prst="rect">
            <a:avLst/>
          </a:prstGeom>
          <a:noFill/>
        </p:spPr>
        <p:txBody>
          <a:bodyPr wrap="square">
            <a:spAutoFit/>
          </a:bodyPr>
          <a:lstStyle/>
          <a:p>
            <a:pPr algn="l">
              <a:defRPr sz="1000" b="0">
                <a:solidFill>
                  <a:srgbClr val="333333"/>
                </a:solidFill>
                <a:latin typeface="Aptos"/>
              </a:defRPr>
            </a:pPr>
            <a:r>
              <a:t>Every new engagement requires new people, new setup, new templates</a:t>
            </a:r>
          </a:p>
        </p:txBody>
      </p:sp>
      <p:sp>
        <p:nvSpPr>
          <p:cNvPr id="8" name="Oval 7"/>
          <p:cNvSpPr/>
          <p:nvPr/>
        </p:nvSpPr>
        <p:spPr>
          <a:xfrm>
            <a:off x="548640" y="2651760"/>
            <a:ext cx="320040" cy="320040"/>
          </a:xfrm>
          <a:prstGeom prst="ellipse">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FFFFFF"/>
                </a:solidFill>
                <a:latin typeface="Aptos"/>
              </a:defRPr>
            </a:pPr>
            <a:r>
              <a:t>2</a:t>
            </a:r>
          </a:p>
        </p:txBody>
      </p:sp>
      <p:sp>
        <p:nvSpPr>
          <p:cNvPr id="9" name="TextBox 8"/>
          <p:cNvSpPr txBox="1"/>
          <p:nvPr/>
        </p:nvSpPr>
        <p:spPr>
          <a:xfrm>
            <a:off x="1005840" y="2606040"/>
            <a:ext cx="4572000" cy="274320"/>
          </a:xfrm>
          <a:prstGeom prst="rect">
            <a:avLst/>
          </a:prstGeom>
          <a:noFill/>
        </p:spPr>
        <p:txBody>
          <a:bodyPr wrap="square">
            <a:spAutoFit/>
          </a:bodyPr>
          <a:lstStyle/>
          <a:p>
            <a:pPr algn="l">
              <a:defRPr sz="1200" b="1">
                <a:solidFill>
                  <a:srgbClr val="EE0000"/>
                </a:solidFill>
                <a:latin typeface="Aptos"/>
              </a:defRPr>
            </a:pPr>
            <a:r>
              <a:t>Knowledge silos</a:t>
            </a:r>
          </a:p>
        </p:txBody>
      </p:sp>
      <p:sp>
        <p:nvSpPr>
          <p:cNvPr id="10" name="TextBox 9"/>
          <p:cNvSpPr txBox="1"/>
          <p:nvPr/>
        </p:nvSpPr>
        <p:spPr>
          <a:xfrm>
            <a:off x="1005840" y="2880360"/>
            <a:ext cx="4572000" cy="365760"/>
          </a:xfrm>
          <a:prstGeom prst="rect">
            <a:avLst/>
          </a:prstGeom>
          <a:noFill/>
        </p:spPr>
        <p:txBody>
          <a:bodyPr wrap="square">
            <a:spAutoFit/>
          </a:bodyPr>
          <a:lstStyle/>
          <a:p>
            <a:pPr algn="l">
              <a:defRPr sz="1000" b="0">
                <a:solidFill>
                  <a:srgbClr val="333333"/>
                </a:solidFill>
                <a:latin typeface="Aptos"/>
              </a:defRPr>
            </a:pPr>
            <a:r>
              <a:t>Expertise stays in individuals, not systems. Key-person dependencies grow</a:t>
            </a:r>
          </a:p>
        </p:txBody>
      </p:sp>
      <p:sp>
        <p:nvSpPr>
          <p:cNvPr id="11" name="Oval 10"/>
          <p:cNvSpPr/>
          <p:nvPr/>
        </p:nvSpPr>
        <p:spPr>
          <a:xfrm>
            <a:off x="548640" y="3429000"/>
            <a:ext cx="320040" cy="320040"/>
          </a:xfrm>
          <a:prstGeom prst="ellipse">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FFFFFF"/>
                </a:solidFill>
                <a:latin typeface="Aptos"/>
              </a:defRPr>
            </a:pPr>
            <a:r>
              <a:t>3</a:t>
            </a:r>
          </a:p>
        </p:txBody>
      </p:sp>
      <p:sp>
        <p:nvSpPr>
          <p:cNvPr id="12" name="TextBox 11"/>
          <p:cNvSpPr txBox="1"/>
          <p:nvPr/>
        </p:nvSpPr>
        <p:spPr>
          <a:xfrm>
            <a:off x="1005840" y="3383280"/>
            <a:ext cx="4572000" cy="274320"/>
          </a:xfrm>
          <a:prstGeom prst="rect">
            <a:avLst/>
          </a:prstGeom>
          <a:noFill/>
        </p:spPr>
        <p:txBody>
          <a:bodyPr wrap="square">
            <a:spAutoFit/>
          </a:bodyPr>
          <a:lstStyle/>
          <a:p>
            <a:pPr algn="l">
              <a:defRPr sz="1200" b="1">
                <a:solidFill>
                  <a:srgbClr val="EE0000"/>
                </a:solidFill>
                <a:latin typeface="Aptos"/>
              </a:defRPr>
            </a:pPr>
            <a:r>
              <a:t>Coordination overhead</a:t>
            </a:r>
          </a:p>
        </p:txBody>
      </p:sp>
      <p:sp>
        <p:nvSpPr>
          <p:cNvPr id="13" name="TextBox 12"/>
          <p:cNvSpPr txBox="1"/>
          <p:nvPr/>
        </p:nvSpPr>
        <p:spPr>
          <a:xfrm>
            <a:off x="1005840" y="3657600"/>
            <a:ext cx="4572000" cy="365760"/>
          </a:xfrm>
          <a:prstGeom prst="rect">
            <a:avLst/>
          </a:prstGeom>
          <a:noFill/>
        </p:spPr>
        <p:txBody>
          <a:bodyPr wrap="square">
            <a:spAutoFit/>
          </a:bodyPr>
          <a:lstStyle/>
          <a:p>
            <a:pPr algn="l">
              <a:defRPr sz="1000" b="0">
                <a:solidFill>
                  <a:srgbClr val="333333"/>
                </a:solidFill>
                <a:latin typeface="Aptos"/>
              </a:defRPr>
            </a:pPr>
            <a:r>
              <a:t>More teams = more meetings = less execution time</a:t>
            </a:r>
          </a:p>
        </p:txBody>
      </p:sp>
      <p:sp>
        <p:nvSpPr>
          <p:cNvPr id="14" name="Oval 13"/>
          <p:cNvSpPr/>
          <p:nvPr/>
        </p:nvSpPr>
        <p:spPr>
          <a:xfrm>
            <a:off x="548640" y="4206240"/>
            <a:ext cx="320040" cy="320040"/>
          </a:xfrm>
          <a:prstGeom prst="ellipse">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FFFFFF"/>
                </a:solidFill>
                <a:latin typeface="Aptos"/>
              </a:defRPr>
            </a:pPr>
            <a:r>
              <a:t>4</a:t>
            </a:r>
          </a:p>
        </p:txBody>
      </p:sp>
      <p:sp>
        <p:nvSpPr>
          <p:cNvPr id="15" name="TextBox 14"/>
          <p:cNvSpPr txBox="1"/>
          <p:nvPr/>
        </p:nvSpPr>
        <p:spPr>
          <a:xfrm>
            <a:off x="1005840" y="4160520"/>
            <a:ext cx="4572000" cy="274320"/>
          </a:xfrm>
          <a:prstGeom prst="rect">
            <a:avLst/>
          </a:prstGeom>
          <a:noFill/>
        </p:spPr>
        <p:txBody>
          <a:bodyPr wrap="square">
            <a:spAutoFit/>
          </a:bodyPr>
          <a:lstStyle/>
          <a:p>
            <a:pPr algn="l">
              <a:defRPr sz="1200" b="1">
                <a:solidFill>
                  <a:srgbClr val="EE0000"/>
                </a:solidFill>
                <a:latin typeface="Aptos"/>
              </a:defRPr>
            </a:pPr>
            <a:r>
              <a:t>Quality inconsistency</a:t>
            </a:r>
          </a:p>
        </p:txBody>
      </p:sp>
      <p:sp>
        <p:nvSpPr>
          <p:cNvPr id="16" name="TextBox 15"/>
          <p:cNvSpPr txBox="1"/>
          <p:nvPr/>
        </p:nvSpPr>
        <p:spPr>
          <a:xfrm>
            <a:off x="1005840" y="4434840"/>
            <a:ext cx="4572000" cy="365760"/>
          </a:xfrm>
          <a:prstGeom prst="rect">
            <a:avLst/>
          </a:prstGeom>
          <a:noFill/>
        </p:spPr>
        <p:txBody>
          <a:bodyPr wrap="square">
            <a:spAutoFit/>
          </a:bodyPr>
          <a:lstStyle/>
          <a:p>
            <a:pPr algn="l">
              <a:defRPr sz="1000" b="0">
                <a:solidFill>
                  <a:srgbClr val="333333"/>
                </a:solidFill>
                <a:latin typeface="Aptos"/>
              </a:defRPr>
            </a:pPr>
            <a:r>
              <a:t>No shared standards means every team delivers differently</a:t>
            </a:r>
          </a:p>
        </p:txBody>
      </p:sp>
      <p:sp>
        <p:nvSpPr>
          <p:cNvPr id="17" name="Oval 16"/>
          <p:cNvSpPr/>
          <p:nvPr/>
        </p:nvSpPr>
        <p:spPr>
          <a:xfrm>
            <a:off x="548640" y="4983480"/>
            <a:ext cx="320040" cy="320040"/>
          </a:xfrm>
          <a:prstGeom prst="ellipse">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FFFFFF"/>
                </a:solidFill>
                <a:latin typeface="Aptos"/>
              </a:defRPr>
            </a:pPr>
            <a:r>
              <a:t>5</a:t>
            </a:r>
          </a:p>
        </p:txBody>
      </p:sp>
      <p:sp>
        <p:nvSpPr>
          <p:cNvPr id="18" name="TextBox 17"/>
          <p:cNvSpPr txBox="1"/>
          <p:nvPr/>
        </p:nvSpPr>
        <p:spPr>
          <a:xfrm>
            <a:off x="1005840" y="4937760"/>
            <a:ext cx="4572000" cy="274320"/>
          </a:xfrm>
          <a:prstGeom prst="rect">
            <a:avLst/>
          </a:prstGeom>
          <a:noFill/>
        </p:spPr>
        <p:txBody>
          <a:bodyPr wrap="square">
            <a:spAutoFit/>
          </a:bodyPr>
          <a:lstStyle/>
          <a:p>
            <a:pPr algn="l">
              <a:defRPr sz="1200" b="1">
                <a:solidFill>
                  <a:srgbClr val="EE0000"/>
                </a:solidFill>
                <a:latin typeface="Aptos"/>
              </a:defRPr>
            </a:pPr>
            <a:r>
              <a:t>Slow onboarding</a:t>
            </a:r>
          </a:p>
        </p:txBody>
      </p:sp>
      <p:sp>
        <p:nvSpPr>
          <p:cNvPr id="19" name="TextBox 18"/>
          <p:cNvSpPr txBox="1"/>
          <p:nvPr/>
        </p:nvSpPr>
        <p:spPr>
          <a:xfrm>
            <a:off x="1005840" y="5212080"/>
            <a:ext cx="4572000" cy="365760"/>
          </a:xfrm>
          <a:prstGeom prst="rect">
            <a:avLst/>
          </a:prstGeom>
          <a:noFill/>
        </p:spPr>
        <p:txBody>
          <a:bodyPr wrap="square">
            <a:spAutoFit/>
          </a:bodyPr>
          <a:lstStyle/>
          <a:p>
            <a:pPr algn="l">
              <a:defRPr sz="1000" b="0">
                <a:solidFill>
                  <a:srgbClr val="333333"/>
                </a:solidFill>
                <a:latin typeface="Aptos"/>
              </a:defRPr>
            </a:pPr>
            <a:r>
              <a:t>New teams spend weeks learning what previous teams already solved</a:t>
            </a:r>
          </a:p>
        </p:txBody>
      </p:sp>
      <p:sp>
        <p:nvSpPr>
          <p:cNvPr id="20" name="Rounded Rectangle 19"/>
          <p:cNvSpPr/>
          <p:nvPr/>
        </p:nvSpPr>
        <p:spPr>
          <a:xfrm>
            <a:off x="5943600" y="1417320"/>
            <a:ext cx="5486400" cy="420624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0" y="1508760"/>
            <a:ext cx="4937760" cy="320040"/>
          </a:xfrm>
          <a:prstGeom prst="rect">
            <a:avLst/>
          </a:prstGeom>
          <a:noFill/>
        </p:spPr>
        <p:txBody>
          <a:bodyPr wrap="square">
            <a:spAutoFit/>
          </a:bodyPr>
          <a:lstStyle/>
          <a:p>
            <a:pPr algn="l">
              <a:defRPr sz="1400" b="1">
                <a:solidFill>
                  <a:srgbClr val="00BCF2"/>
                </a:solidFill>
                <a:latin typeface="Aptos"/>
              </a:defRPr>
            </a:pPr>
            <a:r>
              <a:t>THE SCALING MATH</a:t>
            </a:r>
          </a:p>
        </p:txBody>
      </p:sp>
      <p:sp>
        <p:nvSpPr>
          <p:cNvPr id="22" name="TextBox 21"/>
          <p:cNvSpPr txBox="1"/>
          <p:nvPr/>
        </p:nvSpPr>
        <p:spPr>
          <a:xfrm>
            <a:off x="6217920" y="1965960"/>
            <a:ext cx="1828800" cy="228600"/>
          </a:xfrm>
          <a:prstGeom prst="rect">
            <a:avLst/>
          </a:prstGeom>
          <a:noFill/>
        </p:spPr>
        <p:txBody>
          <a:bodyPr wrap="square">
            <a:spAutoFit/>
          </a:bodyPr>
          <a:lstStyle/>
          <a:p>
            <a:pPr algn="l">
              <a:defRPr sz="1000" b="1">
                <a:solidFill>
                  <a:srgbClr val="00BCF2"/>
                </a:solidFill>
                <a:latin typeface="Aptos"/>
              </a:defRPr>
            </a:pPr>
            <a:r>
              <a:t>Current model:</a:t>
            </a:r>
          </a:p>
        </p:txBody>
      </p:sp>
      <p:sp>
        <p:nvSpPr>
          <p:cNvPr id="23" name="TextBox 22"/>
          <p:cNvSpPr txBox="1"/>
          <p:nvPr/>
        </p:nvSpPr>
        <p:spPr>
          <a:xfrm>
            <a:off x="8046720" y="1965960"/>
            <a:ext cx="3108960" cy="228600"/>
          </a:xfrm>
          <a:prstGeom prst="rect">
            <a:avLst/>
          </a:prstGeom>
          <a:noFill/>
        </p:spPr>
        <p:txBody>
          <a:bodyPr wrap="square">
            <a:spAutoFit/>
          </a:bodyPr>
          <a:lstStyle/>
          <a:p>
            <a:pPr algn="l">
              <a:defRPr sz="1000" b="0">
                <a:solidFill>
                  <a:srgbClr val="FFFFFF"/>
                </a:solidFill>
                <a:latin typeface="Aptos"/>
              </a:defRPr>
            </a:pPr>
            <a:r>
              <a:t>Cost grows linearly with engagements</a:t>
            </a:r>
          </a:p>
        </p:txBody>
      </p:sp>
      <p:sp>
        <p:nvSpPr>
          <p:cNvPr id="24" name="TextBox 23"/>
          <p:cNvSpPr txBox="1"/>
          <p:nvPr/>
        </p:nvSpPr>
        <p:spPr>
          <a:xfrm>
            <a:off x="6217920" y="2313432"/>
            <a:ext cx="1828800" cy="228600"/>
          </a:xfrm>
          <a:prstGeom prst="rect">
            <a:avLst/>
          </a:prstGeom>
          <a:noFill/>
        </p:spPr>
        <p:txBody>
          <a:bodyPr wrap="square">
            <a:spAutoFit/>
          </a:bodyPr>
          <a:lstStyle/>
          <a:p>
            <a:pPr algn="l">
              <a:defRPr sz="1000" b="1">
                <a:solidFill>
                  <a:srgbClr val="00BCF2"/>
                </a:solidFill>
                <a:latin typeface="Aptos"/>
              </a:defRPr>
            </a:pPr>
            <a:r>
              <a:t>5 projects:</a:t>
            </a:r>
          </a:p>
        </p:txBody>
      </p:sp>
      <p:sp>
        <p:nvSpPr>
          <p:cNvPr id="25" name="TextBox 24"/>
          <p:cNvSpPr txBox="1"/>
          <p:nvPr/>
        </p:nvSpPr>
        <p:spPr>
          <a:xfrm>
            <a:off x="8046720" y="2313432"/>
            <a:ext cx="3108960" cy="228600"/>
          </a:xfrm>
          <a:prstGeom prst="rect">
            <a:avLst/>
          </a:prstGeom>
          <a:noFill/>
        </p:spPr>
        <p:txBody>
          <a:bodyPr wrap="square">
            <a:spAutoFit/>
          </a:bodyPr>
          <a:lstStyle/>
          <a:p>
            <a:pPr algn="l">
              <a:defRPr sz="1000" b="0">
                <a:solidFill>
                  <a:srgbClr val="FFFFFF"/>
                </a:solidFill>
                <a:latin typeface="Aptos"/>
              </a:defRPr>
            </a:pPr>
            <a:r>
              <a:t>5x setup, 5x templates, 5x coordination</a:t>
            </a:r>
          </a:p>
        </p:txBody>
      </p:sp>
      <p:sp>
        <p:nvSpPr>
          <p:cNvPr id="26" name="TextBox 25"/>
          <p:cNvSpPr txBox="1"/>
          <p:nvPr/>
        </p:nvSpPr>
        <p:spPr>
          <a:xfrm>
            <a:off x="6217920" y="2660904"/>
            <a:ext cx="1828800" cy="228600"/>
          </a:xfrm>
          <a:prstGeom prst="rect">
            <a:avLst/>
          </a:prstGeom>
          <a:noFill/>
        </p:spPr>
        <p:txBody>
          <a:bodyPr wrap="square">
            <a:spAutoFit/>
          </a:bodyPr>
          <a:lstStyle/>
          <a:p>
            <a:pPr algn="l">
              <a:defRPr sz="1000" b="1">
                <a:solidFill>
                  <a:srgbClr val="00BCF2"/>
                </a:solidFill>
                <a:latin typeface="Aptos"/>
              </a:defRPr>
            </a:pPr>
            <a:r>
              <a:t>10 projects:</a:t>
            </a:r>
          </a:p>
        </p:txBody>
      </p:sp>
      <p:sp>
        <p:nvSpPr>
          <p:cNvPr id="27" name="TextBox 26"/>
          <p:cNvSpPr txBox="1"/>
          <p:nvPr/>
        </p:nvSpPr>
        <p:spPr>
          <a:xfrm>
            <a:off x="8046720" y="2660904"/>
            <a:ext cx="3108960" cy="228600"/>
          </a:xfrm>
          <a:prstGeom prst="rect">
            <a:avLst/>
          </a:prstGeom>
          <a:noFill/>
        </p:spPr>
        <p:txBody>
          <a:bodyPr wrap="square">
            <a:spAutoFit/>
          </a:bodyPr>
          <a:lstStyle/>
          <a:p>
            <a:pPr algn="l">
              <a:defRPr sz="1000" b="0">
                <a:solidFill>
                  <a:srgbClr val="FFFFFF"/>
                </a:solidFill>
                <a:latin typeface="Aptos"/>
              </a:defRPr>
            </a:pPr>
            <a:r>
              <a:t>10x everything. Same mistakes repeated.</a:t>
            </a:r>
          </a:p>
        </p:txBody>
      </p:sp>
      <p:sp>
        <p:nvSpPr>
          <p:cNvPr id="28" name="Rectangle 27"/>
          <p:cNvSpPr/>
          <p:nvPr/>
        </p:nvSpPr>
        <p:spPr>
          <a:xfrm>
            <a:off x="6217920" y="3008376"/>
            <a:ext cx="4937760" cy="18288"/>
          </a:xfrm>
          <a:prstGeom prst="rect">
            <a:avLst/>
          </a:prstGeom>
          <a:solidFill>
            <a:srgbClr val="405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0" y="3282696"/>
            <a:ext cx="1828800" cy="228600"/>
          </a:xfrm>
          <a:prstGeom prst="rect">
            <a:avLst/>
          </a:prstGeom>
          <a:noFill/>
        </p:spPr>
        <p:txBody>
          <a:bodyPr wrap="square">
            <a:spAutoFit/>
          </a:bodyPr>
          <a:lstStyle/>
          <a:p>
            <a:pPr algn="l">
              <a:defRPr sz="1000" b="1">
                <a:solidFill>
                  <a:srgbClr val="00BCF2"/>
                </a:solidFill>
                <a:latin typeface="Aptos"/>
              </a:defRPr>
            </a:pPr>
            <a:r>
              <a:t>Target model:</a:t>
            </a:r>
          </a:p>
        </p:txBody>
      </p:sp>
      <p:sp>
        <p:nvSpPr>
          <p:cNvPr id="30" name="TextBox 29"/>
          <p:cNvSpPr txBox="1"/>
          <p:nvPr/>
        </p:nvSpPr>
        <p:spPr>
          <a:xfrm>
            <a:off x="8046720" y="3282696"/>
            <a:ext cx="3108960" cy="228600"/>
          </a:xfrm>
          <a:prstGeom prst="rect">
            <a:avLst/>
          </a:prstGeom>
          <a:noFill/>
        </p:spPr>
        <p:txBody>
          <a:bodyPr wrap="square">
            <a:spAutoFit/>
          </a:bodyPr>
          <a:lstStyle/>
          <a:p>
            <a:pPr algn="l">
              <a:defRPr sz="1000" b="0">
                <a:solidFill>
                  <a:srgbClr val="FFFFFF"/>
                </a:solidFill>
                <a:latin typeface="Aptos"/>
              </a:defRPr>
            </a:pPr>
            <a:r>
              <a:t>Cost grows logarithmically</a:t>
            </a:r>
          </a:p>
        </p:txBody>
      </p:sp>
      <p:sp>
        <p:nvSpPr>
          <p:cNvPr id="31" name="TextBox 30"/>
          <p:cNvSpPr txBox="1"/>
          <p:nvPr/>
        </p:nvSpPr>
        <p:spPr>
          <a:xfrm>
            <a:off x="6217920" y="3630168"/>
            <a:ext cx="1828800" cy="228600"/>
          </a:xfrm>
          <a:prstGeom prst="rect">
            <a:avLst/>
          </a:prstGeom>
          <a:noFill/>
        </p:spPr>
        <p:txBody>
          <a:bodyPr wrap="square">
            <a:spAutoFit/>
          </a:bodyPr>
          <a:lstStyle/>
          <a:p>
            <a:pPr algn="l">
              <a:defRPr sz="1000" b="1">
                <a:solidFill>
                  <a:srgbClr val="00BCF2"/>
                </a:solidFill>
                <a:latin typeface="Aptos"/>
              </a:defRPr>
            </a:pPr>
            <a:r>
              <a:t>5 projects:</a:t>
            </a:r>
          </a:p>
        </p:txBody>
      </p:sp>
      <p:sp>
        <p:nvSpPr>
          <p:cNvPr id="32" name="TextBox 31"/>
          <p:cNvSpPr txBox="1"/>
          <p:nvPr/>
        </p:nvSpPr>
        <p:spPr>
          <a:xfrm>
            <a:off x="8046720" y="3630168"/>
            <a:ext cx="3108960" cy="228600"/>
          </a:xfrm>
          <a:prstGeom prst="rect">
            <a:avLst/>
          </a:prstGeom>
          <a:noFill/>
        </p:spPr>
        <p:txBody>
          <a:bodyPr wrap="square">
            <a:spAutoFit/>
          </a:bodyPr>
          <a:lstStyle/>
          <a:p>
            <a:pPr algn="l">
              <a:defRPr sz="1000" b="0">
                <a:solidFill>
                  <a:srgbClr val="FFFFFF"/>
                </a:solidFill>
                <a:latin typeface="Aptos"/>
              </a:defRPr>
            </a:pPr>
            <a:r>
              <a:t>1x shared agents, 5x config-only</a:t>
            </a:r>
          </a:p>
        </p:txBody>
      </p:sp>
      <p:sp>
        <p:nvSpPr>
          <p:cNvPr id="33" name="TextBox 32"/>
          <p:cNvSpPr txBox="1"/>
          <p:nvPr/>
        </p:nvSpPr>
        <p:spPr>
          <a:xfrm>
            <a:off x="6217920" y="3977640"/>
            <a:ext cx="1828800" cy="228600"/>
          </a:xfrm>
          <a:prstGeom prst="rect">
            <a:avLst/>
          </a:prstGeom>
          <a:noFill/>
        </p:spPr>
        <p:txBody>
          <a:bodyPr wrap="square">
            <a:spAutoFit/>
          </a:bodyPr>
          <a:lstStyle/>
          <a:p>
            <a:pPr algn="l">
              <a:defRPr sz="1000" b="1">
                <a:solidFill>
                  <a:srgbClr val="00BCF2"/>
                </a:solidFill>
                <a:latin typeface="Aptos"/>
              </a:defRPr>
            </a:pPr>
            <a:r>
              <a:t>10 projects:</a:t>
            </a:r>
          </a:p>
        </p:txBody>
      </p:sp>
      <p:sp>
        <p:nvSpPr>
          <p:cNvPr id="34" name="TextBox 33"/>
          <p:cNvSpPr txBox="1"/>
          <p:nvPr/>
        </p:nvSpPr>
        <p:spPr>
          <a:xfrm>
            <a:off x="8046720" y="3977640"/>
            <a:ext cx="3108960" cy="228600"/>
          </a:xfrm>
          <a:prstGeom prst="rect">
            <a:avLst/>
          </a:prstGeom>
          <a:noFill/>
        </p:spPr>
        <p:txBody>
          <a:bodyPr wrap="square">
            <a:spAutoFit/>
          </a:bodyPr>
          <a:lstStyle/>
          <a:p>
            <a:pPr algn="l">
              <a:defRPr sz="1000" b="0">
                <a:solidFill>
                  <a:srgbClr val="FFFFFF"/>
                </a:solidFill>
                <a:latin typeface="Aptos"/>
              </a:defRPr>
            </a:pPr>
            <a:r>
              <a:t>Same agents, 10x faster. Skills compound.</a:t>
            </a:r>
          </a:p>
        </p:txBody>
      </p:sp>
      <p:sp>
        <p:nvSpPr>
          <p:cNvPr id="35" name="TextBox 34"/>
          <p:cNvSpPr txBox="1"/>
          <p:nvPr/>
        </p:nvSpPr>
        <p:spPr>
          <a:xfrm>
            <a:off x="274320" y="6263640"/>
            <a:ext cx="9144000" cy="274320"/>
          </a:xfrm>
          <a:prstGeom prst="rect">
            <a:avLst/>
          </a:prstGeom>
          <a:noFill/>
        </p:spPr>
        <p:txBody>
          <a:bodyPr wrap="square">
            <a:spAutoFit/>
          </a:bodyPr>
          <a:lstStyle/>
          <a:p>
            <a:pPr algn="l">
              <a:defRPr sz="800" b="0">
                <a:solidFill>
                  <a:srgbClr val="666666"/>
                </a:solidFill>
                <a:latin typeface="Aptos"/>
              </a:defRPr>
            </a:pPr>
            <a:r>
              <a:t>CONFIDENTIAL  |  Microsoft Accelerate Factory  |  Copilot Squad + Snap Model</a:t>
            </a:r>
          </a:p>
        </p:txBody>
      </p:sp>
      <p:sp>
        <p:nvSpPr>
          <p:cNvPr id="36" name="TextBox 35"/>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
            <a:ext cx="12192000" cy="566928"/>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600" b="1">
                <a:solidFill>
                  <a:srgbClr val="FFFFFF"/>
                </a:solidFill>
                <a:latin typeface="Aptos Display"/>
              </a:defRPr>
            </a:pPr>
            <a:r>
              <a:t>Vision: The AI-Driven Factory</a:t>
            </a:r>
          </a:p>
        </p:txBody>
      </p:sp>
      <p:sp>
        <p:nvSpPr>
          <p:cNvPr id="3" name="TextBox 2"/>
          <p:cNvSpPr txBox="1"/>
          <p:nvPr/>
        </p:nvSpPr>
        <p:spPr>
          <a:xfrm>
            <a:off x="457200" y="914400"/>
            <a:ext cx="10972800" cy="320040"/>
          </a:xfrm>
          <a:prstGeom prst="rect">
            <a:avLst/>
          </a:prstGeom>
          <a:noFill/>
        </p:spPr>
        <p:txBody>
          <a:bodyPr wrap="square">
            <a:spAutoFit/>
          </a:bodyPr>
          <a:lstStyle/>
          <a:p>
            <a:pPr algn="l">
              <a:defRPr sz="1300" b="0">
                <a:solidFill>
                  <a:srgbClr val="4A4E66"/>
                </a:solidFill>
                <a:latin typeface="Aptos"/>
              </a:defRPr>
            </a:pPr>
            <a:r>
              <a:t>Three building blocks transform the Factory from manual execution to AI-driven delivery.</a:t>
            </a:r>
          </a:p>
        </p:txBody>
      </p:sp>
      <p:sp>
        <p:nvSpPr>
          <p:cNvPr id="4" name="Rounded Rectangle 3"/>
          <p:cNvSpPr/>
          <p:nvPr/>
        </p:nvSpPr>
        <p:spPr>
          <a:xfrm>
            <a:off x="365760" y="1417320"/>
            <a:ext cx="3520440" cy="3657600"/>
          </a:xfrm>
          <a:prstGeom prst="roundRect">
            <a:avLst/>
          </a:prstGeom>
          <a:solidFill>
            <a:srgbClr val="F8F8FA"/>
          </a:solidFill>
          <a:ln w="12700">
            <a:solidFill>
              <a:srgbClr val="01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417320"/>
            <a:ext cx="3520440" cy="731520"/>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63040"/>
            <a:ext cx="3246120" cy="320040"/>
          </a:xfrm>
          <a:prstGeom prst="rect">
            <a:avLst/>
          </a:prstGeom>
          <a:noFill/>
        </p:spPr>
        <p:txBody>
          <a:bodyPr wrap="square">
            <a:spAutoFit/>
          </a:bodyPr>
          <a:lstStyle/>
          <a:p>
            <a:pPr algn="l">
              <a:defRPr sz="1600" b="1">
                <a:solidFill>
                  <a:srgbClr val="FFFFFF"/>
                </a:solidFill>
                <a:latin typeface="Aptos"/>
              </a:defRPr>
            </a:pPr>
            <a:r>
              <a:t>CENTRAL SQUAD</a:t>
            </a:r>
          </a:p>
        </p:txBody>
      </p:sp>
      <p:sp>
        <p:nvSpPr>
          <p:cNvPr id="7" name="TextBox 6"/>
          <p:cNvSpPr txBox="1"/>
          <p:nvPr/>
        </p:nvSpPr>
        <p:spPr>
          <a:xfrm>
            <a:off x="502920" y="1783080"/>
            <a:ext cx="3246120" cy="274320"/>
          </a:xfrm>
          <a:prstGeom prst="rect">
            <a:avLst/>
          </a:prstGeom>
          <a:noFill/>
        </p:spPr>
        <p:txBody>
          <a:bodyPr wrap="square">
            <a:spAutoFit/>
          </a:bodyPr>
          <a:lstStyle/>
          <a:p>
            <a:pPr algn="l">
              <a:defRPr sz="1200" b="0">
                <a:solidFill>
                  <a:srgbClr val="CCDDFF"/>
                </a:solidFill>
                <a:latin typeface="Aptos"/>
              </a:defRPr>
            </a:pPr>
            <a:r>
              <a:t>The Brain</a:t>
            </a:r>
          </a:p>
        </p:txBody>
      </p:sp>
      <p:sp>
        <p:nvSpPr>
          <p:cNvPr id="8" name="TextBox 7"/>
          <p:cNvSpPr txBox="1"/>
          <p:nvPr/>
        </p:nvSpPr>
        <p:spPr>
          <a:xfrm>
            <a:off x="502920" y="2331720"/>
            <a:ext cx="3246120" cy="1828800"/>
          </a:xfrm>
          <a:prstGeom prst="rect">
            <a:avLst/>
          </a:prstGeom>
          <a:noFill/>
        </p:spPr>
        <p:txBody>
          <a:bodyPr wrap="square">
            <a:spAutoFit/>
          </a:bodyPr>
          <a:lstStyle/>
          <a:p>
            <a:pPr>
              <a:spcAft>
                <a:spcPts val="300"/>
              </a:spcAft>
              <a:defRPr sz="1100" b="0">
                <a:solidFill>
                  <a:srgbClr val="333333"/>
                </a:solidFill>
                <a:latin typeface="Aptos"/>
              </a:defRPr>
            </a:pPr>
            <a:r>
              <a:t>Owns shared agents, standards,</a:t>
            </a:r>
          </a:p>
          <a:p>
            <a:pPr>
              <a:spcAft>
                <a:spcPts val="300"/>
              </a:spcAft>
              <a:defRPr sz="1100" b="0">
                <a:solidFill>
                  <a:srgbClr val="333333"/>
                </a:solidFill>
                <a:latin typeface="Aptos"/>
              </a:defRPr>
            </a:pPr>
            <a:r>
              <a:t>governance, and institutional memory.</a:t>
            </a:r>
          </a:p>
          <a:p>
            <a:pPr>
              <a:spcAft>
                <a:spcPts val="300"/>
              </a:spcAft>
              <a:defRPr sz="1100" b="0">
                <a:solidFill>
                  <a:srgbClr val="333333"/>
                </a:solidFill>
                <a:latin typeface="Aptos"/>
              </a:defRPr>
            </a:pPr>
            <a:r>
              <a:t>Publishes Snap presets.</a:t>
            </a:r>
          </a:p>
          <a:p>
            <a:pPr>
              <a:spcAft>
                <a:spcPts val="300"/>
              </a:spcAft>
              <a:defRPr sz="1100" b="0">
                <a:solidFill>
                  <a:srgbClr val="333333"/>
                </a:solidFill>
                <a:latin typeface="Aptos"/>
              </a:defRPr>
            </a:pPr>
            <a:r>
              <a:t>Ensures no client data leaks.</a:t>
            </a:r>
          </a:p>
        </p:txBody>
      </p:sp>
      <p:sp>
        <p:nvSpPr>
          <p:cNvPr id="9" name="Oval 8"/>
          <p:cNvSpPr/>
          <p:nvPr/>
        </p:nvSpPr>
        <p:spPr>
          <a:xfrm>
            <a:off x="1645920" y="3931920"/>
            <a:ext cx="731520" cy="731520"/>
          </a:xfrm>
          <a:prstGeom prst="ellipse">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latin typeface="Aptos"/>
              </a:defRPr>
            </a:pPr>
            <a:r>
              <a:t>Control</a:t>
            </a:r>
            <a:br/>
            <a:r>
              <a:t>Plane</a:t>
            </a:r>
          </a:p>
        </p:txBody>
      </p:sp>
      <p:sp>
        <p:nvSpPr>
          <p:cNvPr id="10" name="Rounded Rectangle 9"/>
          <p:cNvSpPr/>
          <p:nvPr/>
        </p:nvSpPr>
        <p:spPr>
          <a:xfrm>
            <a:off x="4160520" y="1417320"/>
            <a:ext cx="3520440" cy="3657600"/>
          </a:xfrm>
          <a:prstGeom prst="roundRect">
            <a:avLst/>
          </a:prstGeom>
          <a:solidFill>
            <a:srgbClr val="F8F8FA"/>
          </a:solidFill>
          <a:ln w="12700">
            <a:solidFill>
              <a:srgbClr val="4636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60520" y="1417320"/>
            <a:ext cx="3520440" cy="731520"/>
          </a:xfrm>
          <a:prstGeom prst="rect">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80" y="1463040"/>
            <a:ext cx="3246120" cy="320040"/>
          </a:xfrm>
          <a:prstGeom prst="rect">
            <a:avLst/>
          </a:prstGeom>
          <a:noFill/>
        </p:spPr>
        <p:txBody>
          <a:bodyPr wrap="square">
            <a:spAutoFit/>
          </a:bodyPr>
          <a:lstStyle/>
          <a:p>
            <a:pPr algn="l">
              <a:defRPr sz="1600" b="1">
                <a:solidFill>
                  <a:srgbClr val="FFFFFF"/>
                </a:solidFill>
                <a:latin typeface="Aptos"/>
              </a:defRPr>
            </a:pPr>
            <a:r>
              <a:t>SNAP SQUADS</a:t>
            </a:r>
          </a:p>
        </p:txBody>
      </p:sp>
      <p:sp>
        <p:nvSpPr>
          <p:cNvPr id="13" name="TextBox 12"/>
          <p:cNvSpPr txBox="1"/>
          <p:nvPr/>
        </p:nvSpPr>
        <p:spPr>
          <a:xfrm>
            <a:off x="4297680" y="1783080"/>
            <a:ext cx="3246120" cy="274320"/>
          </a:xfrm>
          <a:prstGeom prst="rect">
            <a:avLst/>
          </a:prstGeom>
          <a:noFill/>
        </p:spPr>
        <p:txBody>
          <a:bodyPr wrap="square">
            <a:spAutoFit/>
          </a:bodyPr>
          <a:lstStyle/>
          <a:p>
            <a:pPr algn="l">
              <a:defRPr sz="1200" b="0">
                <a:solidFill>
                  <a:srgbClr val="CCDDFF"/>
                </a:solidFill>
                <a:latin typeface="Aptos"/>
              </a:defRPr>
            </a:pPr>
            <a:r>
              <a:t>The Playbook</a:t>
            </a:r>
          </a:p>
        </p:txBody>
      </p:sp>
      <p:sp>
        <p:nvSpPr>
          <p:cNvPr id="14" name="TextBox 13"/>
          <p:cNvSpPr txBox="1"/>
          <p:nvPr/>
        </p:nvSpPr>
        <p:spPr>
          <a:xfrm>
            <a:off x="4297680" y="2331720"/>
            <a:ext cx="3246120" cy="1828800"/>
          </a:xfrm>
          <a:prstGeom prst="rect">
            <a:avLst/>
          </a:prstGeom>
          <a:noFill/>
        </p:spPr>
        <p:txBody>
          <a:bodyPr wrap="square">
            <a:spAutoFit/>
          </a:bodyPr>
          <a:lstStyle/>
          <a:p>
            <a:pPr>
              <a:spcAft>
                <a:spcPts val="300"/>
              </a:spcAft>
              <a:defRPr sz="1100" b="0">
                <a:solidFill>
                  <a:srgbClr val="333333"/>
                </a:solidFill>
                <a:latin typeface="Aptos"/>
              </a:defRPr>
            </a:pPr>
            <a:r>
              <a:t>Pre-built team configurations with</a:t>
            </a:r>
          </a:p>
          <a:p>
            <a:pPr>
              <a:spcAft>
                <a:spcPts val="300"/>
              </a:spcAft>
              <a:defRPr sz="1100" b="0">
                <a:solidFill>
                  <a:srgbClr val="333333"/>
                </a:solidFill>
                <a:latin typeface="Aptos"/>
              </a:defRPr>
            </a:pPr>
            <a:r>
              <a:t>agents, roles, and workflows defined.</a:t>
            </a:r>
          </a:p>
          <a:p>
            <a:pPr>
              <a:spcAft>
                <a:spcPts val="300"/>
              </a:spcAft>
              <a:defRPr sz="1100" b="0">
                <a:solidFill>
                  <a:srgbClr val="333333"/>
                </a:solidFill>
                <a:latin typeface="Aptos"/>
              </a:defRPr>
            </a:pPr>
            <a:r>
              <a:t>One command to initialize.</a:t>
            </a:r>
          </a:p>
          <a:p>
            <a:pPr>
              <a:spcAft>
                <a:spcPts val="300"/>
              </a:spcAft>
              <a:defRPr sz="1100" b="0">
                <a:solidFill>
                  <a:srgbClr val="333333"/>
                </a:solidFill>
                <a:latin typeface="Aptos"/>
              </a:defRPr>
            </a:pPr>
            <a:r>
              <a:t>Reusable across engagements.</a:t>
            </a:r>
          </a:p>
        </p:txBody>
      </p:sp>
      <p:sp>
        <p:nvSpPr>
          <p:cNvPr id="15" name="Oval 14"/>
          <p:cNvSpPr/>
          <p:nvPr/>
        </p:nvSpPr>
        <p:spPr>
          <a:xfrm>
            <a:off x="5440680" y="3931920"/>
            <a:ext cx="731520" cy="731520"/>
          </a:xfrm>
          <a:prstGeom prst="ellipse">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latin typeface="Aptos"/>
              </a:defRPr>
            </a:pPr>
            <a:r>
              <a:t>Team</a:t>
            </a:r>
            <a:br/>
            <a:r>
              <a:t>Templates</a:t>
            </a:r>
          </a:p>
        </p:txBody>
      </p:sp>
      <p:sp>
        <p:nvSpPr>
          <p:cNvPr id="16" name="Rounded Rectangle 15"/>
          <p:cNvSpPr/>
          <p:nvPr/>
        </p:nvSpPr>
        <p:spPr>
          <a:xfrm>
            <a:off x="7955280" y="1417320"/>
            <a:ext cx="3520440" cy="3657600"/>
          </a:xfrm>
          <a:prstGeom prst="roundRect">
            <a:avLst/>
          </a:prstGeom>
          <a:solidFill>
            <a:srgbClr val="F8F8FA"/>
          </a:solidFill>
          <a:ln w="12700">
            <a:solidFill>
              <a:srgbClr val="225B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955280" y="1417320"/>
            <a:ext cx="3520440" cy="731520"/>
          </a:xfrm>
          <a:prstGeom prst="rect">
            <a:avLst/>
          </a:prstGeom>
          <a:solidFill>
            <a:srgbClr val="225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92440" y="1463040"/>
            <a:ext cx="3246120" cy="320040"/>
          </a:xfrm>
          <a:prstGeom prst="rect">
            <a:avLst/>
          </a:prstGeom>
          <a:noFill/>
        </p:spPr>
        <p:txBody>
          <a:bodyPr wrap="square">
            <a:spAutoFit/>
          </a:bodyPr>
          <a:lstStyle/>
          <a:p>
            <a:pPr algn="l">
              <a:defRPr sz="1600" b="1">
                <a:solidFill>
                  <a:srgbClr val="FFFFFF"/>
                </a:solidFill>
                <a:latin typeface="Aptos"/>
              </a:defRPr>
            </a:pPr>
            <a:r>
              <a:t>SUBSQUADS</a:t>
            </a:r>
          </a:p>
        </p:txBody>
      </p:sp>
      <p:sp>
        <p:nvSpPr>
          <p:cNvPr id="19" name="TextBox 18"/>
          <p:cNvSpPr txBox="1"/>
          <p:nvPr/>
        </p:nvSpPr>
        <p:spPr>
          <a:xfrm>
            <a:off x="8092440" y="1783080"/>
            <a:ext cx="3246120" cy="274320"/>
          </a:xfrm>
          <a:prstGeom prst="rect">
            <a:avLst/>
          </a:prstGeom>
          <a:noFill/>
        </p:spPr>
        <p:txBody>
          <a:bodyPr wrap="square">
            <a:spAutoFit/>
          </a:bodyPr>
          <a:lstStyle/>
          <a:p>
            <a:pPr algn="l">
              <a:defRPr sz="1200" b="0">
                <a:solidFill>
                  <a:srgbClr val="CCDDFF"/>
                </a:solidFill>
                <a:latin typeface="Aptos"/>
              </a:defRPr>
            </a:pPr>
            <a:r>
              <a:t>The Execution</a:t>
            </a:r>
          </a:p>
        </p:txBody>
      </p:sp>
      <p:sp>
        <p:nvSpPr>
          <p:cNvPr id="20" name="TextBox 19"/>
          <p:cNvSpPr txBox="1"/>
          <p:nvPr/>
        </p:nvSpPr>
        <p:spPr>
          <a:xfrm>
            <a:off x="8092440" y="2331720"/>
            <a:ext cx="3246120" cy="1828800"/>
          </a:xfrm>
          <a:prstGeom prst="rect">
            <a:avLst/>
          </a:prstGeom>
          <a:noFill/>
        </p:spPr>
        <p:txBody>
          <a:bodyPr wrap="square">
            <a:spAutoFit/>
          </a:bodyPr>
          <a:lstStyle/>
          <a:p>
            <a:pPr>
              <a:spcAft>
                <a:spcPts val="300"/>
              </a:spcAft>
              <a:defRPr sz="1100" b="0">
                <a:solidFill>
                  <a:srgbClr val="333333"/>
                </a:solidFill>
                <a:latin typeface="Aptos"/>
              </a:defRPr>
            </a:pPr>
            <a:r>
              <a:t>Project-specific teams that pull</a:t>
            </a:r>
          </a:p>
          <a:p>
            <a:pPr>
              <a:spcAft>
                <a:spcPts val="300"/>
              </a:spcAft>
              <a:defRPr sz="1100" b="0">
                <a:solidFill>
                  <a:srgbClr val="333333"/>
                </a:solidFill>
                <a:latin typeface="Aptos"/>
              </a:defRPr>
            </a:pPr>
            <a:r>
              <a:t>Snap presets, configure for the</a:t>
            </a:r>
          </a:p>
          <a:p>
            <a:pPr>
              <a:spcAft>
                <a:spcPts val="300"/>
              </a:spcAft>
              <a:defRPr sz="1100" b="0">
                <a:solidFill>
                  <a:srgbClr val="333333"/>
                </a:solidFill>
                <a:latin typeface="Aptos"/>
              </a:defRPr>
            </a:pPr>
            <a:r>
              <a:t>engagement, and execute in parallel.</a:t>
            </a:r>
          </a:p>
          <a:p>
            <a:pPr>
              <a:spcAft>
                <a:spcPts val="300"/>
              </a:spcAft>
              <a:defRPr sz="1100" b="0">
                <a:solidFill>
                  <a:srgbClr val="333333"/>
                </a:solidFill>
                <a:latin typeface="Aptos"/>
              </a:defRPr>
            </a:pPr>
            <a:r>
              <a:t>Contribute improvements back.</a:t>
            </a:r>
          </a:p>
        </p:txBody>
      </p:sp>
      <p:sp>
        <p:nvSpPr>
          <p:cNvPr id="21" name="Oval 20"/>
          <p:cNvSpPr/>
          <p:nvPr/>
        </p:nvSpPr>
        <p:spPr>
          <a:xfrm>
            <a:off x="9235440" y="3931920"/>
            <a:ext cx="731520" cy="731520"/>
          </a:xfrm>
          <a:prstGeom prst="ellipse">
            <a:avLst/>
          </a:prstGeom>
          <a:solidFill>
            <a:srgbClr val="225B6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latin typeface="Aptos"/>
              </a:defRPr>
            </a:pPr>
            <a:r>
              <a:t>Delivery</a:t>
            </a:r>
            <a:br/>
            <a:r>
              <a:t>Engines</a:t>
            </a:r>
          </a:p>
        </p:txBody>
      </p:sp>
      <p:sp>
        <p:nvSpPr>
          <p:cNvPr id="22" name="Rounded Rectangle 21"/>
          <p:cNvSpPr/>
          <p:nvPr/>
        </p:nvSpPr>
        <p:spPr>
          <a:xfrm>
            <a:off x="457200" y="5303520"/>
            <a:ext cx="10972800" cy="50292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349240"/>
            <a:ext cx="10424160" cy="411480"/>
          </a:xfrm>
          <a:prstGeom prst="rect">
            <a:avLst/>
          </a:prstGeom>
          <a:noFill/>
        </p:spPr>
        <p:txBody>
          <a:bodyPr wrap="square">
            <a:spAutoFit/>
          </a:bodyPr>
          <a:lstStyle/>
          <a:p>
            <a:pPr algn="ctr">
              <a:defRPr sz="1200" b="1">
                <a:solidFill>
                  <a:srgbClr val="FFFFFF"/>
                </a:solidFill>
                <a:latin typeface="Aptos"/>
              </a:defRPr>
            </a:pPr>
            <a:r>
              <a:t>Central Squad publishes Snap presets  --&gt;  SubSquads pull and execute  --&gt;  Improvements flow back to Central</a:t>
            </a:r>
          </a:p>
        </p:txBody>
      </p:sp>
      <p:sp>
        <p:nvSpPr>
          <p:cNvPr id="24" name="TextBox 23"/>
          <p:cNvSpPr txBox="1"/>
          <p:nvPr/>
        </p:nvSpPr>
        <p:spPr>
          <a:xfrm>
            <a:off x="274320" y="6263640"/>
            <a:ext cx="9144000" cy="274320"/>
          </a:xfrm>
          <a:prstGeom prst="rect">
            <a:avLst/>
          </a:prstGeom>
          <a:noFill/>
        </p:spPr>
        <p:txBody>
          <a:bodyPr wrap="square">
            <a:spAutoFit/>
          </a:bodyPr>
          <a:lstStyle/>
          <a:p>
            <a:pPr algn="l">
              <a:defRPr sz="800" b="0">
                <a:solidFill>
                  <a:srgbClr val="666666"/>
                </a:solidFill>
                <a:latin typeface="Aptos"/>
              </a:defRPr>
            </a:pPr>
            <a:r>
              <a:t>CONFIDENTIAL  |  Microsoft Accelerate Factory  |  Copilot Squad + Snap Model</a:t>
            </a:r>
          </a:p>
        </p:txBody>
      </p:sp>
      <p:sp>
        <p:nvSpPr>
          <p:cNvPr id="25" name="TextBox 24"/>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
            <a:ext cx="12192000" cy="566928"/>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600" b="1">
                <a:solidFill>
                  <a:srgbClr val="FFFFFF"/>
                </a:solidFill>
                <a:latin typeface="Aptos Display"/>
              </a:defRPr>
            </a:pPr>
            <a:r>
              <a:t>Central Squad Architecture</a:t>
            </a:r>
          </a:p>
        </p:txBody>
      </p:sp>
      <p:sp>
        <p:nvSpPr>
          <p:cNvPr id="3" name="TextBox 2"/>
          <p:cNvSpPr txBox="1"/>
          <p:nvPr/>
        </p:nvSpPr>
        <p:spPr>
          <a:xfrm>
            <a:off x="457200" y="914400"/>
            <a:ext cx="10972800" cy="320040"/>
          </a:xfrm>
          <a:prstGeom prst="rect">
            <a:avLst/>
          </a:prstGeom>
          <a:noFill/>
        </p:spPr>
        <p:txBody>
          <a:bodyPr wrap="square">
            <a:spAutoFit/>
          </a:bodyPr>
          <a:lstStyle/>
          <a:p>
            <a:pPr algn="l">
              <a:defRPr sz="1300" b="0">
                <a:solidFill>
                  <a:srgbClr val="4A4E66"/>
                </a:solidFill>
                <a:latin typeface="Aptos"/>
              </a:defRPr>
            </a:pPr>
            <a:r>
              <a:t>The Central Squad is the single source of truth for agents, patterns, governance, and decisions.</a:t>
            </a:r>
          </a:p>
        </p:txBody>
      </p:sp>
      <p:sp>
        <p:nvSpPr>
          <p:cNvPr id="4" name="Rounded Rectangle 3"/>
          <p:cNvSpPr/>
          <p:nvPr/>
        </p:nvSpPr>
        <p:spPr>
          <a:xfrm>
            <a:off x="3840480" y="1828800"/>
            <a:ext cx="4206240" cy="2286000"/>
          </a:xfrm>
          <a:prstGeom prst="round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0" y="1920240"/>
            <a:ext cx="3840480" cy="320040"/>
          </a:xfrm>
          <a:prstGeom prst="rect">
            <a:avLst/>
          </a:prstGeom>
          <a:noFill/>
        </p:spPr>
        <p:txBody>
          <a:bodyPr wrap="square">
            <a:spAutoFit/>
          </a:bodyPr>
          <a:lstStyle/>
          <a:p>
            <a:pPr algn="ctr">
              <a:defRPr sz="1800" b="1">
                <a:solidFill>
                  <a:srgbClr val="FFFFFF"/>
                </a:solidFill>
                <a:latin typeface="Aptos"/>
              </a:defRPr>
            </a:pPr>
            <a:r>
              <a:t>CENTRAL SQUAD</a:t>
            </a:r>
          </a:p>
        </p:txBody>
      </p:sp>
      <p:sp>
        <p:nvSpPr>
          <p:cNvPr id="6" name="TextBox 5"/>
          <p:cNvSpPr txBox="1"/>
          <p:nvPr/>
        </p:nvSpPr>
        <p:spPr>
          <a:xfrm>
            <a:off x="4114800" y="2331720"/>
            <a:ext cx="3657600" cy="1645920"/>
          </a:xfrm>
          <a:prstGeom prst="rect">
            <a:avLst/>
          </a:prstGeom>
          <a:noFill/>
        </p:spPr>
        <p:txBody>
          <a:bodyPr wrap="square">
            <a:spAutoFit/>
          </a:bodyPr>
          <a:lstStyle/>
          <a:p>
            <a:pPr>
              <a:spcAft>
                <a:spcPts val="300"/>
              </a:spcAft>
              <a:defRPr sz="1100" b="0">
                <a:solidFill>
                  <a:srgbClr val="FFFFFF"/>
                </a:solidFill>
                <a:latin typeface="Aptos"/>
              </a:defRPr>
            </a:pPr>
            <a:r>
              <a:t>Agent Registry &amp; Catalog</a:t>
            </a:r>
          </a:p>
          <a:p>
            <a:pPr>
              <a:spcAft>
                <a:spcPts val="300"/>
              </a:spcAft>
              <a:defRPr sz="1100" b="0">
                <a:solidFill>
                  <a:srgbClr val="FFFFFF"/>
                </a:solidFill>
                <a:latin typeface="Aptos"/>
              </a:defRPr>
            </a:pPr>
            <a:r>
              <a:t>Snap Preset Library</a:t>
            </a:r>
          </a:p>
          <a:p>
            <a:pPr>
              <a:spcAft>
                <a:spcPts val="300"/>
              </a:spcAft>
              <a:defRPr sz="1100" b="0">
                <a:solidFill>
                  <a:srgbClr val="FFFFFF"/>
                </a:solidFill>
                <a:latin typeface="Aptos"/>
              </a:defRPr>
            </a:pPr>
            <a:r>
              <a:t>Shared Prompts &amp; Patterns</a:t>
            </a:r>
          </a:p>
          <a:p>
            <a:pPr>
              <a:spcAft>
                <a:spcPts val="300"/>
              </a:spcAft>
              <a:defRPr sz="1100" b="0">
                <a:solidFill>
                  <a:srgbClr val="FFFFFF"/>
                </a:solidFill>
                <a:latin typeface="Aptos"/>
              </a:defRPr>
            </a:pPr>
            <a:r>
              <a:t>Governance &amp; Approval Gates</a:t>
            </a:r>
          </a:p>
          <a:p>
            <a:pPr>
              <a:spcAft>
                <a:spcPts val="300"/>
              </a:spcAft>
              <a:defRPr sz="1100" b="0">
                <a:solidFill>
                  <a:srgbClr val="FFFFFF"/>
                </a:solidFill>
                <a:latin typeface="Aptos"/>
              </a:defRPr>
            </a:pPr>
            <a:r>
              <a:t>Institutional Memory (decisions.md)</a:t>
            </a:r>
          </a:p>
        </p:txBody>
      </p:sp>
      <p:sp>
        <p:nvSpPr>
          <p:cNvPr id="7" name="Rounded Rectangle 6"/>
          <p:cNvSpPr/>
          <p:nvPr/>
        </p:nvSpPr>
        <p:spPr>
          <a:xfrm>
            <a:off x="274320" y="1463040"/>
            <a:ext cx="2926080" cy="1097280"/>
          </a:xfrm>
          <a:prstGeom prst="roundRect">
            <a:avLst/>
          </a:prstGeom>
          <a:solidFill>
            <a:srgbClr val="F8F8FA"/>
          </a:solidFill>
          <a:ln w="12700">
            <a:solidFill>
              <a:srgbClr val="4636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536192"/>
            <a:ext cx="2651760" cy="274320"/>
          </a:xfrm>
          <a:prstGeom prst="rect">
            <a:avLst/>
          </a:prstGeom>
          <a:noFill/>
        </p:spPr>
        <p:txBody>
          <a:bodyPr wrap="square">
            <a:spAutoFit/>
          </a:bodyPr>
          <a:lstStyle/>
          <a:p>
            <a:pPr algn="l">
              <a:defRPr sz="1300" b="1">
                <a:solidFill>
                  <a:srgbClr val="463668"/>
                </a:solidFill>
                <a:latin typeface="Aptos"/>
              </a:defRPr>
            </a:pPr>
            <a:r>
              <a:t>SubSquad A</a:t>
            </a:r>
          </a:p>
        </p:txBody>
      </p:sp>
      <p:sp>
        <p:nvSpPr>
          <p:cNvPr id="9" name="TextBox 8"/>
          <p:cNvSpPr txBox="1"/>
          <p:nvPr/>
        </p:nvSpPr>
        <p:spPr>
          <a:xfrm>
            <a:off x="411480" y="1828800"/>
            <a:ext cx="2651760" cy="274320"/>
          </a:xfrm>
          <a:prstGeom prst="rect">
            <a:avLst/>
          </a:prstGeom>
          <a:noFill/>
        </p:spPr>
        <p:txBody>
          <a:bodyPr wrap="square">
            <a:spAutoFit/>
          </a:bodyPr>
          <a:lstStyle/>
          <a:p>
            <a:pPr algn="l">
              <a:defRPr sz="1000" b="0">
                <a:solidFill>
                  <a:srgbClr val="333333"/>
                </a:solidFill>
                <a:latin typeface="Aptos"/>
              </a:defRPr>
            </a:pPr>
            <a:r>
              <a:t>Snap preset: Backend + API</a:t>
            </a:r>
          </a:p>
        </p:txBody>
      </p:sp>
      <p:sp>
        <p:nvSpPr>
          <p:cNvPr id="10" name="TextBox 9"/>
          <p:cNvSpPr txBox="1"/>
          <p:nvPr/>
        </p:nvSpPr>
        <p:spPr>
          <a:xfrm>
            <a:off x="411480" y="2103120"/>
            <a:ext cx="2651760" cy="274320"/>
          </a:xfrm>
          <a:prstGeom prst="rect">
            <a:avLst/>
          </a:prstGeom>
          <a:noFill/>
        </p:spPr>
        <p:txBody>
          <a:bodyPr wrap="square">
            <a:spAutoFit/>
          </a:bodyPr>
          <a:lstStyle/>
          <a:p>
            <a:pPr algn="l">
              <a:defRPr sz="900" b="0">
                <a:solidFill>
                  <a:srgbClr val="4A4E66"/>
                </a:solidFill>
                <a:latin typeface="Aptos"/>
              </a:defRPr>
            </a:pPr>
            <a:r>
              <a:t>Pulls agents | Configures | Executes</a:t>
            </a:r>
          </a:p>
        </p:txBody>
      </p:sp>
      <p:sp>
        <p:nvSpPr>
          <p:cNvPr id="11" name="Rounded Rectangle 10"/>
          <p:cNvSpPr/>
          <p:nvPr/>
        </p:nvSpPr>
        <p:spPr>
          <a:xfrm>
            <a:off x="8686800" y="1463040"/>
            <a:ext cx="2926080" cy="1097280"/>
          </a:xfrm>
          <a:prstGeom prst="roundRect">
            <a:avLst/>
          </a:prstGeom>
          <a:solidFill>
            <a:srgbClr val="F8F8FA"/>
          </a:solidFill>
          <a:ln w="12700">
            <a:solidFill>
              <a:srgbClr val="225B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23960" y="1536192"/>
            <a:ext cx="2651760" cy="274320"/>
          </a:xfrm>
          <a:prstGeom prst="rect">
            <a:avLst/>
          </a:prstGeom>
          <a:noFill/>
        </p:spPr>
        <p:txBody>
          <a:bodyPr wrap="square">
            <a:spAutoFit/>
          </a:bodyPr>
          <a:lstStyle/>
          <a:p>
            <a:pPr algn="l">
              <a:defRPr sz="1300" b="1">
                <a:solidFill>
                  <a:srgbClr val="225B62"/>
                </a:solidFill>
                <a:latin typeface="Aptos"/>
              </a:defRPr>
            </a:pPr>
            <a:r>
              <a:t>SubSquad B</a:t>
            </a:r>
          </a:p>
        </p:txBody>
      </p:sp>
      <p:sp>
        <p:nvSpPr>
          <p:cNvPr id="13" name="TextBox 12"/>
          <p:cNvSpPr txBox="1"/>
          <p:nvPr/>
        </p:nvSpPr>
        <p:spPr>
          <a:xfrm>
            <a:off x="8823960" y="1828800"/>
            <a:ext cx="2651760" cy="274320"/>
          </a:xfrm>
          <a:prstGeom prst="rect">
            <a:avLst/>
          </a:prstGeom>
          <a:noFill/>
        </p:spPr>
        <p:txBody>
          <a:bodyPr wrap="square">
            <a:spAutoFit/>
          </a:bodyPr>
          <a:lstStyle/>
          <a:p>
            <a:pPr algn="l">
              <a:defRPr sz="1000" b="0">
                <a:solidFill>
                  <a:srgbClr val="333333"/>
                </a:solidFill>
                <a:latin typeface="Aptos"/>
              </a:defRPr>
            </a:pPr>
            <a:r>
              <a:t>Snap preset: AI + Data</a:t>
            </a:r>
          </a:p>
        </p:txBody>
      </p:sp>
      <p:sp>
        <p:nvSpPr>
          <p:cNvPr id="14" name="TextBox 13"/>
          <p:cNvSpPr txBox="1"/>
          <p:nvPr/>
        </p:nvSpPr>
        <p:spPr>
          <a:xfrm>
            <a:off x="8823960" y="2103120"/>
            <a:ext cx="2651760" cy="274320"/>
          </a:xfrm>
          <a:prstGeom prst="rect">
            <a:avLst/>
          </a:prstGeom>
          <a:noFill/>
        </p:spPr>
        <p:txBody>
          <a:bodyPr wrap="square">
            <a:spAutoFit/>
          </a:bodyPr>
          <a:lstStyle/>
          <a:p>
            <a:pPr algn="l">
              <a:defRPr sz="900" b="0">
                <a:solidFill>
                  <a:srgbClr val="4A4E66"/>
                </a:solidFill>
                <a:latin typeface="Aptos"/>
              </a:defRPr>
            </a:pPr>
            <a:r>
              <a:t>Pulls agents | Configures | Executes</a:t>
            </a:r>
          </a:p>
        </p:txBody>
      </p:sp>
      <p:sp>
        <p:nvSpPr>
          <p:cNvPr id="15" name="Rounded Rectangle 14"/>
          <p:cNvSpPr/>
          <p:nvPr/>
        </p:nvSpPr>
        <p:spPr>
          <a:xfrm>
            <a:off x="274320" y="3840480"/>
            <a:ext cx="2926080" cy="1097280"/>
          </a:xfrm>
          <a:prstGeom prst="roundRect">
            <a:avLst/>
          </a:prstGeom>
          <a:solidFill>
            <a:srgbClr val="F8F8FA"/>
          </a:solidFill>
          <a:ln w="12700">
            <a:solidFill>
              <a:srgbClr val="FE8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80" y="3913632"/>
            <a:ext cx="2651760" cy="274320"/>
          </a:xfrm>
          <a:prstGeom prst="rect">
            <a:avLst/>
          </a:prstGeom>
          <a:noFill/>
        </p:spPr>
        <p:txBody>
          <a:bodyPr wrap="square">
            <a:spAutoFit/>
          </a:bodyPr>
          <a:lstStyle/>
          <a:p>
            <a:pPr algn="l">
              <a:defRPr sz="1300" b="1">
                <a:solidFill>
                  <a:srgbClr val="FE8B00"/>
                </a:solidFill>
                <a:latin typeface="Aptos"/>
              </a:defRPr>
            </a:pPr>
            <a:r>
              <a:t>SubSquad C</a:t>
            </a:r>
          </a:p>
        </p:txBody>
      </p:sp>
      <p:sp>
        <p:nvSpPr>
          <p:cNvPr id="17" name="TextBox 16"/>
          <p:cNvSpPr txBox="1"/>
          <p:nvPr/>
        </p:nvSpPr>
        <p:spPr>
          <a:xfrm>
            <a:off x="411480" y="4206240"/>
            <a:ext cx="2651760" cy="274320"/>
          </a:xfrm>
          <a:prstGeom prst="rect">
            <a:avLst/>
          </a:prstGeom>
          <a:noFill/>
        </p:spPr>
        <p:txBody>
          <a:bodyPr wrap="square">
            <a:spAutoFit/>
          </a:bodyPr>
          <a:lstStyle/>
          <a:p>
            <a:pPr algn="l">
              <a:defRPr sz="1000" b="0">
                <a:solidFill>
                  <a:srgbClr val="333333"/>
                </a:solidFill>
                <a:latin typeface="Aptos"/>
              </a:defRPr>
            </a:pPr>
            <a:r>
              <a:t>Snap preset: Migration</a:t>
            </a:r>
          </a:p>
        </p:txBody>
      </p:sp>
      <p:sp>
        <p:nvSpPr>
          <p:cNvPr id="18" name="TextBox 17"/>
          <p:cNvSpPr txBox="1"/>
          <p:nvPr/>
        </p:nvSpPr>
        <p:spPr>
          <a:xfrm>
            <a:off x="411480" y="4480560"/>
            <a:ext cx="2651760" cy="274320"/>
          </a:xfrm>
          <a:prstGeom prst="rect">
            <a:avLst/>
          </a:prstGeom>
          <a:noFill/>
        </p:spPr>
        <p:txBody>
          <a:bodyPr wrap="square">
            <a:spAutoFit/>
          </a:bodyPr>
          <a:lstStyle/>
          <a:p>
            <a:pPr algn="l">
              <a:defRPr sz="900" b="0">
                <a:solidFill>
                  <a:srgbClr val="4A4E66"/>
                </a:solidFill>
                <a:latin typeface="Aptos"/>
              </a:defRPr>
            </a:pPr>
            <a:r>
              <a:t>Pulls agents | Configures | Executes</a:t>
            </a:r>
          </a:p>
        </p:txBody>
      </p:sp>
      <p:sp>
        <p:nvSpPr>
          <p:cNvPr id="19" name="Rounded Rectangle 18"/>
          <p:cNvSpPr/>
          <p:nvPr/>
        </p:nvSpPr>
        <p:spPr>
          <a:xfrm>
            <a:off x="8686800" y="3840480"/>
            <a:ext cx="2926080" cy="1097280"/>
          </a:xfrm>
          <a:prstGeom prst="roundRect">
            <a:avLst/>
          </a:prstGeom>
          <a:solidFill>
            <a:srgbClr val="F8F8FA"/>
          </a:solidFill>
          <a:ln w="1270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23960" y="3913632"/>
            <a:ext cx="2651760" cy="274320"/>
          </a:xfrm>
          <a:prstGeom prst="rect">
            <a:avLst/>
          </a:prstGeom>
          <a:noFill/>
        </p:spPr>
        <p:txBody>
          <a:bodyPr wrap="square">
            <a:spAutoFit/>
          </a:bodyPr>
          <a:lstStyle/>
          <a:p>
            <a:pPr algn="l">
              <a:defRPr sz="1300" b="1">
                <a:solidFill>
                  <a:srgbClr val="00B050"/>
                </a:solidFill>
                <a:latin typeface="Aptos"/>
              </a:defRPr>
            </a:pPr>
            <a:r>
              <a:t>SubSquad D</a:t>
            </a:r>
          </a:p>
        </p:txBody>
      </p:sp>
      <p:sp>
        <p:nvSpPr>
          <p:cNvPr id="21" name="TextBox 20"/>
          <p:cNvSpPr txBox="1"/>
          <p:nvPr/>
        </p:nvSpPr>
        <p:spPr>
          <a:xfrm>
            <a:off x="8823960" y="4206240"/>
            <a:ext cx="2651760" cy="274320"/>
          </a:xfrm>
          <a:prstGeom prst="rect">
            <a:avLst/>
          </a:prstGeom>
          <a:noFill/>
        </p:spPr>
        <p:txBody>
          <a:bodyPr wrap="square">
            <a:spAutoFit/>
          </a:bodyPr>
          <a:lstStyle/>
          <a:p>
            <a:pPr algn="l">
              <a:defRPr sz="1000" b="0">
                <a:solidFill>
                  <a:srgbClr val="333333"/>
                </a:solidFill>
                <a:latin typeface="Aptos"/>
              </a:defRPr>
            </a:pPr>
            <a:r>
              <a:t>Snap preset: Frontend + UX</a:t>
            </a:r>
          </a:p>
        </p:txBody>
      </p:sp>
      <p:sp>
        <p:nvSpPr>
          <p:cNvPr id="22" name="TextBox 21"/>
          <p:cNvSpPr txBox="1"/>
          <p:nvPr/>
        </p:nvSpPr>
        <p:spPr>
          <a:xfrm>
            <a:off x="8823960" y="4480560"/>
            <a:ext cx="2651760" cy="274320"/>
          </a:xfrm>
          <a:prstGeom prst="rect">
            <a:avLst/>
          </a:prstGeom>
          <a:noFill/>
        </p:spPr>
        <p:txBody>
          <a:bodyPr wrap="square">
            <a:spAutoFit/>
          </a:bodyPr>
          <a:lstStyle/>
          <a:p>
            <a:pPr algn="l">
              <a:defRPr sz="900" b="0">
                <a:solidFill>
                  <a:srgbClr val="4A4E66"/>
                </a:solidFill>
                <a:latin typeface="Aptos"/>
              </a:defRPr>
            </a:pPr>
            <a:r>
              <a:t>Pulls agents | Configures | Executes</a:t>
            </a:r>
          </a:p>
        </p:txBody>
      </p:sp>
      <p:sp>
        <p:nvSpPr>
          <p:cNvPr id="23" name="TextBox 22"/>
          <p:cNvSpPr txBox="1"/>
          <p:nvPr/>
        </p:nvSpPr>
        <p:spPr>
          <a:xfrm>
            <a:off x="3200400" y="1828800"/>
            <a:ext cx="640080" cy="274320"/>
          </a:xfrm>
          <a:prstGeom prst="rect">
            <a:avLst/>
          </a:prstGeom>
          <a:noFill/>
        </p:spPr>
        <p:txBody>
          <a:bodyPr wrap="square">
            <a:spAutoFit/>
          </a:bodyPr>
          <a:lstStyle/>
          <a:p>
            <a:pPr algn="l">
              <a:defRPr sz="1400" b="1">
                <a:solidFill>
                  <a:srgbClr val="0178D4"/>
                </a:solidFill>
                <a:latin typeface="Aptos"/>
              </a:defRPr>
            </a:pPr>
            <a:r>
              <a:t>&lt;--</a:t>
            </a:r>
          </a:p>
        </p:txBody>
      </p:sp>
      <p:sp>
        <p:nvSpPr>
          <p:cNvPr id="24" name="TextBox 23"/>
          <p:cNvSpPr txBox="1"/>
          <p:nvPr/>
        </p:nvSpPr>
        <p:spPr>
          <a:xfrm>
            <a:off x="8046720" y="1828800"/>
            <a:ext cx="640080" cy="274320"/>
          </a:xfrm>
          <a:prstGeom prst="rect">
            <a:avLst/>
          </a:prstGeom>
          <a:noFill/>
        </p:spPr>
        <p:txBody>
          <a:bodyPr wrap="square">
            <a:spAutoFit/>
          </a:bodyPr>
          <a:lstStyle/>
          <a:p>
            <a:pPr algn="l">
              <a:defRPr sz="1400" b="1">
                <a:solidFill>
                  <a:srgbClr val="0178D4"/>
                </a:solidFill>
                <a:latin typeface="Aptos"/>
              </a:defRPr>
            </a:pPr>
            <a:r>
              <a:t>--&gt;</a:t>
            </a:r>
          </a:p>
        </p:txBody>
      </p:sp>
      <p:sp>
        <p:nvSpPr>
          <p:cNvPr id="25" name="TextBox 24"/>
          <p:cNvSpPr txBox="1"/>
          <p:nvPr/>
        </p:nvSpPr>
        <p:spPr>
          <a:xfrm>
            <a:off x="3200400" y="4206240"/>
            <a:ext cx="640080" cy="274320"/>
          </a:xfrm>
          <a:prstGeom prst="rect">
            <a:avLst/>
          </a:prstGeom>
          <a:noFill/>
        </p:spPr>
        <p:txBody>
          <a:bodyPr wrap="square">
            <a:spAutoFit/>
          </a:bodyPr>
          <a:lstStyle/>
          <a:p>
            <a:pPr algn="l">
              <a:defRPr sz="1400" b="1">
                <a:solidFill>
                  <a:srgbClr val="0178D4"/>
                </a:solidFill>
                <a:latin typeface="Aptos"/>
              </a:defRPr>
            </a:pPr>
            <a:r>
              <a:t>&lt;--</a:t>
            </a:r>
          </a:p>
        </p:txBody>
      </p:sp>
      <p:sp>
        <p:nvSpPr>
          <p:cNvPr id="26" name="TextBox 25"/>
          <p:cNvSpPr txBox="1"/>
          <p:nvPr/>
        </p:nvSpPr>
        <p:spPr>
          <a:xfrm>
            <a:off x="8046720" y="4206240"/>
            <a:ext cx="640080" cy="274320"/>
          </a:xfrm>
          <a:prstGeom prst="rect">
            <a:avLst/>
          </a:prstGeom>
          <a:noFill/>
        </p:spPr>
        <p:txBody>
          <a:bodyPr wrap="square">
            <a:spAutoFit/>
          </a:bodyPr>
          <a:lstStyle/>
          <a:p>
            <a:pPr algn="l">
              <a:defRPr sz="1400" b="1">
                <a:solidFill>
                  <a:srgbClr val="0178D4"/>
                </a:solidFill>
                <a:latin typeface="Aptos"/>
              </a:defRPr>
            </a:pPr>
            <a:r>
              <a:t>--&gt;</a:t>
            </a:r>
          </a:p>
        </p:txBody>
      </p:sp>
      <p:sp>
        <p:nvSpPr>
          <p:cNvPr id="27" name="Rounded Rectangle 26"/>
          <p:cNvSpPr/>
          <p:nvPr/>
        </p:nvSpPr>
        <p:spPr>
          <a:xfrm>
            <a:off x="457200" y="5212080"/>
            <a:ext cx="10972800" cy="502920"/>
          </a:xfrm>
          <a:prstGeom prst="roundRect">
            <a:avLst/>
          </a:prstGeom>
          <a:solidFill>
            <a:srgbClr val="F2F7FA"/>
          </a:solidFill>
          <a:ln w="12700">
            <a:solidFill>
              <a:srgbClr val="01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5257800"/>
            <a:ext cx="10424160" cy="411480"/>
          </a:xfrm>
          <a:prstGeom prst="rect">
            <a:avLst/>
          </a:prstGeom>
          <a:noFill/>
        </p:spPr>
        <p:txBody>
          <a:bodyPr wrap="square">
            <a:spAutoFit/>
          </a:bodyPr>
          <a:lstStyle/>
          <a:p>
            <a:pPr algn="l">
              <a:defRPr sz="1200" b="1">
                <a:solidFill>
                  <a:srgbClr val="0178D4"/>
                </a:solidFill>
                <a:latin typeface="Aptos"/>
              </a:defRPr>
            </a:pPr>
            <a:r>
              <a:t>All agents are generic and reusable. No client data. No project-specific logic in shared agents.</a:t>
            </a:r>
          </a:p>
        </p:txBody>
      </p:sp>
      <p:sp>
        <p:nvSpPr>
          <p:cNvPr id="29" name="TextBox 28"/>
          <p:cNvSpPr txBox="1"/>
          <p:nvPr/>
        </p:nvSpPr>
        <p:spPr>
          <a:xfrm>
            <a:off x="274320" y="6263640"/>
            <a:ext cx="9144000" cy="274320"/>
          </a:xfrm>
          <a:prstGeom prst="rect">
            <a:avLst/>
          </a:prstGeom>
          <a:noFill/>
        </p:spPr>
        <p:txBody>
          <a:bodyPr wrap="square">
            <a:spAutoFit/>
          </a:bodyPr>
          <a:lstStyle/>
          <a:p>
            <a:pPr algn="l">
              <a:defRPr sz="800" b="0">
                <a:solidFill>
                  <a:srgbClr val="666666"/>
                </a:solidFill>
                <a:latin typeface="Aptos"/>
              </a:defRPr>
            </a:pPr>
            <a:r>
              <a:t>CONFIDENTIAL  |  Microsoft Accelerate Factory  |  Copilot Squad + Snap Model</a:t>
            </a:r>
          </a:p>
        </p:txBody>
      </p:sp>
      <p:sp>
        <p:nvSpPr>
          <p:cNvPr id="30" name="TextBox 29"/>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
            <a:ext cx="12192000" cy="566928"/>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600" b="1">
                <a:solidFill>
                  <a:srgbClr val="FFFFFF"/>
                </a:solidFill>
                <a:latin typeface="Aptos Display"/>
              </a:defRPr>
            </a:pPr>
            <a:r>
              <a:t>Snap Squad: Pre-Built Team Configurations</a:t>
            </a:r>
          </a:p>
        </p:txBody>
      </p:sp>
      <p:sp>
        <p:nvSpPr>
          <p:cNvPr id="3" name="TextBox 2"/>
          <p:cNvSpPr txBox="1"/>
          <p:nvPr/>
        </p:nvSpPr>
        <p:spPr>
          <a:xfrm>
            <a:off x="457200" y="914400"/>
            <a:ext cx="10972800" cy="320040"/>
          </a:xfrm>
          <a:prstGeom prst="rect">
            <a:avLst/>
          </a:prstGeom>
          <a:noFill/>
        </p:spPr>
        <p:txBody>
          <a:bodyPr wrap="square">
            <a:spAutoFit/>
          </a:bodyPr>
          <a:lstStyle/>
          <a:p>
            <a:pPr algn="l">
              <a:defRPr sz="1300" b="0">
                <a:solidFill>
                  <a:srgbClr val="4A4E66"/>
                </a:solidFill>
                <a:latin typeface="Aptos"/>
              </a:defRPr>
            </a:pPr>
            <a:r>
              <a:t>A Snap is a pre-configured squad definition. One command creates a full team with agents, roles, and workflows.</a:t>
            </a:r>
          </a:p>
        </p:txBody>
      </p:sp>
      <p:sp>
        <p:nvSpPr>
          <p:cNvPr id="4" name="Rectangle 3"/>
          <p:cNvSpPr/>
          <p:nvPr/>
        </p:nvSpPr>
        <p:spPr>
          <a:xfrm>
            <a:off x="457200" y="1417320"/>
            <a:ext cx="3200400" cy="256032"/>
          </a:xfrm>
          <a:prstGeom prst="rect">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1600" rIns="101600"/>
          <a:lstStyle/>
          <a:p>
            <a:pPr algn="ctr">
              <a:defRPr sz="1000" b="1">
                <a:solidFill>
                  <a:srgbClr val="FFFFFF"/>
                </a:solidFill>
                <a:latin typeface="Aptos"/>
              </a:defRPr>
            </a:pPr>
            <a:r>
              <a:t>WHAT'S INSIDE A SNAP PRESET</a:t>
            </a:r>
          </a:p>
        </p:txBody>
      </p:sp>
      <p:sp>
        <p:nvSpPr>
          <p:cNvPr id="5" name="Rounded Rectangle 4"/>
          <p:cNvSpPr/>
          <p:nvPr/>
        </p:nvSpPr>
        <p:spPr>
          <a:xfrm>
            <a:off x="365760" y="1828800"/>
            <a:ext cx="2697480" cy="1828800"/>
          </a:xfrm>
          <a:prstGeom prst="roundRect">
            <a:avLst/>
          </a:prstGeom>
          <a:solidFill>
            <a:srgbClr val="F8F8FA"/>
          </a:solidFill>
          <a:ln w="12700">
            <a:solidFill>
              <a:srgbClr val="01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371600" y="1965960"/>
            <a:ext cx="502920" cy="502920"/>
          </a:xfrm>
          <a:prstGeom prst="ellipse">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b="1">
                <a:solidFill>
                  <a:srgbClr val="FFFFFF"/>
                </a:solidFill>
                <a:latin typeface="Aptos"/>
              </a:defRPr>
            </a:pPr>
            <a:r>
              <a:t>R</a:t>
            </a:r>
          </a:p>
        </p:txBody>
      </p:sp>
      <p:sp>
        <p:nvSpPr>
          <p:cNvPr id="7" name="TextBox 6"/>
          <p:cNvSpPr txBox="1"/>
          <p:nvPr/>
        </p:nvSpPr>
        <p:spPr>
          <a:xfrm>
            <a:off x="502920" y="2560320"/>
            <a:ext cx="2423160" cy="274320"/>
          </a:xfrm>
          <a:prstGeom prst="rect">
            <a:avLst/>
          </a:prstGeom>
          <a:noFill/>
        </p:spPr>
        <p:txBody>
          <a:bodyPr wrap="square">
            <a:spAutoFit/>
          </a:bodyPr>
          <a:lstStyle/>
          <a:p>
            <a:pPr algn="ctr">
              <a:defRPr sz="1300" b="1">
                <a:solidFill>
                  <a:srgbClr val="0178D4"/>
                </a:solidFill>
                <a:latin typeface="Aptos"/>
              </a:defRPr>
            </a:pPr>
            <a:r>
              <a:t>Roles</a:t>
            </a:r>
          </a:p>
        </p:txBody>
      </p:sp>
      <p:sp>
        <p:nvSpPr>
          <p:cNvPr id="8" name="TextBox 7"/>
          <p:cNvSpPr txBox="1"/>
          <p:nvPr/>
        </p:nvSpPr>
        <p:spPr>
          <a:xfrm>
            <a:off x="502920" y="2880360"/>
            <a:ext cx="2423160" cy="731520"/>
          </a:xfrm>
          <a:prstGeom prst="rect">
            <a:avLst/>
          </a:prstGeom>
          <a:noFill/>
        </p:spPr>
        <p:txBody>
          <a:bodyPr wrap="square">
            <a:spAutoFit/>
          </a:bodyPr>
          <a:lstStyle/>
          <a:p>
            <a:pPr>
              <a:spcAft>
                <a:spcPts val="300"/>
              </a:spcAft>
              <a:defRPr sz="1000" b="0">
                <a:solidFill>
                  <a:srgbClr val="333333"/>
                </a:solidFill>
                <a:latin typeface="Aptos"/>
              </a:defRPr>
            </a:pPr>
            <a:r>
              <a:t>Who's on the team:</a:t>
            </a:r>
          </a:p>
          <a:p>
            <a:pPr>
              <a:spcAft>
                <a:spcPts val="300"/>
              </a:spcAft>
              <a:defRPr sz="1000" b="0">
                <a:solidFill>
                  <a:srgbClr val="333333"/>
                </a:solidFill>
                <a:latin typeface="Aptos"/>
              </a:defRPr>
            </a:pPr>
            <a:r>
              <a:t>Architect, Coder, Tester,</a:t>
            </a:r>
          </a:p>
          <a:p>
            <a:pPr>
              <a:spcAft>
                <a:spcPts val="300"/>
              </a:spcAft>
              <a:defRPr sz="1000" b="0">
                <a:solidFill>
                  <a:srgbClr val="333333"/>
                </a:solidFill>
                <a:latin typeface="Aptos"/>
              </a:defRPr>
            </a:pPr>
            <a:r>
              <a:t>DevRel, GitOps, etc.</a:t>
            </a:r>
          </a:p>
        </p:txBody>
      </p:sp>
      <p:sp>
        <p:nvSpPr>
          <p:cNvPr id="9" name="Rounded Rectangle 8"/>
          <p:cNvSpPr/>
          <p:nvPr/>
        </p:nvSpPr>
        <p:spPr>
          <a:xfrm>
            <a:off x="3246120" y="1828800"/>
            <a:ext cx="2697480" cy="1828800"/>
          </a:xfrm>
          <a:prstGeom prst="roundRect">
            <a:avLst/>
          </a:prstGeom>
          <a:solidFill>
            <a:srgbClr val="F8F8FA"/>
          </a:solidFill>
          <a:ln w="12700">
            <a:solidFill>
              <a:srgbClr val="4636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251960" y="1965960"/>
            <a:ext cx="502920" cy="502920"/>
          </a:xfrm>
          <a:prstGeom prst="ellipse">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b="1">
                <a:solidFill>
                  <a:srgbClr val="FFFFFF"/>
                </a:solidFill>
                <a:latin typeface="Aptos"/>
              </a:defRPr>
            </a:pPr>
            <a:r>
              <a:t>A</a:t>
            </a:r>
          </a:p>
        </p:txBody>
      </p:sp>
      <p:sp>
        <p:nvSpPr>
          <p:cNvPr id="11" name="TextBox 10"/>
          <p:cNvSpPr txBox="1"/>
          <p:nvPr/>
        </p:nvSpPr>
        <p:spPr>
          <a:xfrm>
            <a:off x="3383280" y="2560320"/>
            <a:ext cx="2423160" cy="274320"/>
          </a:xfrm>
          <a:prstGeom prst="rect">
            <a:avLst/>
          </a:prstGeom>
          <a:noFill/>
        </p:spPr>
        <p:txBody>
          <a:bodyPr wrap="square">
            <a:spAutoFit/>
          </a:bodyPr>
          <a:lstStyle/>
          <a:p>
            <a:pPr algn="ctr">
              <a:defRPr sz="1300" b="1">
                <a:solidFill>
                  <a:srgbClr val="463668"/>
                </a:solidFill>
                <a:latin typeface="Aptos"/>
              </a:defRPr>
            </a:pPr>
            <a:r>
              <a:t>Agents</a:t>
            </a:r>
          </a:p>
        </p:txBody>
      </p:sp>
      <p:sp>
        <p:nvSpPr>
          <p:cNvPr id="12" name="TextBox 11"/>
          <p:cNvSpPr txBox="1"/>
          <p:nvPr/>
        </p:nvSpPr>
        <p:spPr>
          <a:xfrm>
            <a:off x="3383280" y="2880360"/>
            <a:ext cx="2423160" cy="731520"/>
          </a:xfrm>
          <a:prstGeom prst="rect">
            <a:avLst/>
          </a:prstGeom>
          <a:noFill/>
        </p:spPr>
        <p:txBody>
          <a:bodyPr wrap="square">
            <a:spAutoFit/>
          </a:bodyPr>
          <a:lstStyle/>
          <a:p>
            <a:pPr>
              <a:spcAft>
                <a:spcPts val="300"/>
              </a:spcAft>
              <a:defRPr sz="1000" b="0">
                <a:solidFill>
                  <a:srgbClr val="333333"/>
                </a:solidFill>
                <a:latin typeface="Aptos"/>
              </a:defRPr>
            </a:pPr>
            <a:r>
              <a:t>Pre-built agent charters</a:t>
            </a:r>
          </a:p>
          <a:p>
            <a:pPr>
              <a:spcAft>
                <a:spcPts val="300"/>
              </a:spcAft>
              <a:defRPr sz="1000" b="0">
                <a:solidFill>
                  <a:srgbClr val="333333"/>
                </a:solidFill>
                <a:latin typeface="Aptos"/>
              </a:defRPr>
            </a:pPr>
            <a:r>
              <a:t>with identity, expertise,</a:t>
            </a:r>
          </a:p>
          <a:p>
            <a:pPr>
              <a:spcAft>
                <a:spcPts val="300"/>
              </a:spcAft>
              <a:defRPr sz="1000" b="0">
                <a:solidFill>
                  <a:srgbClr val="333333"/>
                </a:solidFill>
                <a:latin typeface="Aptos"/>
              </a:defRPr>
            </a:pPr>
            <a:r>
              <a:t>boundaries, and style</a:t>
            </a:r>
          </a:p>
        </p:txBody>
      </p:sp>
      <p:sp>
        <p:nvSpPr>
          <p:cNvPr id="13" name="Rounded Rectangle 12"/>
          <p:cNvSpPr/>
          <p:nvPr/>
        </p:nvSpPr>
        <p:spPr>
          <a:xfrm>
            <a:off x="6126480" y="1828800"/>
            <a:ext cx="2697480" cy="1828800"/>
          </a:xfrm>
          <a:prstGeom prst="roundRect">
            <a:avLst/>
          </a:prstGeom>
          <a:solidFill>
            <a:srgbClr val="F8F8FA"/>
          </a:solidFill>
          <a:ln w="12700">
            <a:solidFill>
              <a:srgbClr val="225B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132320" y="1965960"/>
            <a:ext cx="502920" cy="502920"/>
          </a:xfrm>
          <a:prstGeom prst="ellipse">
            <a:avLst/>
          </a:prstGeom>
          <a:solidFill>
            <a:srgbClr val="225B6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b="1">
                <a:solidFill>
                  <a:srgbClr val="FFFFFF"/>
                </a:solidFill>
                <a:latin typeface="Aptos"/>
              </a:defRPr>
            </a:pPr>
            <a:r>
              <a:t>W</a:t>
            </a:r>
          </a:p>
        </p:txBody>
      </p:sp>
      <p:sp>
        <p:nvSpPr>
          <p:cNvPr id="15" name="TextBox 14"/>
          <p:cNvSpPr txBox="1"/>
          <p:nvPr/>
        </p:nvSpPr>
        <p:spPr>
          <a:xfrm>
            <a:off x="6263640" y="2560320"/>
            <a:ext cx="2423160" cy="274320"/>
          </a:xfrm>
          <a:prstGeom prst="rect">
            <a:avLst/>
          </a:prstGeom>
          <a:noFill/>
        </p:spPr>
        <p:txBody>
          <a:bodyPr wrap="square">
            <a:spAutoFit/>
          </a:bodyPr>
          <a:lstStyle/>
          <a:p>
            <a:pPr algn="ctr">
              <a:defRPr sz="1300" b="1">
                <a:solidFill>
                  <a:srgbClr val="225B62"/>
                </a:solidFill>
                <a:latin typeface="Aptos"/>
              </a:defRPr>
            </a:pPr>
            <a:r>
              <a:t>Workflows</a:t>
            </a:r>
          </a:p>
        </p:txBody>
      </p:sp>
      <p:sp>
        <p:nvSpPr>
          <p:cNvPr id="16" name="TextBox 15"/>
          <p:cNvSpPr txBox="1"/>
          <p:nvPr/>
        </p:nvSpPr>
        <p:spPr>
          <a:xfrm>
            <a:off x="6263640" y="2880360"/>
            <a:ext cx="2423160" cy="731520"/>
          </a:xfrm>
          <a:prstGeom prst="rect">
            <a:avLst/>
          </a:prstGeom>
          <a:noFill/>
        </p:spPr>
        <p:txBody>
          <a:bodyPr wrap="square">
            <a:spAutoFit/>
          </a:bodyPr>
          <a:lstStyle/>
          <a:p>
            <a:pPr>
              <a:spcAft>
                <a:spcPts val="300"/>
              </a:spcAft>
              <a:defRPr sz="1000" b="0">
                <a:solidFill>
                  <a:srgbClr val="333333"/>
                </a:solidFill>
                <a:latin typeface="Aptos"/>
              </a:defRPr>
            </a:pPr>
            <a:r>
              <a:t>Routing rules that define</a:t>
            </a:r>
          </a:p>
          <a:p>
            <a:pPr>
              <a:spcAft>
                <a:spcPts val="300"/>
              </a:spcAft>
              <a:defRPr sz="1000" b="0">
                <a:solidFill>
                  <a:srgbClr val="333333"/>
                </a:solidFill>
                <a:latin typeface="Aptos"/>
              </a:defRPr>
            </a:pPr>
            <a:r>
              <a:t>which agent handles which</a:t>
            </a:r>
          </a:p>
          <a:p>
            <a:pPr>
              <a:spcAft>
                <a:spcPts val="300"/>
              </a:spcAft>
              <a:defRPr sz="1000" b="0">
                <a:solidFill>
                  <a:srgbClr val="333333"/>
                </a:solidFill>
                <a:latin typeface="Aptos"/>
              </a:defRPr>
            </a:pPr>
            <a:r>
              <a:t>type of work</a:t>
            </a:r>
          </a:p>
        </p:txBody>
      </p:sp>
      <p:sp>
        <p:nvSpPr>
          <p:cNvPr id="17" name="Rounded Rectangle 16"/>
          <p:cNvSpPr/>
          <p:nvPr/>
        </p:nvSpPr>
        <p:spPr>
          <a:xfrm>
            <a:off x="9006840" y="1828800"/>
            <a:ext cx="2697480" cy="1828800"/>
          </a:xfrm>
          <a:prstGeom prst="roundRect">
            <a:avLst/>
          </a:prstGeom>
          <a:solidFill>
            <a:srgbClr val="F8F8FA"/>
          </a:solidFill>
          <a:ln w="1270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012680" y="1965960"/>
            <a:ext cx="502920" cy="502920"/>
          </a:xfrm>
          <a:prstGeom prst="ellipse">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b="1">
                <a:solidFill>
                  <a:srgbClr val="FFFFFF"/>
                </a:solidFill>
                <a:latin typeface="Aptos"/>
              </a:defRPr>
            </a:pPr>
            <a:r>
              <a:t>M</a:t>
            </a:r>
          </a:p>
        </p:txBody>
      </p:sp>
      <p:sp>
        <p:nvSpPr>
          <p:cNvPr id="19" name="TextBox 18"/>
          <p:cNvSpPr txBox="1"/>
          <p:nvPr/>
        </p:nvSpPr>
        <p:spPr>
          <a:xfrm>
            <a:off x="9144000" y="2560320"/>
            <a:ext cx="2423160" cy="274320"/>
          </a:xfrm>
          <a:prstGeom prst="rect">
            <a:avLst/>
          </a:prstGeom>
          <a:noFill/>
        </p:spPr>
        <p:txBody>
          <a:bodyPr wrap="square">
            <a:spAutoFit/>
          </a:bodyPr>
          <a:lstStyle/>
          <a:p>
            <a:pPr algn="ctr">
              <a:defRPr sz="1300" b="1">
                <a:solidFill>
                  <a:srgbClr val="00B050"/>
                </a:solidFill>
                <a:latin typeface="Aptos"/>
              </a:defRPr>
            </a:pPr>
            <a:r>
              <a:t>Memory</a:t>
            </a:r>
          </a:p>
        </p:txBody>
      </p:sp>
      <p:sp>
        <p:nvSpPr>
          <p:cNvPr id="20" name="TextBox 19"/>
          <p:cNvSpPr txBox="1"/>
          <p:nvPr/>
        </p:nvSpPr>
        <p:spPr>
          <a:xfrm>
            <a:off x="9144000" y="2880360"/>
            <a:ext cx="2423160" cy="731520"/>
          </a:xfrm>
          <a:prstGeom prst="rect">
            <a:avLst/>
          </a:prstGeom>
          <a:noFill/>
        </p:spPr>
        <p:txBody>
          <a:bodyPr wrap="square">
            <a:spAutoFit/>
          </a:bodyPr>
          <a:lstStyle/>
          <a:p>
            <a:pPr>
              <a:spcAft>
                <a:spcPts val="300"/>
              </a:spcAft>
              <a:defRPr sz="1000" b="0">
                <a:solidFill>
                  <a:srgbClr val="333333"/>
                </a:solidFill>
                <a:latin typeface="Aptos"/>
              </a:defRPr>
            </a:pPr>
            <a:r>
              <a:t>Session templates:</a:t>
            </a:r>
          </a:p>
          <a:p>
            <a:pPr>
              <a:spcAft>
                <a:spcPts val="300"/>
              </a:spcAft>
              <a:defRPr sz="1000" b="0">
                <a:solidFill>
                  <a:srgbClr val="333333"/>
                </a:solidFill>
                <a:latin typeface="Aptos"/>
              </a:defRPr>
            </a:pPr>
            <a:r>
              <a:t>CLAUDE.md, AGENTS.md,</a:t>
            </a:r>
          </a:p>
          <a:p>
            <a:pPr>
              <a:spcAft>
                <a:spcPts val="300"/>
              </a:spcAft>
              <a:defRPr sz="1000" b="0">
                <a:solidFill>
                  <a:srgbClr val="333333"/>
                </a:solidFill>
                <a:latin typeface="Aptos"/>
              </a:defRPr>
            </a:pPr>
            <a:r>
              <a:t>decisions.md structure</a:t>
            </a:r>
          </a:p>
        </p:txBody>
      </p:sp>
      <p:sp>
        <p:nvSpPr>
          <p:cNvPr id="21" name="Rounded Rectangle 20"/>
          <p:cNvSpPr/>
          <p:nvPr/>
        </p:nvSpPr>
        <p:spPr>
          <a:xfrm>
            <a:off x="457200" y="3931920"/>
            <a:ext cx="10972800" cy="50292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3977639"/>
            <a:ext cx="10424160" cy="182880"/>
          </a:xfrm>
          <a:prstGeom prst="rect">
            <a:avLst/>
          </a:prstGeom>
          <a:noFill/>
        </p:spPr>
        <p:txBody>
          <a:bodyPr wrap="square">
            <a:spAutoFit/>
          </a:bodyPr>
          <a:lstStyle/>
          <a:p>
            <a:pPr algn="l">
              <a:defRPr sz="1000" b="1">
                <a:solidFill>
                  <a:srgbClr val="00BCF2"/>
                </a:solidFill>
                <a:latin typeface="Aptos"/>
              </a:defRPr>
            </a:pPr>
            <a:r>
              <a:t>INITIALIZE A SNAP</a:t>
            </a:r>
          </a:p>
        </p:txBody>
      </p:sp>
      <p:sp>
        <p:nvSpPr>
          <p:cNvPr id="23" name="TextBox 22"/>
          <p:cNvSpPr txBox="1"/>
          <p:nvPr/>
        </p:nvSpPr>
        <p:spPr>
          <a:xfrm>
            <a:off x="731520" y="4160520"/>
            <a:ext cx="10424160" cy="228600"/>
          </a:xfrm>
          <a:prstGeom prst="rect">
            <a:avLst/>
          </a:prstGeom>
          <a:noFill/>
        </p:spPr>
        <p:txBody>
          <a:bodyPr wrap="square">
            <a:spAutoFit/>
          </a:bodyPr>
          <a:lstStyle/>
          <a:p>
            <a:pPr algn="l">
              <a:defRPr sz="1300" b="1">
                <a:solidFill>
                  <a:srgbClr val="FFFFFF"/>
                </a:solidFill>
                <a:latin typeface="Aptos"/>
              </a:defRPr>
            </a:pPr>
            <a:r>
              <a:t>npx snap-squad-emu init --type product-launch-readiness</a:t>
            </a:r>
          </a:p>
        </p:txBody>
      </p:sp>
      <p:sp>
        <p:nvSpPr>
          <p:cNvPr id="24" name="Rectangle 23"/>
          <p:cNvSpPr/>
          <p:nvPr/>
        </p:nvSpPr>
        <p:spPr>
          <a:xfrm>
            <a:off x="457200" y="4663440"/>
            <a:ext cx="2011680" cy="256032"/>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1600" rIns="101600"/>
          <a:lstStyle/>
          <a:p>
            <a:pPr algn="ctr">
              <a:defRPr sz="1000" b="1">
                <a:solidFill>
                  <a:srgbClr val="FFFFFF"/>
                </a:solidFill>
                <a:latin typeface="Aptos"/>
              </a:defRPr>
            </a:pPr>
            <a:r>
              <a:t>AVAILABLE PRESETS</a:t>
            </a:r>
          </a:p>
        </p:txBody>
      </p:sp>
      <p:sp>
        <p:nvSpPr>
          <p:cNvPr id="25" name="TextBox 24"/>
          <p:cNvSpPr txBox="1"/>
          <p:nvPr/>
        </p:nvSpPr>
        <p:spPr>
          <a:xfrm>
            <a:off x="640080" y="5029200"/>
            <a:ext cx="1371600" cy="228600"/>
          </a:xfrm>
          <a:prstGeom prst="rect">
            <a:avLst/>
          </a:prstGeom>
          <a:noFill/>
        </p:spPr>
        <p:txBody>
          <a:bodyPr wrap="square">
            <a:spAutoFit/>
          </a:bodyPr>
          <a:lstStyle/>
          <a:p>
            <a:pPr algn="l">
              <a:defRPr sz="1100" b="1">
                <a:solidFill>
                  <a:srgbClr val="0178D4"/>
                </a:solidFill>
                <a:latin typeface="Aptos"/>
              </a:defRPr>
            </a:pPr>
            <a:r>
              <a:t>default</a:t>
            </a:r>
          </a:p>
        </p:txBody>
      </p:sp>
      <p:sp>
        <p:nvSpPr>
          <p:cNvPr id="26" name="TextBox 25"/>
          <p:cNvSpPr txBox="1"/>
          <p:nvPr/>
        </p:nvSpPr>
        <p:spPr>
          <a:xfrm>
            <a:off x="2103120" y="5029200"/>
            <a:ext cx="4114800" cy="228600"/>
          </a:xfrm>
          <a:prstGeom prst="rect">
            <a:avLst/>
          </a:prstGeom>
          <a:noFill/>
        </p:spPr>
        <p:txBody>
          <a:bodyPr wrap="square">
            <a:spAutoFit/>
          </a:bodyPr>
          <a:lstStyle/>
          <a:p>
            <a:pPr algn="l">
              <a:defRPr sz="1000" b="0">
                <a:solidFill>
                  <a:srgbClr val="333333"/>
                </a:solidFill>
                <a:latin typeface="Aptos"/>
              </a:defRPr>
            </a:pPr>
            <a:r>
              <a:t>Generalist squad -- good for any project</a:t>
            </a:r>
          </a:p>
        </p:txBody>
      </p:sp>
      <p:sp>
        <p:nvSpPr>
          <p:cNvPr id="27" name="TextBox 26"/>
          <p:cNvSpPr txBox="1"/>
          <p:nvPr/>
        </p:nvSpPr>
        <p:spPr>
          <a:xfrm>
            <a:off x="6400800" y="5029200"/>
            <a:ext cx="1371600" cy="228600"/>
          </a:xfrm>
          <a:prstGeom prst="rect">
            <a:avLst/>
          </a:prstGeom>
          <a:noFill/>
        </p:spPr>
        <p:txBody>
          <a:bodyPr wrap="square">
            <a:spAutoFit/>
          </a:bodyPr>
          <a:lstStyle/>
          <a:p>
            <a:pPr algn="l">
              <a:defRPr sz="1100" b="1">
                <a:solidFill>
                  <a:srgbClr val="0178D4"/>
                </a:solidFill>
                <a:latin typeface="Aptos"/>
              </a:defRPr>
            </a:pPr>
            <a:r>
              <a:t>fast</a:t>
            </a:r>
          </a:p>
        </p:txBody>
      </p:sp>
      <p:sp>
        <p:nvSpPr>
          <p:cNvPr id="28" name="TextBox 27"/>
          <p:cNvSpPr txBox="1"/>
          <p:nvPr/>
        </p:nvSpPr>
        <p:spPr>
          <a:xfrm>
            <a:off x="7863840" y="5029200"/>
            <a:ext cx="4114800" cy="228600"/>
          </a:xfrm>
          <a:prstGeom prst="rect">
            <a:avLst/>
          </a:prstGeom>
          <a:noFill/>
        </p:spPr>
        <p:txBody>
          <a:bodyPr wrap="square">
            <a:spAutoFit/>
          </a:bodyPr>
          <a:lstStyle/>
          <a:p>
            <a:pPr algn="l">
              <a:defRPr sz="1000" b="0">
                <a:solidFill>
                  <a:srgbClr val="333333"/>
                </a:solidFill>
                <a:latin typeface="Aptos"/>
              </a:defRPr>
            </a:pPr>
            <a:r>
              <a:t>Minimal squad -- speed over coverage</a:t>
            </a:r>
          </a:p>
        </p:txBody>
      </p:sp>
      <p:sp>
        <p:nvSpPr>
          <p:cNvPr id="29" name="TextBox 28"/>
          <p:cNvSpPr txBox="1"/>
          <p:nvPr/>
        </p:nvSpPr>
        <p:spPr>
          <a:xfrm>
            <a:off x="640080" y="5376672"/>
            <a:ext cx="1371600" cy="228600"/>
          </a:xfrm>
          <a:prstGeom prst="rect">
            <a:avLst/>
          </a:prstGeom>
          <a:noFill/>
        </p:spPr>
        <p:txBody>
          <a:bodyPr wrap="square">
            <a:spAutoFit/>
          </a:bodyPr>
          <a:lstStyle/>
          <a:p>
            <a:pPr algn="l">
              <a:defRPr sz="1100" b="1">
                <a:solidFill>
                  <a:srgbClr val="0178D4"/>
                </a:solidFill>
                <a:latin typeface="Aptos"/>
              </a:defRPr>
            </a:pPr>
            <a:r>
              <a:t>mentors</a:t>
            </a:r>
          </a:p>
        </p:txBody>
      </p:sp>
      <p:sp>
        <p:nvSpPr>
          <p:cNvPr id="30" name="TextBox 29"/>
          <p:cNvSpPr txBox="1"/>
          <p:nvPr/>
        </p:nvSpPr>
        <p:spPr>
          <a:xfrm>
            <a:off x="2103120" y="5376672"/>
            <a:ext cx="4114800" cy="228600"/>
          </a:xfrm>
          <a:prstGeom prst="rect">
            <a:avLst/>
          </a:prstGeom>
          <a:noFill/>
        </p:spPr>
        <p:txBody>
          <a:bodyPr wrap="square">
            <a:spAutoFit/>
          </a:bodyPr>
          <a:lstStyle/>
          <a:p>
            <a:pPr algn="l">
              <a:defRPr sz="1000" b="0">
                <a:solidFill>
                  <a:srgbClr val="333333"/>
                </a:solidFill>
                <a:latin typeface="Aptos"/>
              </a:defRPr>
            </a:pPr>
            <a:r>
              <a:t>Learning-focused -- includes coaching agents</a:t>
            </a:r>
          </a:p>
        </p:txBody>
      </p:sp>
      <p:sp>
        <p:nvSpPr>
          <p:cNvPr id="31" name="TextBox 30"/>
          <p:cNvSpPr txBox="1"/>
          <p:nvPr/>
        </p:nvSpPr>
        <p:spPr>
          <a:xfrm>
            <a:off x="6400800" y="5376672"/>
            <a:ext cx="1371600" cy="228600"/>
          </a:xfrm>
          <a:prstGeom prst="rect">
            <a:avLst/>
          </a:prstGeom>
          <a:noFill/>
        </p:spPr>
        <p:txBody>
          <a:bodyPr wrap="square">
            <a:spAutoFit/>
          </a:bodyPr>
          <a:lstStyle/>
          <a:p>
            <a:pPr algn="l">
              <a:defRPr sz="1100" b="1">
                <a:solidFill>
                  <a:srgbClr val="0178D4"/>
                </a:solidFill>
                <a:latin typeface="Aptos"/>
              </a:defRPr>
            </a:pPr>
            <a:r>
              <a:t>specialists</a:t>
            </a:r>
          </a:p>
        </p:txBody>
      </p:sp>
      <p:sp>
        <p:nvSpPr>
          <p:cNvPr id="32" name="TextBox 31"/>
          <p:cNvSpPr txBox="1"/>
          <p:nvPr/>
        </p:nvSpPr>
        <p:spPr>
          <a:xfrm>
            <a:off x="7863840" y="5376672"/>
            <a:ext cx="4114800" cy="228600"/>
          </a:xfrm>
          <a:prstGeom prst="rect">
            <a:avLst/>
          </a:prstGeom>
          <a:noFill/>
        </p:spPr>
        <p:txBody>
          <a:bodyPr wrap="square">
            <a:spAutoFit/>
          </a:bodyPr>
          <a:lstStyle/>
          <a:p>
            <a:pPr algn="l">
              <a:defRPr sz="1000" b="0">
                <a:solidFill>
                  <a:srgbClr val="333333"/>
                </a:solidFill>
                <a:latin typeface="Aptos"/>
              </a:defRPr>
            </a:pPr>
            <a:r>
              <a:t>Domain experts -- deep technical coverage</a:t>
            </a:r>
          </a:p>
        </p:txBody>
      </p:sp>
      <p:sp>
        <p:nvSpPr>
          <p:cNvPr id="33" name="TextBox 32"/>
          <p:cNvSpPr txBox="1"/>
          <p:nvPr/>
        </p:nvSpPr>
        <p:spPr>
          <a:xfrm>
            <a:off x="274320" y="6263640"/>
            <a:ext cx="9144000" cy="274320"/>
          </a:xfrm>
          <a:prstGeom prst="rect">
            <a:avLst/>
          </a:prstGeom>
          <a:noFill/>
        </p:spPr>
        <p:txBody>
          <a:bodyPr wrap="square">
            <a:spAutoFit/>
          </a:bodyPr>
          <a:lstStyle/>
          <a:p>
            <a:pPr algn="l">
              <a:defRPr sz="800" b="0">
                <a:solidFill>
                  <a:srgbClr val="666666"/>
                </a:solidFill>
                <a:latin typeface="Aptos"/>
              </a:defRPr>
            </a:pPr>
            <a:r>
              <a:t>CONFIDENTIAL  |  Microsoft Accelerate Factory  |  Copilot Squad + Snap Model</a:t>
            </a:r>
          </a:p>
        </p:txBody>
      </p:sp>
      <p:sp>
        <p:nvSpPr>
          <p:cNvPr id="34" name="TextBox 33"/>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6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
            <a:ext cx="12192000" cy="566928"/>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600" b="1">
                <a:solidFill>
                  <a:srgbClr val="FFFFFF"/>
                </a:solidFill>
                <a:latin typeface="Aptos Display"/>
              </a:defRPr>
            </a:pPr>
            <a:r>
              <a:t>Example: Product Launch Readiness Snap</a:t>
            </a:r>
          </a:p>
        </p:txBody>
      </p:sp>
      <p:sp>
        <p:nvSpPr>
          <p:cNvPr id="3" name="TextBox 2"/>
          <p:cNvSpPr txBox="1"/>
          <p:nvPr/>
        </p:nvSpPr>
        <p:spPr>
          <a:xfrm>
            <a:off x="457200" y="914400"/>
            <a:ext cx="10972800" cy="320040"/>
          </a:xfrm>
          <a:prstGeom prst="rect">
            <a:avLst/>
          </a:prstGeom>
          <a:noFill/>
        </p:spPr>
        <p:txBody>
          <a:bodyPr wrap="square">
            <a:spAutoFit/>
          </a:bodyPr>
          <a:lstStyle/>
          <a:p>
            <a:pPr algn="l">
              <a:defRPr sz="1300" b="0">
                <a:solidFill>
                  <a:srgbClr val="4A4E66"/>
                </a:solidFill>
                <a:latin typeface="Aptos"/>
              </a:defRPr>
            </a:pPr>
            <a:r>
              <a:t>A real Snap preset with 9 agents, pre-defined routing, and built-in quality gates.</a:t>
            </a:r>
          </a:p>
        </p:txBody>
      </p:sp>
      <p:sp>
        <p:nvSpPr>
          <p:cNvPr id="4" name="Rounded Rectangle 3"/>
          <p:cNvSpPr/>
          <p:nvPr/>
        </p:nvSpPr>
        <p:spPr>
          <a:xfrm>
            <a:off x="365760" y="1371600"/>
            <a:ext cx="3566160" cy="914400"/>
          </a:xfrm>
          <a:prstGeom prst="roundRect">
            <a:avLst/>
          </a:prstGeom>
          <a:solidFill>
            <a:srgbClr val="F8F8FA"/>
          </a:solidFill>
          <a:ln w="12700">
            <a:solidFill>
              <a:srgbClr val="01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02920" y="1554480"/>
            <a:ext cx="411480" cy="411480"/>
          </a:xfrm>
          <a:prstGeom prst="ellipse">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Aptos"/>
              </a:defRPr>
            </a:pPr>
            <a:r>
              <a:t>A</a:t>
            </a:r>
          </a:p>
        </p:txBody>
      </p:sp>
      <p:sp>
        <p:nvSpPr>
          <p:cNvPr id="6" name="TextBox 5"/>
          <p:cNvSpPr txBox="1"/>
          <p:nvPr/>
        </p:nvSpPr>
        <p:spPr>
          <a:xfrm>
            <a:off x="1005840" y="1417320"/>
            <a:ext cx="1645920" cy="274320"/>
          </a:xfrm>
          <a:prstGeom prst="rect">
            <a:avLst/>
          </a:prstGeom>
          <a:noFill/>
        </p:spPr>
        <p:txBody>
          <a:bodyPr wrap="square">
            <a:spAutoFit/>
          </a:bodyPr>
          <a:lstStyle/>
          <a:p>
            <a:pPr algn="l">
              <a:defRPr sz="1300" b="1">
                <a:solidFill>
                  <a:srgbClr val="0178D4"/>
                </a:solidFill>
                <a:latin typeface="Aptos"/>
              </a:defRPr>
            </a:pPr>
            <a:r>
              <a:t>Architect</a:t>
            </a:r>
          </a:p>
        </p:txBody>
      </p:sp>
      <p:sp>
        <p:nvSpPr>
          <p:cNvPr id="7" name="TextBox 6"/>
          <p:cNvSpPr txBox="1"/>
          <p:nvPr/>
        </p:nvSpPr>
        <p:spPr>
          <a:xfrm>
            <a:off x="1005840" y="1691640"/>
            <a:ext cx="2743200" cy="457200"/>
          </a:xfrm>
          <a:prstGeom prst="rect">
            <a:avLst/>
          </a:prstGeom>
          <a:noFill/>
        </p:spPr>
        <p:txBody>
          <a:bodyPr wrap="square">
            <a:spAutoFit/>
          </a:bodyPr>
          <a:lstStyle/>
          <a:p>
            <a:pPr>
              <a:spcAft>
                <a:spcPts val="300"/>
              </a:spcAft>
              <a:defRPr sz="900" b="0">
                <a:solidFill>
                  <a:srgbClr val="333333"/>
                </a:solidFill>
                <a:latin typeface="Aptos"/>
              </a:defRPr>
            </a:pPr>
            <a:r>
              <a:t>System design,</a:t>
            </a:r>
          </a:p>
          <a:p>
            <a:pPr>
              <a:spcAft>
                <a:spcPts val="300"/>
              </a:spcAft>
              <a:defRPr sz="900" b="0">
                <a:solidFill>
                  <a:srgbClr val="333333"/>
                </a:solidFill>
                <a:latin typeface="Aptos"/>
              </a:defRPr>
            </a:pPr>
            <a:r>
              <a:t>scope mgmt</a:t>
            </a:r>
          </a:p>
        </p:txBody>
      </p:sp>
      <p:sp>
        <p:nvSpPr>
          <p:cNvPr id="8" name="Rounded Rectangle 7"/>
          <p:cNvSpPr/>
          <p:nvPr/>
        </p:nvSpPr>
        <p:spPr>
          <a:xfrm>
            <a:off x="4206240" y="1371600"/>
            <a:ext cx="3566160" cy="914400"/>
          </a:xfrm>
          <a:prstGeom prst="roundRect">
            <a:avLst/>
          </a:prstGeom>
          <a:solidFill>
            <a:srgbClr val="F8F8FA"/>
          </a:solidFill>
          <a:ln w="12700">
            <a:solidFill>
              <a:srgbClr val="4636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343400" y="1554480"/>
            <a:ext cx="411480" cy="411480"/>
          </a:xfrm>
          <a:prstGeom prst="ellipse">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Aptos"/>
              </a:defRPr>
            </a:pPr>
            <a:r>
              <a:t>C</a:t>
            </a:r>
          </a:p>
        </p:txBody>
      </p:sp>
      <p:sp>
        <p:nvSpPr>
          <p:cNvPr id="10" name="TextBox 9"/>
          <p:cNvSpPr txBox="1"/>
          <p:nvPr/>
        </p:nvSpPr>
        <p:spPr>
          <a:xfrm>
            <a:off x="4846320" y="1417320"/>
            <a:ext cx="1645920" cy="274320"/>
          </a:xfrm>
          <a:prstGeom prst="rect">
            <a:avLst/>
          </a:prstGeom>
          <a:noFill/>
        </p:spPr>
        <p:txBody>
          <a:bodyPr wrap="square">
            <a:spAutoFit/>
          </a:bodyPr>
          <a:lstStyle/>
          <a:p>
            <a:pPr algn="l">
              <a:defRPr sz="1300" b="1">
                <a:solidFill>
                  <a:srgbClr val="463668"/>
                </a:solidFill>
                <a:latin typeface="Aptos"/>
              </a:defRPr>
            </a:pPr>
            <a:r>
              <a:t>Coder</a:t>
            </a:r>
          </a:p>
        </p:txBody>
      </p:sp>
      <p:sp>
        <p:nvSpPr>
          <p:cNvPr id="11" name="TextBox 10"/>
          <p:cNvSpPr txBox="1"/>
          <p:nvPr/>
        </p:nvSpPr>
        <p:spPr>
          <a:xfrm>
            <a:off x="4846320" y="1691640"/>
            <a:ext cx="2743200" cy="457200"/>
          </a:xfrm>
          <a:prstGeom prst="rect">
            <a:avLst/>
          </a:prstGeom>
          <a:noFill/>
        </p:spPr>
        <p:txBody>
          <a:bodyPr wrap="square">
            <a:spAutoFit/>
          </a:bodyPr>
          <a:lstStyle/>
          <a:p>
            <a:pPr>
              <a:spcAft>
                <a:spcPts val="300"/>
              </a:spcAft>
              <a:defRPr sz="900" b="0">
                <a:solidFill>
                  <a:srgbClr val="333333"/>
                </a:solidFill>
                <a:latin typeface="Aptos"/>
              </a:defRPr>
            </a:pPr>
            <a:r>
              <a:t>Implementation,</a:t>
            </a:r>
          </a:p>
          <a:p>
            <a:pPr>
              <a:spcAft>
                <a:spcPts val="300"/>
              </a:spcAft>
              <a:defRPr sz="900" b="0">
                <a:solidFill>
                  <a:srgbClr val="333333"/>
                </a:solidFill>
                <a:latin typeface="Aptos"/>
              </a:defRPr>
            </a:pPr>
            <a:r>
              <a:t>debugging</a:t>
            </a:r>
          </a:p>
        </p:txBody>
      </p:sp>
      <p:sp>
        <p:nvSpPr>
          <p:cNvPr id="12" name="Rounded Rectangle 11"/>
          <p:cNvSpPr/>
          <p:nvPr/>
        </p:nvSpPr>
        <p:spPr>
          <a:xfrm>
            <a:off x="8046720" y="1371600"/>
            <a:ext cx="3566160" cy="914400"/>
          </a:xfrm>
          <a:prstGeom prst="roundRect">
            <a:avLst/>
          </a:prstGeom>
          <a:solidFill>
            <a:srgbClr val="F8F8FA"/>
          </a:solidFill>
          <a:ln w="1270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183880" y="1554480"/>
            <a:ext cx="411480" cy="411480"/>
          </a:xfrm>
          <a:prstGeom prst="ellipse">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Aptos"/>
              </a:defRPr>
            </a:pPr>
            <a:r>
              <a:t>T</a:t>
            </a:r>
          </a:p>
        </p:txBody>
      </p:sp>
      <p:sp>
        <p:nvSpPr>
          <p:cNvPr id="14" name="TextBox 13"/>
          <p:cNvSpPr txBox="1"/>
          <p:nvPr/>
        </p:nvSpPr>
        <p:spPr>
          <a:xfrm>
            <a:off x="8686800" y="1417320"/>
            <a:ext cx="1645920" cy="274320"/>
          </a:xfrm>
          <a:prstGeom prst="rect">
            <a:avLst/>
          </a:prstGeom>
          <a:noFill/>
        </p:spPr>
        <p:txBody>
          <a:bodyPr wrap="square">
            <a:spAutoFit/>
          </a:bodyPr>
          <a:lstStyle/>
          <a:p>
            <a:pPr algn="l">
              <a:defRPr sz="1300" b="1">
                <a:solidFill>
                  <a:srgbClr val="00B050"/>
                </a:solidFill>
                <a:latin typeface="Aptos"/>
              </a:defRPr>
            </a:pPr>
            <a:r>
              <a:t>Tester</a:t>
            </a:r>
          </a:p>
        </p:txBody>
      </p:sp>
      <p:sp>
        <p:nvSpPr>
          <p:cNvPr id="15" name="TextBox 14"/>
          <p:cNvSpPr txBox="1"/>
          <p:nvPr/>
        </p:nvSpPr>
        <p:spPr>
          <a:xfrm>
            <a:off x="8686800" y="1691640"/>
            <a:ext cx="2743200" cy="457200"/>
          </a:xfrm>
          <a:prstGeom prst="rect">
            <a:avLst/>
          </a:prstGeom>
          <a:noFill/>
        </p:spPr>
        <p:txBody>
          <a:bodyPr wrap="square">
            <a:spAutoFit/>
          </a:bodyPr>
          <a:lstStyle/>
          <a:p>
            <a:pPr>
              <a:spcAft>
                <a:spcPts val="300"/>
              </a:spcAft>
              <a:defRPr sz="900" b="0">
                <a:solidFill>
                  <a:srgbClr val="333333"/>
                </a:solidFill>
                <a:latin typeface="Aptos"/>
              </a:defRPr>
            </a:pPr>
            <a:r>
              <a:t>QA, edge cases,</a:t>
            </a:r>
          </a:p>
          <a:p>
            <a:pPr>
              <a:spcAft>
                <a:spcPts val="300"/>
              </a:spcAft>
              <a:defRPr sz="900" b="0">
                <a:solidFill>
                  <a:srgbClr val="333333"/>
                </a:solidFill>
                <a:latin typeface="Aptos"/>
              </a:defRPr>
            </a:pPr>
            <a:r>
              <a:t>test suites</a:t>
            </a:r>
          </a:p>
        </p:txBody>
      </p:sp>
      <p:sp>
        <p:nvSpPr>
          <p:cNvPr id="16" name="Rounded Rectangle 15"/>
          <p:cNvSpPr/>
          <p:nvPr/>
        </p:nvSpPr>
        <p:spPr>
          <a:xfrm>
            <a:off x="365760" y="2468880"/>
            <a:ext cx="3566160" cy="914400"/>
          </a:xfrm>
          <a:prstGeom prst="roundRect">
            <a:avLst/>
          </a:prstGeom>
          <a:solidFill>
            <a:srgbClr val="F8F8FA"/>
          </a:solidFill>
          <a:ln w="12700">
            <a:solidFill>
              <a:srgbClr val="225B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02920" y="2651760"/>
            <a:ext cx="411480" cy="411480"/>
          </a:xfrm>
          <a:prstGeom prst="ellipse">
            <a:avLst/>
          </a:prstGeom>
          <a:solidFill>
            <a:srgbClr val="225B6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Aptos"/>
              </a:defRPr>
            </a:pPr>
            <a:r>
              <a:t>D</a:t>
            </a:r>
          </a:p>
        </p:txBody>
      </p:sp>
      <p:sp>
        <p:nvSpPr>
          <p:cNvPr id="18" name="TextBox 17"/>
          <p:cNvSpPr txBox="1"/>
          <p:nvPr/>
        </p:nvSpPr>
        <p:spPr>
          <a:xfrm>
            <a:off x="1005840" y="2514600"/>
            <a:ext cx="1645920" cy="274320"/>
          </a:xfrm>
          <a:prstGeom prst="rect">
            <a:avLst/>
          </a:prstGeom>
          <a:noFill/>
        </p:spPr>
        <p:txBody>
          <a:bodyPr wrap="square">
            <a:spAutoFit/>
          </a:bodyPr>
          <a:lstStyle/>
          <a:p>
            <a:pPr algn="l">
              <a:defRPr sz="1300" b="1">
                <a:solidFill>
                  <a:srgbClr val="225B62"/>
                </a:solidFill>
                <a:latin typeface="Aptos"/>
              </a:defRPr>
            </a:pPr>
            <a:r>
              <a:t>DevRel</a:t>
            </a:r>
          </a:p>
        </p:txBody>
      </p:sp>
      <p:sp>
        <p:nvSpPr>
          <p:cNvPr id="19" name="TextBox 18"/>
          <p:cNvSpPr txBox="1"/>
          <p:nvPr/>
        </p:nvSpPr>
        <p:spPr>
          <a:xfrm>
            <a:off x="1005840" y="2788920"/>
            <a:ext cx="2743200" cy="457200"/>
          </a:xfrm>
          <a:prstGeom prst="rect">
            <a:avLst/>
          </a:prstGeom>
          <a:noFill/>
        </p:spPr>
        <p:txBody>
          <a:bodyPr wrap="square">
            <a:spAutoFit/>
          </a:bodyPr>
          <a:lstStyle/>
          <a:p>
            <a:pPr>
              <a:spcAft>
                <a:spcPts val="300"/>
              </a:spcAft>
              <a:defRPr sz="900" b="0">
                <a:solidFill>
                  <a:srgbClr val="333333"/>
                </a:solidFill>
                <a:latin typeface="Aptos"/>
              </a:defRPr>
            </a:pPr>
            <a:r>
              <a:t>Docs, README,</a:t>
            </a:r>
          </a:p>
          <a:p>
            <a:pPr>
              <a:spcAft>
                <a:spcPts val="300"/>
              </a:spcAft>
              <a:defRPr sz="900" b="0">
                <a:solidFill>
                  <a:srgbClr val="333333"/>
                </a:solidFill>
                <a:latin typeface="Aptos"/>
              </a:defRPr>
            </a:pPr>
            <a:r>
              <a:t>onboarding</a:t>
            </a:r>
          </a:p>
        </p:txBody>
      </p:sp>
      <p:sp>
        <p:nvSpPr>
          <p:cNvPr id="20" name="Rounded Rectangle 19"/>
          <p:cNvSpPr/>
          <p:nvPr/>
        </p:nvSpPr>
        <p:spPr>
          <a:xfrm>
            <a:off x="4206240" y="2468880"/>
            <a:ext cx="3566160" cy="914400"/>
          </a:xfrm>
          <a:prstGeom prst="roundRect">
            <a:avLst/>
          </a:prstGeom>
          <a:solidFill>
            <a:srgbClr val="F8F8FA"/>
          </a:solidFill>
          <a:ln w="12700">
            <a:solidFill>
              <a:srgbClr val="FE8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343400" y="2651760"/>
            <a:ext cx="411480" cy="411480"/>
          </a:xfrm>
          <a:prstGeom prst="ellipse">
            <a:avLst/>
          </a:prstGeom>
          <a:solidFill>
            <a:srgbClr val="FE8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Aptos"/>
              </a:defRPr>
            </a:pPr>
            <a:r>
              <a:t>P</a:t>
            </a:r>
          </a:p>
        </p:txBody>
      </p:sp>
      <p:sp>
        <p:nvSpPr>
          <p:cNvPr id="22" name="TextBox 21"/>
          <p:cNvSpPr txBox="1"/>
          <p:nvPr/>
        </p:nvSpPr>
        <p:spPr>
          <a:xfrm>
            <a:off x="4846320" y="2514600"/>
            <a:ext cx="1645920" cy="274320"/>
          </a:xfrm>
          <a:prstGeom prst="rect">
            <a:avLst/>
          </a:prstGeom>
          <a:noFill/>
        </p:spPr>
        <p:txBody>
          <a:bodyPr wrap="square">
            <a:spAutoFit/>
          </a:bodyPr>
          <a:lstStyle/>
          <a:p>
            <a:pPr algn="l">
              <a:defRPr sz="1300" b="1">
                <a:solidFill>
                  <a:srgbClr val="FE8B00"/>
                </a:solidFill>
                <a:latin typeface="Aptos"/>
              </a:defRPr>
            </a:pPr>
            <a:r>
              <a:t>Prompter</a:t>
            </a:r>
          </a:p>
        </p:txBody>
      </p:sp>
      <p:sp>
        <p:nvSpPr>
          <p:cNvPr id="23" name="TextBox 22"/>
          <p:cNvSpPr txBox="1"/>
          <p:nvPr/>
        </p:nvSpPr>
        <p:spPr>
          <a:xfrm>
            <a:off x="4846320" y="2788920"/>
            <a:ext cx="2743200" cy="457200"/>
          </a:xfrm>
          <a:prstGeom prst="rect">
            <a:avLst/>
          </a:prstGeom>
          <a:noFill/>
        </p:spPr>
        <p:txBody>
          <a:bodyPr wrap="square">
            <a:spAutoFit/>
          </a:bodyPr>
          <a:lstStyle/>
          <a:p>
            <a:pPr>
              <a:spcAft>
                <a:spcPts val="300"/>
              </a:spcAft>
              <a:defRPr sz="900" b="0">
                <a:solidFill>
                  <a:srgbClr val="333333"/>
                </a:solidFill>
                <a:latin typeface="Aptos"/>
              </a:defRPr>
            </a:pPr>
            <a:r>
              <a:t>Agent design,</a:t>
            </a:r>
          </a:p>
          <a:p>
            <a:pPr>
              <a:spcAft>
                <a:spcPts val="300"/>
              </a:spcAft>
              <a:defRPr sz="900" b="0">
                <a:solidFill>
                  <a:srgbClr val="333333"/>
                </a:solidFill>
                <a:latin typeface="Aptos"/>
              </a:defRPr>
            </a:pPr>
            <a:r>
              <a:t>prompts</a:t>
            </a:r>
          </a:p>
        </p:txBody>
      </p:sp>
      <p:sp>
        <p:nvSpPr>
          <p:cNvPr id="24" name="Rounded Rectangle 23"/>
          <p:cNvSpPr/>
          <p:nvPr/>
        </p:nvSpPr>
        <p:spPr>
          <a:xfrm>
            <a:off x="8046720" y="2468880"/>
            <a:ext cx="3566160" cy="914400"/>
          </a:xfrm>
          <a:prstGeom prst="roundRect">
            <a:avLst/>
          </a:prstGeom>
          <a:solidFill>
            <a:srgbClr val="F8F8FA"/>
          </a:solidFill>
          <a:ln w="12700">
            <a:solidFill>
              <a:srgbClr val="D83B0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183880" y="2651760"/>
            <a:ext cx="411480" cy="411480"/>
          </a:xfrm>
          <a:prstGeom prst="ellipse">
            <a:avLst/>
          </a:prstGeom>
          <a:solidFill>
            <a:srgbClr val="D83B0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Aptos"/>
              </a:defRPr>
            </a:pPr>
            <a:r>
              <a:t>G</a:t>
            </a:r>
          </a:p>
        </p:txBody>
      </p:sp>
      <p:sp>
        <p:nvSpPr>
          <p:cNvPr id="26" name="TextBox 25"/>
          <p:cNvSpPr txBox="1"/>
          <p:nvPr/>
        </p:nvSpPr>
        <p:spPr>
          <a:xfrm>
            <a:off x="8686800" y="2514600"/>
            <a:ext cx="1645920" cy="274320"/>
          </a:xfrm>
          <a:prstGeom prst="rect">
            <a:avLst/>
          </a:prstGeom>
          <a:noFill/>
        </p:spPr>
        <p:txBody>
          <a:bodyPr wrap="square">
            <a:spAutoFit/>
          </a:bodyPr>
          <a:lstStyle/>
          <a:p>
            <a:pPr algn="l">
              <a:defRPr sz="1300" b="1">
                <a:solidFill>
                  <a:srgbClr val="D83B02"/>
                </a:solidFill>
                <a:latin typeface="Aptos"/>
              </a:defRPr>
            </a:pPr>
            <a:r>
              <a:t>GitOps</a:t>
            </a:r>
          </a:p>
        </p:txBody>
      </p:sp>
      <p:sp>
        <p:nvSpPr>
          <p:cNvPr id="27" name="TextBox 26"/>
          <p:cNvSpPr txBox="1"/>
          <p:nvPr/>
        </p:nvSpPr>
        <p:spPr>
          <a:xfrm>
            <a:off x="8686800" y="2788920"/>
            <a:ext cx="2743200" cy="457200"/>
          </a:xfrm>
          <a:prstGeom prst="rect">
            <a:avLst/>
          </a:prstGeom>
          <a:noFill/>
        </p:spPr>
        <p:txBody>
          <a:bodyPr wrap="square">
            <a:spAutoFit/>
          </a:bodyPr>
          <a:lstStyle/>
          <a:p>
            <a:pPr>
              <a:spcAft>
                <a:spcPts val="300"/>
              </a:spcAft>
              <a:defRPr sz="900" b="0">
                <a:solidFill>
                  <a:srgbClr val="333333"/>
                </a:solidFill>
                <a:latin typeface="Aptos"/>
              </a:defRPr>
            </a:pPr>
            <a:r>
              <a:t>CI/CD, releases,</a:t>
            </a:r>
          </a:p>
          <a:p>
            <a:pPr>
              <a:spcAft>
                <a:spcPts val="300"/>
              </a:spcAft>
              <a:defRPr sz="900" b="0">
                <a:solidFill>
                  <a:srgbClr val="333333"/>
                </a:solidFill>
                <a:latin typeface="Aptos"/>
              </a:defRPr>
            </a:pPr>
            <a:r>
              <a:t>git workflow</a:t>
            </a:r>
          </a:p>
        </p:txBody>
      </p:sp>
      <p:sp>
        <p:nvSpPr>
          <p:cNvPr id="28" name="Rounded Rectangle 27"/>
          <p:cNvSpPr/>
          <p:nvPr/>
        </p:nvSpPr>
        <p:spPr>
          <a:xfrm>
            <a:off x="365760" y="3566160"/>
            <a:ext cx="3566160" cy="914400"/>
          </a:xfrm>
          <a:prstGeom prst="roundRect">
            <a:avLst/>
          </a:prstGeom>
          <a:solidFill>
            <a:srgbClr val="F8F8FA"/>
          </a:solidFill>
          <a:ln w="12700">
            <a:solidFill>
              <a:srgbClr val="00B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02920" y="3749040"/>
            <a:ext cx="411480" cy="411480"/>
          </a:xfrm>
          <a:prstGeom prst="ellipse">
            <a:avLst/>
          </a:prstGeom>
          <a:solidFill>
            <a:srgbClr val="00B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Aptos"/>
              </a:defRPr>
            </a:pPr>
            <a:r>
              <a:t>E</a:t>
            </a:r>
          </a:p>
        </p:txBody>
      </p:sp>
      <p:sp>
        <p:nvSpPr>
          <p:cNvPr id="30" name="TextBox 29"/>
          <p:cNvSpPr txBox="1"/>
          <p:nvPr/>
        </p:nvSpPr>
        <p:spPr>
          <a:xfrm>
            <a:off x="1005840" y="3611880"/>
            <a:ext cx="1645920" cy="274320"/>
          </a:xfrm>
          <a:prstGeom prst="rect">
            <a:avLst/>
          </a:prstGeom>
          <a:noFill/>
        </p:spPr>
        <p:txBody>
          <a:bodyPr wrap="square">
            <a:spAutoFit/>
          </a:bodyPr>
          <a:lstStyle/>
          <a:p>
            <a:pPr algn="l">
              <a:defRPr sz="1300" b="1">
                <a:solidFill>
                  <a:srgbClr val="00BCF2"/>
                </a:solidFill>
                <a:latin typeface="Aptos"/>
              </a:defRPr>
            </a:pPr>
            <a:r>
              <a:t>Evaluator</a:t>
            </a:r>
          </a:p>
        </p:txBody>
      </p:sp>
      <p:sp>
        <p:nvSpPr>
          <p:cNvPr id="31" name="TextBox 30"/>
          <p:cNvSpPr txBox="1"/>
          <p:nvPr/>
        </p:nvSpPr>
        <p:spPr>
          <a:xfrm>
            <a:off x="1005840" y="3886200"/>
            <a:ext cx="2743200" cy="457200"/>
          </a:xfrm>
          <a:prstGeom prst="rect">
            <a:avLst/>
          </a:prstGeom>
          <a:noFill/>
        </p:spPr>
        <p:txBody>
          <a:bodyPr wrap="square">
            <a:spAutoFit/>
          </a:bodyPr>
          <a:lstStyle/>
          <a:p>
            <a:pPr>
              <a:spcAft>
                <a:spcPts val="300"/>
              </a:spcAft>
              <a:defRPr sz="900" b="0">
                <a:solidFill>
                  <a:srgbClr val="333333"/>
                </a:solidFill>
                <a:latin typeface="Aptos"/>
              </a:defRPr>
            </a:pPr>
            <a:r>
              <a:t>Evals, quality</a:t>
            </a:r>
          </a:p>
          <a:p>
            <a:pPr>
              <a:spcAft>
                <a:spcPts val="300"/>
              </a:spcAft>
              <a:defRPr sz="900" b="0">
                <a:solidFill>
                  <a:srgbClr val="333333"/>
                </a:solidFill>
                <a:latin typeface="Aptos"/>
              </a:defRPr>
            </a:pPr>
            <a:r>
              <a:t>baselines</a:t>
            </a:r>
          </a:p>
        </p:txBody>
      </p:sp>
      <p:sp>
        <p:nvSpPr>
          <p:cNvPr id="32" name="Rounded Rectangle 31"/>
          <p:cNvSpPr/>
          <p:nvPr/>
        </p:nvSpPr>
        <p:spPr>
          <a:xfrm>
            <a:off x="4206240" y="3566160"/>
            <a:ext cx="3566160" cy="914400"/>
          </a:xfrm>
          <a:prstGeom prst="roundRect">
            <a:avLst/>
          </a:prstGeom>
          <a:solidFill>
            <a:srgbClr val="F8F8FA"/>
          </a:solidFill>
          <a:ln w="12700">
            <a:solidFill>
              <a:srgbClr val="4A4E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343400" y="3749040"/>
            <a:ext cx="411480" cy="411480"/>
          </a:xfrm>
          <a:prstGeom prst="ellipse">
            <a:avLst/>
          </a:prstGeom>
          <a:solidFill>
            <a:srgbClr val="4A4E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Aptos"/>
              </a:defRPr>
            </a:pPr>
            <a:r>
              <a:t>R</a:t>
            </a:r>
          </a:p>
        </p:txBody>
      </p:sp>
      <p:sp>
        <p:nvSpPr>
          <p:cNvPr id="34" name="TextBox 33"/>
          <p:cNvSpPr txBox="1"/>
          <p:nvPr/>
        </p:nvSpPr>
        <p:spPr>
          <a:xfrm>
            <a:off x="4846320" y="3611880"/>
            <a:ext cx="1645920" cy="274320"/>
          </a:xfrm>
          <a:prstGeom prst="rect">
            <a:avLst/>
          </a:prstGeom>
          <a:noFill/>
        </p:spPr>
        <p:txBody>
          <a:bodyPr wrap="square">
            <a:spAutoFit/>
          </a:bodyPr>
          <a:lstStyle/>
          <a:p>
            <a:pPr algn="l">
              <a:defRPr sz="1300" b="1">
                <a:solidFill>
                  <a:srgbClr val="4A4E66"/>
                </a:solidFill>
                <a:latin typeface="Aptos"/>
              </a:defRPr>
            </a:pPr>
            <a:r>
              <a:t>Researcher</a:t>
            </a:r>
          </a:p>
        </p:txBody>
      </p:sp>
      <p:sp>
        <p:nvSpPr>
          <p:cNvPr id="35" name="TextBox 34"/>
          <p:cNvSpPr txBox="1"/>
          <p:nvPr/>
        </p:nvSpPr>
        <p:spPr>
          <a:xfrm>
            <a:off x="4846320" y="3886200"/>
            <a:ext cx="2743200" cy="457200"/>
          </a:xfrm>
          <a:prstGeom prst="rect">
            <a:avLst/>
          </a:prstGeom>
          <a:noFill/>
        </p:spPr>
        <p:txBody>
          <a:bodyPr wrap="square">
            <a:spAutoFit/>
          </a:bodyPr>
          <a:lstStyle/>
          <a:p>
            <a:pPr>
              <a:spcAft>
                <a:spcPts val="300"/>
              </a:spcAft>
              <a:defRPr sz="900" b="0">
                <a:solidFill>
                  <a:srgbClr val="333333"/>
                </a:solidFill>
                <a:latin typeface="Aptos"/>
              </a:defRPr>
            </a:pPr>
            <a:r>
              <a:t>Analysis, upstream</a:t>
            </a:r>
          </a:p>
          <a:p>
            <a:pPr>
              <a:spcAft>
                <a:spcPts val="300"/>
              </a:spcAft>
              <a:defRPr sz="900" b="0">
                <a:solidFill>
                  <a:srgbClr val="333333"/>
                </a:solidFill>
                <a:latin typeface="Aptos"/>
              </a:defRPr>
            </a:pPr>
            <a:r>
              <a:t>tracking</a:t>
            </a:r>
          </a:p>
        </p:txBody>
      </p:sp>
      <p:sp>
        <p:nvSpPr>
          <p:cNvPr id="36" name="Rounded Rectangle 35"/>
          <p:cNvSpPr/>
          <p:nvPr/>
        </p:nvSpPr>
        <p:spPr>
          <a:xfrm>
            <a:off x="8046720" y="3566160"/>
            <a:ext cx="3566160" cy="914400"/>
          </a:xfrm>
          <a:prstGeom prst="roundRect">
            <a:avLst/>
          </a:prstGeom>
          <a:solidFill>
            <a:srgbClr val="F8F8FA"/>
          </a:solidFill>
          <a:ln w="12700">
            <a:solidFill>
              <a:srgbClr val="8B45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183880" y="3749040"/>
            <a:ext cx="411480" cy="411480"/>
          </a:xfrm>
          <a:prstGeom prst="ellipse">
            <a:avLst/>
          </a:prstGeom>
          <a:solidFill>
            <a:srgbClr val="8B451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Aptos"/>
              </a:defRPr>
            </a:pPr>
            <a:r>
              <a:t>S</a:t>
            </a:r>
          </a:p>
        </p:txBody>
      </p:sp>
      <p:sp>
        <p:nvSpPr>
          <p:cNvPr id="38" name="TextBox 37"/>
          <p:cNvSpPr txBox="1"/>
          <p:nvPr/>
        </p:nvSpPr>
        <p:spPr>
          <a:xfrm>
            <a:off x="8686800" y="3611880"/>
            <a:ext cx="1645920" cy="274320"/>
          </a:xfrm>
          <a:prstGeom prst="rect">
            <a:avLst/>
          </a:prstGeom>
          <a:noFill/>
        </p:spPr>
        <p:txBody>
          <a:bodyPr wrap="square">
            <a:spAutoFit/>
          </a:bodyPr>
          <a:lstStyle/>
          <a:p>
            <a:pPr algn="l">
              <a:defRPr sz="1300" b="1">
                <a:solidFill>
                  <a:srgbClr val="8B4513"/>
                </a:solidFill>
                <a:latin typeface="Aptos"/>
              </a:defRPr>
            </a:pPr>
            <a:r>
              <a:t>Scribe</a:t>
            </a:r>
          </a:p>
        </p:txBody>
      </p:sp>
      <p:sp>
        <p:nvSpPr>
          <p:cNvPr id="39" name="TextBox 38"/>
          <p:cNvSpPr txBox="1"/>
          <p:nvPr/>
        </p:nvSpPr>
        <p:spPr>
          <a:xfrm>
            <a:off x="8686800" y="3886200"/>
            <a:ext cx="2743200" cy="457200"/>
          </a:xfrm>
          <a:prstGeom prst="rect">
            <a:avLst/>
          </a:prstGeom>
          <a:noFill/>
        </p:spPr>
        <p:txBody>
          <a:bodyPr wrap="square">
            <a:spAutoFit/>
          </a:bodyPr>
          <a:lstStyle/>
          <a:p>
            <a:pPr>
              <a:spcAft>
                <a:spcPts val="300"/>
              </a:spcAft>
              <a:defRPr sz="900" b="0">
                <a:solidFill>
                  <a:srgbClr val="333333"/>
                </a:solidFill>
                <a:latin typeface="Aptos"/>
              </a:defRPr>
            </a:pPr>
            <a:r>
              <a:t>Build journal,</a:t>
            </a:r>
          </a:p>
          <a:p>
            <a:pPr>
              <a:spcAft>
                <a:spcPts val="300"/>
              </a:spcAft>
              <a:defRPr sz="900" b="0">
                <a:solidFill>
                  <a:srgbClr val="333333"/>
                </a:solidFill>
                <a:latin typeface="Aptos"/>
              </a:defRPr>
            </a:pPr>
            <a:r>
              <a:t>history</a:t>
            </a:r>
          </a:p>
        </p:txBody>
      </p:sp>
      <p:sp>
        <p:nvSpPr>
          <p:cNvPr id="40" name="Rectangle 39"/>
          <p:cNvSpPr/>
          <p:nvPr/>
        </p:nvSpPr>
        <p:spPr>
          <a:xfrm>
            <a:off x="457200" y="4754880"/>
            <a:ext cx="2743200" cy="256032"/>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1600" rIns="101600"/>
          <a:lstStyle/>
          <a:p>
            <a:pPr algn="ctr">
              <a:defRPr sz="1000" b="1">
                <a:solidFill>
                  <a:srgbClr val="FFFFFF"/>
                </a:solidFill>
                <a:latin typeface="Aptos"/>
              </a:defRPr>
            </a:pPr>
            <a:r>
              <a:t>ROUTING RULES (AUTOMATIC)</a:t>
            </a:r>
          </a:p>
        </p:txBody>
      </p:sp>
      <p:sp>
        <p:nvSpPr>
          <p:cNvPr id="41" name="TextBox 40"/>
          <p:cNvSpPr txBox="1"/>
          <p:nvPr/>
        </p:nvSpPr>
        <p:spPr>
          <a:xfrm>
            <a:off x="640080" y="5120640"/>
            <a:ext cx="10515600" cy="228600"/>
          </a:xfrm>
          <a:prstGeom prst="rect">
            <a:avLst/>
          </a:prstGeom>
          <a:noFill/>
        </p:spPr>
        <p:txBody>
          <a:bodyPr wrap="square">
            <a:spAutoFit/>
          </a:bodyPr>
          <a:lstStyle/>
          <a:p>
            <a:pPr algn="l">
              <a:defRPr sz="1000" b="0">
                <a:solidFill>
                  <a:srgbClr val="333333"/>
                </a:solidFill>
                <a:latin typeface="Aptos"/>
              </a:defRPr>
            </a:pPr>
            <a:r>
              <a:t>  Code changes --&gt; Coder leads, Tester validates</a:t>
            </a:r>
          </a:p>
        </p:txBody>
      </p:sp>
      <p:sp>
        <p:nvSpPr>
          <p:cNvPr id="42" name="TextBox 41"/>
          <p:cNvSpPr txBox="1"/>
          <p:nvPr/>
        </p:nvSpPr>
        <p:spPr>
          <a:xfrm>
            <a:off x="640080" y="5394959"/>
            <a:ext cx="10515600" cy="228600"/>
          </a:xfrm>
          <a:prstGeom prst="rect">
            <a:avLst/>
          </a:prstGeom>
          <a:noFill/>
        </p:spPr>
        <p:txBody>
          <a:bodyPr wrap="square">
            <a:spAutoFit/>
          </a:bodyPr>
          <a:lstStyle/>
          <a:p>
            <a:pPr algn="l">
              <a:defRPr sz="1000" b="0">
                <a:solidFill>
                  <a:srgbClr val="333333"/>
                </a:solidFill>
                <a:latin typeface="Aptos"/>
              </a:defRPr>
            </a:pPr>
            <a:r>
              <a:t>  Architecture decisions --&gt; Architect leads, Coder implements</a:t>
            </a:r>
          </a:p>
        </p:txBody>
      </p:sp>
      <p:sp>
        <p:nvSpPr>
          <p:cNvPr id="43" name="TextBox 42"/>
          <p:cNvSpPr txBox="1"/>
          <p:nvPr/>
        </p:nvSpPr>
        <p:spPr>
          <a:xfrm>
            <a:off x="640080" y="5669279"/>
            <a:ext cx="10515600" cy="228600"/>
          </a:xfrm>
          <a:prstGeom prst="rect">
            <a:avLst/>
          </a:prstGeom>
          <a:noFill/>
        </p:spPr>
        <p:txBody>
          <a:bodyPr wrap="square">
            <a:spAutoFit/>
          </a:bodyPr>
          <a:lstStyle/>
          <a:p>
            <a:pPr algn="l">
              <a:defRPr sz="1000" b="0">
                <a:solidFill>
                  <a:srgbClr val="333333"/>
                </a:solidFill>
                <a:latin typeface="Aptos"/>
              </a:defRPr>
            </a:pPr>
            <a:r>
              <a:t>  Documentation needs --&gt; DevRel leads, Scribe records</a:t>
            </a:r>
          </a:p>
        </p:txBody>
      </p:sp>
      <p:sp>
        <p:nvSpPr>
          <p:cNvPr id="44" name="TextBox 43"/>
          <p:cNvSpPr txBox="1"/>
          <p:nvPr/>
        </p:nvSpPr>
        <p:spPr>
          <a:xfrm>
            <a:off x="274320" y="6263640"/>
            <a:ext cx="9144000" cy="274320"/>
          </a:xfrm>
          <a:prstGeom prst="rect">
            <a:avLst/>
          </a:prstGeom>
          <a:noFill/>
        </p:spPr>
        <p:txBody>
          <a:bodyPr wrap="square">
            <a:spAutoFit/>
          </a:bodyPr>
          <a:lstStyle/>
          <a:p>
            <a:pPr algn="l">
              <a:defRPr sz="800" b="0">
                <a:solidFill>
                  <a:srgbClr val="666666"/>
                </a:solidFill>
                <a:latin typeface="Aptos"/>
              </a:defRPr>
            </a:pPr>
            <a:r>
              <a:t>CONFIDENTIAL  |  Microsoft Accelerate Factory  |  Copilot Squad + Snap Model</a:t>
            </a:r>
          </a:p>
        </p:txBody>
      </p:sp>
      <p:sp>
        <p:nvSpPr>
          <p:cNvPr id="45" name="TextBox 44"/>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
            <a:ext cx="12192000" cy="566928"/>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600" b="1">
                <a:solidFill>
                  <a:srgbClr val="FFFFFF"/>
                </a:solidFill>
                <a:latin typeface="Aptos Display"/>
              </a:defRPr>
            </a:pPr>
            <a:r>
              <a:t>SubSquad Execution Model</a:t>
            </a:r>
          </a:p>
        </p:txBody>
      </p:sp>
      <p:sp>
        <p:nvSpPr>
          <p:cNvPr id="3" name="TextBox 2"/>
          <p:cNvSpPr txBox="1"/>
          <p:nvPr/>
        </p:nvSpPr>
        <p:spPr>
          <a:xfrm>
            <a:off x="457200" y="914400"/>
            <a:ext cx="10972800" cy="320040"/>
          </a:xfrm>
          <a:prstGeom prst="rect">
            <a:avLst/>
          </a:prstGeom>
          <a:noFill/>
        </p:spPr>
        <p:txBody>
          <a:bodyPr wrap="square">
            <a:spAutoFit/>
          </a:bodyPr>
          <a:lstStyle/>
          <a:p>
            <a:pPr algn="l">
              <a:defRPr sz="1300" b="0">
                <a:solidFill>
                  <a:srgbClr val="4A4E66"/>
                </a:solidFill>
                <a:latin typeface="Aptos"/>
              </a:defRPr>
            </a:pPr>
            <a:r>
              <a:t>SubSquads are project execution teams. They pull Snap presets, configure, execute, and contribute back.</a:t>
            </a:r>
          </a:p>
        </p:txBody>
      </p:sp>
      <p:sp>
        <p:nvSpPr>
          <p:cNvPr id="4" name="Rounded Rectangle 3"/>
          <p:cNvSpPr/>
          <p:nvPr/>
        </p:nvSpPr>
        <p:spPr>
          <a:xfrm>
            <a:off x="274320" y="1417320"/>
            <a:ext cx="2103120" cy="2286000"/>
          </a:xfrm>
          <a:prstGeom prst="roundRect">
            <a:avLst/>
          </a:prstGeom>
          <a:solidFill>
            <a:srgbClr val="F8F8FA"/>
          </a:solidFill>
          <a:ln w="12700">
            <a:solidFill>
              <a:srgbClr val="01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51560" y="1554480"/>
            <a:ext cx="457200" cy="457200"/>
          </a:xfrm>
          <a:prstGeom prst="ellipse">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b="1">
                <a:solidFill>
                  <a:srgbClr val="FFFFFF"/>
                </a:solidFill>
                <a:latin typeface="Aptos"/>
              </a:defRPr>
            </a:pPr>
            <a:r>
              <a:t>1</a:t>
            </a:r>
          </a:p>
        </p:txBody>
      </p:sp>
      <p:sp>
        <p:nvSpPr>
          <p:cNvPr id="6" name="TextBox 5"/>
          <p:cNvSpPr txBox="1"/>
          <p:nvPr/>
        </p:nvSpPr>
        <p:spPr>
          <a:xfrm>
            <a:off x="411480" y="2148840"/>
            <a:ext cx="1828800" cy="640080"/>
          </a:xfrm>
          <a:prstGeom prst="rect">
            <a:avLst/>
          </a:prstGeom>
          <a:noFill/>
        </p:spPr>
        <p:txBody>
          <a:bodyPr wrap="square">
            <a:spAutoFit/>
          </a:bodyPr>
          <a:lstStyle/>
          <a:p>
            <a:pPr>
              <a:spcAft>
                <a:spcPts val="300"/>
              </a:spcAft>
              <a:defRPr sz="1300" b="1">
                <a:solidFill>
                  <a:srgbClr val="0178D4"/>
                </a:solidFill>
                <a:latin typeface="Aptos"/>
              </a:defRPr>
            </a:pPr>
            <a:r>
              <a:t>SELECT</a:t>
            </a:r>
          </a:p>
          <a:p>
            <a:pPr>
              <a:spcAft>
                <a:spcPts val="300"/>
              </a:spcAft>
              <a:defRPr sz="1300" b="1">
                <a:solidFill>
                  <a:srgbClr val="0178D4"/>
                </a:solidFill>
                <a:latin typeface="Aptos"/>
              </a:defRPr>
            </a:pPr>
            <a:r>
              <a:t>SNAP</a:t>
            </a:r>
          </a:p>
        </p:txBody>
      </p:sp>
      <p:sp>
        <p:nvSpPr>
          <p:cNvPr id="7" name="TextBox 6"/>
          <p:cNvSpPr txBox="1"/>
          <p:nvPr/>
        </p:nvSpPr>
        <p:spPr>
          <a:xfrm>
            <a:off x="411480" y="2880360"/>
            <a:ext cx="1828800" cy="640080"/>
          </a:xfrm>
          <a:prstGeom prst="rect">
            <a:avLst/>
          </a:prstGeom>
          <a:noFill/>
        </p:spPr>
        <p:txBody>
          <a:bodyPr wrap="square">
            <a:spAutoFit/>
          </a:bodyPr>
          <a:lstStyle/>
          <a:p>
            <a:pPr>
              <a:spcAft>
                <a:spcPts val="300"/>
              </a:spcAft>
              <a:defRPr sz="1000" b="0">
                <a:solidFill>
                  <a:srgbClr val="333333"/>
                </a:solidFill>
                <a:latin typeface="Aptos"/>
              </a:defRPr>
            </a:pPr>
            <a:r>
              <a:t>Choose preset</a:t>
            </a:r>
          </a:p>
          <a:p>
            <a:pPr>
              <a:spcAft>
                <a:spcPts val="300"/>
              </a:spcAft>
              <a:defRPr sz="1000" b="0">
                <a:solidFill>
                  <a:srgbClr val="333333"/>
                </a:solidFill>
                <a:latin typeface="Aptos"/>
              </a:defRPr>
            </a:pPr>
            <a:r>
              <a:t>from library</a:t>
            </a:r>
          </a:p>
        </p:txBody>
      </p:sp>
      <p:sp>
        <p:nvSpPr>
          <p:cNvPr id="8" name="Right Arrow 7"/>
          <p:cNvSpPr/>
          <p:nvPr/>
        </p:nvSpPr>
        <p:spPr>
          <a:xfrm>
            <a:off x="2423160" y="2331720"/>
            <a:ext cx="164592" cy="228600"/>
          </a:xfrm>
          <a:prstGeom prst="rightArrow">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606039" y="1417320"/>
            <a:ext cx="2103120" cy="2286000"/>
          </a:xfrm>
          <a:prstGeom prst="roundRect">
            <a:avLst/>
          </a:prstGeom>
          <a:solidFill>
            <a:srgbClr val="F8F8FA"/>
          </a:solidFill>
          <a:ln w="12700">
            <a:solidFill>
              <a:srgbClr val="4636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383279" y="1554480"/>
            <a:ext cx="457200" cy="457200"/>
          </a:xfrm>
          <a:prstGeom prst="ellipse">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b="1">
                <a:solidFill>
                  <a:srgbClr val="FFFFFF"/>
                </a:solidFill>
                <a:latin typeface="Aptos"/>
              </a:defRPr>
            </a:pPr>
            <a:r>
              <a:t>2</a:t>
            </a:r>
          </a:p>
        </p:txBody>
      </p:sp>
      <p:sp>
        <p:nvSpPr>
          <p:cNvPr id="11" name="TextBox 10"/>
          <p:cNvSpPr txBox="1"/>
          <p:nvPr/>
        </p:nvSpPr>
        <p:spPr>
          <a:xfrm>
            <a:off x="2743199" y="2148840"/>
            <a:ext cx="1828800" cy="640080"/>
          </a:xfrm>
          <a:prstGeom prst="rect">
            <a:avLst/>
          </a:prstGeom>
          <a:noFill/>
        </p:spPr>
        <p:txBody>
          <a:bodyPr wrap="square">
            <a:spAutoFit/>
          </a:bodyPr>
          <a:lstStyle/>
          <a:p>
            <a:pPr>
              <a:spcAft>
                <a:spcPts val="300"/>
              </a:spcAft>
              <a:defRPr sz="1300" b="1">
                <a:solidFill>
                  <a:srgbClr val="463668"/>
                </a:solidFill>
                <a:latin typeface="Aptos"/>
              </a:defRPr>
            </a:pPr>
            <a:r>
              <a:t>PULL</a:t>
            </a:r>
          </a:p>
          <a:p>
            <a:pPr>
              <a:spcAft>
                <a:spcPts val="300"/>
              </a:spcAft>
              <a:defRPr sz="1300" b="1">
                <a:solidFill>
                  <a:srgbClr val="463668"/>
                </a:solidFill>
                <a:latin typeface="Aptos"/>
              </a:defRPr>
            </a:pPr>
            <a:r>
              <a:t>AGENTS</a:t>
            </a:r>
          </a:p>
        </p:txBody>
      </p:sp>
      <p:sp>
        <p:nvSpPr>
          <p:cNvPr id="12" name="TextBox 11"/>
          <p:cNvSpPr txBox="1"/>
          <p:nvPr/>
        </p:nvSpPr>
        <p:spPr>
          <a:xfrm>
            <a:off x="2743199" y="2880360"/>
            <a:ext cx="1828800" cy="640080"/>
          </a:xfrm>
          <a:prstGeom prst="rect">
            <a:avLst/>
          </a:prstGeom>
          <a:noFill/>
        </p:spPr>
        <p:txBody>
          <a:bodyPr wrap="square">
            <a:spAutoFit/>
          </a:bodyPr>
          <a:lstStyle/>
          <a:p>
            <a:pPr>
              <a:spcAft>
                <a:spcPts val="300"/>
              </a:spcAft>
              <a:defRPr sz="1000" b="0">
                <a:solidFill>
                  <a:srgbClr val="333333"/>
                </a:solidFill>
                <a:latin typeface="Aptos"/>
              </a:defRPr>
            </a:pPr>
            <a:r>
              <a:t>Clone to</a:t>
            </a:r>
          </a:p>
          <a:p>
            <a:pPr>
              <a:spcAft>
                <a:spcPts val="300"/>
              </a:spcAft>
              <a:defRPr sz="1000" b="0">
                <a:solidFill>
                  <a:srgbClr val="333333"/>
                </a:solidFill>
                <a:latin typeface="Aptos"/>
              </a:defRPr>
            </a:pPr>
            <a:r>
              <a:t>workspace</a:t>
            </a:r>
          </a:p>
        </p:txBody>
      </p:sp>
      <p:sp>
        <p:nvSpPr>
          <p:cNvPr id="13" name="Right Arrow 12"/>
          <p:cNvSpPr/>
          <p:nvPr/>
        </p:nvSpPr>
        <p:spPr>
          <a:xfrm>
            <a:off x="4754879" y="2331720"/>
            <a:ext cx="164592" cy="228600"/>
          </a:xfrm>
          <a:prstGeom prst="rightArrow">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937759" y="1417320"/>
            <a:ext cx="2103120" cy="2286000"/>
          </a:xfrm>
          <a:prstGeom prst="roundRect">
            <a:avLst/>
          </a:prstGeom>
          <a:solidFill>
            <a:srgbClr val="F8F8FA"/>
          </a:solidFill>
          <a:ln w="12700">
            <a:solidFill>
              <a:srgbClr val="225B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4999" y="1554480"/>
            <a:ext cx="457200" cy="457200"/>
          </a:xfrm>
          <a:prstGeom prst="ellipse">
            <a:avLst/>
          </a:prstGeom>
          <a:solidFill>
            <a:srgbClr val="225B6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b="1">
                <a:solidFill>
                  <a:srgbClr val="FFFFFF"/>
                </a:solidFill>
                <a:latin typeface="Aptos"/>
              </a:defRPr>
            </a:pPr>
            <a:r>
              <a:t>3</a:t>
            </a:r>
          </a:p>
        </p:txBody>
      </p:sp>
      <p:sp>
        <p:nvSpPr>
          <p:cNvPr id="16" name="TextBox 15"/>
          <p:cNvSpPr txBox="1"/>
          <p:nvPr/>
        </p:nvSpPr>
        <p:spPr>
          <a:xfrm>
            <a:off x="5074919" y="2148840"/>
            <a:ext cx="1828800" cy="640080"/>
          </a:xfrm>
          <a:prstGeom prst="rect">
            <a:avLst/>
          </a:prstGeom>
          <a:noFill/>
        </p:spPr>
        <p:txBody>
          <a:bodyPr wrap="square">
            <a:spAutoFit/>
          </a:bodyPr>
          <a:lstStyle/>
          <a:p>
            <a:pPr>
              <a:spcAft>
                <a:spcPts val="300"/>
              </a:spcAft>
              <a:defRPr sz="1300" b="1">
                <a:solidFill>
                  <a:srgbClr val="225B62"/>
                </a:solidFill>
                <a:latin typeface="Aptos"/>
              </a:defRPr>
            </a:pPr>
            <a:r>
              <a:t>CONFIGURE</a:t>
            </a:r>
          </a:p>
          <a:p>
            <a:pPr>
              <a:spcAft>
                <a:spcPts val="300"/>
              </a:spcAft>
              <a:defRPr sz="1300" b="1">
                <a:solidFill>
                  <a:srgbClr val="225B62"/>
                </a:solidFill>
                <a:latin typeface="Aptos"/>
              </a:defRPr>
            </a:pPr>
            <a:r>
              <a:t>CONTEXT</a:t>
            </a:r>
          </a:p>
        </p:txBody>
      </p:sp>
      <p:sp>
        <p:nvSpPr>
          <p:cNvPr id="17" name="TextBox 16"/>
          <p:cNvSpPr txBox="1"/>
          <p:nvPr/>
        </p:nvSpPr>
        <p:spPr>
          <a:xfrm>
            <a:off x="5074919" y="2880360"/>
            <a:ext cx="1828800" cy="640080"/>
          </a:xfrm>
          <a:prstGeom prst="rect">
            <a:avLst/>
          </a:prstGeom>
          <a:noFill/>
        </p:spPr>
        <p:txBody>
          <a:bodyPr wrap="square">
            <a:spAutoFit/>
          </a:bodyPr>
          <a:lstStyle/>
          <a:p>
            <a:pPr>
              <a:spcAft>
                <a:spcPts val="300"/>
              </a:spcAft>
              <a:defRPr sz="1000" b="0">
                <a:solidFill>
                  <a:srgbClr val="333333"/>
                </a:solidFill>
                <a:latin typeface="Aptos"/>
              </a:defRPr>
            </a:pPr>
            <a:r>
              <a:t>Set project</a:t>
            </a:r>
          </a:p>
          <a:p>
            <a:pPr>
              <a:spcAft>
                <a:spcPts val="300"/>
              </a:spcAft>
              <a:defRPr sz="1000" b="0">
                <a:solidFill>
                  <a:srgbClr val="333333"/>
                </a:solidFill>
                <a:latin typeface="Aptos"/>
              </a:defRPr>
            </a:pPr>
            <a:r>
              <a:t>inputs only</a:t>
            </a:r>
          </a:p>
        </p:txBody>
      </p:sp>
      <p:sp>
        <p:nvSpPr>
          <p:cNvPr id="18" name="Right Arrow 17"/>
          <p:cNvSpPr/>
          <p:nvPr/>
        </p:nvSpPr>
        <p:spPr>
          <a:xfrm>
            <a:off x="7086599" y="2331720"/>
            <a:ext cx="164592" cy="228600"/>
          </a:xfrm>
          <a:prstGeom prst="rightArrow">
            <a:avLst/>
          </a:prstGeom>
          <a:solidFill>
            <a:srgbClr val="225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269479" y="1417320"/>
            <a:ext cx="2103120" cy="2286000"/>
          </a:xfrm>
          <a:prstGeom prst="roundRect">
            <a:avLst/>
          </a:prstGeom>
          <a:solidFill>
            <a:srgbClr val="F8F8FA"/>
          </a:solidFill>
          <a:ln w="12700">
            <a:solidFill>
              <a:srgbClr val="FE8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46719" y="1554480"/>
            <a:ext cx="457200" cy="457200"/>
          </a:xfrm>
          <a:prstGeom prst="ellipse">
            <a:avLst/>
          </a:prstGeom>
          <a:solidFill>
            <a:srgbClr val="FE8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b="1">
                <a:solidFill>
                  <a:srgbClr val="FFFFFF"/>
                </a:solidFill>
                <a:latin typeface="Aptos"/>
              </a:defRPr>
            </a:pPr>
            <a:r>
              <a:t>4</a:t>
            </a:r>
          </a:p>
        </p:txBody>
      </p:sp>
      <p:sp>
        <p:nvSpPr>
          <p:cNvPr id="21" name="TextBox 20"/>
          <p:cNvSpPr txBox="1"/>
          <p:nvPr/>
        </p:nvSpPr>
        <p:spPr>
          <a:xfrm>
            <a:off x="7406639" y="2148840"/>
            <a:ext cx="1828800" cy="640080"/>
          </a:xfrm>
          <a:prstGeom prst="rect">
            <a:avLst/>
          </a:prstGeom>
          <a:noFill/>
        </p:spPr>
        <p:txBody>
          <a:bodyPr wrap="square">
            <a:spAutoFit/>
          </a:bodyPr>
          <a:lstStyle/>
          <a:p>
            <a:pPr>
              <a:spcAft>
                <a:spcPts val="300"/>
              </a:spcAft>
              <a:defRPr sz="1300" b="1">
                <a:solidFill>
                  <a:srgbClr val="FE8B00"/>
                </a:solidFill>
                <a:latin typeface="Aptos"/>
              </a:defRPr>
            </a:pPr>
            <a:r>
              <a:t>EXECUTE</a:t>
            </a:r>
          </a:p>
          <a:p>
            <a:pPr>
              <a:spcAft>
                <a:spcPts val="300"/>
              </a:spcAft>
              <a:defRPr sz="1300" b="1">
                <a:solidFill>
                  <a:srgbClr val="FE8B00"/>
                </a:solidFill>
                <a:latin typeface="Aptos"/>
              </a:defRPr>
            </a:pPr>
            <a:r>
              <a:t>DELIVERY</a:t>
            </a:r>
          </a:p>
        </p:txBody>
      </p:sp>
      <p:sp>
        <p:nvSpPr>
          <p:cNvPr id="22" name="TextBox 21"/>
          <p:cNvSpPr txBox="1"/>
          <p:nvPr/>
        </p:nvSpPr>
        <p:spPr>
          <a:xfrm>
            <a:off x="7406639" y="2880360"/>
            <a:ext cx="1828800" cy="640080"/>
          </a:xfrm>
          <a:prstGeom prst="rect">
            <a:avLst/>
          </a:prstGeom>
          <a:noFill/>
        </p:spPr>
        <p:txBody>
          <a:bodyPr wrap="square">
            <a:spAutoFit/>
          </a:bodyPr>
          <a:lstStyle/>
          <a:p>
            <a:pPr>
              <a:spcAft>
                <a:spcPts val="300"/>
              </a:spcAft>
              <a:defRPr sz="1000" b="0">
                <a:solidFill>
                  <a:srgbClr val="333333"/>
                </a:solidFill>
                <a:latin typeface="Aptos"/>
              </a:defRPr>
            </a:pPr>
            <a:r>
              <a:t>Agents work</a:t>
            </a:r>
          </a:p>
          <a:p>
            <a:pPr>
              <a:spcAft>
                <a:spcPts val="300"/>
              </a:spcAft>
              <a:defRPr sz="1000" b="0">
                <a:solidFill>
                  <a:srgbClr val="333333"/>
                </a:solidFill>
                <a:latin typeface="Aptos"/>
              </a:defRPr>
            </a:pPr>
            <a:r>
              <a:t>in parallel</a:t>
            </a:r>
          </a:p>
        </p:txBody>
      </p:sp>
      <p:sp>
        <p:nvSpPr>
          <p:cNvPr id="23" name="Right Arrow 22"/>
          <p:cNvSpPr/>
          <p:nvPr/>
        </p:nvSpPr>
        <p:spPr>
          <a:xfrm>
            <a:off x="9418319" y="2331720"/>
            <a:ext cx="164592" cy="228600"/>
          </a:xfrm>
          <a:prstGeom prst="rightArrow">
            <a:avLst/>
          </a:prstGeom>
          <a:solidFill>
            <a:srgbClr val="FE8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601200" y="1417320"/>
            <a:ext cx="2103120" cy="2286000"/>
          </a:xfrm>
          <a:prstGeom prst="roundRect">
            <a:avLst/>
          </a:prstGeom>
          <a:solidFill>
            <a:srgbClr val="F8F8FA"/>
          </a:solidFill>
          <a:ln w="1270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378440" y="1554480"/>
            <a:ext cx="457200" cy="457200"/>
          </a:xfrm>
          <a:prstGeom prst="ellipse">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b="1">
                <a:solidFill>
                  <a:srgbClr val="FFFFFF"/>
                </a:solidFill>
                <a:latin typeface="Aptos"/>
              </a:defRPr>
            </a:pPr>
            <a:r>
              <a:t>5</a:t>
            </a:r>
          </a:p>
        </p:txBody>
      </p:sp>
      <p:sp>
        <p:nvSpPr>
          <p:cNvPr id="26" name="TextBox 25"/>
          <p:cNvSpPr txBox="1"/>
          <p:nvPr/>
        </p:nvSpPr>
        <p:spPr>
          <a:xfrm>
            <a:off x="9738360" y="2148840"/>
            <a:ext cx="1828800" cy="640080"/>
          </a:xfrm>
          <a:prstGeom prst="rect">
            <a:avLst/>
          </a:prstGeom>
          <a:noFill/>
        </p:spPr>
        <p:txBody>
          <a:bodyPr wrap="square">
            <a:spAutoFit/>
          </a:bodyPr>
          <a:lstStyle/>
          <a:p>
            <a:pPr>
              <a:spcAft>
                <a:spcPts val="300"/>
              </a:spcAft>
              <a:defRPr sz="1300" b="1">
                <a:solidFill>
                  <a:srgbClr val="00B050"/>
                </a:solidFill>
                <a:latin typeface="Aptos"/>
              </a:defRPr>
            </a:pPr>
            <a:r>
              <a:t>CONTRIBUTE</a:t>
            </a:r>
          </a:p>
          <a:p>
            <a:pPr>
              <a:spcAft>
                <a:spcPts val="300"/>
              </a:spcAft>
              <a:defRPr sz="1300" b="1">
                <a:solidFill>
                  <a:srgbClr val="00B050"/>
                </a:solidFill>
                <a:latin typeface="Aptos"/>
              </a:defRPr>
            </a:pPr>
            <a:r>
              <a:t>BACK</a:t>
            </a:r>
          </a:p>
        </p:txBody>
      </p:sp>
      <p:sp>
        <p:nvSpPr>
          <p:cNvPr id="27" name="TextBox 26"/>
          <p:cNvSpPr txBox="1"/>
          <p:nvPr/>
        </p:nvSpPr>
        <p:spPr>
          <a:xfrm>
            <a:off x="9738360" y="2880360"/>
            <a:ext cx="1828800" cy="640080"/>
          </a:xfrm>
          <a:prstGeom prst="rect">
            <a:avLst/>
          </a:prstGeom>
          <a:noFill/>
        </p:spPr>
        <p:txBody>
          <a:bodyPr wrap="square">
            <a:spAutoFit/>
          </a:bodyPr>
          <a:lstStyle/>
          <a:p>
            <a:pPr>
              <a:spcAft>
                <a:spcPts val="300"/>
              </a:spcAft>
              <a:defRPr sz="1000" b="0">
                <a:solidFill>
                  <a:srgbClr val="333333"/>
                </a:solidFill>
                <a:latin typeface="Aptos"/>
              </a:defRPr>
            </a:pPr>
            <a:r>
              <a:t>Submit</a:t>
            </a:r>
          </a:p>
          <a:p>
            <a:pPr>
              <a:spcAft>
                <a:spcPts val="300"/>
              </a:spcAft>
              <a:defRPr sz="1000" b="0">
                <a:solidFill>
                  <a:srgbClr val="333333"/>
                </a:solidFill>
                <a:latin typeface="Aptos"/>
              </a:defRPr>
            </a:pPr>
            <a:r>
              <a:t>improvements</a:t>
            </a:r>
          </a:p>
        </p:txBody>
      </p:sp>
      <p:sp>
        <p:nvSpPr>
          <p:cNvPr id="28" name="Rectangle 27"/>
          <p:cNvSpPr/>
          <p:nvPr/>
        </p:nvSpPr>
        <p:spPr>
          <a:xfrm>
            <a:off x="457200" y="3931920"/>
            <a:ext cx="2011680" cy="256032"/>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1600" rIns="101600"/>
          <a:lstStyle/>
          <a:p>
            <a:pPr algn="ctr">
              <a:defRPr sz="1000" b="1">
                <a:solidFill>
                  <a:srgbClr val="FFFFFF"/>
                </a:solidFill>
                <a:latin typeface="Aptos"/>
              </a:defRPr>
            </a:pPr>
            <a:r>
              <a:t>PARALLEL EXECUTION</a:t>
            </a:r>
          </a:p>
        </p:txBody>
      </p:sp>
      <p:sp>
        <p:nvSpPr>
          <p:cNvPr id="29" name="Rounded Rectangle 28"/>
          <p:cNvSpPr/>
          <p:nvPr/>
        </p:nvSpPr>
        <p:spPr>
          <a:xfrm>
            <a:off x="457200" y="4297680"/>
            <a:ext cx="1645920" cy="365760"/>
          </a:xfrm>
          <a:prstGeom prst="round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4325112"/>
            <a:ext cx="1463040" cy="228600"/>
          </a:xfrm>
          <a:prstGeom prst="rect">
            <a:avLst/>
          </a:prstGeom>
          <a:noFill/>
        </p:spPr>
        <p:txBody>
          <a:bodyPr wrap="square">
            <a:spAutoFit/>
          </a:bodyPr>
          <a:lstStyle/>
          <a:p>
            <a:pPr algn="l">
              <a:defRPr sz="900" b="1">
                <a:solidFill>
                  <a:srgbClr val="FFFFFF"/>
                </a:solidFill>
                <a:latin typeface="Aptos"/>
              </a:defRPr>
            </a:pPr>
            <a:r>
              <a:t>SubSquad Alpha</a:t>
            </a:r>
          </a:p>
        </p:txBody>
      </p:sp>
      <p:sp>
        <p:nvSpPr>
          <p:cNvPr id="31" name="TextBox 30"/>
          <p:cNvSpPr txBox="1"/>
          <p:nvPr/>
        </p:nvSpPr>
        <p:spPr>
          <a:xfrm>
            <a:off x="2286000" y="4343400"/>
            <a:ext cx="2286000" cy="228600"/>
          </a:xfrm>
          <a:prstGeom prst="rect">
            <a:avLst/>
          </a:prstGeom>
          <a:noFill/>
        </p:spPr>
        <p:txBody>
          <a:bodyPr wrap="square">
            <a:spAutoFit/>
          </a:bodyPr>
          <a:lstStyle/>
          <a:p>
            <a:pPr algn="l">
              <a:defRPr sz="1000" b="1">
                <a:solidFill>
                  <a:srgbClr val="0178D4"/>
                </a:solidFill>
                <a:latin typeface="Aptos"/>
              </a:defRPr>
            </a:pPr>
            <a:r>
              <a:t>Azure Migration</a:t>
            </a:r>
          </a:p>
        </p:txBody>
      </p:sp>
      <p:sp>
        <p:nvSpPr>
          <p:cNvPr id="32" name="TextBox 31"/>
          <p:cNvSpPr txBox="1"/>
          <p:nvPr/>
        </p:nvSpPr>
        <p:spPr>
          <a:xfrm>
            <a:off x="4754880" y="4343400"/>
            <a:ext cx="3657600" cy="228600"/>
          </a:xfrm>
          <a:prstGeom prst="rect">
            <a:avLst/>
          </a:prstGeom>
          <a:noFill/>
        </p:spPr>
        <p:txBody>
          <a:bodyPr wrap="square">
            <a:spAutoFit/>
          </a:bodyPr>
          <a:lstStyle/>
          <a:p>
            <a:pPr algn="l">
              <a:defRPr sz="1000" b="0">
                <a:solidFill>
                  <a:srgbClr val="333333"/>
                </a:solidFill>
                <a:latin typeface="Aptos"/>
              </a:defRPr>
            </a:pPr>
            <a:r>
              <a:t>IaC + Migration agents</a:t>
            </a:r>
          </a:p>
        </p:txBody>
      </p:sp>
      <p:sp>
        <p:nvSpPr>
          <p:cNvPr id="33" name="TextBox 32"/>
          <p:cNvSpPr txBox="1"/>
          <p:nvPr/>
        </p:nvSpPr>
        <p:spPr>
          <a:xfrm>
            <a:off x="8686800" y="4343400"/>
            <a:ext cx="2743200" cy="228600"/>
          </a:xfrm>
          <a:prstGeom prst="rect">
            <a:avLst/>
          </a:prstGeom>
          <a:noFill/>
        </p:spPr>
        <p:txBody>
          <a:bodyPr wrap="square">
            <a:spAutoFit/>
          </a:bodyPr>
          <a:lstStyle/>
          <a:p>
            <a:pPr algn="l">
              <a:defRPr sz="1000" b="0">
                <a:solidFill>
                  <a:srgbClr val="4A4E66"/>
                </a:solidFill>
                <a:latin typeface="Aptos"/>
              </a:defRPr>
            </a:pPr>
            <a:r>
              <a:t>Week 1-8</a:t>
            </a:r>
          </a:p>
        </p:txBody>
      </p:sp>
      <p:sp>
        <p:nvSpPr>
          <p:cNvPr id="34" name="Rounded Rectangle 33"/>
          <p:cNvSpPr/>
          <p:nvPr/>
        </p:nvSpPr>
        <p:spPr>
          <a:xfrm>
            <a:off x="457200" y="4800600"/>
            <a:ext cx="1645920" cy="365760"/>
          </a:xfrm>
          <a:prstGeom prst="roundRect">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 y="4828032"/>
            <a:ext cx="1463040" cy="228600"/>
          </a:xfrm>
          <a:prstGeom prst="rect">
            <a:avLst/>
          </a:prstGeom>
          <a:noFill/>
        </p:spPr>
        <p:txBody>
          <a:bodyPr wrap="square">
            <a:spAutoFit/>
          </a:bodyPr>
          <a:lstStyle/>
          <a:p>
            <a:pPr algn="l">
              <a:defRPr sz="900" b="1">
                <a:solidFill>
                  <a:srgbClr val="FFFFFF"/>
                </a:solidFill>
                <a:latin typeface="Aptos"/>
              </a:defRPr>
            </a:pPr>
            <a:r>
              <a:t>SubSquad Beta</a:t>
            </a:r>
          </a:p>
        </p:txBody>
      </p:sp>
      <p:sp>
        <p:nvSpPr>
          <p:cNvPr id="36" name="TextBox 35"/>
          <p:cNvSpPr txBox="1"/>
          <p:nvPr/>
        </p:nvSpPr>
        <p:spPr>
          <a:xfrm>
            <a:off x="2286000" y="4846320"/>
            <a:ext cx="2286000" cy="228600"/>
          </a:xfrm>
          <a:prstGeom prst="rect">
            <a:avLst/>
          </a:prstGeom>
          <a:noFill/>
        </p:spPr>
        <p:txBody>
          <a:bodyPr wrap="square">
            <a:spAutoFit/>
          </a:bodyPr>
          <a:lstStyle/>
          <a:p>
            <a:pPr algn="l">
              <a:defRPr sz="1000" b="1">
                <a:solidFill>
                  <a:srgbClr val="463668"/>
                </a:solidFill>
                <a:latin typeface="Aptos"/>
              </a:defRPr>
            </a:pPr>
            <a:r>
              <a:t>API Platform</a:t>
            </a:r>
          </a:p>
        </p:txBody>
      </p:sp>
      <p:sp>
        <p:nvSpPr>
          <p:cNvPr id="37" name="TextBox 36"/>
          <p:cNvSpPr txBox="1"/>
          <p:nvPr/>
        </p:nvSpPr>
        <p:spPr>
          <a:xfrm>
            <a:off x="4754880" y="4846320"/>
            <a:ext cx="3657600" cy="228600"/>
          </a:xfrm>
          <a:prstGeom prst="rect">
            <a:avLst/>
          </a:prstGeom>
          <a:noFill/>
        </p:spPr>
        <p:txBody>
          <a:bodyPr wrap="square">
            <a:spAutoFit/>
          </a:bodyPr>
          <a:lstStyle/>
          <a:p>
            <a:pPr algn="l">
              <a:defRPr sz="1000" b="0">
                <a:solidFill>
                  <a:srgbClr val="333333"/>
                </a:solidFill>
                <a:latin typeface="Aptos"/>
              </a:defRPr>
            </a:pPr>
            <a:r>
              <a:t>Backend + QA agents</a:t>
            </a:r>
          </a:p>
        </p:txBody>
      </p:sp>
      <p:sp>
        <p:nvSpPr>
          <p:cNvPr id="38" name="TextBox 37"/>
          <p:cNvSpPr txBox="1"/>
          <p:nvPr/>
        </p:nvSpPr>
        <p:spPr>
          <a:xfrm>
            <a:off x="8686800" y="4846320"/>
            <a:ext cx="2743200" cy="228600"/>
          </a:xfrm>
          <a:prstGeom prst="rect">
            <a:avLst/>
          </a:prstGeom>
          <a:noFill/>
        </p:spPr>
        <p:txBody>
          <a:bodyPr wrap="square">
            <a:spAutoFit/>
          </a:bodyPr>
          <a:lstStyle/>
          <a:p>
            <a:pPr algn="l">
              <a:defRPr sz="1000" b="0">
                <a:solidFill>
                  <a:srgbClr val="4A4E66"/>
                </a:solidFill>
                <a:latin typeface="Aptos"/>
              </a:defRPr>
            </a:pPr>
            <a:r>
              <a:t>Week 2-6</a:t>
            </a:r>
          </a:p>
        </p:txBody>
      </p:sp>
      <p:sp>
        <p:nvSpPr>
          <p:cNvPr id="39" name="Rounded Rectangle 38"/>
          <p:cNvSpPr/>
          <p:nvPr/>
        </p:nvSpPr>
        <p:spPr>
          <a:xfrm>
            <a:off x="457200" y="5303520"/>
            <a:ext cx="1645920" cy="365760"/>
          </a:xfrm>
          <a:prstGeom prst="roundRect">
            <a:avLst/>
          </a:prstGeom>
          <a:solidFill>
            <a:srgbClr val="225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48640" y="5330952"/>
            <a:ext cx="1463040" cy="228600"/>
          </a:xfrm>
          <a:prstGeom prst="rect">
            <a:avLst/>
          </a:prstGeom>
          <a:noFill/>
        </p:spPr>
        <p:txBody>
          <a:bodyPr wrap="square">
            <a:spAutoFit/>
          </a:bodyPr>
          <a:lstStyle/>
          <a:p>
            <a:pPr algn="l">
              <a:defRPr sz="900" b="1">
                <a:solidFill>
                  <a:srgbClr val="FFFFFF"/>
                </a:solidFill>
                <a:latin typeface="Aptos"/>
              </a:defRPr>
            </a:pPr>
            <a:r>
              <a:t>SubSquad Gamma</a:t>
            </a:r>
          </a:p>
        </p:txBody>
      </p:sp>
      <p:sp>
        <p:nvSpPr>
          <p:cNvPr id="41" name="TextBox 40"/>
          <p:cNvSpPr txBox="1"/>
          <p:nvPr/>
        </p:nvSpPr>
        <p:spPr>
          <a:xfrm>
            <a:off x="2286000" y="5349240"/>
            <a:ext cx="2286000" cy="228600"/>
          </a:xfrm>
          <a:prstGeom prst="rect">
            <a:avLst/>
          </a:prstGeom>
          <a:noFill/>
        </p:spPr>
        <p:txBody>
          <a:bodyPr wrap="square">
            <a:spAutoFit/>
          </a:bodyPr>
          <a:lstStyle/>
          <a:p>
            <a:pPr algn="l">
              <a:defRPr sz="1000" b="1">
                <a:solidFill>
                  <a:srgbClr val="225B62"/>
                </a:solidFill>
                <a:latin typeface="Aptos"/>
              </a:defRPr>
            </a:pPr>
            <a:r>
              <a:t>Data Pipeline</a:t>
            </a:r>
          </a:p>
        </p:txBody>
      </p:sp>
      <p:sp>
        <p:nvSpPr>
          <p:cNvPr id="42" name="TextBox 41"/>
          <p:cNvSpPr txBox="1"/>
          <p:nvPr/>
        </p:nvSpPr>
        <p:spPr>
          <a:xfrm>
            <a:off x="4754880" y="5349240"/>
            <a:ext cx="3657600" cy="228600"/>
          </a:xfrm>
          <a:prstGeom prst="rect">
            <a:avLst/>
          </a:prstGeom>
          <a:noFill/>
        </p:spPr>
        <p:txBody>
          <a:bodyPr wrap="square">
            <a:spAutoFit/>
          </a:bodyPr>
          <a:lstStyle/>
          <a:p>
            <a:pPr algn="l">
              <a:defRPr sz="1000" b="0">
                <a:solidFill>
                  <a:srgbClr val="333333"/>
                </a:solidFill>
                <a:latin typeface="Aptos"/>
              </a:defRPr>
            </a:pPr>
            <a:r>
              <a:t>AI + Data agents</a:t>
            </a:r>
          </a:p>
        </p:txBody>
      </p:sp>
      <p:sp>
        <p:nvSpPr>
          <p:cNvPr id="43" name="TextBox 42"/>
          <p:cNvSpPr txBox="1"/>
          <p:nvPr/>
        </p:nvSpPr>
        <p:spPr>
          <a:xfrm>
            <a:off x="8686800" y="5349240"/>
            <a:ext cx="2743200" cy="228600"/>
          </a:xfrm>
          <a:prstGeom prst="rect">
            <a:avLst/>
          </a:prstGeom>
          <a:noFill/>
        </p:spPr>
        <p:txBody>
          <a:bodyPr wrap="square">
            <a:spAutoFit/>
          </a:bodyPr>
          <a:lstStyle/>
          <a:p>
            <a:pPr algn="l">
              <a:defRPr sz="1000" b="0">
                <a:solidFill>
                  <a:srgbClr val="4A4E66"/>
                </a:solidFill>
                <a:latin typeface="Aptos"/>
              </a:defRPr>
            </a:pPr>
            <a:r>
              <a:t>Week 3-7</a:t>
            </a:r>
          </a:p>
        </p:txBody>
      </p:sp>
      <p:sp>
        <p:nvSpPr>
          <p:cNvPr id="44" name="TextBox 43"/>
          <p:cNvSpPr txBox="1"/>
          <p:nvPr/>
        </p:nvSpPr>
        <p:spPr>
          <a:xfrm>
            <a:off x="274320" y="6263640"/>
            <a:ext cx="9144000" cy="274320"/>
          </a:xfrm>
          <a:prstGeom prst="rect">
            <a:avLst/>
          </a:prstGeom>
          <a:noFill/>
        </p:spPr>
        <p:txBody>
          <a:bodyPr wrap="square">
            <a:spAutoFit/>
          </a:bodyPr>
          <a:lstStyle/>
          <a:p>
            <a:pPr algn="l">
              <a:defRPr sz="800" b="0">
                <a:solidFill>
                  <a:srgbClr val="666666"/>
                </a:solidFill>
                <a:latin typeface="Aptos"/>
              </a:defRPr>
            </a:pPr>
            <a:r>
              <a:t>CONFIDENTIAL  |  Microsoft Accelerate Factory  |  Copilot Squad + Snap Model</a:t>
            </a:r>
          </a:p>
        </p:txBody>
      </p:sp>
      <p:sp>
        <p:nvSpPr>
          <p:cNvPr id="45" name="TextBox 44"/>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
            <a:ext cx="12192000" cy="566928"/>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600" b="1">
                <a:solidFill>
                  <a:srgbClr val="FFFFFF"/>
                </a:solidFill>
                <a:latin typeface="Aptos Display"/>
              </a:defRPr>
            </a:pPr>
            <a:r>
              <a:t>Agent Lifecycle</a:t>
            </a:r>
          </a:p>
        </p:txBody>
      </p:sp>
      <p:sp>
        <p:nvSpPr>
          <p:cNvPr id="3" name="TextBox 2"/>
          <p:cNvSpPr txBox="1"/>
          <p:nvPr/>
        </p:nvSpPr>
        <p:spPr>
          <a:xfrm>
            <a:off x="457200" y="914400"/>
            <a:ext cx="10972800" cy="320040"/>
          </a:xfrm>
          <a:prstGeom prst="rect">
            <a:avLst/>
          </a:prstGeom>
          <a:noFill/>
        </p:spPr>
        <p:txBody>
          <a:bodyPr wrap="square">
            <a:spAutoFit/>
          </a:bodyPr>
          <a:lstStyle/>
          <a:p>
            <a:pPr algn="l">
              <a:defRPr sz="1300" b="0">
                <a:solidFill>
                  <a:srgbClr val="4A4E66"/>
                </a:solidFill>
                <a:latin typeface="Aptos"/>
              </a:defRPr>
            </a:pPr>
            <a:r>
              <a:t>Every agent follows a structured lifecycle from creation to continuous improvement.</a:t>
            </a:r>
          </a:p>
        </p:txBody>
      </p:sp>
      <p:sp>
        <p:nvSpPr>
          <p:cNvPr id="4" name="Rounded Rectangle 3"/>
          <p:cNvSpPr/>
          <p:nvPr/>
        </p:nvSpPr>
        <p:spPr>
          <a:xfrm>
            <a:off x="274320" y="1417320"/>
            <a:ext cx="1737360" cy="2743200"/>
          </a:xfrm>
          <a:prstGeom prst="roundRect">
            <a:avLst/>
          </a:prstGeom>
          <a:solidFill>
            <a:srgbClr val="F8F8FA"/>
          </a:solidFill>
          <a:ln w="12700">
            <a:solidFill>
              <a:srgbClr val="01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22960" y="1554480"/>
            <a:ext cx="502920" cy="502920"/>
          </a:xfrm>
          <a:prstGeom prst="ellipse">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b="1">
                <a:solidFill>
                  <a:srgbClr val="FFFFFF"/>
                </a:solidFill>
                <a:latin typeface="Aptos"/>
              </a:defRPr>
            </a:pPr>
            <a:r>
              <a:t>1</a:t>
            </a:r>
          </a:p>
        </p:txBody>
      </p:sp>
      <p:sp>
        <p:nvSpPr>
          <p:cNvPr id="6" name="TextBox 5"/>
          <p:cNvSpPr txBox="1"/>
          <p:nvPr/>
        </p:nvSpPr>
        <p:spPr>
          <a:xfrm>
            <a:off x="365760" y="2194560"/>
            <a:ext cx="1554480" cy="274320"/>
          </a:xfrm>
          <a:prstGeom prst="rect">
            <a:avLst/>
          </a:prstGeom>
          <a:noFill/>
        </p:spPr>
        <p:txBody>
          <a:bodyPr wrap="square">
            <a:spAutoFit/>
          </a:bodyPr>
          <a:lstStyle/>
          <a:p>
            <a:pPr algn="ctr">
              <a:defRPr sz="1300" b="1">
                <a:solidFill>
                  <a:srgbClr val="0178D4"/>
                </a:solidFill>
                <a:latin typeface="Aptos"/>
              </a:defRPr>
            </a:pPr>
            <a:r>
              <a:t>CREATE</a:t>
            </a:r>
          </a:p>
        </p:txBody>
      </p:sp>
      <p:sp>
        <p:nvSpPr>
          <p:cNvPr id="7" name="TextBox 6"/>
          <p:cNvSpPr txBox="1"/>
          <p:nvPr/>
        </p:nvSpPr>
        <p:spPr>
          <a:xfrm>
            <a:off x="365760" y="2560320"/>
            <a:ext cx="1554480" cy="1371600"/>
          </a:xfrm>
          <a:prstGeom prst="rect">
            <a:avLst/>
          </a:prstGeom>
          <a:noFill/>
        </p:spPr>
        <p:txBody>
          <a:bodyPr wrap="square">
            <a:spAutoFit/>
          </a:bodyPr>
          <a:lstStyle/>
          <a:p>
            <a:pPr>
              <a:spcAft>
                <a:spcPts val="300"/>
              </a:spcAft>
              <a:defRPr sz="1000" b="0">
                <a:solidFill>
                  <a:srgbClr val="333333"/>
                </a:solidFill>
                <a:latin typeface="Aptos"/>
              </a:defRPr>
            </a:pPr>
            <a:r>
              <a:t>Build agent charter</a:t>
            </a:r>
          </a:p>
          <a:p>
            <a:pPr>
              <a:spcAft>
                <a:spcPts val="300"/>
              </a:spcAft>
              <a:defRPr sz="1000" b="0">
                <a:solidFill>
                  <a:srgbClr val="333333"/>
                </a:solidFill>
                <a:latin typeface="Aptos"/>
              </a:defRPr>
            </a:pPr>
            <a:r>
              <a:t>with identity, role,</a:t>
            </a:r>
          </a:p>
          <a:p>
            <a:pPr>
              <a:spcAft>
                <a:spcPts val="300"/>
              </a:spcAft>
              <a:defRPr sz="1000" b="0">
                <a:solidFill>
                  <a:srgbClr val="333333"/>
                </a:solidFill>
                <a:latin typeface="Aptos"/>
              </a:defRPr>
            </a:pPr>
            <a:r>
              <a:t>expertise, boundaries</a:t>
            </a:r>
          </a:p>
        </p:txBody>
      </p:sp>
      <p:sp>
        <p:nvSpPr>
          <p:cNvPr id="8" name="Right Arrow 7"/>
          <p:cNvSpPr/>
          <p:nvPr/>
        </p:nvSpPr>
        <p:spPr>
          <a:xfrm>
            <a:off x="2057400" y="1828800"/>
            <a:ext cx="109728" cy="228600"/>
          </a:xfrm>
          <a:prstGeom prst="rightArrow">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194560" y="1417320"/>
            <a:ext cx="1737360" cy="2743200"/>
          </a:xfrm>
          <a:prstGeom prst="roundRect">
            <a:avLst/>
          </a:prstGeom>
          <a:solidFill>
            <a:srgbClr val="F8F8FA"/>
          </a:solidFill>
          <a:ln w="12700">
            <a:solidFill>
              <a:srgbClr val="4636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743200" y="1554480"/>
            <a:ext cx="502920" cy="502920"/>
          </a:xfrm>
          <a:prstGeom prst="ellipse">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b="1">
                <a:solidFill>
                  <a:srgbClr val="FFFFFF"/>
                </a:solidFill>
                <a:latin typeface="Aptos"/>
              </a:defRPr>
            </a:pPr>
            <a:r>
              <a:t>2</a:t>
            </a:r>
          </a:p>
        </p:txBody>
      </p:sp>
      <p:sp>
        <p:nvSpPr>
          <p:cNvPr id="11" name="TextBox 10"/>
          <p:cNvSpPr txBox="1"/>
          <p:nvPr/>
        </p:nvSpPr>
        <p:spPr>
          <a:xfrm>
            <a:off x="2286000" y="2194560"/>
            <a:ext cx="1554480" cy="274320"/>
          </a:xfrm>
          <a:prstGeom prst="rect">
            <a:avLst/>
          </a:prstGeom>
          <a:noFill/>
        </p:spPr>
        <p:txBody>
          <a:bodyPr wrap="square">
            <a:spAutoFit/>
          </a:bodyPr>
          <a:lstStyle/>
          <a:p>
            <a:pPr algn="ctr">
              <a:defRPr sz="1300" b="1">
                <a:solidFill>
                  <a:srgbClr val="463668"/>
                </a:solidFill>
                <a:latin typeface="Aptos"/>
              </a:defRPr>
            </a:pPr>
            <a:r>
              <a:t>VALIDATE</a:t>
            </a:r>
          </a:p>
        </p:txBody>
      </p:sp>
      <p:sp>
        <p:nvSpPr>
          <p:cNvPr id="12" name="TextBox 11"/>
          <p:cNvSpPr txBox="1"/>
          <p:nvPr/>
        </p:nvSpPr>
        <p:spPr>
          <a:xfrm>
            <a:off x="2286000" y="2560320"/>
            <a:ext cx="1554480" cy="1371600"/>
          </a:xfrm>
          <a:prstGeom prst="rect">
            <a:avLst/>
          </a:prstGeom>
          <a:noFill/>
        </p:spPr>
        <p:txBody>
          <a:bodyPr wrap="square">
            <a:spAutoFit/>
          </a:bodyPr>
          <a:lstStyle/>
          <a:p>
            <a:pPr>
              <a:spcAft>
                <a:spcPts val="300"/>
              </a:spcAft>
              <a:defRPr sz="1000" b="0">
                <a:solidFill>
                  <a:srgbClr val="333333"/>
                </a:solidFill>
                <a:latin typeface="Aptos"/>
              </a:defRPr>
            </a:pPr>
            <a:r>
              <a:t>Test in isolation.</a:t>
            </a:r>
          </a:p>
          <a:p>
            <a:pPr>
              <a:spcAft>
                <a:spcPts val="300"/>
              </a:spcAft>
              <a:defRPr sz="1000" b="0">
                <a:solidFill>
                  <a:srgbClr val="333333"/>
                </a:solidFill>
                <a:latin typeface="Aptos"/>
              </a:defRPr>
            </a:pPr>
            <a:r>
              <a:t>No client data.</a:t>
            </a:r>
          </a:p>
          <a:p>
            <a:pPr>
              <a:spcAft>
                <a:spcPts val="300"/>
              </a:spcAft>
              <a:defRPr sz="1000" b="0">
                <a:solidFill>
                  <a:srgbClr val="333333"/>
                </a:solidFill>
                <a:latin typeface="Aptos"/>
              </a:defRPr>
            </a:pPr>
            <a:r>
              <a:t>Works with any project</a:t>
            </a:r>
          </a:p>
        </p:txBody>
      </p:sp>
      <p:sp>
        <p:nvSpPr>
          <p:cNvPr id="13" name="Right Arrow 12"/>
          <p:cNvSpPr/>
          <p:nvPr/>
        </p:nvSpPr>
        <p:spPr>
          <a:xfrm>
            <a:off x="3977640" y="1828800"/>
            <a:ext cx="109728" cy="228600"/>
          </a:xfrm>
          <a:prstGeom prst="rightArrow">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114800" y="1417320"/>
            <a:ext cx="1737360" cy="2743200"/>
          </a:xfrm>
          <a:prstGeom prst="roundRect">
            <a:avLst/>
          </a:prstGeom>
          <a:solidFill>
            <a:srgbClr val="F8F8FA"/>
          </a:solidFill>
          <a:ln w="12700">
            <a:solidFill>
              <a:srgbClr val="FE8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63440" y="1554480"/>
            <a:ext cx="502920" cy="502920"/>
          </a:xfrm>
          <a:prstGeom prst="ellipse">
            <a:avLst/>
          </a:prstGeom>
          <a:solidFill>
            <a:srgbClr val="FE8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b="1">
                <a:solidFill>
                  <a:srgbClr val="FFFFFF"/>
                </a:solidFill>
                <a:latin typeface="Aptos"/>
              </a:defRPr>
            </a:pPr>
            <a:r>
              <a:t>3</a:t>
            </a:r>
          </a:p>
        </p:txBody>
      </p:sp>
      <p:sp>
        <p:nvSpPr>
          <p:cNvPr id="16" name="TextBox 15"/>
          <p:cNvSpPr txBox="1"/>
          <p:nvPr/>
        </p:nvSpPr>
        <p:spPr>
          <a:xfrm>
            <a:off x="4206240" y="2194560"/>
            <a:ext cx="1554480" cy="274320"/>
          </a:xfrm>
          <a:prstGeom prst="rect">
            <a:avLst/>
          </a:prstGeom>
          <a:noFill/>
        </p:spPr>
        <p:txBody>
          <a:bodyPr wrap="square">
            <a:spAutoFit/>
          </a:bodyPr>
          <a:lstStyle/>
          <a:p>
            <a:pPr algn="ctr">
              <a:defRPr sz="1300" b="1">
                <a:solidFill>
                  <a:srgbClr val="FE8B00"/>
                </a:solidFill>
                <a:latin typeface="Aptos"/>
              </a:defRPr>
            </a:pPr>
            <a:r>
              <a:t>PUBLISH</a:t>
            </a:r>
          </a:p>
        </p:txBody>
      </p:sp>
      <p:sp>
        <p:nvSpPr>
          <p:cNvPr id="17" name="TextBox 16"/>
          <p:cNvSpPr txBox="1"/>
          <p:nvPr/>
        </p:nvSpPr>
        <p:spPr>
          <a:xfrm>
            <a:off x="4206240" y="2560320"/>
            <a:ext cx="1554480" cy="1371600"/>
          </a:xfrm>
          <a:prstGeom prst="rect">
            <a:avLst/>
          </a:prstGeom>
          <a:noFill/>
        </p:spPr>
        <p:txBody>
          <a:bodyPr wrap="square">
            <a:spAutoFit/>
          </a:bodyPr>
          <a:lstStyle/>
          <a:p>
            <a:pPr>
              <a:spcAft>
                <a:spcPts val="300"/>
              </a:spcAft>
              <a:defRPr sz="1000" b="0">
                <a:solidFill>
                  <a:srgbClr val="333333"/>
                </a:solidFill>
                <a:latin typeface="Aptos"/>
              </a:defRPr>
            </a:pPr>
            <a:r>
              <a:t>Submit PR to Central.</a:t>
            </a:r>
          </a:p>
          <a:p>
            <a:pPr>
              <a:spcAft>
                <a:spcPts val="300"/>
              </a:spcAft>
              <a:defRPr sz="1000" b="0">
                <a:solidFill>
                  <a:srgbClr val="333333"/>
                </a:solidFill>
                <a:latin typeface="Aptos"/>
              </a:defRPr>
            </a:pPr>
            <a:r>
              <a:t>Peer review + architect</a:t>
            </a:r>
          </a:p>
          <a:p>
            <a:pPr>
              <a:spcAft>
                <a:spcPts val="300"/>
              </a:spcAft>
              <a:defRPr sz="1000" b="0">
                <a:solidFill>
                  <a:srgbClr val="333333"/>
                </a:solidFill>
                <a:latin typeface="Aptos"/>
              </a:defRPr>
            </a:pPr>
            <a:r>
              <a:t>approval required</a:t>
            </a:r>
          </a:p>
        </p:txBody>
      </p:sp>
      <p:sp>
        <p:nvSpPr>
          <p:cNvPr id="18" name="Right Arrow 17"/>
          <p:cNvSpPr/>
          <p:nvPr/>
        </p:nvSpPr>
        <p:spPr>
          <a:xfrm>
            <a:off x="5897880" y="1828800"/>
            <a:ext cx="109728" cy="228600"/>
          </a:xfrm>
          <a:prstGeom prst="rightArrow">
            <a:avLst/>
          </a:prstGeom>
          <a:solidFill>
            <a:srgbClr val="FE8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035040" y="1417320"/>
            <a:ext cx="1737360" cy="2743200"/>
          </a:xfrm>
          <a:prstGeom prst="roundRect">
            <a:avLst/>
          </a:prstGeom>
          <a:solidFill>
            <a:srgbClr val="F8F8FA"/>
          </a:solidFill>
          <a:ln w="1270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0" y="1554480"/>
            <a:ext cx="502920" cy="502920"/>
          </a:xfrm>
          <a:prstGeom prst="ellipse">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b="1">
                <a:solidFill>
                  <a:srgbClr val="FFFFFF"/>
                </a:solidFill>
                <a:latin typeface="Aptos"/>
              </a:defRPr>
            </a:pPr>
            <a:r>
              <a:t>4</a:t>
            </a:r>
          </a:p>
        </p:txBody>
      </p:sp>
      <p:sp>
        <p:nvSpPr>
          <p:cNvPr id="21" name="TextBox 20"/>
          <p:cNvSpPr txBox="1"/>
          <p:nvPr/>
        </p:nvSpPr>
        <p:spPr>
          <a:xfrm>
            <a:off x="6126480" y="2194560"/>
            <a:ext cx="1554480" cy="274320"/>
          </a:xfrm>
          <a:prstGeom prst="rect">
            <a:avLst/>
          </a:prstGeom>
          <a:noFill/>
        </p:spPr>
        <p:txBody>
          <a:bodyPr wrap="square">
            <a:spAutoFit/>
          </a:bodyPr>
          <a:lstStyle/>
          <a:p>
            <a:pPr algn="ctr">
              <a:defRPr sz="1300" b="1">
                <a:solidFill>
                  <a:srgbClr val="00B050"/>
                </a:solidFill>
                <a:latin typeface="Aptos"/>
              </a:defRPr>
            </a:pPr>
            <a:r>
              <a:t>REUSE</a:t>
            </a:r>
          </a:p>
        </p:txBody>
      </p:sp>
      <p:sp>
        <p:nvSpPr>
          <p:cNvPr id="22" name="TextBox 21"/>
          <p:cNvSpPr txBox="1"/>
          <p:nvPr/>
        </p:nvSpPr>
        <p:spPr>
          <a:xfrm>
            <a:off x="6126480" y="2560320"/>
            <a:ext cx="1554480" cy="1371600"/>
          </a:xfrm>
          <a:prstGeom prst="rect">
            <a:avLst/>
          </a:prstGeom>
          <a:noFill/>
        </p:spPr>
        <p:txBody>
          <a:bodyPr wrap="square">
            <a:spAutoFit/>
          </a:bodyPr>
          <a:lstStyle/>
          <a:p>
            <a:pPr>
              <a:spcAft>
                <a:spcPts val="300"/>
              </a:spcAft>
              <a:defRPr sz="1000" b="0">
                <a:solidFill>
                  <a:srgbClr val="333333"/>
                </a:solidFill>
                <a:latin typeface="Aptos"/>
              </a:defRPr>
            </a:pPr>
            <a:r>
              <a:t>SubSquads pull from</a:t>
            </a:r>
          </a:p>
          <a:p>
            <a:pPr>
              <a:spcAft>
                <a:spcPts val="300"/>
              </a:spcAft>
              <a:defRPr sz="1000" b="0">
                <a:solidFill>
                  <a:srgbClr val="333333"/>
                </a:solidFill>
                <a:latin typeface="Aptos"/>
              </a:defRPr>
            </a:pPr>
            <a:r>
              <a:t>Central. Configure</a:t>
            </a:r>
          </a:p>
          <a:p>
            <a:pPr>
              <a:spcAft>
                <a:spcPts val="300"/>
              </a:spcAft>
              <a:defRPr sz="1000" b="0">
                <a:solidFill>
                  <a:srgbClr val="333333"/>
                </a:solidFill>
                <a:latin typeface="Aptos"/>
              </a:defRPr>
            </a:pPr>
            <a:r>
              <a:t>only, never modify</a:t>
            </a:r>
          </a:p>
        </p:txBody>
      </p:sp>
      <p:sp>
        <p:nvSpPr>
          <p:cNvPr id="23" name="Right Arrow 22"/>
          <p:cNvSpPr/>
          <p:nvPr/>
        </p:nvSpPr>
        <p:spPr>
          <a:xfrm>
            <a:off x="7818120" y="1828800"/>
            <a:ext cx="109728" cy="228600"/>
          </a:xfrm>
          <a:prstGeom prst="rightArrow">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955280" y="1417320"/>
            <a:ext cx="1737360" cy="2743200"/>
          </a:xfrm>
          <a:prstGeom prst="roundRect">
            <a:avLst/>
          </a:prstGeom>
          <a:solidFill>
            <a:srgbClr val="F8F8FA"/>
          </a:solidFill>
          <a:ln w="12700">
            <a:solidFill>
              <a:srgbClr val="225B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503920" y="1554480"/>
            <a:ext cx="502920" cy="502920"/>
          </a:xfrm>
          <a:prstGeom prst="ellipse">
            <a:avLst/>
          </a:prstGeom>
          <a:solidFill>
            <a:srgbClr val="225B6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b="1">
                <a:solidFill>
                  <a:srgbClr val="FFFFFF"/>
                </a:solidFill>
                <a:latin typeface="Aptos"/>
              </a:defRPr>
            </a:pPr>
            <a:r>
              <a:t>5</a:t>
            </a:r>
          </a:p>
        </p:txBody>
      </p:sp>
      <p:sp>
        <p:nvSpPr>
          <p:cNvPr id="26" name="TextBox 25"/>
          <p:cNvSpPr txBox="1"/>
          <p:nvPr/>
        </p:nvSpPr>
        <p:spPr>
          <a:xfrm>
            <a:off x="8046720" y="2194560"/>
            <a:ext cx="1554480" cy="274320"/>
          </a:xfrm>
          <a:prstGeom prst="rect">
            <a:avLst/>
          </a:prstGeom>
          <a:noFill/>
        </p:spPr>
        <p:txBody>
          <a:bodyPr wrap="square">
            <a:spAutoFit/>
          </a:bodyPr>
          <a:lstStyle/>
          <a:p>
            <a:pPr algn="ctr">
              <a:defRPr sz="1300" b="1">
                <a:solidFill>
                  <a:srgbClr val="225B62"/>
                </a:solidFill>
                <a:latin typeface="Aptos"/>
              </a:defRPr>
            </a:pPr>
            <a:r>
              <a:t>IMPROVE</a:t>
            </a:r>
          </a:p>
        </p:txBody>
      </p:sp>
      <p:sp>
        <p:nvSpPr>
          <p:cNvPr id="27" name="TextBox 26"/>
          <p:cNvSpPr txBox="1"/>
          <p:nvPr/>
        </p:nvSpPr>
        <p:spPr>
          <a:xfrm>
            <a:off x="8046720" y="2560320"/>
            <a:ext cx="1554480" cy="1371600"/>
          </a:xfrm>
          <a:prstGeom prst="rect">
            <a:avLst/>
          </a:prstGeom>
          <a:noFill/>
        </p:spPr>
        <p:txBody>
          <a:bodyPr wrap="square">
            <a:spAutoFit/>
          </a:bodyPr>
          <a:lstStyle/>
          <a:p>
            <a:pPr>
              <a:spcAft>
                <a:spcPts val="300"/>
              </a:spcAft>
              <a:defRPr sz="1000" b="0">
                <a:solidFill>
                  <a:srgbClr val="333333"/>
                </a:solidFill>
                <a:latin typeface="Aptos"/>
              </a:defRPr>
            </a:pPr>
            <a:r>
              <a:t>Teams submit</a:t>
            </a:r>
          </a:p>
          <a:p>
            <a:pPr>
              <a:spcAft>
                <a:spcPts val="300"/>
              </a:spcAft>
              <a:defRPr sz="1000" b="0">
                <a:solidFill>
                  <a:srgbClr val="333333"/>
                </a:solidFill>
                <a:latin typeface="Aptos"/>
              </a:defRPr>
            </a:pPr>
            <a:r>
              <a:t>enhancements back.</a:t>
            </a:r>
          </a:p>
          <a:p>
            <a:pPr>
              <a:spcAft>
                <a:spcPts val="300"/>
              </a:spcAft>
              <a:defRPr sz="1000" b="0">
                <a:solidFill>
                  <a:srgbClr val="333333"/>
                </a:solidFill>
                <a:latin typeface="Aptos"/>
              </a:defRPr>
            </a:pPr>
            <a:r>
              <a:t>Central validates</a:t>
            </a:r>
          </a:p>
        </p:txBody>
      </p:sp>
      <p:sp>
        <p:nvSpPr>
          <p:cNvPr id="28" name="Right Arrow 27"/>
          <p:cNvSpPr/>
          <p:nvPr/>
        </p:nvSpPr>
        <p:spPr>
          <a:xfrm>
            <a:off x="9738360" y="1828800"/>
            <a:ext cx="109728" cy="228600"/>
          </a:xfrm>
          <a:prstGeom prst="rightArrow">
            <a:avLst/>
          </a:prstGeom>
          <a:solidFill>
            <a:srgbClr val="225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875520" y="1417320"/>
            <a:ext cx="1737360" cy="2743200"/>
          </a:xfrm>
          <a:prstGeom prst="roundRect">
            <a:avLst/>
          </a:prstGeom>
          <a:solidFill>
            <a:srgbClr val="F8F8FA"/>
          </a:solidFill>
          <a:ln w="12700">
            <a:solidFill>
              <a:srgbClr val="D83B0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424160" y="1554480"/>
            <a:ext cx="502920" cy="502920"/>
          </a:xfrm>
          <a:prstGeom prst="ellipse">
            <a:avLst/>
          </a:prstGeom>
          <a:solidFill>
            <a:srgbClr val="D83B0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b="1">
                <a:solidFill>
                  <a:srgbClr val="FFFFFF"/>
                </a:solidFill>
                <a:latin typeface="Aptos"/>
              </a:defRPr>
            </a:pPr>
            <a:r>
              <a:t>6</a:t>
            </a:r>
          </a:p>
        </p:txBody>
      </p:sp>
      <p:sp>
        <p:nvSpPr>
          <p:cNvPr id="31" name="TextBox 30"/>
          <p:cNvSpPr txBox="1"/>
          <p:nvPr/>
        </p:nvSpPr>
        <p:spPr>
          <a:xfrm>
            <a:off x="9966960" y="2194560"/>
            <a:ext cx="1554480" cy="274320"/>
          </a:xfrm>
          <a:prstGeom prst="rect">
            <a:avLst/>
          </a:prstGeom>
          <a:noFill/>
        </p:spPr>
        <p:txBody>
          <a:bodyPr wrap="square">
            <a:spAutoFit/>
          </a:bodyPr>
          <a:lstStyle/>
          <a:p>
            <a:pPr algn="ctr">
              <a:defRPr sz="1300" b="1">
                <a:solidFill>
                  <a:srgbClr val="D83B02"/>
                </a:solidFill>
                <a:latin typeface="Aptos"/>
              </a:defRPr>
            </a:pPr>
            <a:r>
              <a:t>VERSION</a:t>
            </a:r>
          </a:p>
        </p:txBody>
      </p:sp>
      <p:sp>
        <p:nvSpPr>
          <p:cNvPr id="32" name="TextBox 31"/>
          <p:cNvSpPr txBox="1"/>
          <p:nvPr/>
        </p:nvSpPr>
        <p:spPr>
          <a:xfrm>
            <a:off x="9966960" y="2560320"/>
            <a:ext cx="1554480" cy="1371600"/>
          </a:xfrm>
          <a:prstGeom prst="rect">
            <a:avLst/>
          </a:prstGeom>
          <a:noFill/>
        </p:spPr>
        <p:txBody>
          <a:bodyPr wrap="square">
            <a:spAutoFit/>
          </a:bodyPr>
          <a:lstStyle/>
          <a:p>
            <a:pPr>
              <a:spcAft>
                <a:spcPts val="300"/>
              </a:spcAft>
              <a:defRPr sz="1000" b="0">
                <a:solidFill>
                  <a:srgbClr val="333333"/>
                </a:solidFill>
                <a:latin typeface="Aptos"/>
              </a:defRPr>
            </a:pPr>
            <a:r>
              <a:t>Semantic versioning.</a:t>
            </a:r>
          </a:p>
          <a:p>
            <a:pPr>
              <a:spcAft>
                <a:spcPts val="300"/>
              </a:spcAft>
              <a:defRPr sz="1000" b="0">
                <a:solidFill>
                  <a:srgbClr val="333333"/>
                </a:solidFill>
                <a:latin typeface="Aptos"/>
              </a:defRPr>
            </a:pPr>
            <a:r>
              <a:t>Major/minor/patch.</a:t>
            </a:r>
          </a:p>
          <a:p>
            <a:pPr>
              <a:spcAft>
                <a:spcPts val="300"/>
              </a:spcAft>
              <a:defRPr sz="1000" b="0">
                <a:solidFill>
                  <a:srgbClr val="333333"/>
                </a:solidFill>
                <a:latin typeface="Aptos"/>
              </a:defRPr>
            </a:pPr>
            <a:r>
              <a:t>Changelog required</a:t>
            </a:r>
          </a:p>
        </p:txBody>
      </p:sp>
      <p:sp>
        <p:nvSpPr>
          <p:cNvPr id="33" name="Rectangle 32"/>
          <p:cNvSpPr/>
          <p:nvPr/>
        </p:nvSpPr>
        <p:spPr>
          <a:xfrm>
            <a:off x="457200" y="4389120"/>
            <a:ext cx="1828800" cy="256032"/>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1600" rIns="101600"/>
          <a:lstStyle/>
          <a:p>
            <a:pPr algn="ctr">
              <a:defRPr sz="1000" b="1">
                <a:solidFill>
                  <a:srgbClr val="FFFFFF"/>
                </a:solidFill>
                <a:latin typeface="Aptos"/>
              </a:defRPr>
            </a:pPr>
            <a:r>
              <a:t>GOVERNANCE GATES</a:t>
            </a:r>
          </a:p>
        </p:txBody>
      </p:sp>
      <p:sp>
        <p:nvSpPr>
          <p:cNvPr id="34" name="TextBox 33"/>
          <p:cNvSpPr txBox="1"/>
          <p:nvPr/>
        </p:nvSpPr>
        <p:spPr>
          <a:xfrm>
            <a:off x="457200" y="4754880"/>
            <a:ext cx="1645920" cy="228600"/>
          </a:xfrm>
          <a:prstGeom prst="rect">
            <a:avLst/>
          </a:prstGeom>
          <a:noFill/>
        </p:spPr>
        <p:txBody>
          <a:bodyPr wrap="square">
            <a:spAutoFit/>
          </a:bodyPr>
          <a:lstStyle/>
          <a:p>
            <a:pPr algn="l">
              <a:defRPr sz="1100" b="1">
                <a:solidFill>
                  <a:srgbClr val="EE0000"/>
                </a:solidFill>
                <a:latin typeface="Aptos"/>
              </a:defRPr>
            </a:pPr>
            <a:r>
              <a:t>Security scan</a:t>
            </a:r>
          </a:p>
        </p:txBody>
      </p:sp>
      <p:sp>
        <p:nvSpPr>
          <p:cNvPr id="35" name="TextBox 34"/>
          <p:cNvSpPr txBox="1"/>
          <p:nvPr/>
        </p:nvSpPr>
        <p:spPr>
          <a:xfrm>
            <a:off x="2194560" y="4754880"/>
            <a:ext cx="3840480" cy="228600"/>
          </a:xfrm>
          <a:prstGeom prst="rect">
            <a:avLst/>
          </a:prstGeom>
          <a:noFill/>
        </p:spPr>
        <p:txBody>
          <a:bodyPr wrap="square">
            <a:spAutoFit/>
          </a:bodyPr>
          <a:lstStyle/>
          <a:p>
            <a:pPr algn="l">
              <a:defRPr sz="1000" b="0">
                <a:solidFill>
                  <a:srgbClr val="333333"/>
                </a:solidFill>
                <a:latin typeface="Aptos"/>
              </a:defRPr>
            </a:pPr>
            <a:r>
              <a:t>No secrets, no client data, no hardcoded credentials</a:t>
            </a:r>
          </a:p>
        </p:txBody>
      </p:sp>
      <p:sp>
        <p:nvSpPr>
          <p:cNvPr id="36" name="TextBox 35"/>
          <p:cNvSpPr txBox="1"/>
          <p:nvPr/>
        </p:nvSpPr>
        <p:spPr>
          <a:xfrm>
            <a:off x="6217920" y="4754880"/>
            <a:ext cx="1645920" cy="228600"/>
          </a:xfrm>
          <a:prstGeom prst="rect">
            <a:avLst/>
          </a:prstGeom>
          <a:noFill/>
        </p:spPr>
        <p:txBody>
          <a:bodyPr wrap="square">
            <a:spAutoFit/>
          </a:bodyPr>
          <a:lstStyle/>
          <a:p>
            <a:pPr algn="l">
              <a:defRPr sz="1100" b="1">
                <a:solidFill>
                  <a:srgbClr val="EE0000"/>
                </a:solidFill>
                <a:latin typeface="Aptos"/>
              </a:defRPr>
            </a:pPr>
            <a:r>
              <a:t>Isolation test</a:t>
            </a:r>
          </a:p>
        </p:txBody>
      </p:sp>
      <p:sp>
        <p:nvSpPr>
          <p:cNvPr id="37" name="TextBox 36"/>
          <p:cNvSpPr txBox="1"/>
          <p:nvPr/>
        </p:nvSpPr>
        <p:spPr>
          <a:xfrm>
            <a:off x="7955280" y="4754880"/>
            <a:ext cx="3840480" cy="228600"/>
          </a:xfrm>
          <a:prstGeom prst="rect">
            <a:avLst/>
          </a:prstGeom>
          <a:noFill/>
        </p:spPr>
        <p:txBody>
          <a:bodyPr wrap="square">
            <a:spAutoFit/>
          </a:bodyPr>
          <a:lstStyle/>
          <a:p>
            <a:pPr algn="l">
              <a:defRPr sz="1000" b="0">
                <a:solidFill>
                  <a:srgbClr val="333333"/>
                </a:solidFill>
                <a:latin typeface="Aptos"/>
              </a:defRPr>
            </a:pPr>
            <a:r>
              <a:t>Agent works with zero project context -- fully portable</a:t>
            </a:r>
          </a:p>
        </p:txBody>
      </p:sp>
      <p:sp>
        <p:nvSpPr>
          <p:cNvPr id="38" name="TextBox 37"/>
          <p:cNvSpPr txBox="1"/>
          <p:nvPr/>
        </p:nvSpPr>
        <p:spPr>
          <a:xfrm>
            <a:off x="457200" y="5166360"/>
            <a:ext cx="1645920" cy="228600"/>
          </a:xfrm>
          <a:prstGeom prst="rect">
            <a:avLst/>
          </a:prstGeom>
          <a:noFill/>
        </p:spPr>
        <p:txBody>
          <a:bodyPr wrap="square">
            <a:spAutoFit/>
          </a:bodyPr>
          <a:lstStyle/>
          <a:p>
            <a:pPr algn="l">
              <a:defRPr sz="1100" b="1">
                <a:solidFill>
                  <a:srgbClr val="EE0000"/>
                </a:solidFill>
                <a:latin typeface="Aptos"/>
              </a:defRPr>
            </a:pPr>
            <a:r>
              <a:t>Peer review</a:t>
            </a:r>
          </a:p>
        </p:txBody>
      </p:sp>
      <p:sp>
        <p:nvSpPr>
          <p:cNvPr id="39" name="TextBox 38"/>
          <p:cNvSpPr txBox="1"/>
          <p:nvPr/>
        </p:nvSpPr>
        <p:spPr>
          <a:xfrm>
            <a:off x="2194560" y="5166360"/>
            <a:ext cx="3840480" cy="228600"/>
          </a:xfrm>
          <a:prstGeom prst="rect">
            <a:avLst/>
          </a:prstGeom>
          <a:noFill/>
        </p:spPr>
        <p:txBody>
          <a:bodyPr wrap="square">
            <a:spAutoFit/>
          </a:bodyPr>
          <a:lstStyle/>
          <a:p>
            <a:pPr algn="l">
              <a:defRPr sz="1000" b="0">
                <a:solidFill>
                  <a:srgbClr val="333333"/>
                </a:solidFill>
                <a:latin typeface="Aptos"/>
              </a:defRPr>
            </a:pPr>
            <a:r>
              <a:t>At least one architect must approve before publish</a:t>
            </a:r>
          </a:p>
        </p:txBody>
      </p:sp>
      <p:sp>
        <p:nvSpPr>
          <p:cNvPr id="40" name="TextBox 39"/>
          <p:cNvSpPr txBox="1"/>
          <p:nvPr/>
        </p:nvSpPr>
        <p:spPr>
          <a:xfrm>
            <a:off x="6217920" y="5166360"/>
            <a:ext cx="1645920" cy="228600"/>
          </a:xfrm>
          <a:prstGeom prst="rect">
            <a:avLst/>
          </a:prstGeom>
          <a:noFill/>
        </p:spPr>
        <p:txBody>
          <a:bodyPr wrap="square">
            <a:spAutoFit/>
          </a:bodyPr>
          <a:lstStyle/>
          <a:p>
            <a:pPr algn="l">
              <a:defRPr sz="1100" b="1">
                <a:solidFill>
                  <a:srgbClr val="EE0000"/>
                </a:solidFill>
                <a:latin typeface="Aptos"/>
              </a:defRPr>
            </a:pPr>
            <a:r>
              <a:t>Documentation</a:t>
            </a:r>
          </a:p>
        </p:txBody>
      </p:sp>
      <p:sp>
        <p:nvSpPr>
          <p:cNvPr id="41" name="TextBox 40"/>
          <p:cNvSpPr txBox="1"/>
          <p:nvPr/>
        </p:nvSpPr>
        <p:spPr>
          <a:xfrm>
            <a:off x="7955280" y="5166360"/>
            <a:ext cx="3840480" cy="228600"/>
          </a:xfrm>
          <a:prstGeom prst="rect">
            <a:avLst/>
          </a:prstGeom>
          <a:noFill/>
        </p:spPr>
        <p:txBody>
          <a:bodyPr wrap="square">
            <a:spAutoFit/>
          </a:bodyPr>
          <a:lstStyle/>
          <a:p>
            <a:pPr algn="l">
              <a:defRPr sz="1000" b="0">
                <a:solidFill>
                  <a:srgbClr val="333333"/>
                </a:solidFill>
                <a:latin typeface="Aptos"/>
              </a:defRPr>
            </a:pPr>
            <a:r>
              <a:t>Charter, examples, changelog, and migration notes required</a:t>
            </a:r>
          </a:p>
        </p:txBody>
      </p:sp>
      <p:sp>
        <p:nvSpPr>
          <p:cNvPr id="42" name="TextBox 41"/>
          <p:cNvSpPr txBox="1"/>
          <p:nvPr/>
        </p:nvSpPr>
        <p:spPr>
          <a:xfrm>
            <a:off x="274320" y="6263640"/>
            <a:ext cx="9144000" cy="274320"/>
          </a:xfrm>
          <a:prstGeom prst="rect">
            <a:avLst/>
          </a:prstGeom>
          <a:noFill/>
        </p:spPr>
        <p:txBody>
          <a:bodyPr wrap="square">
            <a:spAutoFit/>
          </a:bodyPr>
          <a:lstStyle/>
          <a:p>
            <a:pPr algn="l">
              <a:defRPr sz="800" b="0">
                <a:solidFill>
                  <a:srgbClr val="666666"/>
                </a:solidFill>
                <a:latin typeface="Aptos"/>
              </a:defRPr>
            </a:pPr>
            <a:r>
              <a:t>CONFIDENTIAL  |  Microsoft Accelerate Factory  |  Copilot Squad + Snap Model</a:t>
            </a:r>
          </a:p>
        </p:txBody>
      </p:sp>
      <p:sp>
        <p:nvSpPr>
          <p:cNvPr id="43" name="TextBox 42"/>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
            <a:ext cx="12192000" cy="566928"/>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600" b="1">
                <a:solidFill>
                  <a:srgbClr val="FFFFFF"/>
                </a:solidFill>
                <a:latin typeface="Aptos Display"/>
              </a:defRPr>
            </a:pPr>
            <a:r>
              <a:t>Snap Lifecycle</a:t>
            </a:r>
          </a:p>
        </p:txBody>
      </p:sp>
      <p:sp>
        <p:nvSpPr>
          <p:cNvPr id="3" name="TextBox 2"/>
          <p:cNvSpPr txBox="1"/>
          <p:nvPr/>
        </p:nvSpPr>
        <p:spPr>
          <a:xfrm>
            <a:off x="457200" y="914400"/>
            <a:ext cx="10972800" cy="320040"/>
          </a:xfrm>
          <a:prstGeom prst="rect">
            <a:avLst/>
          </a:prstGeom>
          <a:noFill/>
        </p:spPr>
        <p:txBody>
          <a:bodyPr wrap="square">
            <a:spAutoFit/>
          </a:bodyPr>
          <a:lstStyle/>
          <a:p>
            <a:pPr algn="l">
              <a:defRPr sz="1300" b="0">
                <a:solidFill>
                  <a:srgbClr val="4A4E66"/>
                </a:solidFill>
                <a:latin typeface="Aptos"/>
              </a:defRPr>
            </a:pPr>
            <a:r>
              <a:t>Snap presets are living assets. They evolve as agents improve and new patterns emerge.</a:t>
            </a:r>
          </a:p>
        </p:txBody>
      </p:sp>
      <p:sp>
        <p:nvSpPr>
          <p:cNvPr id="4" name="Rounded Rectangle 3"/>
          <p:cNvSpPr/>
          <p:nvPr/>
        </p:nvSpPr>
        <p:spPr>
          <a:xfrm>
            <a:off x="182880" y="1417320"/>
            <a:ext cx="1508760" cy="2560320"/>
          </a:xfrm>
          <a:prstGeom prst="roundRect">
            <a:avLst/>
          </a:prstGeom>
          <a:solidFill>
            <a:srgbClr val="F8F8FA"/>
          </a:solidFill>
          <a:ln w="12700">
            <a:solidFill>
              <a:srgbClr val="01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1554480"/>
            <a:ext cx="457200" cy="457200"/>
          </a:xfrm>
          <a:prstGeom prst="ellipse">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Aptos"/>
              </a:defRPr>
            </a:pPr>
            <a:r>
              <a:t>1</a:t>
            </a:r>
          </a:p>
        </p:txBody>
      </p:sp>
      <p:sp>
        <p:nvSpPr>
          <p:cNvPr id="6" name="TextBox 5"/>
          <p:cNvSpPr txBox="1"/>
          <p:nvPr/>
        </p:nvSpPr>
        <p:spPr>
          <a:xfrm>
            <a:off x="228600" y="2148840"/>
            <a:ext cx="1417320" cy="228600"/>
          </a:xfrm>
          <a:prstGeom prst="rect">
            <a:avLst/>
          </a:prstGeom>
          <a:noFill/>
        </p:spPr>
        <p:txBody>
          <a:bodyPr wrap="square">
            <a:spAutoFit/>
          </a:bodyPr>
          <a:lstStyle/>
          <a:p>
            <a:pPr algn="ctr">
              <a:defRPr sz="1100" b="1">
                <a:solidFill>
                  <a:srgbClr val="0178D4"/>
                </a:solidFill>
                <a:latin typeface="Aptos"/>
              </a:defRPr>
            </a:pPr>
            <a:r>
              <a:t>CREATE</a:t>
            </a:r>
          </a:p>
        </p:txBody>
      </p:sp>
      <p:sp>
        <p:nvSpPr>
          <p:cNvPr id="7" name="TextBox 6"/>
          <p:cNvSpPr txBox="1"/>
          <p:nvPr/>
        </p:nvSpPr>
        <p:spPr>
          <a:xfrm>
            <a:off x="228600" y="2423160"/>
            <a:ext cx="1417320" cy="1097280"/>
          </a:xfrm>
          <a:prstGeom prst="rect">
            <a:avLst/>
          </a:prstGeom>
          <a:noFill/>
        </p:spPr>
        <p:txBody>
          <a:bodyPr wrap="square">
            <a:spAutoFit/>
          </a:bodyPr>
          <a:lstStyle/>
          <a:p>
            <a:pPr>
              <a:spcAft>
                <a:spcPts val="300"/>
              </a:spcAft>
              <a:defRPr sz="900" b="0">
                <a:solidFill>
                  <a:srgbClr val="333333"/>
                </a:solidFill>
                <a:latin typeface="Aptos"/>
              </a:defRPr>
            </a:pPr>
            <a:r>
              <a:t>Define team</a:t>
            </a:r>
          </a:p>
          <a:p>
            <a:pPr>
              <a:spcAft>
                <a:spcPts val="300"/>
              </a:spcAft>
              <a:defRPr sz="900" b="0">
                <a:solidFill>
                  <a:srgbClr val="333333"/>
                </a:solidFill>
                <a:latin typeface="Aptos"/>
              </a:defRPr>
            </a:pPr>
            <a:r>
              <a:t>composition,</a:t>
            </a:r>
          </a:p>
          <a:p>
            <a:pPr>
              <a:spcAft>
                <a:spcPts val="300"/>
              </a:spcAft>
              <a:defRPr sz="900" b="0">
                <a:solidFill>
                  <a:srgbClr val="333333"/>
                </a:solidFill>
                <a:latin typeface="Aptos"/>
              </a:defRPr>
            </a:pPr>
            <a:r>
              <a:t>agents, routing</a:t>
            </a:r>
          </a:p>
        </p:txBody>
      </p:sp>
      <p:sp>
        <p:nvSpPr>
          <p:cNvPr id="8" name="Right Arrow 7"/>
          <p:cNvSpPr/>
          <p:nvPr/>
        </p:nvSpPr>
        <p:spPr>
          <a:xfrm>
            <a:off x="1719072" y="1783080"/>
            <a:ext cx="91440" cy="228600"/>
          </a:xfrm>
          <a:prstGeom prst="rightArrow">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847088" y="1417320"/>
            <a:ext cx="1508760" cy="2560320"/>
          </a:xfrm>
          <a:prstGeom prst="roundRect">
            <a:avLst/>
          </a:prstGeom>
          <a:solidFill>
            <a:srgbClr val="F8F8FA"/>
          </a:solidFill>
          <a:ln w="12700">
            <a:solidFill>
              <a:srgbClr val="4636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304288" y="1554480"/>
            <a:ext cx="457200" cy="457200"/>
          </a:xfrm>
          <a:prstGeom prst="ellipse">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Aptos"/>
              </a:defRPr>
            </a:pPr>
            <a:r>
              <a:t>2</a:t>
            </a:r>
          </a:p>
        </p:txBody>
      </p:sp>
      <p:sp>
        <p:nvSpPr>
          <p:cNvPr id="11" name="TextBox 10"/>
          <p:cNvSpPr txBox="1"/>
          <p:nvPr/>
        </p:nvSpPr>
        <p:spPr>
          <a:xfrm>
            <a:off x="1892808" y="2148840"/>
            <a:ext cx="1417320" cy="228600"/>
          </a:xfrm>
          <a:prstGeom prst="rect">
            <a:avLst/>
          </a:prstGeom>
          <a:noFill/>
        </p:spPr>
        <p:txBody>
          <a:bodyPr wrap="square">
            <a:spAutoFit/>
          </a:bodyPr>
          <a:lstStyle/>
          <a:p>
            <a:pPr algn="ctr">
              <a:defRPr sz="1100" b="1">
                <a:solidFill>
                  <a:srgbClr val="463668"/>
                </a:solidFill>
                <a:latin typeface="Aptos"/>
              </a:defRPr>
            </a:pPr>
            <a:r>
              <a:t>VALIDATE</a:t>
            </a:r>
          </a:p>
        </p:txBody>
      </p:sp>
      <p:sp>
        <p:nvSpPr>
          <p:cNvPr id="12" name="TextBox 11"/>
          <p:cNvSpPr txBox="1"/>
          <p:nvPr/>
        </p:nvSpPr>
        <p:spPr>
          <a:xfrm>
            <a:off x="1892808" y="2423160"/>
            <a:ext cx="1417320" cy="1097280"/>
          </a:xfrm>
          <a:prstGeom prst="rect">
            <a:avLst/>
          </a:prstGeom>
          <a:noFill/>
        </p:spPr>
        <p:txBody>
          <a:bodyPr wrap="square">
            <a:spAutoFit/>
          </a:bodyPr>
          <a:lstStyle/>
          <a:p>
            <a:pPr>
              <a:spcAft>
                <a:spcPts val="300"/>
              </a:spcAft>
              <a:defRPr sz="900" b="0">
                <a:solidFill>
                  <a:srgbClr val="333333"/>
                </a:solidFill>
                <a:latin typeface="Aptos"/>
              </a:defRPr>
            </a:pPr>
            <a:r>
              <a:t>Test with sample</a:t>
            </a:r>
          </a:p>
          <a:p>
            <a:pPr>
              <a:spcAft>
                <a:spcPts val="300"/>
              </a:spcAft>
              <a:defRPr sz="900" b="0">
                <a:solidFill>
                  <a:srgbClr val="333333"/>
                </a:solidFill>
                <a:latin typeface="Aptos"/>
              </a:defRPr>
            </a:pPr>
            <a:r>
              <a:t>project. Verify</a:t>
            </a:r>
          </a:p>
          <a:p>
            <a:pPr>
              <a:spcAft>
                <a:spcPts val="300"/>
              </a:spcAft>
              <a:defRPr sz="900" b="0">
                <a:solidFill>
                  <a:srgbClr val="333333"/>
                </a:solidFill>
                <a:latin typeface="Aptos"/>
              </a:defRPr>
            </a:pPr>
            <a:r>
              <a:t>routing works</a:t>
            </a:r>
          </a:p>
        </p:txBody>
      </p:sp>
      <p:sp>
        <p:nvSpPr>
          <p:cNvPr id="13" name="Right Arrow 12"/>
          <p:cNvSpPr/>
          <p:nvPr/>
        </p:nvSpPr>
        <p:spPr>
          <a:xfrm>
            <a:off x="3383280" y="1783080"/>
            <a:ext cx="91440" cy="228600"/>
          </a:xfrm>
          <a:prstGeom prst="rightArrow">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511296" y="1417320"/>
            <a:ext cx="1508760" cy="2560320"/>
          </a:xfrm>
          <a:prstGeom prst="roundRect">
            <a:avLst/>
          </a:prstGeom>
          <a:solidFill>
            <a:srgbClr val="F8F8FA"/>
          </a:solidFill>
          <a:ln w="12700">
            <a:solidFill>
              <a:srgbClr val="FE8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968496" y="1554480"/>
            <a:ext cx="457200" cy="457200"/>
          </a:xfrm>
          <a:prstGeom prst="ellipse">
            <a:avLst/>
          </a:prstGeom>
          <a:solidFill>
            <a:srgbClr val="FE8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Aptos"/>
              </a:defRPr>
            </a:pPr>
            <a:r>
              <a:t>3</a:t>
            </a:r>
          </a:p>
        </p:txBody>
      </p:sp>
      <p:sp>
        <p:nvSpPr>
          <p:cNvPr id="16" name="TextBox 15"/>
          <p:cNvSpPr txBox="1"/>
          <p:nvPr/>
        </p:nvSpPr>
        <p:spPr>
          <a:xfrm>
            <a:off x="3557016" y="2148840"/>
            <a:ext cx="1417320" cy="228600"/>
          </a:xfrm>
          <a:prstGeom prst="rect">
            <a:avLst/>
          </a:prstGeom>
          <a:noFill/>
        </p:spPr>
        <p:txBody>
          <a:bodyPr wrap="square">
            <a:spAutoFit/>
          </a:bodyPr>
          <a:lstStyle/>
          <a:p>
            <a:pPr algn="ctr">
              <a:defRPr sz="1100" b="1">
                <a:solidFill>
                  <a:srgbClr val="FE8B00"/>
                </a:solidFill>
                <a:latin typeface="Aptos"/>
              </a:defRPr>
            </a:pPr>
            <a:r>
              <a:t>PUBLISH</a:t>
            </a:r>
          </a:p>
        </p:txBody>
      </p:sp>
      <p:sp>
        <p:nvSpPr>
          <p:cNvPr id="17" name="TextBox 16"/>
          <p:cNvSpPr txBox="1"/>
          <p:nvPr/>
        </p:nvSpPr>
        <p:spPr>
          <a:xfrm>
            <a:off x="3557016" y="2423160"/>
            <a:ext cx="1417320" cy="1097280"/>
          </a:xfrm>
          <a:prstGeom prst="rect">
            <a:avLst/>
          </a:prstGeom>
          <a:noFill/>
        </p:spPr>
        <p:txBody>
          <a:bodyPr wrap="square">
            <a:spAutoFit/>
          </a:bodyPr>
          <a:lstStyle/>
          <a:p>
            <a:pPr>
              <a:spcAft>
                <a:spcPts val="300"/>
              </a:spcAft>
              <a:defRPr sz="900" b="0">
                <a:solidFill>
                  <a:srgbClr val="333333"/>
                </a:solidFill>
                <a:latin typeface="Aptos"/>
              </a:defRPr>
            </a:pPr>
            <a:r>
              <a:t>Add to Central</a:t>
            </a:r>
          </a:p>
          <a:p>
            <a:pPr>
              <a:spcAft>
                <a:spcPts val="300"/>
              </a:spcAft>
              <a:defRPr sz="900" b="0">
                <a:solidFill>
                  <a:srgbClr val="333333"/>
                </a:solidFill>
                <a:latin typeface="Aptos"/>
              </a:defRPr>
            </a:pPr>
            <a:r>
              <a:t>Snap library.</a:t>
            </a:r>
          </a:p>
          <a:p>
            <a:pPr>
              <a:spcAft>
                <a:spcPts val="300"/>
              </a:spcAft>
              <a:defRPr sz="900" b="0">
                <a:solidFill>
                  <a:srgbClr val="333333"/>
                </a:solidFill>
                <a:latin typeface="Aptos"/>
              </a:defRPr>
            </a:pPr>
            <a:r>
              <a:t>Document use cases</a:t>
            </a:r>
          </a:p>
        </p:txBody>
      </p:sp>
      <p:sp>
        <p:nvSpPr>
          <p:cNvPr id="18" name="Right Arrow 17"/>
          <p:cNvSpPr/>
          <p:nvPr/>
        </p:nvSpPr>
        <p:spPr>
          <a:xfrm>
            <a:off x="5047488" y="1783080"/>
            <a:ext cx="91440" cy="228600"/>
          </a:xfrm>
          <a:prstGeom prst="rightArrow">
            <a:avLst/>
          </a:prstGeom>
          <a:solidFill>
            <a:srgbClr val="FE8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75504" y="1417320"/>
            <a:ext cx="1508760" cy="2560320"/>
          </a:xfrm>
          <a:prstGeom prst="roundRect">
            <a:avLst/>
          </a:prstGeom>
          <a:solidFill>
            <a:srgbClr val="F8F8FA"/>
          </a:solidFill>
          <a:ln w="1270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632704" y="1554480"/>
            <a:ext cx="457200" cy="457200"/>
          </a:xfrm>
          <a:prstGeom prst="ellipse">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Aptos"/>
              </a:defRPr>
            </a:pPr>
            <a:r>
              <a:t>4</a:t>
            </a:r>
          </a:p>
        </p:txBody>
      </p:sp>
      <p:sp>
        <p:nvSpPr>
          <p:cNvPr id="21" name="TextBox 20"/>
          <p:cNvSpPr txBox="1"/>
          <p:nvPr/>
        </p:nvSpPr>
        <p:spPr>
          <a:xfrm>
            <a:off x="5221224" y="2148840"/>
            <a:ext cx="1417320" cy="228600"/>
          </a:xfrm>
          <a:prstGeom prst="rect">
            <a:avLst/>
          </a:prstGeom>
          <a:noFill/>
        </p:spPr>
        <p:txBody>
          <a:bodyPr wrap="square">
            <a:spAutoFit/>
          </a:bodyPr>
          <a:lstStyle/>
          <a:p>
            <a:pPr algn="ctr">
              <a:defRPr sz="1100" b="1">
                <a:solidFill>
                  <a:srgbClr val="00B050"/>
                </a:solidFill>
                <a:latin typeface="Aptos"/>
              </a:defRPr>
            </a:pPr>
            <a:r>
              <a:t>ADOPT</a:t>
            </a:r>
          </a:p>
        </p:txBody>
      </p:sp>
      <p:sp>
        <p:nvSpPr>
          <p:cNvPr id="22" name="TextBox 21"/>
          <p:cNvSpPr txBox="1"/>
          <p:nvPr/>
        </p:nvSpPr>
        <p:spPr>
          <a:xfrm>
            <a:off x="5221224" y="2423160"/>
            <a:ext cx="1417320" cy="1097280"/>
          </a:xfrm>
          <a:prstGeom prst="rect">
            <a:avLst/>
          </a:prstGeom>
          <a:noFill/>
        </p:spPr>
        <p:txBody>
          <a:bodyPr wrap="square">
            <a:spAutoFit/>
          </a:bodyPr>
          <a:lstStyle/>
          <a:p>
            <a:pPr>
              <a:spcAft>
                <a:spcPts val="300"/>
              </a:spcAft>
              <a:defRPr sz="900" b="0">
                <a:solidFill>
                  <a:srgbClr val="333333"/>
                </a:solidFill>
                <a:latin typeface="Aptos"/>
              </a:defRPr>
            </a:pPr>
            <a:r>
              <a:t>Teams select and</a:t>
            </a:r>
          </a:p>
          <a:p>
            <a:pPr>
              <a:spcAft>
                <a:spcPts val="300"/>
              </a:spcAft>
              <a:defRPr sz="900" b="0">
                <a:solidFill>
                  <a:srgbClr val="333333"/>
                </a:solidFill>
                <a:latin typeface="Aptos"/>
              </a:defRPr>
            </a:pPr>
            <a:r>
              <a:t>initialize for</a:t>
            </a:r>
          </a:p>
          <a:p>
            <a:pPr>
              <a:spcAft>
                <a:spcPts val="300"/>
              </a:spcAft>
              <a:defRPr sz="900" b="0">
                <a:solidFill>
                  <a:srgbClr val="333333"/>
                </a:solidFill>
                <a:latin typeface="Aptos"/>
              </a:defRPr>
            </a:pPr>
            <a:r>
              <a:t>new engagements</a:t>
            </a:r>
          </a:p>
        </p:txBody>
      </p:sp>
      <p:sp>
        <p:nvSpPr>
          <p:cNvPr id="23" name="Right Arrow 22"/>
          <p:cNvSpPr/>
          <p:nvPr/>
        </p:nvSpPr>
        <p:spPr>
          <a:xfrm>
            <a:off x="6711696" y="1783080"/>
            <a:ext cx="91440" cy="228600"/>
          </a:xfrm>
          <a:prstGeom prst="rightArrow">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839712" y="1417320"/>
            <a:ext cx="1508760" cy="2560320"/>
          </a:xfrm>
          <a:prstGeom prst="roundRect">
            <a:avLst/>
          </a:prstGeom>
          <a:solidFill>
            <a:srgbClr val="F8F8FA"/>
          </a:solidFill>
          <a:ln w="12700">
            <a:solidFill>
              <a:srgbClr val="225B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296912" y="1554480"/>
            <a:ext cx="457200" cy="457200"/>
          </a:xfrm>
          <a:prstGeom prst="ellipse">
            <a:avLst/>
          </a:prstGeom>
          <a:solidFill>
            <a:srgbClr val="225B6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Aptos"/>
              </a:defRPr>
            </a:pPr>
            <a:r>
              <a:t>5</a:t>
            </a:r>
          </a:p>
        </p:txBody>
      </p:sp>
      <p:sp>
        <p:nvSpPr>
          <p:cNvPr id="26" name="TextBox 25"/>
          <p:cNvSpPr txBox="1"/>
          <p:nvPr/>
        </p:nvSpPr>
        <p:spPr>
          <a:xfrm>
            <a:off x="6885432" y="2148840"/>
            <a:ext cx="1417320" cy="228600"/>
          </a:xfrm>
          <a:prstGeom prst="rect">
            <a:avLst/>
          </a:prstGeom>
          <a:noFill/>
        </p:spPr>
        <p:txBody>
          <a:bodyPr wrap="square">
            <a:spAutoFit/>
          </a:bodyPr>
          <a:lstStyle/>
          <a:p>
            <a:pPr algn="ctr">
              <a:defRPr sz="1100" b="1">
                <a:solidFill>
                  <a:srgbClr val="225B62"/>
                </a:solidFill>
                <a:latin typeface="Aptos"/>
              </a:defRPr>
            </a:pPr>
            <a:r>
              <a:t>IMPROVE</a:t>
            </a:r>
          </a:p>
        </p:txBody>
      </p:sp>
      <p:sp>
        <p:nvSpPr>
          <p:cNvPr id="27" name="TextBox 26"/>
          <p:cNvSpPr txBox="1"/>
          <p:nvPr/>
        </p:nvSpPr>
        <p:spPr>
          <a:xfrm>
            <a:off x="6885432" y="2423160"/>
            <a:ext cx="1417320" cy="1097280"/>
          </a:xfrm>
          <a:prstGeom prst="rect">
            <a:avLst/>
          </a:prstGeom>
          <a:noFill/>
        </p:spPr>
        <p:txBody>
          <a:bodyPr wrap="square">
            <a:spAutoFit/>
          </a:bodyPr>
          <a:lstStyle/>
          <a:p>
            <a:pPr>
              <a:spcAft>
                <a:spcPts val="300"/>
              </a:spcAft>
              <a:defRPr sz="900" b="0">
                <a:solidFill>
                  <a:srgbClr val="333333"/>
                </a:solidFill>
                <a:latin typeface="Aptos"/>
              </a:defRPr>
            </a:pPr>
            <a:r>
              <a:t>Feedback from</a:t>
            </a:r>
          </a:p>
          <a:p>
            <a:pPr>
              <a:spcAft>
                <a:spcPts val="300"/>
              </a:spcAft>
              <a:defRPr sz="900" b="0">
                <a:solidFill>
                  <a:srgbClr val="333333"/>
                </a:solidFill>
                <a:latin typeface="Aptos"/>
              </a:defRPr>
            </a:pPr>
            <a:r>
              <a:t>SubSquads drives</a:t>
            </a:r>
          </a:p>
          <a:p>
            <a:pPr>
              <a:spcAft>
                <a:spcPts val="300"/>
              </a:spcAft>
              <a:defRPr sz="900" b="0">
                <a:solidFill>
                  <a:srgbClr val="333333"/>
                </a:solidFill>
                <a:latin typeface="Aptos"/>
              </a:defRPr>
            </a:pPr>
            <a:r>
              <a:t>preset updates</a:t>
            </a:r>
          </a:p>
        </p:txBody>
      </p:sp>
      <p:sp>
        <p:nvSpPr>
          <p:cNvPr id="28" name="Right Arrow 27"/>
          <p:cNvSpPr/>
          <p:nvPr/>
        </p:nvSpPr>
        <p:spPr>
          <a:xfrm>
            <a:off x="8375904" y="1783080"/>
            <a:ext cx="91440" cy="228600"/>
          </a:xfrm>
          <a:prstGeom prst="rightArrow">
            <a:avLst/>
          </a:prstGeom>
          <a:solidFill>
            <a:srgbClr val="225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503919" y="1417320"/>
            <a:ext cx="1508760" cy="2560320"/>
          </a:xfrm>
          <a:prstGeom prst="roundRect">
            <a:avLst/>
          </a:prstGeom>
          <a:solidFill>
            <a:srgbClr val="F8F8FA"/>
          </a:solidFill>
          <a:ln w="12700">
            <a:solidFill>
              <a:srgbClr val="D83B0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961119" y="1554480"/>
            <a:ext cx="457200" cy="457200"/>
          </a:xfrm>
          <a:prstGeom prst="ellipse">
            <a:avLst/>
          </a:prstGeom>
          <a:solidFill>
            <a:srgbClr val="D83B0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Aptos"/>
              </a:defRPr>
            </a:pPr>
            <a:r>
              <a:t>6</a:t>
            </a:r>
          </a:p>
        </p:txBody>
      </p:sp>
      <p:sp>
        <p:nvSpPr>
          <p:cNvPr id="31" name="TextBox 30"/>
          <p:cNvSpPr txBox="1"/>
          <p:nvPr/>
        </p:nvSpPr>
        <p:spPr>
          <a:xfrm>
            <a:off x="8549639" y="2148840"/>
            <a:ext cx="1417320" cy="228600"/>
          </a:xfrm>
          <a:prstGeom prst="rect">
            <a:avLst/>
          </a:prstGeom>
          <a:noFill/>
        </p:spPr>
        <p:txBody>
          <a:bodyPr wrap="square">
            <a:spAutoFit/>
          </a:bodyPr>
          <a:lstStyle/>
          <a:p>
            <a:pPr algn="ctr">
              <a:defRPr sz="1100" b="1">
                <a:solidFill>
                  <a:srgbClr val="D83B02"/>
                </a:solidFill>
                <a:latin typeface="Aptos"/>
              </a:defRPr>
            </a:pPr>
            <a:r>
              <a:t>VERSION</a:t>
            </a:r>
          </a:p>
        </p:txBody>
      </p:sp>
      <p:sp>
        <p:nvSpPr>
          <p:cNvPr id="32" name="TextBox 31"/>
          <p:cNvSpPr txBox="1"/>
          <p:nvPr/>
        </p:nvSpPr>
        <p:spPr>
          <a:xfrm>
            <a:off x="8549639" y="2423160"/>
            <a:ext cx="1417320" cy="1097280"/>
          </a:xfrm>
          <a:prstGeom prst="rect">
            <a:avLst/>
          </a:prstGeom>
          <a:noFill/>
        </p:spPr>
        <p:txBody>
          <a:bodyPr wrap="square">
            <a:spAutoFit/>
          </a:bodyPr>
          <a:lstStyle/>
          <a:p>
            <a:pPr>
              <a:spcAft>
                <a:spcPts val="300"/>
              </a:spcAft>
              <a:defRPr sz="900" b="0">
                <a:solidFill>
                  <a:srgbClr val="333333"/>
                </a:solidFill>
                <a:latin typeface="Aptos"/>
              </a:defRPr>
            </a:pPr>
            <a:r>
              <a:t>Track changes.</a:t>
            </a:r>
          </a:p>
          <a:p>
            <a:pPr>
              <a:spcAft>
                <a:spcPts val="300"/>
              </a:spcAft>
              <a:defRPr sz="900" b="0">
                <a:solidFill>
                  <a:srgbClr val="333333"/>
                </a:solidFill>
                <a:latin typeface="Aptos"/>
              </a:defRPr>
            </a:pPr>
            <a:r>
              <a:t>Semantic versioning.</a:t>
            </a:r>
          </a:p>
          <a:p>
            <a:pPr>
              <a:spcAft>
                <a:spcPts val="300"/>
              </a:spcAft>
              <a:defRPr sz="900" b="0">
                <a:solidFill>
                  <a:srgbClr val="333333"/>
                </a:solidFill>
                <a:latin typeface="Aptos"/>
              </a:defRPr>
            </a:pPr>
            <a:r>
              <a:t>Backward compat</a:t>
            </a:r>
          </a:p>
        </p:txBody>
      </p:sp>
      <p:sp>
        <p:nvSpPr>
          <p:cNvPr id="33" name="Right Arrow 32"/>
          <p:cNvSpPr/>
          <p:nvPr/>
        </p:nvSpPr>
        <p:spPr>
          <a:xfrm>
            <a:off x="10040111" y="1783080"/>
            <a:ext cx="91440" cy="228600"/>
          </a:xfrm>
          <a:prstGeom prst="rightArrow">
            <a:avLst/>
          </a:prstGeom>
          <a:solidFill>
            <a:srgbClr val="D83B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0168128" y="1417320"/>
            <a:ext cx="1508760" cy="2560320"/>
          </a:xfrm>
          <a:prstGeom prst="roundRect">
            <a:avLst/>
          </a:prstGeom>
          <a:solidFill>
            <a:srgbClr val="F8F8FA"/>
          </a:solidFill>
          <a:ln w="12700">
            <a:solidFill>
              <a:srgbClr val="4A4E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625328" y="1554480"/>
            <a:ext cx="457200" cy="457200"/>
          </a:xfrm>
          <a:prstGeom prst="ellipse">
            <a:avLst/>
          </a:prstGeom>
          <a:solidFill>
            <a:srgbClr val="4A4E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Aptos"/>
              </a:defRPr>
            </a:pPr>
            <a:r>
              <a:t>7</a:t>
            </a:r>
          </a:p>
        </p:txBody>
      </p:sp>
      <p:sp>
        <p:nvSpPr>
          <p:cNvPr id="36" name="TextBox 35"/>
          <p:cNvSpPr txBox="1"/>
          <p:nvPr/>
        </p:nvSpPr>
        <p:spPr>
          <a:xfrm>
            <a:off x="10213848" y="2148840"/>
            <a:ext cx="1417320" cy="228600"/>
          </a:xfrm>
          <a:prstGeom prst="rect">
            <a:avLst/>
          </a:prstGeom>
          <a:noFill/>
        </p:spPr>
        <p:txBody>
          <a:bodyPr wrap="square">
            <a:spAutoFit/>
          </a:bodyPr>
          <a:lstStyle/>
          <a:p>
            <a:pPr algn="ctr">
              <a:defRPr sz="1100" b="1">
                <a:solidFill>
                  <a:srgbClr val="4A4E66"/>
                </a:solidFill>
                <a:latin typeface="Aptos"/>
              </a:defRPr>
            </a:pPr>
            <a:r>
              <a:t>RETIRE</a:t>
            </a:r>
          </a:p>
        </p:txBody>
      </p:sp>
      <p:sp>
        <p:nvSpPr>
          <p:cNvPr id="37" name="TextBox 36"/>
          <p:cNvSpPr txBox="1"/>
          <p:nvPr/>
        </p:nvSpPr>
        <p:spPr>
          <a:xfrm>
            <a:off x="10213848" y="2423160"/>
            <a:ext cx="1417320" cy="1097280"/>
          </a:xfrm>
          <a:prstGeom prst="rect">
            <a:avLst/>
          </a:prstGeom>
          <a:noFill/>
        </p:spPr>
        <p:txBody>
          <a:bodyPr wrap="square">
            <a:spAutoFit/>
          </a:bodyPr>
          <a:lstStyle/>
          <a:p>
            <a:pPr>
              <a:spcAft>
                <a:spcPts val="300"/>
              </a:spcAft>
              <a:defRPr sz="900" b="0">
                <a:solidFill>
                  <a:srgbClr val="333333"/>
                </a:solidFill>
                <a:latin typeface="Aptos"/>
              </a:defRPr>
            </a:pPr>
            <a:r>
              <a:t>Sunset presets</a:t>
            </a:r>
          </a:p>
          <a:p>
            <a:pPr>
              <a:spcAft>
                <a:spcPts val="300"/>
              </a:spcAft>
              <a:defRPr sz="900" b="0">
                <a:solidFill>
                  <a:srgbClr val="333333"/>
                </a:solidFill>
                <a:latin typeface="Aptos"/>
              </a:defRPr>
            </a:pPr>
            <a:r>
              <a:t>replaced by better</a:t>
            </a:r>
          </a:p>
          <a:p>
            <a:pPr>
              <a:spcAft>
                <a:spcPts val="300"/>
              </a:spcAft>
              <a:defRPr sz="900" b="0">
                <a:solidFill>
                  <a:srgbClr val="333333"/>
                </a:solidFill>
                <a:latin typeface="Aptos"/>
              </a:defRPr>
            </a:pPr>
            <a:r>
              <a:t>configurations</a:t>
            </a:r>
          </a:p>
        </p:txBody>
      </p:sp>
      <p:sp>
        <p:nvSpPr>
          <p:cNvPr id="38" name="Rectangle 37"/>
          <p:cNvSpPr/>
          <p:nvPr/>
        </p:nvSpPr>
        <p:spPr>
          <a:xfrm>
            <a:off x="457200" y="4206240"/>
            <a:ext cx="2560320" cy="256032"/>
          </a:xfrm>
          <a:prstGeom prst="rect">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1600" rIns="101600"/>
          <a:lstStyle/>
          <a:p>
            <a:pPr algn="ctr">
              <a:defRPr sz="1000" b="1">
                <a:solidFill>
                  <a:srgbClr val="FFFFFF"/>
                </a:solidFill>
                <a:latin typeface="Aptos"/>
              </a:defRPr>
            </a:pPr>
            <a:r>
              <a:t>SNAP vs AGENT LIFECYCLE</a:t>
            </a:r>
          </a:p>
        </p:txBody>
      </p:sp>
      <p:sp>
        <p:nvSpPr>
          <p:cNvPr id="39" name="TextBox 38"/>
          <p:cNvSpPr txBox="1"/>
          <p:nvPr/>
        </p:nvSpPr>
        <p:spPr>
          <a:xfrm>
            <a:off x="640080" y="4617720"/>
            <a:ext cx="1097280" cy="274320"/>
          </a:xfrm>
          <a:prstGeom prst="rect">
            <a:avLst/>
          </a:prstGeom>
          <a:noFill/>
        </p:spPr>
        <p:txBody>
          <a:bodyPr wrap="square">
            <a:spAutoFit/>
          </a:bodyPr>
          <a:lstStyle/>
          <a:p>
            <a:pPr algn="l">
              <a:defRPr sz="1100" b="1">
                <a:solidFill>
                  <a:srgbClr val="463668"/>
                </a:solidFill>
                <a:latin typeface="Aptos"/>
              </a:defRPr>
            </a:pPr>
            <a:r>
              <a:t>Agents</a:t>
            </a:r>
          </a:p>
        </p:txBody>
      </p:sp>
      <p:sp>
        <p:nvSpPr>
          <p:cNvPr id="40" name="TextBox 39"/>
          <p:cNvSpPr txBox="1"/>
          <p:nvPr/>
        </p:nvSpPr>
        <p:spPr>
          <a:xfrm>
            <a:off x="1828800" y="4617720"/>
            <a:ext cx="9601200" cy="274320"/>
          </a:xfrm>
          <a:prstGeom prst="rect">
            <a:avLst/>
          </a:prstGeom>
          <a:noFill/>
        </p:spPr>
        <p:txBody>
          <a:bodyPr wrap="square">
            <a:spAutoFit/>
          </a:bodyPr>
          <a:lstStyle/>
          <a:p>
            <a:pPr algn="l">
              <a:defRPr sz="1000" b="0">
                <a:solidFill>
                  <a:srgbClr val="333333"/>
                </a:solidFill>
                <a:latin typeface="Aptos"/>
              </a:defRPr>
            </a:pPr>
            <a:r>
              <a:t>Individual capabilities. Versioned independently. Can exist in multiple Snaps.</a:t>
            </a:r>
          </a:p>
        </p:txBody>
      </p:sp>
      <p:sp>
        <p:nvSpPr>
          <p:cNvPr id="41" name="TextBox 40"/>
          <p:cNvSpPr txBox="1"/>
          <p:nvPr/>
        </p:nvSpPr>
        <p:spPr>
          <a:xfrm>
            <a:off x="640080" y="5001768"/>
            <a:ext cx="1097280" cy="274320"/>
          </a:xfrm>
          <a:prstGeom prst="rect">
            <a:avLst/>
          </a:prstGeom>
          <a:noFill/>
        </p:spPr>
        <p:txBody>
          <a:bodyPr wrap="square">
            <a:spAutoFit/>
          </a:bodyPr>
          <a:lstStyle/>
          <a:p>
            <a:pPr algn="l">
              <a:defRPr sz="1100" b="1">
                <a:solidFill>
                  <a:srgbClr val="463668"/>
                </a:solidFill>
                <a:latin typeface="Aptos"/>
              </a:defRPr>
            </a:pPr>
            <a:r>
              <a:t>Snaps</a:t>
            </a:r>
          </a:p>
        </p:txBody>
      </p:sp>
      <p:sp>
        <p:nvSpPr>
          <p:cNvPr id="42" name="TextBox 41"/>
          <p:cNvSpPr txBox="1"/>
          <p:nvPr/>
        </p:nvSpPr>
        <p:spPr>
          <a:xfrm>
            <a:off x="1828800" y="5001768"/>
            <a:ext cx="9601200" cy="274320"/>
          </a:xfrm>
          <a:prstGeom prst="rect">
            <a:avLst/>
          </a:prstGeom>
          <a:noFill/>
        </p:spPr>
        <p:txBody>
          <a:bodyPr wrap="square">
            <a:spAutoFit/>
          </a:bodyPr>
          <a:lstStyle/>
          <a:p>
            <a:pPr algn="l">
              <a:defRPr sz="1000" b="0">
                <a:solidFill>
                  <a:srgbClr val="333333"/>
                </a:solidFill>
                <a:latin typeface="Aptos"/>
              </a:defRPr>
            </a:pPr>
            <a:r>
              <a:t>Team compositions. Bundle agents + routing + memory. Versioned as a whole.</a:t>
            </a:r>
          </a:p>
        </p:txBody>
      </p:sp>
      <p:sp>
        <p:nvSpPr>
          <p:cNvPr id="43" name="TextBox 42"/>
          <p:cNvSpPr txBox="1"/>
          <p:nvPr/>
        </p:nvSpPr>
        <p:spPr>
          <a:xfrm>
            <a:off x="640080" y="5385816"/>
            <a:ext cx="1097280" cy="274320"/>
          </a:xfrm>
          <a:prstGeom prst="rect">
            <a:avLst/>
          </a:prstGeom>
          <a:noFill/>
        </p:spPr>
        <p:txBody>
          <a:bodyPr wrap="square">
            <a:spAutoFit/>
          </a:bodyPr>
          <a:lstStyle/>
          <a:p>
            <a:pPr algn="l">
              <a:defRPr sz="1100" b="1">
                <a:solidFill>
                  <a:srgbClr val="463668"/>
                </a:solidFill>
                <a:latin typeface="Aptos"/>
              </a:defRPr>
            </a:pPr>
            <a:r>
              <a:t>Relationship</a:t>
            </a:r>
          </a:p>
        </p:txBody>
      </p:sp>
      <p:sp>
        <p:nvSpPr>
          <p:cNvPr id="44" name="TextBox 43"/>
          <p:cNvSpPr txBox="1"/>
          <p:nvPr/>
        </p:nvSpPr>
        <p:spPr>
          <a:xfrm>
            <a:off x="1828800" y="5385816"/>
            <a:ext cx="9601200" cy="274320"/>
          </a:xfrm>
          <a:prstGeom prst="rect">
            <a:avLst/>
          </a:prstGeom>
          <a:noFill/>
        </p:spPr>
        <p:txBody>
          <a:bodyPr wrap="square">
            <a:spAutoFit/>
          </a:bodyPr>
          <a:lstStyle/>
          <a:p>
            <a:pPr algn="l">
              <a:defRPr sz="1000" b="0">
                <a:solidFill>
                  <a:srgbClr val="333333"/>
                </a:solidFill>
                <a:latin typeface="Aptos"/>
              </a:defRPr>
            </a:pPr>
            <a:r>
              <a:t>Snaps reference agent versions. Updating an agent can trigger a Snap update.</a:t>
            </a:r>
          </a:p>
        </p:txBody>
      </p:sp>
      <p:sp>
        <p:nvSpPr>
          <p:cNvPr id="45" name="TextBox 44"/>
          <p:cNvSpPr txBox="1"/>
          <p:nvPr/>
        </p:nvSpPr>
        <p:spPr>
          <a:xfrm>
            <a:off x="274320" y="6263640"/>
            <a:ext cx="9144000" cy="274320"/>
          </a:xfrm>
          <a:prstGeom prst="rect">
            <a:avLst/>
          </a:prstGeom>
          <a:noFill/>
        </p:spPr>
        <p:txBody>
          <a:bodyPr wrap="square">
            <a:spAutoFit/>
          </a:bodyPr>
          <a:lstStyle/>
          <a:p>
            <a:pPr algn="l">
              <a:defRPr sz="800" b="0">
                <a:solidFill>
                  <a:srgbClr val="666666"/>
                </a:solidFill>
                <a:latin typeface="Aptos"/>
              </a:defRPr>
            </a:pPr>
            <a:r>
              <a:t>CONFIDENTIAL  |  Microsoft Accelerate Factory  |  Copilot Squad + Snap Model</a:t>
            </a:r>
          </a:p>
        </p:txBody>
      </p:sp>
      <p:sp>
        <p:nvSpPr>
          <p:cNvPr id="46" name="TextBox 45"/>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
            <a:ext cx="12192000" cy="566928"/>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600" b="1">
                <a:solidFill>
                  <a:srgbClr val="FFFFFF"/>
                </a:solidFill>
                <a:latin typeface="Aptos Display"/>
              </a:defRPr>
            </a:pPr>
            <a:r>
              <a:t>Skills Compounding: The Flywheel</a:t>
            </a:r>
          </a:p>
        </p:txBody>
      </p:sp>
      <p:sp>
        <p:nvSpPr>
          <p:cNvPr id="3" name="TextBox 2"/>
          <p:cNvSpPr txBox="1"/>
          <p:nvPr/>
        </p:nvSpPr>
        <p:spPr>
          <a:xfrm>
            <a:off x="457200" y="914400"/>
            <a:ext cx="10972800" cy="320040"/>
          </a:xfrm>
          <a:prstGeom prst="rect">
            <a:avLst/>
          </a:prstGeom>
          <a:noFill/>
        </p:spPr>
        <p:txBody>
          <a:bodyPr wrap="square">
            <a:spAutoFit/>
          </a:bodyPr>
          <a:lstStyle/>
          <a:p>
            <a:pPr algn="l">
              <a:defRPr sz="1300" b="0">
                <a:solidFill>
                  <a:srgbClr val="4A4E66"/>
                </a:solidFill>
                <a:latin typeface="Aptos"/>
              </a:defRPr>
            </a:pPr>
            <a:r>
              <a:t>Every engagement makes the system smarter. Skills don't decay -- they compound.</a:t>
            </a:r>
          </a:p>
        </p:txBody>
      </p:sp>
      <p:sp>
        <p:nvSpPr>
          <p:cNvPr id="4" name="Rounded Rectangle 3"/>
          <p:cNvSpPr/>
          <p:nvPr/>
        </p:nvSpPr>
        <p:spPr>
          <a:xfrm>
            <a:off x="4754880" y="1417320"/>
            <a:ext cx="2560320" cy="1097280"/>
          </a:xfrm>
          <a:prstGeom prst="roundRect">
            <a:avLst/>
          </a:prstGeom>
          <a:solidFill>
            <a:srgbClr val="F8F8FA"/>
          </a:solidFill>
          <a:ln w="12700">
            <a:solidFill>
              <a:srgbClr val="01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892040" y="1463040"/>
            <a:ext cx="2286000" cy="274320"/>
          </a:xfrm>
          <a:prstGeom prst="rect">
            <a:avLst/>
          </a:prstGeom>
          <a:noFill/>
        </p:spPr>
        <p:txBody>
          <a:bodyPr wrap="square">
            <a:spAutoFit/>
          </a:bodyPr>
          <a:lstStyle/>
          <a:p>
            <a:pPr algn="l">
              <a:defRPr sz="1400" b="1">
                <a:solidFill>
                  <a:srgbClr val="0178D4"/>
                </a:solidFill>
                <a:latin typeface="Aptos"/>
              </a:defRPr>
            </a:pPr>
            <a:r>
              <a:t>USE</a:t>
            </a:r>
          </a:p>
        </p:txBody>
      </p:sp>
      <p:sp>
        <p:nvSpPr>
          <p:cNvPr id="6" name="TextBox 5"/>
          <p:cNvSpPr txBox="1"/>
          <p:nvPr/>
        </p:nvSpPr>
        <p:spPr>
          <a:xfrm>
            <a:off x="4892040" y="1783080"/>
            <a:ext cx="2286000" cy="640080"/>
          </a:xfrm>
          <a:prstGeom prst="rect">
            <a:avLst/>
          </a:prstGeom>
          <a:noFill/>
        </p:spPr>
        <p:txBody>
          <a:bodyPr wrap="square">
            <a:spAutoFit/>
          </a:bodyPr>
          <a:lstStyle/>
          <a:p>
            <a:pPr>
              <a:spcAft>
                <a:spcPts val="300"/>
              </a:spcAft>
              <a:defRPr sz="1000" b="0">
                <a:solidFill>
                  <a:srgbClr val="333333"/>
                </a:solidFill>
                <a:latin typeface="Aptos"/>
              </a:defRPr>
            </a:pPr>
            <a:r>
              <a:t>SubSquads deploy agents</a:t>
            </a:r>
          </a:p>
          <a:p>
            <a:pPr>
              <a:spcAft>
                <a:spcPts val="300"/>
              </a:spcAft>
              <a:defRPr sz="1000" b="0">
                <a:solidFill>
                  <a:srgbClr val="333333"/>
                </a:solidFill>
                <a:latin typeface="Aptos"/>
              </a:defRPr>
            </a:pPr>
            <a:r>
              <a:t>in real engagements</a:t>
            </a:r>
          </a:p>
        </p:txBody>
      </p:sp>
      <p:sp>
        <p:nvSpPr>
          <p:cNvPr id="7" name="Rounded Rectangle 6"/>
          <p:cNvSpPr/>
          <p:nvPr/>
        </p:nvSpPr>
        <p:spPr>
          <a:xfrm>
            <a:off x="8046720" y="2286000"/>
            <a:ext cx="2560320" cy="1097280"/>
          </a:xfrm>
          <a:prstGeom prst="roundRect">
            <a:avLst/>
          </a:prstGeom>
          <a:solidFill>
            <a:srgbClr val="F8F8FA"/>
          </a:solidFill>
          <a:ln w="1270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83880" y="2331720"/>
            <a:ext cx="2286000" cy="274320"/>
          </a:xfrm>
          <a:prstGeom prst="rect">
            <a:avLst/>
          </a:prstGeom>
          <a:noFill/>
        </p:spPr>
        <p:txBody>
          <a:bodyPr wrap="square">
            <a:spAutoFit/>
          </a:bodyPr>
          <a:lstStyle/>
          <a:p>
            <a:pPr algn="l">
              <a:defRPr sz="1400" b="1">
                <a:solidFill>
                  <a:srgbClr val="00B050"/>
                </a:solidFill>
                <a:latin typeface="Aptos"/>
              </a:defRPr>
            </a:pPr>
            <a:r>
              <a:t>IMPROVE</a:t>
            </a:r>
          </a:p>
        </p:txBody>
      </p:sp>
      <p:sp>
        <p:nvSpPr>
          <p:cNvPr id="9" name="TextBox 8"/>
          <p:cNvSpPr txBox="1"/>
          <p:nvPr/>
        </p:nvSpPr>
        <p:spPr>
          <a:xfrm>
            <a:off x="8183880" y="2651760"/>
            <a:ext cx="2286000" cy="640080"/>
          </a:xfrm>
          <a:prstGeom prst="rect">
            <a:avLst/>
          </a:prstGeom>
          <a:noFill/>
        </p:spPr>
        <p:txBody>
          <a:bodyPr wrap="square">
            <a:spAutoFit/>
          </a:bodyPr>
          <a:lstStyle/>
          <a:p>
            <a:pPr>
              <a:spcAft>
                <a:spcPts val="300"/>
              </a:spcAft>
              <a:defRPr sz="1000" b="0">
                <a:solidFill>
                  <a:srgbClr val="333333"/>
                </a:solidFill>
                <a:latin typeface="Aptos"/>
              </a:defRPr>
            </a:pPr>
            <a:r>
              <a:t>Teams discover gaps</a:t>
            </a:r>
          </a:p>
          <a:p>
            <a:pPr>
              <a:spcAft>
                <a:spcPts val="300"/>
              </a:spcAft>
              <a:defRPr sz="1000" b="0">
                <a:solidFill>
                  <a:srgbClr val="333333"/>
                </a:solidFill>
                <a:latin typeface="Aptos"/>
              </a:defRPr>
            </a:pPr>
            <a:r>
              <a:t>and fix them</a:t>
            </a:r>
          </a:p>
        </p:txBody>
      </p:sp>
      <p:sp>
        <p:nvSpPr>
          <p:cNvPr id="10" name="Rounded Rectangle 9"/>
          <p:cNvSpPr/>
          <p:nvPr/>
        </p:nvSpPr>
        <p:spPr>
          <a:xfrm>
            <a:off x="7315200" y="4114800"/>
            <a:ext cx="2560320" cy="1097280"/>
          </a:xfrm>
          <a:prstGeom prst="roundRect">
            <a:avLst/>
          </a:prstGeom>
          <a:solidFill>
            <a:srgbClr val="F8F8FA"/>
          </a:solidFill>
          <a:ln w="12700">
            <a:solidFill>
              <a:srgbClr val="4636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4160520"/>
            <a:ext cx="2286000" cy="274320"/>
          </a:xfrm>
          <a:prstGeom prst="rect">
            <a:avLst/>
          </a:prstGeom>
          <a:noFill/>
        </p:spPr>
        <p:txBody>
          <a:bodyPr wrap="square">
            <a:spAutoFit/>
          </a:bodyPr>
          <a:lstStyle/>
          <a:p>
            <a:pPr algn="l">
              <a:defRPr sz="1400" b="1">
                <a:solidFill>
                  <a:srgbClr val="463668"/>
                </a:solidFill>
                <a:latin typeface="Aptos"/>
              </a:defRPr>
            </a:pPr>
            <a:r>
              <a:t>SHARE</a:t>
            </a:r>
          </a:p>
        </p:txBody>
      </p:sp>
      <p:sp>
        <p:nvSpPr>
          <p:cNvPr id="12" name="TextBox 11"/>
          <p:cNvSpPr txBox="1"/>
          <p:nvPr/>
        </p:nvSpPr>
        <p:spPr>
          <a:xfrm>
            <a:off x="7452360" y="4480560"/>
            <a:ext cx="2286000" cy="640080"/>
          </a:xfrm>
          <a:prstGeom prst="rect">
            <a:avLst/>
          </a:prstGeom>
          <a:noFill/>
        </p:spPr>
        <p:txBody>
          <a:bodyPr wrap="square">
            <a:spAutoFit/>
          </a:bodyPr>
          <a:lstStyle/>
          <a:p>
            <a:pPr>
              <a:spcAft>
                <a:spcPts val="300"/>
              </a:spcAft>
              <a:defRPr sz="1000" b="0">
                <a:solidFill>
                  <a:srgbClr val="333333"/>
                </a:solidFill>
                <a:latin typeface="Aptos"/>
              </a:defRPr>
            </a:pPr>
            <a:r>
              <a:t>Improvements submitted</a:t>
            </a:r>
          </a:p>
          <a:p>
            <a:pPr>
              <a:spcAft>
                <a:spcPts val="300"/>
              </a:spcAft>
              <a:defRPr sz="1000" b="0">
                <a:solidFill>
                  <a:srgbClr val="333333"/>
                </a:solidFill>
                <a:latin typeface="Aptos"/>
              </a:defRPr>
            </a:pPr>
            <a:r>
              <a:t>back to Central</a:t>
            </a:r>
          </a:p>
        </p:txBody>
      </p:sp>
      <p:sp>
        <p:nvSpPr>
          <p:cNvPr id="13" name="Rounded Rectangle 12"/>
          <p:cNvSpPr/>
          <p:nvPr/>
        </p:nvSpPr>
        <p:spPr>
          <a:xfrm>
            <a:off x="2743200" y="4114800"/>
            <a:ext cx="2560320" cy="1097280"/>
          </a:xfrm>
          <a:prstGeom prst="roundRect">
            <a:avLst/>
          </a:prstGeom>
          <a:solidFill>
            <a:srgbClr val="F8F8FA"/>
          </a:solidFill>
          <a:ln w="12700">
            <a:solidFill>
              <a:srgbClr val="FE8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80360" y="4160520"/>
            <a:ext cx="2286000" cy="274320"/>
          </a:xfrm>
          <a:prstGeom prst="rect">
            <a:avLst/>
          </a:prstGeom>
          <a:noFill/>
        </p:spPr>
        <p:txBody>
          <a:bodyPr wrap="square">
            <a:spAutoFit/>
          </a:bodyPr>
          <a:lstStyle/>
          <a:p>
            <a:pPr algn="l">
              <a:defRPr sz="1400" b="1">
                <a:solidFill>
                  <a:srgbClr val="FE8B00"/>
                </a:solidFill>
                <a:latin typeface="Aptos"/>
              </a:defRPr>
            </a:pPr>
            <a:r>
              <a:t>REUSE</a:t>
            </a:r>
          </a:p>
        </p:txBody>
      </p:sp>
      <p:sp>
        <p:nvSpPr>
          <p:cNvPr id="15" name="TextBox 14"/>
          <p:cNvSpPr txBox="1"/>
          <p:nvPr/>
        </p:nvSpPr>
        <p:spPr>
          <a:xfrm>
            <a:off x="2880360" y="4480560"/>
            <a:ext cx="2286000" cy="640080"/>
          </a:xfrm>
          <a:prstGeom prst="rect">
            <a:avLst/>
          </a:prstGeom>
          <a:noFill/>
        </p:spPr>
        <p:txBody>
          <a:bodyPr wrap="square">
            <a:spAutoFit/>
          </a:bodyPr>
          <a:lstStyle/>
          <a:p>
            <a:pPr>
              <a:spcAft>
                <a:spcPts val="300"/>
              </a:spcAft>
              <a:defRPr sz="1000" b="0">
                <a:solidFill>
                  <a:srgbClr val="333333"/>
                </a:solidFill>
                <a:latin typeface="Aptos"/>
              </a:defRPr>
            </a:pPr>
            <a:r>
              <a:t>Updated agents available</a:t>
            </a:r>
          </a:p>
          <a:p>
            <a:pPr>
              <a:spcAft>
                <a:spcPts val="300"/>
              </a:spcAft>
              <a:defRPr sz="1000" b="0">
                <a:solidFill>
                  <a:srgbClr val="333333"/>
                </a:solidFill>
                <a:latin typeface="Aptos"/>
              </a:defRPr>
            </a:pPr>
            <a:r>
              <a:t>to all SubSquads</a:t>
            </a:r>
          </a:p>
        </p:txBody>
      </p:sp>
      <p:sp>
        <p:nvSpPr>
          <p:cNvPr id="16" name="Rounded Rectangle 15"/>
          <p:cNvSpPr/>
          <p:nvPr/>
        </p:nvSpPr>
        <p:spPr>
          <a:xfrm>
            <a:off x="1828800" y="2286000"/>
            <a:ext cx="2560320" cy="1097280"/>
          </a:xfrm>
          <a:prstGeom prst="roundRect">
            <a:avLst/>
          </a:prstGeom>
          <a:solidFill>
            <a:srgbClr val="F8F8FA"/>
          </a:solidFill>
          <a:ln w="12700">
            <a:solidFill>
              <a:srgbClr val="00B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65960" y="2331720"/>
            <a:ext cx="2286000" cy="274320"/>
          </a:xfrm>
          <a:prstGeom prst="rect">
            <a:avLst/>
          </a:prstGeom>
          <a:noFill/>
        </p:spPr>
        <p:txBody>
          <a:bodyPr wrap="square">
            <a:spAutoFit/>
          </a:bodyPr>
          <a:lstStyle/>
          <a:p>
            <a:pPr algn="l">
              <a:defRPr sz="1400" b="1">
                <a:solidFill>
                  <a:srgbClr val="00BCF2"/>
                </a:solidFill>
                <a:latin typeface="Aptos"/>
              </a:defRPr>
            </a:pPr>
            <a:r>
              <a:t>SCALE</a:t>
            </a:r>
          </a:p>
        </p:txBody>
      </p:sp>
      <p:sp>
        <p:nvSpPr>
          <p:cNvPr id="18" name="TextBox 17"/>
          <p:cNvSpPr txBox="1"/>
          <p:nvPr/>
        </p:nvSpPr>
        <p:spPr>
          <a:xfrm>
            <a:off x="1965960" y="2651760"/>
            <a:ext cx="2286000" cy="640080"/>
          </a:xfrm>
          <a:prstGeom prst="rect">
            <a:avLst/>
          </a:prstGeom>
          <a:noFill/>
        </p:spPr>
        <p:txBody>
          <a:bodyPr wrap="square">
            <a:spAutoFit/>
          </a:bodyPr>
          <a:lstStyle/>
          <a:p>
            <a:pPr>
              <a:spcAft>
                <a:spcPts val="300"/>
              </a:spcAft>
              <a:defRPr sz="1000" b="0">
                <a:solidFill>
                  <a:srgbClr val="333333"/>
                </a:solidFill>
                <a:latin typeface="Aptos"/>
              </a:defRPr>
            </a:pPr>
            <a:r>
              <a:t>More teams, better agents,</a:t>
            </a:r>
          </a:p>
          <a:p>
            <a:pPr>
              <a:spcAft>
                <a:spcPts val="300"/>
              </a:spcAft>
              <a:defRPr sz="1000" b="0">
                <a:solidFill>
                  <a:srgbClr val="333333"/>
                </a:solidFill>
                <a:latin typeface="Aptos"/>
              </a:defRPr>
            </a:pPr>
            <a:r>
              <a:t>faster delivery</a:t>
            </a:r>
          </a:p>
        </p:txBody>
      </p:sp>
      <p:sp>
        <p:nvSpPr>
          <p:cNvPr id="19" name="Oval 18"/>
          <p:cNvSpPr/>
          <p:nvPr/>
        </p:nvSpPr>
        <p:spPr>
          <a:xfrm>
            <a:off x="5120640" y="2834640"/>
            <a:ext cx="914400" cy="914400"/>
          </a:xfrm>
          <a:prstGeom prst="ellipse">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latin typeface="Aptos"/>
              </a:defRPr>
            </a:pPr>
            <a:r>
              <a:t>SKILL</a:t>
            </a:r>
            <a:br/>
            <a:r>
              <a:t>FLY</a:t>
            </a:r>
            <a:br/>
            <a:r>
              <a:t>WHEEL</a:t>
            </a:r>
          </a:p>
        </p:txBody>
      </p:sp>
      <p:sp>
        <p:nvSpPr>
          <p:cNvPr id="20" name="TextBox 19"/>
          <p:cNvSpPr txBox="1"/>
          <p:nvPr/>
        </p:nvSpPr>
        <p:spPr>
          <a:xfrm>
            <a:off x="7132320" y="1737360"/>
            <a:ext cx="914400" cy="274320"/>
          </a:xfrm>
          <a:prstGeom prst="rect">
            <a:avLst/>
          </a:prstGeom>
          <a:noFill/>
        </p:spPr>
        <p:txBody>
          <a:bodyPr wrap="square">
            <a:spAutoFit/>
          </a:bodyPr>
          <a:lstStyle/>
          <a:p>
            <a:pPr algn="l">
              <a:defRPr sz="1600" b="1">
                <a:solidFill>
                  <a:srgbClr val="0178D4"/>
                </a:solidFill>
                <a:latin typeface="Aptos"/>
              </a:defRPr>
            </a:pPr>
            <a:r>
              <a:t>--&gt;</a:t>
            </a:r>
          </a:p>
        </p:txBody>
      </p:sp>
      <p:sp>
        <p:nvSpPr>
          <p:cNvPr id="21" name="TextBox 20"/>
          <p:cNvSpPr txBox="1"/>
          <p:nvPr/>
        </p:nvSpPr>
        <p:spPr>
          <a:xfrm>
            <a:off x="9418320" y="3474720"/>
            <a:ext cx="914400" cy="274320"/>
          </a:xfrm>
          <a:prstGeom prst="rect">
            <a:avLst/>
          </a:prstGeom>
          <a:noFill/>
        </p:spPr>
        <p:txBody>
          <a:bodyPr wrap="square">
            <a:spAutoFit/>
          </a:bodyPr>
          <a:lstStyle/>
          <a:p>
            <a:pPr algn="l">
              <a:defRPr sz="1600" b="1">
                <a:solidFill>
                  <a:srgbClr val="00B050"/>
                </a:solidFill>
                <a:latin typeface="Aptos"/>
              </a:defRPr>
            </a:pPr>
            <a:r>
              <a:t>|</a:t>
            </a:r>
          </a:p>
        </p:txBody>
      </p:sp>
      <p:sp>
        <p:nvSpPr>
          <p:cNvPr id="22" name="TextBox 21"/>
          <p:cNvSpPr txBox="1"/>
          <p:nvPr/>
        </p:nvSpPr>
        <p:spPr>
          <a:xfrm>
            <a:off x="5486400" y="4663440"/>
            <a:ext cx="1371600" cy="274320"/>
          </a:xfrm>
          <a:prstGeom prst="rect">
            <a:avLst/>
          </a:prstGeom>
          <a:noFill/>
        </p:spPr>
        <p:txBody>
          <a:bodyPr wrap="square">
            <a:spAutoFit/>
          </a:bodyPr>
          <a:lstStyle/>
          <a:p>
            <a:pPr algn="l">
              <a:defRPr sz="1600" b="1">
                <a:solidFill>
                  <a:srgbClr val="463668"/>
                </a:solidFill>
                <a:latin typeface="Aptos"/>
              </a:defRPr>
            </a:pPr>
            <a:r>
              <a:t>&lt;--</a:t>
            </a:r>
          </a:p>
        </p:txBody>
      </p:sp>
      <p:sp>
        <p:nvSpPr>
          <p:cNvPr id="23" name="TextBox 22"/>
          <p:cNvSpPr txBox="1"/>
          <p:nvPr/>
        </p:nvSpPr>
        <p:spPr>
          <a:xfrm>
            <a:off x="1371600" y="3474720"/>
            <a:ext cx="914400" cy="274320"/>
          </a:xfrm>
          <a:prstGeom prst="rect">
            <a:avLst/>
          </a:prstGeom>
          <a:noFill/>
        </p:spPr>
        <p:txBody>
          <a:bodyPr wrap="square">
            <a:spAutoFit/>
          </a:bodyPr>
          <a:lstStyle/>
          <a:p>
            <a:pPr algn="l">
              <a:defRPr sz="1600" b="1">
                <a:solidFill>
                  <a:srgbClr val="FE8B00"/>
                </a:solidFill>
                <a:latin typeface="Aptos"/>
              </a:defRPr>
            </a:pPr>
            <a:r>
              <a:t>|</a:t>
            </a:r>
          </a:p>
        </p:txBody>
      </p:sp>
      <p:sp>
        <p:nvSpPr>
          <p:cNvPr id="24" name="TextBox 23"/>
          <p:cNvSpPr txBox="1"/>
          <p:nvPr/>
        </p:nvSpPr>
        <p:spPr>
          <a:xfrm>
            <a:off x="3657600" y="1737360"/>
            <a:ext cx="914400" cy="274320"/>
          </a:xfrm>
          <a:prstGeom prst="rect">
            <a:avLst/>
          </a:prstGeom>
          <a:noFill/>
        </p:spPr>
        <p:txBody>
          <a:bodyPr wrap="square">
            <a:spAutoFit/>
          </a:bodyPr>
          <a:lstStyle/>
          <a:p>
            <a:pPr algn="l">
              <a:defRPr sz="1600" b="1">
                <a:solidFill>
                  <a:srgbClr val="00BCF2"/>
                </a:solidFill>
                <a:latin typeface="Aptos"/>
              </a:defRPr>
            </a:pPr>
            <a:r>
              <a:t>&lt;--</a:t>
            </a:r>
          </a:p>
        </p:txBody>
      </p:sp>
      <p:sp>
        <p:nvSpPr>
          <p:cNvPr id="25" name="Rounded Rectangle 24"/>
          <p:cNvSpPr/>
          <p:nvPr/>
        </p:nvSpPr>
        <p:spPr>
          <a:xfrm>
            <a:off x="457200" y="5394960"/>
            <a:ext cx="10972800" cy="41148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5440680"/>
            <a:ext cx="10424160" cy="320040"/>
          </a:xfrm>
          <a:prstGeom prst="rect">
            <a:avLst/>
          </a:prstGeom>
          <a:noFill/>
        </p:spPr>
        <p:txBody>
          <a:bodyPr wrap="square">
            <a:spAutoFit/>
          </a:bodyPr>
          <a:lstStyle/>
          <a:p>
            <a:pPr algn="ctr">
              <a:defRPr sz="1100" b="1">
                <a:solidFill>
                  <a:srgbClr val="FFFFFF"/>
                </a:solidFill>
                <a:latin typeface="Aptos"/>
              </a:defRPr>
            </a:pPr>
            <a:r>
              <a:t>Engagement 1: Baseline  |  Engagement 5: 30% faster  |  Engagement 10: 50% faster  |  Engagement 20: 70% faster</a:t>
            </a:r>
          </a:p>
        </p:txBody>
      </p:sp>
      <p:sp>
        <p:nvSpPr>
          <p:cNvPr id="27" name="TextBox 26"/>
          <p:cNvSpPr txBox="1"/>
          <p:nvPr/>
        </p:nvSpPr>
        <p:spPr>
          <a:xfrm>
            <a:off x="274320" y="6263640"/>
            <a:ext cx="9144000" cy="274320"/>
          </a:xfrm>
          <a:prstGeom prst="rect">
            <a:avLst/>
          </a:prstGeom>
          <a:noFill/>
        </p:spPr>
        <p:txBody>
          <a:bodyPr wrap="square">
            <a:spAutoFit/>
          </a:bodyPr>
          <a:lstStyle/>
          <a:p>
            <a:pPr algn="l">
              <a:defRPr sz="800" b="0">
                <a:solidFill>
                  <a:srgbClr val="666666"/>
                </a:solidFill>
                <a:latin typeface="Aptos"/>
              </a:defRPr>
            </a:pPr>
            <a:r>
              <a:t>CONFIDENTIAL  |  Microsoft Accelerate Factory  |  Copilot Squad + Snap Model</a:t>
            </a:r>
          </a:p>
        </p:txBody>
      </p:sp>
      <p:sp>
        <p:nvSpPr>
          <p:cNvPr id="28" name="TextBox 27"/>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
            <a:ext cx="12192000" cy="566928"/>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600" b="1">
                <a:solidFill>
                  <a:srgbClr val="FFFFFF"/>
                </a:solidFill>
                <a:latin typeface="Aptos Display"/>
              </a:defRPr>
            </a:pPr>
            <a:r>
              <a:t>Mapping to Accelerate Factory Phases</a:t>
            </a:r>
          </a:p>
        </p:txBody>
      </p:sp>
      <p:sp>
        <p:nvSpPr>
          <p:cNvPr id="3" name="TextBox 2"/>
          <p:cNvSpPr txBox="1"/>
          <p:nvPr/>
        </p:nvSpPr>
        <p:spPr>
          <a:xfrm>
            <a:off x="457200" y="914400"/>
            <a:ext cx="10972800" cy="320040"/>
          </a:xfrm>
          <a:prstGeom prst="rect">
            <a:avLst/>
          </a:prstGeom>
          <a:noFill/>
        </p:spPr>
        <p:txBody>
          <a:bodyPr wrap="square">
            <a:spAutoFit/>
          </a:bodyPr>
          <a:lstStyle/>
          <a:p>
            <a:pPr algn="l">
              <a:defRPr sz="1300" b="0">
                <a:solidFill>
                  <a:srgbClr val="4A4E66"/>
                </a:solidFill>
                <a:latin typeface="Aptos"/>
              </a:defRPr>
            </a:pPr>
            <a:r>
              <a:t>Agents operate at every phase. No phase is manual. No phase starts from scratch.</a:t>
            </a:r>
          </a:p>
        </p:txBody>
      </p:sp>
      <p:sp>
        <p:nvSpPr>
          <p:cNvPr id="4" name="Rounded Rectangle 3"/>
          <p:cNvSpPr/>
          <p:nvPr/>
        </p:nvSpPr>
        <p:spPr>
          <a:xfrm>
            <a:off x="274320" y="1417320"/>
            <a:ext cx="2103120" cy="4114800"/>
          </a:xfrm>
          <a:prstGeom prst="roundRect">
            <a:avLst/>
          </a:prstGeom>
          <a:solidFill>
            <a:srgbClr val="F8F8FA"/>
          </a:solidFill>
          <a:ln w="12700">
            <a:solidFill>
              <a:srgbClr val="01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417320"/>
            <a:ext cx="2103120" cy="457200"/>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481328"/>
            <a:ext cx="1920240" cy="320040"/>
          </a:xfrm>
          <a:prstGeom prst="rect">
            <a:avLst/>
          </a:prstGeom>
          <a:noFill/>
        </p:spPr>
        <p:txBody>
          <a:bodyPr wrap="square">
            <a:spAutoFit/>
          </a:bodyPr>
          <a:lstStyle/>
          <a:p>
            <a:pPr algn="ctr">
              <a:defRPr sz="1500" b="1">
                <a:solidFill>
                  <a:srgbClr val="FFFFFF"/>
                </a:solidFill>
                <a:latin typeface="Aptos"/>
              </a:defRPr>
            </a:pPr>
            <a:r>
              <a:t>INTAKE</a:t>
            </a:r>
          </a:p>
        </p:txBody>
      </p:sp>
      <p:sp>
        <p:nvSpPr>
          <p:cNvPr id="7" name="TextBox 6"/>
          <p:cNvSpPr txBox="1"/>
          <p:nvPr/>
        </p:nvSpPr>
        <p:spPr>
          <a:xfrm>
            <a:off x="365760" y="2057400"/>
            <a:ext cx="1920240" cy="502920"/>
          </a:xfrm>
          <a:prstGeom prst="rect">
            <a:avLst/>
          </a:prstGeom>
          <a:noFill/>
        </p:spPr>
        <p:txBody>
          <a:bodyPr wrap="square">
            <a:spAutoFit/>
          </a:bodyPr>
          <a:lstStyle/>
          <a:p>
            <a:pPr algn="l">
              <a:defRPr sz="1000" b="0">
                <a:solidFill>
                  <a:srgbClr val="333333"/>
                </a:solidFill>
                <a:latin typeface="Aptos"/>
              </a:defRPr>
            </a:pPr>
            <a:r>
              <a:t>  Researcher scans requirements</a:t>
            </a:r>
          </a:p>
        </p:txBody>
      </p:sp>
      <p:sp>
        <p:nvSpPr>
          <p:cNvPr id="8" name="TextBox 7"/>
          <p:cNvSpPr txBox="1"/>
          <p:nvPr/>
        </p:nvSpPr>
        <p:spPr>
          <a:xfrm>
            <a:off x="365760" y="2697480"/>
            <a:ext cx="1920240" cy="502920"/>
          </a:xfrm>
          <a:prstGeom prst="rect">
            <a:avLst/>
          </a:prstGeom>
          <a:noFill/>
        </p:spPr>
        <p:txBody>
          <a:bodyPr wrap="square">
            <a:spAutoFit/>
          </a:bodyPr>
          <a:lstStyle/>
          <a:p>
            <a:pPr algn="l">
              <a:defRPr sz="1000" b="0">
                <a:solidFill>
                  <a:srgbClr val="333333"/>
                </a:solidFill>
                <a:latin typeface="Aptos"/>
              </a:defRPr>
            </a:pPr>
            <a:r>
              <a:t>  Architect generates scope</a:t>
            </a:r>
          </a:p>
        </p:txBody>
      </p:sp>
      <p:sp>
        <p:nvSpPr>
          <p:cNvPr id="9" name="TextBox 8"/>
          <p:cNvSpPr txBox="1"/>
          <p:nvPr/>
        </p:nvSpPr>
        <p:spPr>
          <a:xfrm>
            <a:off x="365760" y="3337559"/>
            <a:ext cx="1920240" cy="502920"/>
          </a:xfrm>
          <a:prstGeom prst="rect">
            <a:avLst/>
          </a:prstGeom>
          <a:noFill/>
        </p:spPr>
        <p:txBody>
          <a:bodyPr wrap="square">
            <a:spAutoFit/>
          </a:bodyPr>
          <a:lstStyle/>
          <a:p>
            <a:pPr algn="l">
              <a:defRPr sz="1000" b="0">
                <a:solidFill>
                  <a:srgbClr val="333333"/>
                </a:solidFill>
                <a:latin typeface="Aptos"/>
              </a:defRPr>
            </a:pPr>
            <a:r>
              <a:t>  Agents identify reusable assets</a:t>
            </a:r>
          </a:p>
        </p:txBody>
      </p:sp>
      <p:sp>
        <p:nvSpPr>
          <p:cNvPr id="10" name="TextBox 9"/>
          <p:cNvSpPr txBox="1"/>
          <p:nvPr/>
        </p:nvSpPr>
        <p:spPr>
          <a:xfrm>
            <a:off x="365760" y="3977640"/>
            <a:ext cx="1920240" cy="502920"/>
          </a:xfrm>
          <a:prstGeom prst="rect">
            <a:avLst/>
          </a:prstGeom>
          <a:noFill/>
        </p:spPr>
        <p:txBody>
          <a:bodyPr wrap="square">
            <a:spAutoFit/>
          </a:bodyPr>
          <a:lstStyle/>
          <a:p>
            <a:pPr algn="l">
              <a:defRPr sz="1000" b="0">
                <a:solidFill>
                  <a:srgbClr val="333333"/>
                </a:solidFill>
                <a:latin typeface="Aptos"/>
              </a:defRPr>
            </a:pPr>
            <a:r>
              <a:t>  Auto-select Snap preset</a:t>
            </a:r>
          </a:p>
        </p:txBody>
      </p:sp>
      <p:sp>
        <p:nvSpPr>
          <p:cNvPr id="11" name="Right Arrow 10"/>
          <p:cNvSpPr/>
          <p:nvPr/>
        </p:nvSpPr>
        <p:spPr>
          <a:xfrm>
            <a:off x="2423160" y="1554480"/>
            <a:ext cx="137160" cy="228600"/>
          </a:xfrm>
          <a:prstGeom prst="rightArrow">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606039" y="1417320"/>
            <a:ext cx="2103120" cy="4114800"/>
          </a:xfrm>
          <a:prstGeom prst="roundRect">
            <a:avLst/>
          </a:prstGeom>
          <a:solidFill>
            <a:srgbClr val="F8F8FA"/>
          </a:solidFill>
          <a:ln w="12700">
            <a:solidFill>
              <a:srgbClr val="4636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606039" y="1417320"/>
            <a:ext cx="2103120" cy="457200"/>
          </a:xfrm>
          <a:prstGeom prst="rect">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97479" y="1481328"/>
            <a:ext cx="1920240" cy="320040"/>
          </a:xfrm>
          <a:prstGeom prst="rect">
            <a:avLst/>
          </a:prstGeom>
          <a:noFill/>
        </p:spPr>
        <p:txBody>
          <a:bodyPr wrap="square">
            <a:spAutoFit/>
          </a:bodyPr>
          <a:lstStyle/>
          <a:p>
            <a:pPr algn="ctr">
              <a:defRPr sz="1500" b="1">
                <a:solidFill>
                  <a:srgbClr val="FFFFFF"/>
                </a:solidFill>
                <a:latin typeface="Aptos"/>
              </a:defRPr>
            </a:pPr>
            <a:r>
              <a:t>DESIGN</a:t>
            </a:r>
          </a:p>
        </p:txBody>
      </p:sp>
      <p:sp>
        <p:nvSpPr>
          <p:cNvPr id="15" name="TextBox 14"/>
          <p:cNvSpPr txBox="1"/>
          <p:nvPr/>
        </p:nvSpPr>
        <p:spPr>
          <a:xfrm>
            <a:off x="2697479" y="2057400"/>
            <a:ext cx="1920240" cy="502920"/>
          </a:xfrm>
          <a:prstGeom prst="rect">
            <a:avLst/>
          </a:prstGeom>
          <a:noFill/>
        </p:spPr>
        <p:txBody>
          <a:bodyPr wrap="square">
            <a:spAutoFit/>
          </a:bodyPr>
          <a:lstStyle/>
          <a:p>
            <a:pPr algn="l">
              <a:defRPr sz="1000" b="0">
                <a:solidFill>
                  <a:srgbClr val="333333"/>
                </a:solidFill>
                <a:latin typeface="Aptos"/>
              </a:defRPr>
            </a:pPr>
            <a:r>
              <a:t>  Architect produces ADRs</a:t>
            </a:r>
          </a:p>
        </p:txBody>
      </p:sp>
      <p:sp>
        <p:nvSpPr>
          <p:cNvPr id="16" name="TextBox 15"/>
          <p:cNvSpPr txBox="1"/>
          <p:nvPr/>
        </p:nvSpPr>
        <p:spPr>
          <a:xfrm>
            <a:off x="2697479" y="2697480"/>
            <a:ext cx="1920240" cy="502920"/>
          </a:xfrm>
          <a:prstGeom prst="rect">
            <a:avLst/>
          </a:prstGeom>
          <a:noFill/>
        </p:spPr>
        <p:txBody>
          <a:bodyPr wrap="square">
            <a:spAutoFit/>
          </a:bodyPr>
          <a:lstStyle/>
          <a:p>
            <a:pPr algn="l">
              <a:defRPr sz="1000" b="0">
                <a:solidFill>
                  <a:srgbClr val="333333"/>
                </a:solidFill>
                <a:latin typeface="Aptos"/>
              </a:defRPr>
            </a:pPr>
            <a:r>
              <a:t>  Prompter configures agents</a:t>
            </a:r>
          </a:p>
        </p:txBody>
      </p:sp>
      <p:sp>
        <p:nvSpPr>
          <p:cNvPr id="17" name="TextBox 16"/>
          <p:cNvSpPr txBox="1"/>
          <p:nvPr/>
        </p:nvSpPr>
        <p:spPr>
          <a:xfrm>
            <a:off x="2697479" y="3337559"/>
            <a:ext cx="1920240" cy="502920"/>
          </a:xfrm>
          <a:prstGeom prst="rect">
            <a:avLst/>
          </a:prstGeom>
          <a:noFill/>
        </p:spPr>
        <p:txBody>
          <a:bodyPr wrap="square">
            <a:spAutoFit/>
          </a:bodyPr>
          <a:lstStyle/>
          <a:p>
            <a:pPr algn="l">
              <a:defRPr sz="1000" b="0">
                <a:solidFill>
                  <a:srgbClr val="333333"/>
                </a:solidFill>
                <a:latin typeface="Aptos"/>
              </a:defRPr>
            </a:pPr>
            <a:r>
              <a:t>  IaC templates from library</a:t>
            </a:r>
          </a:p>
        </p:txBody>
      </p:sp>
      <p:sp>
        <p:nvSpPr>
          <p:cNvPr id="18" name="TextBox 17"/>
          <p:cNvSpPr txBox="1"/>
          <p:nvPr/>
        </p:nvSpPr>
        <p:spPr>
          <a:xfrm>
            <a:off x="2697479" y="3977640"/>
            <a:ext cx="1920240" cy="502920"/>
          </a:xfrm>
          <a:prstGeom prst="rect">
            <a:avLst/>
          </a:prstGeom>
          <a:noFill/>
        </p:spPr>
        <p:txBody>
          <a:bodyPr wrap="square">
            <a:spAutoFit/>
          </a:bodyPr>
          <a:lstStyle/>
          <a:p>
            <a:pPr algn="l">
              <a:defRPr sz="1000" b="0">
                <a:solidFill>
                  <a:srgbClr val="333333"/>
                </a:solidFill>
                <a:latin typeface="Aptos"/>
              </a:defRPr>
            </a:pPr>
            <a:r>
              <a:t>  Security patterns applied</a:t>
            </a:r>
          </a:p>
        </p:txBody>
      </p:sp>
      <p:sp>
        <p:nvSpPr>
          <p:cNvPr id="19" name="Right Arrow 18"/>
          <p:cNvSpPr/>
          <p:nvPr/>
        </p:nvSpPr>
        <p:spPr>
          <a:xfrm>
            <a:off x="4754879" y="1554480"/>
            <a:ext cx="137160" cy="228600"/>
          </a:xfrm>
          <a:prstGeom prst="rightArrow">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59" y="1417320"/>
            <a:ext cx="2103120" cy="4114800"/>
          </a:xfrm>
          <a:prstGeom prst="roundRect">
            <a:avLst/>
          </a:prstGeom>
          <a:solidFill>
            <a:srgbClr val="F8F8FA"/>
          </a:solidFill>
          <a:ln w="12700">
            <a:solidFill>
              <a:srgbClr val="FE8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937759" y="1417320"/>
            <a:ext cx="2103120" cy="457200"/>
          </a:xfrm>
          <a:prstGeom prst="rect">
            <a:avLst/>
          </a:prstGeom>
          <a:solidFill>
            <a:srgbClr val="FE8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199" y="1481328"/>
            <a:ext cx="1920240" cy="320040"/>
          </a:xfrm>
          <a:prstGeom prst="rect">
            <a:avLst/>
          </a:prstGeom>
          <a:noFill/>
        </p:spPr>
        <p:txBody>
          <a:bodyPr wrap="square">
            <a:spAutoFit/>
          </a:bodyPr>
          <a:lstStyle/>
          <a:p>
            <a:pPr algn="ctr">
              <a:defRPr sz="1500" b="1">
                <a:solidFill>
                  <a:srgbClr val="FFFFFF"/>
                </a:solidFill>
                <a:latin typeface="Aptos"/>
              </a:defRPr>
            </a:pPr>
            <a:r>
              <a:t>BUILD</a:t>
            </a:r>
          </a:p>
        </p:txBody>
      </p:sp>
      <p:sp>
        <p:nvSpPr>
          <p:cNvPr id="23" name="TextBox 22"/>
          <p:cNvSpPr txBox="1"/>
          <p:nvPr/>
        </p:nvSpPr>
        <p:spPr>
          <a:xfrm>
            <a:off x="5029199" y="2057400"/>
            <a:ext cx="1920240" cy="502920"/>
          </a:xfrm>
          <a:prstGeom prst="rect">
            <a:avLst/>
          </a:prstGeom>
          <a:noFill/>
        </p:spPr>
        <p:txBody>
          <a:bodyPr wrap="square">
            <a:spAutoFit/>
          </a:bodyPr>
          <a:lstStyle/>
          <a:p>
            <a:pPr algn="l">
              <a:defRPr sz="1000" b="0">
                <a:solidFill>
                  <a:srgbClr val="333333"/>
                </a:solidFill>
                <a:latin typeface="Aptos"/>
              </a:defRPr>
            </a:pPr>
            <a:r>
              <a:t>  Coder implements features</a:t>
            </a:r>
          </a:p>
        </p:txBody>
      </p:sp>
      <p:sp>
        <p:nvSpPr>
          <p:cNvPr id="24" name="TextBox 23"/>
          <p:cNvSpPr txBox="1"/>
          <p:nvPr/>
        </p:nvSpPr>
        <p:spPr>
          <a:xfrm>
            <a:off x="5029199" y="2697480"/>
            <a:ext cx="1920240" cy="502920"/>
          </a:xfrm>
          <a:prstGeom prst="rect">
            <a:avLst/>
          </a:prstGeom>
          <a:noFill/>
        </p:spPr>
        <p:txBody>
          <a:bodyPr wrap="square">
            <a:spAutoFit/>
          </a:bodyPr>
          <a:lstStyle/>
          <a:p>
            <a:pPr algn="l">
              <a:defRPr sz="1000" b="0">
                <a:solidFill>
                  <a:srgbClr val="333333"/>
                </a:solidFill>
                <a:latin typeface="Aptos"/>
              </a:defRPr>
            </a:pPr>
            <a:r>
              <a:t>  Tester validates in parallel</a:t>
            </a:r>
          </a:p>
        </p:txBody>
      </p:sp>
      <p:sp>
        <p:nvSpPr>
          <p:cNvPr id="25" name="TextBox 24"/>
          <p:cNvSpPr txBox="1"/>
          <p:nvPr/>
        </p:nvSpPr>
        <p:spPr>
          <a:xfrm>
            <a:off x="5029199" y="3337559"/>
            <a:ext cx="1920240" cy="502920"/>
          </a:xfrm>
          <a:prstGeom prst="rect">
            <a:avLst/>
          </a:prstGeom>
          <a:noFill/>
        </p:spPr>
        <p:txBody>
          <a:bodyPr wrap="square">
            <a:spAutoFit/>
          </a:bodyPr>
          <a:lstStyle/>
          <a:p>
            <a:pPr algn="l">
              <a:defRPr sz="1000" b="0">
                <a:solidFill>
                  <a:srgbClr val="333333"/>
                </a:solidFill>
                <a:latin typeface="Aptos"/>
              </a:defRPr>
            </a:pPr>
            <a:r>
              <a:t>  SubSquads execute independently</a:t>
            </a:r>
          </a:p>
        </p:txBody>
      </p:sp>
      <p:sp>
        <p:nvSpPr>
          <p:cNvPr id="26" name="TextBox 25"/>
          <p:cNvSpPr txBox="1"/>
          <p:nvPr/>
        </p:nvSpPr>
        <p:spPr>
          <a:xfrm>
            <a:off x="5029199" y="3977640"/>
            <a:ext cx="1920240" cy="502920"/>
          </a:xfrm>
          <a:prstGeom prst="rect">
            <a:avLst/>
          </a:prstGeom>
          <a:noFill/>
        </p:spPr>
        <p:txBody>
          <a:bodyPr wrap="square">
            <a:spAutoFit/>
          </a:bodyPr>
          <a:lstStyle/>
          <a:p>
            <a:pPr algn="l">
              <a:defRPr sz="1000" b="0">
                <a:solidFill>
                  <a:srgbClr val="333333"/>
                </a:solidFill>
                <a:latin typeface="Aptos"/>
              </a:defRPr>
            </a:pPr>
            <a:r>
              <a:t>  Shared agents = consistency</a:t>
            </a:r>
          </a:p>
        </p:txBody>
      </p:sp>
      <p:sp>
        <p:nvSpPr>
          <p:cNvPr id="27" name="Right Arrow 26"/>
          <p:cNvSpPr/>
          <p:nvPr/>
        </p:nvSpPr>
        <p:spPr>
          <a:xfrm>
            <a:off x="7086599" y="1554480"/>
            <a:ext cx="137160" cy="228600"/>
          </a:xfrm>
          <a:prstGeom prst="rightArrow">
            <a:avLst/>
          </a:prstGeom>
          <a:solidFill>
            <a:srgbClr val="FE8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269479" y="1417320"/>
            <a:ext cx="2103120" cy="4114800"/>
          </a:xfrm>
          <a:prstGeom prst="roundRect">
            <a:avLst/>
          </a:prstGeom>
          <a:solidFill>
            <a:srgbClr val="F8F8FA"/>
          </a:solidFill>
          <a:ln w="1270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269479" y="1417320"/>
            <a:ext cx="2103120" cy="457200"/>
          </a:xfrm>
          <a:prstGeom prst="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60919" y="1481328"/>
            <a:ext cx="1920240" cy="320040"/>
          </a:xfrm>
          <a:prstGeom prst="rect">
            <a:avLst/>
          </a:prstGeom>
          <a:noFill/>
        </p:spPr>
        <p:txBody>
          <a:bodyPr wrap="square">
            <a:spAutoFit/>
          </a:bodyPr>
          <a:lstStyle/>
          <a:p>
            <a:pPr algn="ctr">
              <a:defRPr sz="1500" b="1">
                <a:solidFill>
                  <a:srgbClr val="FFFFFF"/>
                </a:solidFill>
                <a:latin typeface="Aptos"/>
              </a:defRPr>
            </a:pPr>
            <a:r>
              <a:t>DEPLOY</a:t>
            </a:r>
          </a:p>
        </p:txBody>
      </p:sp>
      <p:sp>
        <p:nvSpPr>
          <p:cNvPr id="31" name="TextBox 30"/>
          <p:cNvSpPr txBox="1"/>
          <p:nvPr/>
        </p:nvSpPr>
        <p:spPr>
          <a:xfrm>
            <a:off x="7360919" y="2057400"/>
            <a:ext cx="1920240" cy="502920"/>
          </a:xfrm>
          <a:prstGeom prst="rect">
            <a:avLst/>
          </a:prstGeom>
          <a:noFill/>
        </p:spPr>
        <p:txBody>
          <a:bodyPr wrap="square">
            <a:spAutoFit/>
          </a:bodyPr>
          <a:lstStyle/>
          <a:p>
            <a:pPr algn="l">
              <a:defRPr sz="1000" b="0">
                <a:solidFill>
                  <a:srgbClr val="333333"/>
                </a:solidFill>
                <a:latin typeface="Aptos"/>
              </a:defRPr>
            </a:pPr>
            <a:r>
              <a:t>  GitOps manages pipeline</a:t>
            </a:r>
          </a:p>
        </p:txBody>
      </p:sp>
      <p:sp>
        <p:nvSpPr>
          <p:cNvPr id="32" name="TextBox 31"/>
          <p:cNvSpPr txBox="1"/>
          <p:nvPr/>
        </p:nvSpPr>
        <p:spPr>
          <a:xfrm>
            <a:off x="7360919" y="2697480"/>
            <a:ext cx="1920240" cy="502920"/>
          </a:xfrm>
          <a:prstGeom prst="rect">
            <a:avLst/>
          </a:prstGeom>
          <a:noFill/>
        </p:spPr>
        <p:txBody>
          <a:bodyPr wrap="square">
            <a:spAutoFit/>
          </a:bodyPr>
          <a:lstStyle/>
          <a:p>
            <a:pPr algn="l">
              <a:defRPr sz="1000" b="0">
                <a:solidFill>
                  <a:srgbClr val="333333"/>
                </a:solidFill>
                <a:latin typeface="Aptos"/>
              </a:defRPr>
            </a:pPr>
            <a:r>
              <a:t>  IaC deploys (no portal)</a:t>
            </a:r>
          </a:p>
        </p:txBody>
      </p:sp>
      <p:sp>
        <p:nvSpPr>
          <p:cNvPr id="33" name="TextBox 32"/>
          <p:cNvSpPr txBox="1"/>
          <p:nvPr/>
        </p:nvSpPr>
        <p:spPr>
          <a:xfrm>
            <a:off x="7360919" y="3337559"/>
            <a:ext cx="1920240" cy="502920"/>
          </a:xfrm>
          <a:prstGeom prst="rect">
            <a:avLst/>
          </a:prstGeom>
          <a:noFill/>
        </p:spPr>
        <p:txBody>
          <a:bodyPr wrap="square">
            <a:spAutoFit/>
          </a:bodyPr>
          <a:lstStyle/>
          <a:p>
            <a:pPr algn="l">
              <a:defRPr sz="1000" b="0">
                <a:solidFill>
                  <a:srgbClr val="333333"/>
                </a:solidFill>
                <a:latin typeface="Aptos"/>
              </a:defRPr>
            </a:pPr>
            <a:r>
              <a:t>  Evaluator checks quality</a:t>
            </a:r>
          </a:p>
        </p:txBody>
      </p:sp>
      <p:sp>
        <p:nvSpPr>
          <p:cNvPr id="34" name="TextBox 33"/>
          <p:cNvSpPr txBox="1"/>
          <p:nvPr/>
        </p:nvSpPr>
        <p:spPr>
          <a:xfrm>
            <a:off x="7360919" y="3977640"/>
            <a:ext cx="1920240" cy="502920"/>
          </a:xfrm>
          <a:prstGeom prst="rect">
            <a:avLst/>
          </a:prstGeom>
          <a:noFill/>
        </p:spPr>
        <p:txBody>
          <a:bodyPr wrap="square">
            <a:spAutoFit/>
          </a:bodyPr>
          <a:lstStyle/>
          <a:p>
            <a:pPr algn="l">
              <a:defRPr sz="1000" b="0">
                <a:solidFill>
                  <a:srgbClr val="333333"/>
                </a:solidFill>
                <a:latin typeface="Aptos"/>
              </a:defRPr>
            </a:pPr>
            <a:r>
              <a:t>  Zero manual steps</a:t>
            </a:r>
          </a:p>
        </p:txBody>
      </p:sp>
      <p:sp>
        <p:nvSpPr>
          <p:cNvPr id="35" name="Right Arrow 34"/>
          <p:cNvSpPr/>
          <p:nvPr/>
        </p:nvSpPr>
        <p:spPr>
          <a:xfrm>
            <a:off x="9418319" y="1554480"/>
            <a:ext cx="137160" cy="228600"/>
          </a:xfrm>
          <a:prstGeom prst="rightArrow">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601200" y="1417320"/>
            <a:ext cx="2103120" cy="4114800"/>
          </a:xfrm>
          <a:prstGeom prst="roundRect">
            <a:avLst/>
          </a:prstGeom>
          <a:solidFill>
            <a:srgbClr val="F8F8FA"/>
          </a:solidFill>
          <a:ln w="12700">
            <a:solidFill>
              <a:srgbClr val="225B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601200" y="1417320"/>
            <a:ext cx="2103120" cy="457200"/>
          </a:xfrm>
          <a:prstGeom prst="rect">
            <a:avLst/>
          </a:prstGeom>
          <a:solidFill>
            <a:srgbClr val="225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692640" y="1481328"/>
            <a:ext cx="1920240" cy="320040"/>
          </a:xfrm>
          <a:prstGeom prst="rect">
            <a:avLst/>
          </a:prstGeom>
          <a:noFill/>
        </p:spPr>
        <p:txBody>
          <a:bodyPr wrap="square">
            <a:spAutoFit/>
          </a:bodyPr>
          <a:lstStyle/>
          <a:p>
            <a:pPr algn="ctr">
              <a:defRPr sz="1500" b="1">
                <a:solidFill>
                  <a:srgbClr val="FFFFFF"/>
                </a:solidFill>
                <a:latin typeface="Aptos"/>
              </a:defRPr>
            </a:pPr>
            <a:r>
              <a:t>HANDOVER</a:t>
            </a:r>
          </a:p>
        </p:txBody>
      </p:sp>
      <p:sp>
        <p:nvSpPr>
          <p:cNvPr id="39" name="TextBox 38"/>
          <p:cNvSpPr txBox="1"/>
          <p:nvPr/>
        </p:nvSpPr>
        <p:spPr>
          <a:xfrm>
            <a:off x="9692640" y="2057400"/>
            <a:ext cx="1920240" cy="502920"/>
          </a:xfrm>
          <a:prstGeom prst="rect">
            <a:avLst/>
          </a:prstGeom>
          <a:noFill/>
        </p:spPr>
        <p:txBody>
          <a:bodyPr wrap="square">
            <a:spAutoFit/>
          </a:bodyPr>
          <a:lstStyle/>
          <a:p>
            <a:pPr algn="l">
              <a:defRPr sz="1000" b="0">
                <a:solidFill>
                  <a:srgbClr val="333333"/>
                </a:solidFill>
                <a:latin typeface="Aptos"/>
              </a:defRPr>
            </a:pPr>
            <a:r>
              <a:t>  DevRel generates all docs</a:t>
            </a:r>
          </a:p>
        </p:txBody>
      </p:sp>
      <p:sp>
        <p:nvSpPr>
          <p:cNvPr id="40" name="TextBox 39"/>
          <p:cNvSpPr txBox="1"/>
          <p:nvPr/>
        </p:nvSpPr>
        <p:spPr>
          <a:xfrm>
            <a:off x="9692640" y="2697480"/>
            <a:ext cx="1920240" cy="502920"/>
          </a:xfrm>
          <a:prstGeom prst="rect">
            <a:avLst/>
          </a:prstGeom>
          <a:noFill/>
        </p:spPr>
        <p:txBody>
          <a:bodyPr wrap="square">
            <a:spAutoFit/>
          </a:bodyPr>
          <a:lstStyle/>
          <a:p>
            <a:pPr algn="l">
              <a:defRPr sz="1000" b="0">
                <a:solidFill>
                  <a:srgbClr val="333333"/>
                </a:solidFill>
                <a:latin typeface="Aptos"/>
              </a:defRPr>
            </a:pPr>
            <a:r>
              <a:t>  Scribe writes journal</a:t>
            </a:r>
          </a:p>
        </p:txBody>
      </p:sp>
      <p:sp>
        <p:nvSpPr>
          <p:cNvPr id="41" name="TextBox 40"/>
          <p:cNvSpPr txBox="1"/>
          <p:nvPr/>
        </p:nvSpPr>
        <p:spPr>
          <a:xfrm>
            <a:off x="9692640" y="3337559"/>
            <a:ext cx="1920240" cy="502920"/>
          </a:xfrm>
          <a:prstGeom prst="rect">
            <a:avLst/>
          </a:prstGeom>
          <a:noFill/>
        </p:spPr>
        <p:txBody>
          <a:bodyPr wrap="square">
            <a:spAutoFit/>
          </a:bodyPr>
          <a:lstStyle/>
          <a:p>
            <a:pPr algn="l">
              <a:defRPr sz="1000" b="0">
                <a:solidFill>
                  <a:srgbClr val="333333"/>
                </a:solidFill>
                <a:latin typeface="Aptos"/>
              </a:defRPr>
            </a:pPr>
            <a:r>
              <a:t>  Improvements to Central</a:t>
            </a:r>
          </a:p>
        </p:txBody>
      </p:sp>
      <p:sp>
        <p:nvSpPr>
          <p:cNvPr id="42" name="TextBox 41"/>
          <p:cNvSpPr txBox="1"/>
          <p:nvPr/>
        </p:nvSpPr>
        <p:spPr>
          <a:xfrm>
            <a:off x="9692640" y="3977640"/>
            <a:ext cx="1920240" cy="502920"/>
          </a:xfrm>
          <a:prstGeom prst="rect">
            <a:avLst/>
          </a:prstGeom>
          <a:noFill/>
        </p:spPr>
        <p:txBody>
          <a:bodyPr wrap="square">
            <a:spAutoFit/>
          </a:bodyPr>
          <a:lstStyle/>
          <a:p>
            <a:pPr algn="l">
              <a:defRPr sz="1000" b="0">
                <a:solidFill>
                  <a:srgbClr val="333333"/>
                </a:solidFill>
                <a:latin typeface="Aptos"/>
              </a:defRPr>
            </a:pPr>
            <a:r>
              <a:t>  Runbook auto-generated</a:t>
            </a:r>
          </a:p>
        </p:txBody>
      </p:sp>
      <p:sp>
        <p:nvSpPr>
          <p:cNvPr id="43" name="Rounded Rectangle 42"/>
          <p:cNvSpPr/>
          <p:nvPr/>
        </p:nvSpPr>
        <p:spPr>
          <a:xfrm>
            <a:off x="457200" y="5760720"/>
            <a:ext cx="10972800" cy="91440"/>
          </a:xfrm>
          <a:prstGeom prst="round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74320" y="6263640"/>
            <a:ext cx="9144000" cy="274320"/>
          </a:xfrm>
          <a:prstGeom prst="rect">
            <a:avLst/>
          </a:prstGeom>
          <a:noFill/>
        </p:spPr>
        <p:txBody>
          <a:bodyPr wrap="square">
            <a:spAutoFit/>
          </a:bodyPr>
          <a:lstStyle/>
          <a:p>
            <a:pPr algn="l">
              <a:defRPr sz="800" b="0">
                <a:solidFill>
                  <a:srgbClr val="666666"/>
                </a:solidFill>
                <a:latin typeface="Aptos"/>
              </a:defRPr>
            </a:pPr>
            <a:r>
              <a:t>CONFIDENTIAL  |  Microsoft Accelerate Factory  |  Copilot Squad + Snap Model</a:t>
            </a:r>
          </a:p>
        </p:txBody>
      </p:sp>
      <p:sp>
        <p:nvSpPr>
          <p:cNvPr id="45" name="TextBox 44"/>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
            <a:ext cx="12192000" cy="566928"/>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600" b="1">
                <a:solidFill>
                  <a:srgbClr val="FFFFFF"/>
                </a:solidFill>
                <a:latin typeface="Aptos Display"/>
              </a:defRPr>
            </a:pPr>
            <a:r>
              <a:t>Before vs After: Manual vs Agent-Driven</a:t>
            </a:r>
          </a:p>
        </p:txBody>
      </p:sp>
      <p:sp>
        <p:nvSpPr>
          <p:cNvPr id="3" name="Rectangle 2"/>
          <p:cNvSpPr/>
          <p:nvPr/>
        </p:nvSpPr>
        <p:spPr>
          <a:xfrm>
            <a:off x="274320" y="914400"/>
            <a:ext cx="2011680" cy="256032"/>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1600" rIns="101600"/>
          <a:lstStyle/>
          <a:p>
            <a:pPr algn="ctr">
              <a:defRPr sz="1000" b="1">
                <a:solidFill>
                  <a:srgbClr val="FFFFFF"/>
                </a:solidFill>
                <a:latin typeface="Aptos"/>
              </a:defRPr>
            </a:pPr>
            <a:r>
              <a:t>BEFORE (MANUAL)</a:t>
            </a:r>
          </a:p>
        </p:txBody>
      </p:sp>
      <p:sp>
        <p:nvSpPr>
          <p:cNvPr id="4" name="Rectangle 3"/>
          <p:cNvSpPr/>
          <p:nvPr/>
        </p:nvSpPr>
        <p:spPr>
          <a:xfrm>
            <a:off x="6035040" y="914400"/>
            <a:ext cx="2286000" cy="256032"/>
          </a:xfrm>
          <a:prstGeom prst="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1600" rIns="101600"/>
          <a:lstStyle/>
          <a:p>
            <a:pPr algn="ctr">
              <a:defRPr sz="1000" b="1">
                <a:solidFill>
                  <a:srgbClr val="FFFFFF"/>
                </a:solidFill>
                <a:latin typeface="Aptos"/>
              </a:defRPr>
            </a:pPr>
            <a:r>
              <a:t>AFTER (AGENT-DRIVEN)</a:t>
            </a:r>
          </a:p>
        </p:txBody>
      </p:sp>
      <p:sp>
        <p:nvSpPr>
          <p:cNvPr id="5" name="Rectangle 4"/>
          <p:cNvSpPr/>
          <p:nvPr/>
        </p:nvSpPr>
        <p:spPr>
          <a:xfrm>
            <a:off x="5806440" y="914400"/>
            <a:ext cx="27432" cy="4937760"/>
          </a:xfrm>
          <a:prstGeom prst="rect">
            <a:avLst/>
          </a:prstGeom>
          <a:solidFill>
            <a:srgbClr val="D0D0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325880"/>
            <a:ext cx="1463040" cy="274320"/>
          </a:xfrm>
          <a:prstGeom prst="rect">
            <a:avLst/>
          </a:prstGeom>
          <a:noFill/>
        </p:spPr>
        <p:txBody>
          <a:bodyPr wrap="square">
            <a:spAutoFit/>
          </a:bodyPr>
          <a:lstStyle/>
          <a:p>
            <a:pPr algn="l">
              <a:defRPr sz="1100" b="1">
                <a:solidFill>
                  <a:srgbClr val="4A4E66"/>
                </a:solidFill>
                <a:latin typeface="Aptos"/>
              </a:defRPr>
            </a:pPr>
            <a:r>
              <a:t>Team setup</a:t>
            </a:r>
          </a:p>
        </p:txBody>
      </p:sp>
      <p:sp>
        <p:nvSpPr>
          <p:cNvPr id="7" name="TextBox 6"/>
          <p:cNvSpPr txBox="1"/>
          <p:nvPr/>
        </p:nvSpPr>
        <p:spPr>
          <a:xfrm>
            <a:off x="1828800" y="1325880"/>
            <a:ext cx="3657600" cy="640080"/>
          </a:xfrm>
          <a:prstGeom prst="rect">
            <a:avLst/>
          </a:prstGeom>
          <a:noFill/>
        </p:spPr>
        <p:txBody>
          <a:bodyPr wrap="square">
            <a:spAutoFit/>
          </a:bodyPr>
          <a:lstStyle/>
          <a:p>
            <a:pPr>
              <a:spcAft>
                <a:spcPts val="300"/>
              </a:spcAft>
              <a:defRPr sz="1000" b="0">
                <a:solidFill>
                  <a:srgbClr val="333333"/>
                </a:solidFill>
                <a:latin typeface="Aptos"/>
              </a:defRPr>
            </a:pPr>
            <a:r>
              <a:t>2-3 weeks to assemble team,</a:t>
            </a:r>
          </a:p>
          <a:p>
            <a:pPr>
              <a:spcAft>
                <a:spcPts val="300"/>
              </a:spcAft>
              <a:defRPr sz="1000" b="0">
                <a:solidFill>
                  <a:srgbClr val="333333"/>
                </a:solidFill>
                <a:latin typeface="Aptos"/>
              </a:defRPr>
            </a:pPr>
            <a:r>
              <a:t>define roles, build tools</a:t>
            </a:r>
          </a:p>
        </p:txBody>
      </p:sp>
      <p:sp>
        <p:nvSpPr>
          <p:cNvPr id="8" name="TextBox 7"/>
          <p:cNvSpPr txBox="1"/>
          <p:nvPr/>
        </p:nvSpPr>
        <p:spPr>
          <a:xfrm>
            <a:off x="6126480" y="1325880"/>
            <a:ext cx="5029200" cy="640080"/>
          </a:xfrm>
          <a:prstGeom prst="rect">
            <a:avLst/>
          </a:prstGeom>
          <a:noFill/>
        </p:spPr>
        <p:txBody>
          <a:bodyPr wrap="square">
            <a:spAutoFit/>
          </a:bodyPr>
          <a:lstStyle/>
          <a:p>
            <a:pPr>
              <a:spcAft>
                <a:spcPts val="300"/>
              </a:spcAft>
              <a:defRPr sz="1000" b="0">
                <a:solidFill>
                  <a:srgbClr val="333333"/>
                </a:solidFill>
                <a:latin typeface="Aptos"/>
              </a:defRPr>
            </a:pPr>
            <a:r>
              <a:t>Hours. Run snap-squad init.</a:t>
            </a:r>
          </a:p>
          <a:p>
            <a:pPr>
              <a:spcAft>
                <a:spcPts val="300"/>
              </a:spcAft>
              <a:defRPr sz="1000" b="0">
                <a:solidFill>
                  <a:srgbClr val="333333"/>
                </a:solidFill>
                <a:latin typeface="Aptos"/>
              </a:defRPr>
            </a:pPr>
            <a:r>
              <a:t>Agents + routing ready instantly</a:t>
            </a:r>
          </a:p>
        </p:txBody>
      </p:sp>
      <p:sp>
        <p:nvSpPr>
          <p:cNvPr id="9" name="TextBox 8"/>
          <p:cNvSpPr txBox="1"/>
          <p:nvPr/>
        </p:nvSpPr>
        <p:spPr>
          <a:xfrm>
            <a:off x="274320" y="2130552"/>
            <a:ext cx="1463040" cy="274320"/>
          </a:xfrm>
          <a:prstGeom prst="rect">
            <a:avLst/>
          </a:prstGeom>
          <a:noFill/>
        </p:spPr>
        <p:txBody>
          <a:bodyPr wrap="square">
            <a:spAutoFit/>
          </a:bodyPr>
          <a:lstStyle/>
          <a:p>
            <a:pPr algn="l">
              <a:defRPr sz="1100" b="1">
                <a:solidFill>
                  <a:srgbClr val="4A4E66"/>
                </a:solidFill>
                <a:latin typeface="Aptos"/>
              </a:defRPr>
            </a:pPr>
            <a:r>
              <a:t>IaC templates</a:t>
            </a:r>
          </a:p>
        </p:txBody>
      </p:sp>
      <p:sp>
        <p:nvSpPr>
          <p:cNvPr id="10" name="TextBox 9"/>
          <p:cNvSpPr txBox="1"/>
          <p:nvPr/>
        </p:nvSpPr>
        <p:spPr>
          <a:xfrm>
            <a:off x="1828800" y="2130552"/>
            <a:ext cx="3657600" cy="640080"/>
          </a:xfrm>
          <a:prstGeom prst="rect">
            <a:avLst/>
          </a:prstGeom>
          <a:noFill/>
        </p:spPr>
        <p:txBody>
          <a:bodyPr wrap="square">
            <a:spAutoFit/>
          </a:bodyPr>
          <a:lstStyle/>
          <a:p>
            <a:pPr>
              <a:spcAft>
                <a:spcPts val="300"/>
              </a:spcAft>
              <a:defRPr sz="1000" b="0">
                <a:solidFill>
                  <a:srgbClr val="333333"/>
                </a:solidFill>
                <a:latin typeface="Aptos"/>
              </a:defRPr>
            </a:pPr>
            <a:r>
              <a:t>Written from scratch every</a:t>
            </a:r>
          </a:p>
          <a:p>
            <a:pPr>
              <a:spcAft>
                <a:spcPts val="300"/>
              </a:spcAft>
              <a:defRPr sz="1000" b="0">
                <a:solidFill>
                  <a:srgbClr val="333333"/>
                </a:solidFill>
                <a:latin typeface="Aptos"/>
              </a:defRPr>
            </a:pPr>
            <a:r>
              <a:t>time. No shared library</a:t>
            </a:r>
          </a:p>
        </p:txBody>
      </p:sp>
      <p:sp>
        <p:nvSpPr>
          <p:cNvPr id="11" name="TextBox 10"/>
          <p:cNvSpPr txBox="1"/>
          <p:nvPr/>
        </p:nvSpPr>
        <p:spPr>
          <a:xfrm>
            <a:off x="6126480" y="2130552"/>
            <a:ext cx="5029200" cy="640080"/>
          </a:xfrm>
          <a:prstGeom prst="rect">
            <a:avLst/>
          </a:prstGeom>
          <a:noFill/>
        </p:spPr>
        <p:txBody>
          <a:bodyPr wrap="square">
            <a:spAutoFit/>
          </a:bodyPr>
          <a:lstStyle/>
          <a:p>
            <a:pPr>
              <a:spcAft>
                <a:spcPts val="300"/>
              </a:spcAft>
              <a:defRPr sz="1000" b="0">
                <a:solidFill>
                  <a:srgbClr val="333333"/>
                </a:solidFill>
                <a:latin typeface="Aptos"/>
              </a:defRPr>
            </a:pPr>
            <a:r>
              <a:t>Pulled from Central. Proven,</a:t>
            </a:r>
          </a:p>
          <a:p>
            <a:pPr>
              <a:spcAft>
                <a:spcPts val="300"/>
              </a:spcAft>
              <a:defRPr sz="1000" b="0">
                <a:solidFill>
                  <a:srgbClr val="333333"/>
                </a:solidFill>
                <a:latin typeface="Aptos"/>
              </a:defRPr>
            </a:pPr>
            <a:r>
              <a:t>tested, versioned templates</a:t>
            </a:r>
          </a:p>
        </p:txBody>
      </p:sp>
      <p:sp>
        <p:nvSpPr>
          <p:cNvPr id="12" name="TextBox 11"/>
          <p:cNvSpPr txBox="1"/>
          <p:nvPr/>
        </p:nvSpPr>
        <p:spPr>
          <a:xfrm>
            <a:off x="274320" y="2935224"/>
            <a:ext cx="1463040" cy="274320"/>
          </a:xfrm>
          <a:prstGeom prst="rect">
            <a:avLst/>
          </a:prstGeom>
          <a:noFill/>
        </p:spPr>
        <p:txBody>
          <a:bodyPr wrap="square">
            <a:spAutoFit/>
          </a:bodyPr>
          <a:lstStyle/>
          <a:p>
            <a:pPr algn="l">
              <a:defRPr sz="1100" b="1">
                <a:solidFill>
                  <a:srgbClr val="4A4E66"/>
                </a:solidFill>
                <a:latin typeface="Aptos"/>
              </a:defRPr>
            </a:pPr>
            <a:r>
              <a:t>Status updates</a:t>
            </a:r>
          </a:p>
        </p:txBody>
      </p:sp>
      <p:sp>
        <p:nvSpPr>
          <p:cNvPr id="13" name="TextBox 12"/>
          <p:cNvSpPr txBox="1"/>
          <p:nvPr/>
        </p:nvSpPr>
        <p:spPr>
          <a:xfrm>
            <a:off x="1828800" y="2935224"/>
            <a:ext cx="3657600" cy="640080"/>
          </a:xfrm>
          <a:prstGeom prst="rect">
            <a:avLst/>
          </a:prstGeom>
          <a:noFill/>
        </p:spPr>
        <p:txBody>
          <a:bodyPr wrap="square">
            <a:spAutoFit/>
          </a:bodyPr>
          <a:lstStyle/>
          <a:p>
            <a:pPr>
              <a:spcAft>
                <a:spcPts val="300"/>
              </a:spcAft>
              <a:defRPr sz="1000" b="0">
                <a:solidFill>
                  <a:srgbClr val="333333"/>
                </a:solidFill>
                <a:latin typeface="Aptos"/>
              </a:defRPr>
            </a:pPr>
            <a:r>
              <a:t>12+ hours/week in meetings.</a:t>
            </a:r>
          </a:p>
          <a:p>
            <a:pPr>
              <a:spcAft>
                <a:spcPts val="300"/>
              </a:spcAft>
              <a:defRPr sz="1000" b="0">
                <a:solidFill>
                  <a:srgbClr val="333333"/>
                </a:solidFill>
                <a:latin typeface="Aptos"/>
              </a:defRPr>
            </a:pPr>
            <a:r>
              <a:t>Manual reports every Friday</a:t>
            </a:r>
          </a:p>
        </p:txBody>
      </p:sp>
      <p:sp>
        <p:nvSpPr>
          <p:cNvPr id="14" name="TextBox 13"/>
          <p:cNvSpPr txBox="1"/>
          <p:nvPr/>
        </p:nvSpPr>
        <p:spPr>
          <a:xfrm>
            <a:off x="6126480" y="2935224"/>
            <a:ext cx="5029200" cy="640080"/>
          </a:xfrm>
          <a:prstGeom prst="rect">
            <a:avLst/>
          </a:prstGeom>
          <a:noFill/>
        </p:spPr>
        <p:txBody>
          <a:bodyPr wrap="square">
            <a:spAutoFit/>
          </a:bodyPr>
          <a:lstStyle/>
          <a:p>
            <a:pPr>
              <a:spcAft>
                <a:spcPts val="300"/>
              </a:spcAft>
              <a:defRPr sz="1000" b="0">
                <a:solidFill>
                  <a:srgbClr val="333333"/>
                </a:solidFill>
                <a:latin typeface="Aptos"/>
              </a:defRPr>
            </a:pPr>
            <a:r>
              <a:t>Agent-generated dashboards.</a:t>
            </a:r>
          </a:p>
          <a:p>
            <a:pPr>
              <a:spcAft>
                <a:spcPts val="300"/>
              </a:spcAft>
              <a:defRPr sz="1000" b="0">
                <a:solidFill>
                  <a:srgbClr val="333333"/>
                </a:solidFill>
                <a:latin typeface="Aptos"/>
              </a:defRPr>
            </a:pPr>
            <a:r>
              <a:t>Async, always up-to-date</a:t>
            </a:r>
          </a:p>
        </p:txBody>
      </p:sp>
      <p:sp>
        <p:nvSpPr>
          <p:cNvPr id="15" name="TextBox 14"/>
          <p:cNvSpPr txBox="1"/>
          <p:nvPr/>
        </p:nvSpPr>
        <p:spPr>
          <a:xfrm>
            <a:off x="274320" y="3739896"/>
            <a:ext cx="1463040" cy="274320"/>
          </a:xfrm>
          <a:prstGeom prst="rect">
            <a:avLst/>
          </a:prstGeom>
          <a:noFill/>
        </p:spPr>
        <p:txBody>
          <a:bodyPr wrap="square">
            <a:spAutoFit/>
          </a:bodyPr>
          <a:lstStyle/>
          <a:p>
            <a:pPr algn="l">
              <a:defRPr sz="1100" b="1">
                <a:solidFill>
                  <a:srgbClr val="4A4E66"/>
                </a:solidFill>
                <a:latin typeface="Aptos"/>
              </a:defRPr>
            </a:pPr>
            <a:r>
              <a:t>Knowledge transfer</a:t>
            </a:r>
          </a:p>
        </p:txBody>
      </p:sp>
      <p:sp>
        <p:nvSpPr>
          <p:cNvPr id="16" name="TextBox 15"/>
          <p:cNvSpPr txBox="1"/>
          <p:nvPr/>
        </p:nvSpPr>
        <p:spPr>
          <a:xfrm>
            <a:off x="1828800" y="3739896"/>
            <a:ext cx="3657600" cy="640080"/>
          </a:xfrm>
          <a:prstGeom prst="rect">
            <a:avLst/>
          </a:prstGeom>
          <a:noFill/>
        </p:spPr>
        <p:txBody>
          <a:bodyPr wrap="square">
            <a:spAutoFit/>
          </a:bodyPr>
          <a:lstStyle/>
          <a:p>
            <a:pPr>
              <a:spcAft>
                <a:spcPts val="300"/>
              </a:spcAft>
              <a:defRPr sz="1000" b="0">
                <a:solidFill>
                  <a:srgbClr val="333333"/>
                </a:solidFill>
                <a:latin typeface="Aptos"/>
              </a:defRPr>
            </a:pPr>
            <a:r>
              <a:t>Multi-day sessions at</a:t>
            </a:r>
          </a:p>
          <a:p>
            <a:pPr>
              <a:spcAft>
                <a:spcPts val="300"/>
              </a:spcAft>
              <a:defRPr sz="1000" b="0">
                <a:solidFill>
                  <a:srgbClr val="333333"/>
                </a:solidFill>
                <a:latin typeface="Aptos"/>
              </a:defRPr>
            </a:pPr>
            <a:r>
              <a:t>engagement start and end</a:t>
            </a:r>
          </a:p>
        </p:txBody>
      </p:sp>
      <p:sp>
        <p:nvSpPr>
          <p:cNvPr id="17" name="TextBox 16"/>
          <p:cNvSpPr txBox="1"/>
          <p:nvPr/>
        </p:nvSpPr>
        <p:spPr>
          <a:xfrm>
            <a:off x="6126480" y="3739896"/>
            <a:ext cx="5029200" cy="640080"/>
          </a:xfrm>
          <a:prstGeom prst="rect">
            <a:avLst/>
          </a:prstGeom>
          <a:noFill/>
        </p:spPr>
        <p:txBody>
          <a:bodyPr wrap="square">
            <a:spAutoFit/>
          </a:bodyPr>
          <a:lstStyle/>
          <a:p>
            <a:pPr>
              <a:spcAft>
                <a:spcPts val="300"/>
              </a:spcAft>
              <a:defRPr sz="1000" b="0">
                <a:solidFill>
                  <a:srgbClr val="333333"/>
                </a:solidFill>
                <a:latin typeface="Aptos"/>
              </a:defRPr>
            </a:pPr>
            <a:r>
              <a:t>CLAUDE.md + JOURNAL.md.</a:t>
            </a:r>
          </a:p>
          <a:p>
            <a:pPr>
              <a:spcAft>
                <a:spcPts val="300"/>
              </a:spcAft>
              <a:defRPr sz="1000" b="0">
                <a:solidFill>
                  <a:srgbClr val="333333"/>
                </a:solidFill>
                <a:latin typeface="Aptos"/>
              </a:defRPr>
            </a:pPr>
            <a:r>
              <a:t>Agents carry the context</a:t>
            </a:r>
          </a:p>
        </p:txBody>
      </p:sp>
      <p:sp>
        <p:nvSpPr>
          <p:cNvPr id="18" name="TextBox 17"/>
          <p:cNvSpPr txBox="1"/>
          <p:nvPr/>
        </p:nvSpPr>
        <p:spPr>
          <a:xfrm>
            <a:off x="274320" y="4544568"/>
            <a:ext cx="1463040" cy="274320"/>
          </a:xfrm>
          <a:prstGeom prst="rect">
            <a:avLst/>
          </a:prstGeom>
          <a:noFill/>
        </p:spPr>
        <p:txBody>
          <a:bodyPr wrap="square">
            <a:spAutoFit/>
          </a:bodyPr>
          <a:lstStyle/>
          <a:p>
            <a:pPr algn="l">
              <a:defRPr sz="1100" b="1">
                <a:solidFill>
                  <a:srgbClr val="4A4E66"/>
                </a:solidFill>
                <a:latin typeface="Aptos"/>
              </a:defRPr>
            </a:pPr>
            <a:r>
              <a:t>Quality consistency</a:t>
            </a:r>
          </a:p>
        </p:txBody>
      </p:sp>
      <p:sp>
        <p:nvSpPr>
          <p:cNvPr id="19" name="TextBox 18"/>
          <p:cNvSpPr txBox="1"/>
          <p:nvPr/>
        </p:nvSpPr>
        <p:spPr>
          <a:xfrm>
            <a:off x="1828800" y="4544568"/>
            <a:ext cx="3657600" cy="640080"/>
          </a:xfrm>
          <a:prstGeom prst="rect">
            <a:avLst/>
          </a:prstGeom>
          <a:noFill/>
        </p:spPr>
        <p:txBody>
          <a:bodyPr wrap="square">
            <a:spAutoFit/>
          </a:bodyPr>
          <a:lstStyle/>
          <a:p>
            <a:pPr>
              <a:spcAft>
                <a:spcPts val="300"/>
              </a:spcAft>
              <a:defRPr sz="1000" b="0">
                <a:solidFill>
                  <a:srgbClr val="333333"/>
                </a:solidFill>
                <a:latin typeface="Aptos"/>
              </a:defRPr>
            </a:pPr>
            <a:r>
              <a:t>Varies by team skill.</a:t>
            </a:r>
          </a:p>
          <a:p>
            <a:pPr>
              <a:spcAft>
                <a:spcPts val="300"/>
              </a:spcAft>
              <a:defRPr sz="1000" b="0">
                <a:solidFill>
                  <a:srgbClr val="333333"/>
                </a:solidFill>
                <a:latin typeface="Aptos"/>
              </a:defRPr>
            </a:pPr>
            <a:r>
              <a:t>No shared standards</a:t>
            </a:r>
          </a:p>
        </p:txBody>
      </p:sp>
      <p:sp>
        <p:nvSpPr>
          <p:cNvPr id="20" name="TextBox 19"/>
          <p:cNvSpPr txBox="1"/>
          <p:nvPr/>
        </p:nvSpPr>
        <p:spPr>
          <a:xfrm>
            <a:off x="6126480" y="4544568"/>
            <a:ext cx="5029200" cy="640080"/>
          </a:xfrm>
          <a:prstGeom prst="rect">
            <a:avLst/>
          </a:prstGeom>
          <a:noFill/>
        </p:spPr>
        <p:txBody>
          <a:bodyPr wrap="square">
            <a:spAutoFit/>
          </a:bodyPr>
          <a:lstStyle/>
          <a:p>
            <a:pPr>
              <a:spcAft>
                <a:spcPts val="300"/>
              </a:spcAft>
              <a:defRPr sz="1000" b="0">
                <a:solidFill>
                  <a:srgbClr val="333333"/>
                </a:solidFill>
                <a:latin typeface="Aptos"/>
              </a:defRPr>
            </a:pPr>
            <a:r>
              <a:t>Shared agents enforce patterns.</a:t>
            </a:r>
          </a:p>
          <a:p>
            <a:pPr>
              <a:spcAft>
                <a:spcPts val="300"/>
              </a:spcAft>
              <a:defRPr sz="1000" b="0">
                <a:solidFill>
                  <a:srgbClr val="333333"/>
                </a:solidFill>
                <a:latin typeface="Aptos"/>
              </a:defRPr>
            </a:pPr>
            <a:r>
              <a:t>Same quality everywhere</a:t>
            </a:r>
          </a:p>
        </p:txBody>
      </p:sp>
      <p:sp>
        <p:nvSpPr>
          <p:cNvPr id="21" name="TextBox 20"/>
          <p:cNvSpPr txBox="1"/>
          <p:nvPr/>
        </p:nvSpPr>
        <p:spPr>
          <a:xfrm>
            <a:off x="274320" y="5349240"/>
            <a:ext cx="1463040" cy="274320"/>
          </a:xfrm>
          <a:prstGeom prst="rect">
            <a:avLst/>
          </a:prstGeom>
          <a:noFill/>
        </p:spPr>
        <p:txBody>
          <a:bodyPr wrap="square">
            <a:spAutoFit/>
          </a:bodyPr>
          <a:lstStyle/>
          <a:p>
            <a:pPr algn="l">
              <a:defRPr sz="1100" b="1">
                <a:solidFill>
                  <a:srgbClr val="4A4E66"/>
                </a:solidFill>
                <a:latin typeface="Aptos"/>
              </a:defRPr>
            </a:pPr>
            <a:r>
              <a:t>Post-engagement</a:t>
            </a:r>
          </a:p>
        </p:txBody>
      </p:sp>
      <p:sp>
        <p:nvSpPr>
          <p:cNvPr id="22" name="TextBox 21"/>
          <p:cNvSpPr txBox="1"/>
          <p:nvPr/>
        </p:nvSpPr>
        <p:spPr>
          <a:xfrm>
            <a:off x="1828800" y="5349240"/>
            <a:ext cx="3657600" cy="640080"/>
          </a:xfrm>
          <a:prstGeom prst="rect">
            <a:avLst/>
          </a:prstGeom>
          <a:noFill/>
        </p:spPr>
        <p:txBody>
          <a:bodyPr wrap="square">
            <a:spAutoFit/>
          </a:bodyPr>
          <a:lstStyle/>
          <a:p>
            <a:pPr>
              <a:spcAft>
                <a:spcPts val="300"/>
              </a:spcAft>
              <a:defRPr sz="1000" b="0">
                <a:solidFill>
                  <a:srgbClr val="333333"/>
                </a:solidFill>
                <a:latin typeface="Aptos"/>
              </a:defRPr>
            </a:pPr>
            <a:r>
              <a:t>Lessons lost. Next team</a:t>
            </a:r>
          </a:p>
          <a:p>
            <a:pPr>
              <a:spcAft>
                <a:spcPts val="300"/>
              </a:spcAft>
              <a:defRPr sz="1000" b="0">
                <a:solidFill>
                  <a:srgbClr val="333333"/>
                </a:solidFill>
                <a:latin typeface="Aptos"/>
              </a:defRPr>
            </a:pPr>
            <a:r>
              <a:t>starts from zero</a:t>
            </a:r>
          </a:p>
        </p:txBody>
      </p:sp>
      <p:sp>
        <p:nvSpPr>
          <p:cNvPr id="23" name="TextBox 22"/>
          <p:cNvSpPr txBox="1"/>
          <p:nvPr/>
        </p:nvSpPr>
        <p:spPr>
          <a:xfrm>
            <a:off x="6126480" y="5349240"/>
            <a:ext cx="5029200" cy="640080"/>
          </a:xfrm>
          <a:prstGeom prst="rect">
            <a:avLst/>
          </a:prstGeom>
          <a:noFill/>
        </p:spPr>
        <p:txBody>
          <a:bodyPr wrap="square">
            <a:spAutoFit/>
          </a:bodyPr>
          <a:lstStyle/>
          <a:p>
            <a:pPr>
              <a:spcAft>
                <a:spcPts val="300"/>
              </a:spcAft>
              <a:defRPr sz="1000" b="0">
                <a:solidFill>
                  <a:srgbClr val="333333"/>
                </a:solidFill>
                <a:latin typeface="Aptos"/>
              </a:defRPr>
            </a:pPr>
            <a:r>
              <a:t>Improvements flow to Central.</a:t>
            </a:r>
          </a:p>
          <a:p>
            <a:pPr>
              <a:spcAft>
                <a:spcPts val="300"/>
              </a:spcAft>
              <a:defRPr sz="1000" b="0">
                <a:solidFill>
                  <a:srgbClr val="333333"/>
                </a:solidFill>
                <a:latin typeface="Aptos"/>
              </a:defRPr>
            </a:pPr>
            <a:r>
              <a:t>Next team starts ahead</a:t>
            </a:r>
          </a:p>
        </p:txBody>
      </p:sp>
      <p:sp>
        <p:nvSpPr>
          <p:cNvPr id="24" name="TextBox 23"/>
          <p:cNvSpPr txBox="1"/>
          <p:nvPr/>
        </p:nvSpPr>
        <p:spPr>
          <a:xfrm>
            <a:off x="274320" y="6263640"/>
            <a:ext cx="9144000" cy="274320"/>
          </a:xfrm>
          <a:prstGeom prst="rect">
            <a:avLst/>
          </a:prstGeom>
          <a:noFill/>
        </p:spPr>
        <p:txBody>
          <a:bodyPr wrap="square">
            <a:spAutoFit/>
          </a:bodyPr>
          <a:lstStyle/>
          <a:p>
            <a:pPr algn="l">
              <a:defRPr sz="800" b="0">
                <a:solidFill>
                  <a:srgbClr val="666666"/>
                </a:solidFill>
                <a:latin typeface="Aptos"/>
              </a:defRPr>
            </a:pPr>
            <a:r>
              <a:t>CONFIDENTIAL  |  Microsoft Accelerate Factory  |  Copilot Squad + Snap Model</a:t>
            </a:r>
          </a:p>
        </p:txBody>
      </p:sp>
      <p:sp>
        <p:nvSpPr>
          <p:cNvPr id="25" name="TextBox 24"/>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13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
            <a:ext cx="12192000" cy="566928"/>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600" b="1">
                <a:solidFill>
                  <a:srgbClr val="FFFFFF"/>
                </a:solidFill>
                <a:latin typeface="Aptos Display"/>
              </a:defRPr>
            </a:pPr>
            <a:r>
              <a:t>Governance &amp; Security Model</a:t>
            </a:r>
          </a:p>
        </p:txBody>
      </p:sp>
      <p:sp>
        <p:nvSpPr>
          <p:cNvPr id="3" name="TextBox 2"/>
          <p:cNvSpPr txBox="1"/>
          <p:nvPr/>
        </p:nvSpPr>
        <p:spPr>
          <a:xfrm>
            <a:off x="457200" y="914400"/>
            <a:ext cx="10972800" cy="320040"/>
          </a:xfrm>
          <a:prstGeom prst="rect">
            <a:avLst/>
          </a:prstGeom>
          <a:noFill/>
        </p:spPr>
        <p:txBody>
          <a:bodyPr wrap="square">
            <a:spAutoFit/>
          </a:bodyPr>
          <a:lstStyle/>
          <a:p>
            <a:pPr algn="l">
              <a:defRPr sz="1300" b="0">
                <a:solidFill>
                  <a:srgbClr val="4A4E66"/>
                </a:solidFill>
                <a:latin typeface="Aptos"/>
              </a:defRPr>
            </a:pPr>
            <a:r>
              <a:t>Speed without guardrails is a liability. The governance model ensures trust at scale.</a:t>
            </a:r>
          </a:p>
        </p:txBody>
      </p:sp>
      <p:sp>
        <p:nvSpPr>
          <p:cNvPr id="4" name="Rounded Rectangle 3"/>
          <p:cNvSpPr/>
          <p:nvPr/>
        </p:nvSpPr>
        <p:spPr>
          <a:xfrm>
            <a:off x="457200" y="1371600"/>
            <a:ext cx="10972800" cy="457200"/>
          </a:xfrm>
          <a:prstGeom prst="roundRect">
            <a:avLst/>
          </a:prstGeom>
          <a:solidFill>
            <a:srgbClr val="FFEDED"/>
          </a:solidFill>
          <a:ln w="12700">
            <a:solidFill>
              <a:srgbClr val="EE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17320"/>
            <a:ext cx="10424160" cy="365760"/>
          </a:xfrm>
          <a:prstGeom prst="rect">
            <a:avLst/>
          </a:prstGeom>
          <a:noFill/>
        </p:spPr>
        <p:txBody>
          <a:bodyPr wrap="square">
            <a:spAutoFit/>
          </a:bodyPr>
          <a:lstStyle/>
          <a:p>
            <a:pPr algn="l">
              <a:defRPr sz="1200" b="1">
                <a:solidFill>
                  <a:srgbClr val="EE0000"/>
                </a:solidFill>
                <a:latin typeface="Aptos"/>
              </a:defRPr>
            </a:pPr>
            <a:r>
              <a:t>RULE #1: No client-specific data is EVER stored in shared agents. All shared assets are generic and reusable.</a:t>
            </a:r>
          </a:p>
        </p:txBody>
      </p:sp>
      <p:sp>
        <p:nvSpPr>
          <p:cNvPr id="6" name="Rounded Rectangle 5"/>
          <p:cNvSpPr/>
          <p:nvPr/>
        </p:nvSpPr>
        <p:spPr>
          <a:xfrm>
            <a:off x="365760" y="2011680"/>
            <a:ext cx="3520440" cy="3200400"/>
          </a:xfrm>
          <a:prstGeom prst="roundRect">
            <a:avLst/>
          </a:prstGeom>
          <a:solidFill>
            <a:srgbClr val="F8F8FA"/>
          </a:solidFill>
          <a:ln w="12700">
            <a:solidFill>
              <a:srgbClr val="01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2011680"/>
            <a:ext cx="3520440" cy="457200"/>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057400"/>
            <a:ext cx="3246120" cy="365760"/>
          </a:xfrm>
          <a:prstGeom prst="rect">
            <a:avLst/>
          </a:prstGeom>
          <a:noFill/>
        </p:spPr>
        <p:txBody>
          <a:bodyPr wrap="square">
            <a:spAutoFit/>
          </a:bodyPr>
          <a:lstStyle/>
          <a:p>
            <a:pPr algn="l">
              <a:defRPr sz="1400" b="1">
                <a:solidFill>
                  <a:srgbClr val="FFFFFF"/>
                </a:solidFill>
                <a:latin typeface="Aptos"/>
              </a:defRPr>
            </a:pPr>
            <a:r>
              <a:t>Agent Governance</a:t>
            </a:r>
          </a:p>
        </p:txBody>
      </p:sp>
      <p:sp>
        <p:nvSpPr>
          <p:cNvPr id="9" name="TextBox 8"/>
          <p:cNvSpPr txBox="1"/>
          <p:nvPr/>
        </p:nvSpPr>
        <p:spPr>
          <a:xfrm>
            <a:off x="502920" y="2606040"/>
            <a:ext cx="3246120" cy="365760"/>
          </a:xfrm>
          <a:prstGeom prst="rect">
            <a:avLst/>
          </a:prstGeom>
          <a:noFill/>
        </p:spPr>
        <p:txBody>
          <a:bodyPr wrap="square">
            <a:spAutoFit/>
          </a:bodyPr>
          <a:lstStyle/>
          <a:p>
            <a:pPr algn="l">
              <a:defRPr sz="1000" b="0">
                <a:solidFill>
                  <a:srgbClr val="333333"/>
                </a:solidFill>
                <a:latin typeface="Aptos"/>
              </a:defRPr>
            </a:pPr>
            <a:r>
              <a:t>  Security scan before publish</a:t>
            </a:r>
          </a:p>
        </p:txBody>
      </p:sp>
      <p:sp>
        <p:nvSpPr>
          <p:cNvPr id="10" name="TextBox 9"/>
          <p:cNvSpPr txBox="1"/>
          <p:nvPr/>
        </p:nvSpPr>
        <p:spPr>
          <a:xfrm>
            <a:off x="502920" y="3063240"/>
            <a:ext cx="3246120" cy="365760"/>
          </a:xfrm>
          <a:prstGeom prst="rect">
            <a:avLst/>
          </a:prstGeom>
          <a:noFill/>
        </p:spPr>
        <p:txBody>
          <a:bodyPr wrap="square">
            <a:spAutoFit/>
          </a:bodyPr>
          <a:lstStyle/>
          <a:p>
            <a:pPr algn="l">
              <a:defRPr sz="1000" b="0">
                <a:solidFill>
                  <a:srgbClr val="333333"/>
                </a:solidFill>
                <a:latin typeface="Aptos"/>
              </a:defRPr>
            </a:pPr>
            <a:r>
              <a:t>  No secrets or credentials</a:t>
            </a:r>
          </a:p>
        </p:txBody>
      </p:sp>
      <p:sp>
        <p:nvSpPr>
          <p:cNvPr id="11" name="TextBox 10"/>
          <p:cNvSpPr txBox="1"/>
          <p:nvPr/>
        </p:nvSpPr>
        <p:spPr>
          <a:xfrm>
            <a:off x="502920" y="3520440"/>
            <a:ext cx="3246120" cy="365760"/>
          </a:xfrm>
          <a:prstGeom prst="rect">
            <a:avLst/>
          </a:prstGeom>
          <a:noFill/>
        </p:spPr>
        <p:txBody>
          <a:bodyPr wrap="square">
            <a:spAutoFit/>
          </a:bodyPr>
          <a:lstStyle/>
          <a:p>
            <a:pPr algn="l">
              <a:defRPr sz="1000" b="0">
                <a:solidFill>
                  <a:srgbClr val="333333"/>
                </a:solidFill>
                <a:latin typeface="Aptos"/>
              </a:defRPr>
            </a:pPr>
            <a:r>
              <a:t>  Isolation test (zero-context)</a:t>
            </a:r>
          </a:p>
        </p:txBody>
      </p:sp>
      <p:sp>
        <p:nvSpPr>
          <p:cNvPr id="12" name="TextBox 11"/>
          <p:cNvSpPr txBox="1"/>
          <p:nvPr/>
        </p:nvSpPr>
        <p:spPr>
          <a:xfrm>
            <a:off x="502920" y="3977639"/>
            <a:ext cx="3246120" cy="365760"/>
          </a:xfrm>
          <a:prstGeom prst="rect">
            <a:avLst/>
          </a:prstGeom>
          <a:noFill/>
        </p:spPr>
        <p:txBody>
          <a:bodyPr wrap="square">
            <a:spAutoFit/>
          </a:bodyPr>
          <a:lstStyle/>
          <a:p>
            <a:pPr algn="l">
              <a:defRPr sz="1000" b="0">
                <a:solidFill>
                  <a:srgbClr val="333333"/>
                </a:solidFill>
                <a:latin typeface="Aptos"/>
              </a:defRPr>
            </a:pPr>
            <a:r>
              <a:t>  Architect approval required</a:t>
            </a:r>
          </a:p>
        </p:txBody>
      </p:sp>
      <p:sp>
        <p:nvSpPr>
          <p:cNvPr id="13" name="TextBox 12"/>
          <p:cNvSpPr txBox="1"/>
          <p:nvPr/>
        </p:nvSpPr>
        <p:spPr>
          <a:xfrm>
            <a:off x="502920" y="4434840"/>
            <a:ext cx="3246120" cy="365760"/>
          </a:xfrm>
          <a:prstGeom prst="rect">
            <a:avLst/>
          </a:prstGeom>
          <a:noFill/>
        </p:spPr>
        <p:txBody>
          <a:bodyPr wrap="square">
            <a:spAutoFit/>
          </a:bodyPr>
          <a:lstStyle/>
          <a:p>
            <a:pPr algn="l">
              <a:defRPr sz="1000" b="0">
                <a:solidFill>
                  <a:srgbClr val="333333"/>
                </a:solidFill>
                <a:latin typeface="Aptos"/>
              </a:defRPr>
            </a:pPr>
            <a:r>
              <a:t>  Semantic versioning enforced</a:t>
            </a:r>
          </a:p>
        </p:txBody>
      </p:sp>
      <p:sp>
        <p:nvSpPr>
          <p:cNvPr id="14" name="Rounded Rectangle 13"/>
          <p:cNvSpPr/>
          <p:nvPr/>
        </p:nvSpPr>
        <p:spPr>
          <a:xfrm>
            <a:off x="4160520" y="2011680"/>
            <a:ext cx="3520440" cy="3200400"/>
          </a:xfrm>
          <a:prstGeom prst="roundRect">
            <a:avLst/>
          </a:prstGeom>
          <a:solidFill>
            <a:srgbClr val="F8F8FA"/>
          </a:solidFill>
          <a:ln w="12700">
            <a:solidFill>
              <a:srgbClr val="4636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2011680"/>
            <a:ext cx="3520440" cy="457200"/>
          </a:xfrm>
          <a:prstGeom prst="rect">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97680" y="2057400"/>
            <a:ext cx="3246120" cy="365760"/>
          </a:xfrm>
          <a:prstGeom prst="rect">
            <a:avLst/>
          </a:prstGeom>
          <a:noFill/>
        </p:spPr>
        <p:txBody>
          <a:bodyPr wrap="square">
            <a:spAutoFit/>
          </a:bodyPr>
          <a:lstStyle/>
          <a:p>
            <a:pPr algn="l">
              <a:defRPr sz="1400" b="1">
                <a:solidFill>
                  <a:srgbClr val="FFFFFF"/>
                </a:solidFill>
                <a:latin typeface="Aptos"/>
              </a:defRPr>
            </a:pPr>
            <a:r>
              <a:t>Data Governance</a:t>
            </a:r>
          </a:p>
        </p:txBody>
      </p:sp>
      <p:sp>
        <p:nvSpPr>
          <p:cNvPr id="17" name="TextBox 16"/>
          <p:cNvSpPr txBox="1"/>
          <p:nvPr/>
        </p:nvSpPr>
        <p:spPr>
          <a:xfrm>
            <a:off x="4297680" y="2606040"/>
            <a:ext cx="3246120" cy="365760"/>
          </a:xfrm>
          <a:prstGeom prst="rect">
            <a:avLst/>
          </a:prstGeom>
          <a:noFill/>
        </p:spPr>
        <p:txBody>
          <a:bodyPr wrap="square">
            <a:spAutoFit/>
          </a:bodyPr>
          <a:lstStyle/>
          <a:p>
            <a:pPr algn="l">
              <a:defRPr sz="1000" b="0">
                <a:solidFill>
                  <a:srgbClr val="333333"/>
                </a:solidFill>
                <a:latin typeface="Aptos"/>
              </a:defRPr>
            </a:pPr>
            <a:r>
              <a:t>  Client data stays in SubSquad</a:t>
            </a:r>
          </a:p>
        </p:txBody>
      </p:sp>
      <p:sp>
        <p:nvSpPr>
          <p:cNvPr id="18" name="TextBox 17"/>
          <p:cNvSpPr txBox="1"/>
          <p:nvPr/>
        </p:nvSpPr>
        <p:spPr>
          <a:xfrm>
            <a:off x="4297680" y="3063240"/>
            <a:ext cx="3246120" cy="365760"/>
          </a:xfrm>
          <a:prstGeom prst="rect">
            <a:avLst/>
          </a:prstGeom>
          <a:noFill/>
        </p:spPr>
        <p:txBody>
          <a:bodyPr wrap="square">
            <a:spAutoFit/>
          </a:bodyPr>
          <a:lstStyle/>
          <a:p>
            <a:pPr algn="l">
              <a:defRPr sz="1000" b="0">
                <a:solidFill>
                  <a:srgbClr val="333333"/>
                </a:solidFill>
                <a:latin typeface="Aptos"/>
              </a:defRPr>
            </a:pPr>
            <a:r>
              <a:t>  Shared agents use templates only</a:t>
            </a:r>
          </a:p>
        </p:txBody>
      </p:sp>
      <p:sp>
        <p:nvSpPr>
          <p:cNvPr id="19" name="TextBox 18"/>
          <p:cNvSpPr txBox="1"/>
          <p:nvPr/>
        </p:nvSpPr>
        <p:spPr>
          <a:xfrm>
            <a:off x="4297680" y="3520440"/>
            <a:ext cx="3246120" cy="365760"/>
          </a:xfrm>
          <a:prstGeom prst="rect">
            <a:avLst/>
          </a:prstGeom>
          <a:noFill/>
        </p:spPr>
        <p:txBody>
          <a:bodyPr wrap="square">
            <a:spAutoFit/>
          </a:bodyPr>
          <a:lstStyle/>
          <a:p>
            <a:pPr algn="l">
              <a:defRPr sz="1000" b="0">
                <a:solidFill>
                  <a:srgbClr val="333333"/>
                </a:solidFill>
                <a:latin typeface="Aptos"/>
              </a:defRPr>
            </a:pPr>
            <a:r>
              <a:t>  Environment vars for secrets</a:t>
            </a:r>
          </a:p>
        </p:txBody>
      </p:sp>
      <p:sp>
        <p:nvSpPr>
          <p:cNvPr id="20" name="TextBox 19"/>
          <p:cNvSpPr txBox="1"/>
          <p:nvPr/>
        </p:nvSpPr>
        <p:spPr>
          <a:xfrm>
            <a:off x="4297680" y="3977639"/>
            <a:ext cx="3246120" cy="365760"/>
          </a:xfrm>
          <a:prstGeom prst="rect">
            <a:avLst/>
          </a:prstGeom>
          <a:noFill/>
        </p:spPr>
        <p:txBody>
          <a:bodyPr wrap="square">
            <a:spAutoFit/>
          </a:bodyPr>
          <a:lstStyle/>
          <a:p>
            <a:pPr algn="l">
              <a:defRPr sz="1000" b="0">
                <a:solidFill>
                  <a:srgbClr val="333333"/>
                </a:solidFill>
                <a:latin typeface="Aptos"/>
              </a:defRPr>
            </a:pPr>
            <a:r>
              <a:t>  No PII in prompts or charters</a:t>
            </a:r>
          </a:p>
        </p:txBody>
      </p:sp>
      <p:sp>
        <p:nvSpPr>
          <p:cNvPr id="21" name="TextBox 20"/>
          <p:cNvSpPr txBox="1"/>
          <p:nvPr/>
        </p:nvSpPr>
        <p:spPr>
          <a:xfrm>
            <a:off x="4297680" y="4434840"/>
            <a:ext cx="3246120" cy="365760"/>
          </a:xfrm>
          <a:prstGeom prst="rect">
            <a:avLst/>
          </a:prstGeom>
          <a:noFill/>
        </p:spPr>
        <p:txBody>
          <a:bodyPr wrap="square">
            <a:spAutoFit/>
          </a:bodyPr>
          <a:lstStyle/>
          <a:p>
            <a:pPr algn="l">
              <a:defRPr sz="1000" b="0">
                <a:solidFill>
                  <a:srgbClr val="333333"/>
                </a:solidFill>
                <a:latin typeface="Aptos"/>
              </a:defRPr>
            </a:pPr>
            <a:r>
              <a:t>  Audit trail on all changes</a:t>
            </a:r>
          </a:p>
        </p:txBody>
      </p:sp>
      <p:sp>
        <p:nvSpPr>
          <p:cNvPr id="22" name="Rounded Rectangle 21"/>
          <p:cNvSpPr/>
          <p:nvPr/>
        </p:nvSpPr>
        <p:spPr>
          <a:xfrm>
            <a:off x="7955280" y="2011680"/>
            <a:ext cx="3520440" cy="3200400"/>
          </a:xfrm>
          <a:prstGeom prst="roundRect">
            <a:avLst/>
          </a:prstGeom>
          <a:solidFill>
            <a:srgbClr val="F8F8FA"/>
          </a:solidFill>
          <a:ln w="12700">
            <a:solidFill>
              <a:srgbClr val="225B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955280" y="2011680"/>
            <a:ext cx="3520440" cy="457200"/>
          </a:xfrm>
          <a:prstGeom prst="rect">
            <a:avLst/>
          </a:prstGeom>
          <a:solidFill>
            <a:srgbClr val="225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92440" y="2057400"/>
            <a:ext cx="3246120" cy="365760"/>
          </a:xfrm>
          <a:prstGeom prst="rect">
            <a:avLst/>
          </a:prstGeom>
          <a:noFill/>
        </p:spPr>
        <p:txBody>
          <a:bodyPr wrap="square">
            <a:spAutoFit/>
          </a:bodyPr>
          <a:lstStyle/>
          <a:p>
            <a:pPr algn="l">
              <a:defRPr sz="1400" b="1">
                <a:solidFill>
                  <a:srgbClr val="FFFFFF"/>
                </a:solidFill>
                <a:latin typeface="Aptos"/>
              </a:defRPr>
            </a:pPr>
            <a:r>
              <a:t>Operational Governance</a:t>
            </a:r>
          </a:p>
        </p:txBody>
      </p:sp>
      <p:sp>
        <p:nvSpPr>
          <p:cNvPr id="25" name="TextBox 24"/>
          <p:cNvSpPr txBox="1"/>
          <p:nvPr/>
        </p:nvSpPr>
        <p:spPr>
          <a:xfrm>
            <a:off x="8092440" y="2606040"/>
            <a:ext cx="3246120" cy="365760"/>
          </a:xfrm>
          <a:prstGeom prst="rect">
            <a:avLst/>
          </a:prstGeom>
          <a:noFill/>
        </p:spPr>
        <p:txBody>
          <a:bodyPr wrap="square">
            <a:spAutoFit/>
          </a:bodyPr>
          <a:lstStyle/>
          <a:p>
            <a:pPr algn="l">
              <a:defRPr sz="1000" b="0">
                <a:solidFill>
                  <a:srgbClr val="333333"/>
                </a:solidFill>
                <a:latin typeface="Aptos"/>
              </a:defRPr>
            </a:pPr>
            <a:r>
              <a:t>  Version control for everything</a:t>
            </a:r>
          </a:p>
        </p:txBody>
      </p:sp>
      <p:sp>
        <p:nvSpPr>
          <p:cNvPr id="26" name="TextBox 25"/>
          <p:cNvSpPr txBox="1"/>
          <p:nvPr/>
        </p:nvSpPr>
        <p:spPr>
          <a:xfrm>
            <a:off x="8092440" y="3063240"/>
            <a:ext cx="3246120" cy="365760"/>
          </a:xfrm>
          <a:prstGeom prst="rect">
            <a:avLst/>
          </a:prstGeom>
          <a:noFill/>
        </p:spPr>
        <p:txBody>
          <a:bodyPr wrap="square">
            <a:spAutoFit/>
          </a:bodyPr>
          <a:lstStyle/>
          <a:p>
            <a:pPr algn="l">
              <a:defRPr sz="1000" b="0">
                <a:solidFill>
                  <a:srgbClr val="333333"/>
                </a:solidFill>
                <a:latin typeface="Aptos"/>
              </a:defRPr>
            </a:pPr>
            <a:r>
              <a:t>  PR-based publish workflow</a:t>
            </a:r>
          </a:p>
        </p:txBody>
      </p:sp>
      <p:sp>
        <p:nvSpPr>
          <p:cNvPr id="27" name="TextBox 26"/>
          <p:cNvSpPr txBox="1"/>
          <p:nvPr/>
        </p:nvSpPr>
        <p:spPr>
          <a:xfrm>
            <a:off x="8092440" y="3520440"/>
            <a:ext cx="3246120" cy="365760"/>
          </a:xfrm>
          <a:prstGeom prst="rect">
            <a:avLst/>
          </a:prstGeom>
          <a:noFill/>
        </p:spPr>
        <p:txBody>
          <a:bodyPr wrap="square">
            <a:spAutoFit/>
          </a:bodyPr>
          <a:lstStyle/>
          <a:p>
            <a:pPr algn="l">
              <a:defRPr sz="1000" b="0">
                <a:solidFill>
                  <a:srgbClr val="333333"/>
                </a:solidFill>
                <a:latin typeface="Aptos"/>
              </a:defRPr>
            </a:pPr>
            <a:r>
              <a:t>  Automated compliance checks</a:t>
            </a:r>
          </a:p>
        </p:txBody>
      </p:sp>
      <p:sp>
        <p:nvSpPr>
          <p:cNvPr id="28" name="TextBox 27"/>
          <p:cNvSpPr txBox="1"/>
          <p:nvPr/>
        </p:nvSpPr>
        <p:spPr>
          <a:xfrm>
            <a:off x="8092440" y="3977639"/>
            <a:ext cx="3246120" cy="365760"/>
          </a:xfrm>
          <a:prstGeom prst="rect">
            <a:avLst/>
          </a:prstGeom>
          <a:noFill/>
        </p:spPr>
        <p:txBody>
          <a:bodyPr wrap="square">
            <a:spAutoFit/>
          </a:bodyPr>
          <a:lstStyle/>
          <a:p>
            <a:pPr algn="l">
              <a:defRPr sz="1000" b="0">
                <a:solidFill>
                  <a:srgbClr val="333333"/>
                </a:solidFill>
                <a:latin typeface="Aptos"/>
              </a:defRPr>
            </a:pPr>
            <a:r>
              <a:t>  Regular catalog cleanup</a:t>
            </a:r>
          </a:p>
        </p:txBody>
      </p:sp>
      <p:sp>
        <p:nvSpPr>
          <p:cNvPr id="29" name="TextBox 28"/>
          <p:cNvSpPr txBox="1"/>
          <p:nvPr/>
        </p:nvSpPr>
        <p:spPr>
          <a:xfrm>
            <a:off x="8092440" y="4434840"/>
            <a:ext cx="3246120" cy="365760"/>
          </a:xfrm>
          <a:prstGeom prst="rect">
            <a:avLst/>
          </a:prstGeom>
          <a:noFill/>
        </p:spPr>
        <p:txBody>
          <a:bodyPr wrap="square">
            <a:spAutoFit/>
          </a:bodyPr>
          <a:lstStyle/>
          <a:p>
            <a:pPr algn="l">
              <a:defRPr sz="1000" b="0">
                <a:solidFill>
                  <a:srgbClr val="333333"/>
                </a:solidFill>
                <a:latin typeface="Aptos"/>
              </a:defRPr>
            </a:pPr>
            <a:r>
              <a:t>  Retirement process for old agents</a:t>
            </a:r>
          </a:p>
        </p:txBody>
      </p:sp>
      <p:sp>
        <p:nvSpPr>
          <p:cNvPr id="30" name="Rounded Rectangle 29"/>
          <p:cNvSpPr/>
          <p:nvPr/>
        </p:nvSpPr>
        <p:spPr>
          <a:xfrm>
            <a:off x="457200" y="5486400"/>
            <a:ext cx="10972800" cy="32004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513832"/>
            <a:ext cx="10424160" cy="274320"/>
          </a:xfrm>
          <a:prstGeom prst="rect">
            <a:avLst/>
          </a:prstGeom>
          <a:noFill/>
        </p:spPr>
        <p:txBody>
          <a:bodyPr wrap="square">
            <a:spAutoFit/>
          </a:bodyPr>
          <a:lstStyle/>
          <a:p>
            <a:pPr algn="ctr">
              <a:defRPr sz="1100" b="1">
                <a:solidFill>
                  <a:srgbClr val="FFFFFF"/>
                </a:solidFill>
                <a:latin typeface="Aptos"/>
              </a:defRPr>
            </a:pPr>
            <a:r>
              <a:t>Trust is the currency of shared systems. Governance is how we earn and maintain it.</a:t>
            </a:r>
          </a:p>
        </p:txBody>
      </p:sp>
      <p:sp>
        <p:nvSpPr>
          <p:cNvPr id="32" name="TextBox 31"/>
          <p:cNvSpPr txBox="1"/>
          <p:nvPr/>
        </p:nvSpPr>
        <p:spPr>
          <a:xfrm>
            <a:off x="274320" y="6263640"/>
            <a:ext cx="9144000" cy="274320"/>
          </a:xfrm>
          <a:prstGeom prst="rect">
            <a:avLst/>
          </a:prstGeom>
          <a:noFill/>
        </p:spPr>
        <p:txBody>
          <a:bodyPr wrap="square">
            <a:spAutoFit/>
          </a:bodyPr>
          <a:lstStyle/>
          <a:p>
            <a:pPr algn="l">
              <a:defRPr sz="800" b="0">
                <a:solidFill>
                  <a:srgbClr val="666666"/>
                </a:solidFill>
                <a:latin typeface="Aptos"/>
              </a:defRPr>
            </a:pPr>
            <a:r>
              <a:t>CONFIDENTIAL  |  Microsoft Accelerate Factory  |  Copilot Squad + Snap Model</a:t>
            </a:r>
          </a:p>
        </p:txBody>
      </p:sp>
      <p:sp>
        <p:nvSpPr>
          <p:cNvPr id="33" name="TextBox 32"/>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914400"/>
            <a:ext cx="10058400" cy="457200"/>
          </a:xfrm>
          <a:prstGeom prst="rect">
            <a:avLst/>
          </a:prstGeom>
          <a:noFill/>
        </p:spPr>
        <p:txBody>
          <a:bodyPr wrap="square">
            <a:spAutoFit/>
          </a:bodyPr>
          <a:lstStyle/>
          <a:p>
            <a:pPr algn="l">
              <a:defRPr sz="1800" b="0">
                <a:solidFill>
                  <a:srgbClr val="FFFFFF"/>
                </a:solidFill>
                <a:latin typeface="Segoe Sans Display Semibold"/>
              </a:defRPr>
            </a:pPr>
            <a:r>
              <a:t>Microsoft Accelerated Factory</a:t>
            </a:r>
          </a:p>
        </p:txBody>
      </p:sp>
      <p:sp>
        <p:nvSpPr>
          <p:cNvPr id="3" name="TextBox 2"/>
          <p:cNvSpPr txBox="1"/>
          <p:nvPr/>
        </p:nvSpPr>
        <p:spPr>
          <a:xfrm>
            <a:off x="731520" y="1645920"/>
            <a:ext cx="10058400" cy="640080"/>
          </a:xfrm>
          <a:prstGeom prst="rect">
            <a:avLst/>
          </a:prstGeom>
          <a:noFill/>
        </p:spPr>
        <p:txBody>
          <a:bodyPr wrap="square">
            <a:spAutoFit/>
          </a:bodyPr>
          <a:lstStyle/>
          <a:p>
            <a:pPr algn="l">
              <a:defRPr sz="4400" b="1">
                <a:solidFill>
                  <a:srgbClr val="FFFFFF"/>
                </a:solidFill>
                <a:latin typeface="Aptos Display"/>
              </a:defRPr>
            </a:pPr>
            <a:r>
              <a:t>The Operating Model</a:t>
            </a:r>
          </a:p>
        </p:txBody>
      </p:sp>
      <p:sp>
        <p:nvSpPr>
          <p:cNvPr id="4" name="Oval 3"/>
          <p:cNvSpPr/>
          <p:nvPr/>
        </p:nvSpPr>
        <p:spPr>
          <a:xfrm>
            <a:off x="731520" y="2560320"/>
            <a:ext cx="411480" cy="411480"/>
          </a:xfrm>
          <a:prstGeom prst="ellipse">
            <a:avLst/>
          </a:prstGeom>
          <a:solidFill>
            <a:srgbClr val="CCE5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latin typeface="Aptos"/>
              </a:defRPr>
            </a:pPr>
            <a:r>
              <a:t>01</a:t>
            </a:r>
          </a:p>
        </p:txBody>
      </p:sp>
      <p:sp>
        <p:nvSpPr>
          <p:cNvPr id="5" name="TextBox 4"/>
          <p:cNvSpPr txBox="1"/>
          <p:nvPr/>
        </p:nvSpPr>
        <p:spPr>
          <a:xfrm>
            <a:off x="1371600" y="2560320"/>
            <a:ext cx="9144000" cy="274320"/>
          </a:xfrm>
          <a:prstGeom prst="rect">
            <a:avLst/>
          </a:prstGeom>
          <a:noFill/>
        </p:spPr>
        <p:txBody>
          <a:bodyPr wrap="square">
            <a:spAutoFit/>
          </a:bodyPr>
          <a:lstStyle/>
          <a:p>
            <a:pPr algn="l">
              <a:defRPr sz="1800" b="1">
                <a:solidFill>
                  <a:srgbClr val="FFFFFF"/>
                </a:solidFill>
                <a:latin typeface="Aptos"/>
              </a:defRPr>
            </a:pPr>
            <a:r>
              <a:t>Central Squad</a:t>
            </a:r>
          </a:p>
        </p:txBody>
      </p:sp>
      <p:sp>
        <p:nvSpPr>
          <p:cNvPr id="6" name="TextBox 5"/>
          <p:cNvSpPr txBox="1"/>
          <p:nvPr/>
        </p:nvSpPr>
        <p:spPr>
          <a:xfrm>
            <a:off x="1371600" y="2880360"/>
            <a:ext cx="9144000" cy="320040"/>
          </a:xfrm>
          <a:prstGeom prst="rect">
            <a:avLst/>
          </a:prstGeom>
          <a:noFill/>
        </p:spPr>
        <p:txBody>
          <a:bodyPr wrap="square">
            <a:spAutoFit/>
          </a:bodyPr>
          <a:lstStyle/>
          <a:p>
            <a:pPr algn="l">
              <a:defRPr sz="1200" b="0">
                <a:solidFill>
                  <a:srgbClr val="90B8E0"/>
                </a:solidFill>
                <a:latin typeface="Aptos"/>
              </a:defRPr>
            </a:pPr>
            <a:r>
              <a:t>Owns agents, standards, governance, and institutional memory</a:t>
            </a:r>
          </a:p>
        </p:txBody>
      </p:sp>
      <p:sp>
        <p:nvSpPr>
          <p:cNvPr id="7" name="Oval 6"/>
          <p:cNvSpPr/>
          <p:nvPr/>
        </p:nvSpPr>
        <p:spPr>
          <a:xfrm>
            <a:off x="731520" y="3337560"/>
            <a:ext cx="411480" cy="411480"/>
          </a:xfrm>
          <a:prstGeom prst="ellipse">
            <a:avLst/>
          </a:prstGeom>
          <a:solidFill>
            <a:srgbClr val="CCE5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latin typeface="Aptos"/>
              </a:defRPr>
            </a:pPr>
            <a:r>
              <a:t>02</a:t>
            </a:r>
          </a:p>
        </p:txBody>
      </p:sp>
      <p:sp>
        <p:nvSpPr>
          <p:cNvPr id="8" name="TextBox 7"/>
          <p:cNvSpPr txBox="1"/>
          <p:nvPr/>
        </p:nvSpPr>
        <p:spPr>
          <a:xfrm>
            <a:off x="1371600" y="3337560"/>
            <a:ext cx="9144000" cy="274320"/>
          </a:xfrm>
          <a:prstGeom prst="rect">
            <a:avLst/>
          </a:prstGeom>
          <a:noFill/>
        </p:spPr>
        <p:txBody>
          <a:bodyPr wrap="square">
            <a:spAutoFit/>
          </a:bodyPr>
          <a:lstStyle/>
          <a:p>
            <a:pPr algn="l">
              <a:defRPr sz="1800" b="1">
                <a:solidFill>
                  <a:srgbClr val="FFFFFF"/>
                </a:solidFill>
                <a:latin typeface="Aptos"/>
              </a:defRPr>
            </a:pPr>
            <a:r>
              <a:t>Snap Presets</a:t>
            </a:r>
          </a:p>
        </p:txBody>
      </p:sp>
      <p:sp>
        <p:nvSpPr>
          <p:cNvPr id="9" name="TextBox 8"/>
          <p:cNvSpPr txBox="1"/>
          <p:nvPr/>
        </p:nvSpPr>
        <p:spPr>
          <a:xfrm>
            <a:off x="1371600" y="3657600"/>
            <a:ext cx="9144000" cy="320040"/>
          </a:xfrm>
          <a:prstGeom prst="rect">
            <a:avLst/>
          </a:prstGeom>
          <a:noFill/>
        </p:spPr>
        <p:txBody>
          <a:bodyPr wrap="square">
            <a:spAutoFit/>
          </a:bodyPr>
          <a:lstStyle/>
          <a:p>
            <a:pPr algn="l">
              <a:defRPr sz="1200" b="0">
                <a:solidFill>
                  <a:srgbClr val="90B8E0"/>
                </a:solidFill>
                <a:latin typeface="Aptos"/>
              </a:defRPr>
            </a:pPr>
            <a:r>
              <a:t>Pre-built team configurations -- one command to initialize</a:t>
            </a:r>
          </a:p>
        </p:txBody>
      </p:sp>
      <p:sp>
        <p:nvSpPr>
          <p:cNvPr id="10" name="Oval 9"/>
          <p:cNvSpPr/>
          <p:nvPr/>
        </p:nvSpPr>
        <p:spPr>
          <a:xfrm>
            <a:off x="731520" y="4114800"/>
            <a:ext cx="411480" cy="411480"/>
          </a:xfrm>
          <a:prstGeom prst="ellipse">
            <a:avLst/>
          </a:prstGeom>
          <a:solidFill>
            <a:srgbClr val="CCE5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latin typeface="Aptos"/>
              </a:defRPr>
            </a:pPr>
            <a:r>
              <a:t>03</a:t>
            </a:r>
          </a:p>
        </p:txBody>
      </p:sp>
      <p:sp>
        <p:nvSpPr>
          <p:cNvPr id="11" name="TextBox 10"/>
          <p:cNvSpPr txBox="1"/>
          <p:nvPr/>
        </p:nvSpPr>
        <p:spPr>
          <a:xfrm>
            <a:off x="1371600" y="4114800"/>
            <a:ext cx="9144000" cy="274320"/>
          </a:xfrm>
          <a:prstGeom prst="rect">
            <a:avLst/>
          </a:prstGeom>
          <a:noFill/>
        </p:spPr>
        <p:txBody>
          <a:bodyPr wrap="square">
            <a:spAutoFit/>
          </a:bodyPr>
          <a:lstStyle/>
          <a:p>
            <a:pPr algn="l">
              <a:defRPr sz="1800" b="1">
                <a:solidFill>
                  <a:srgbClr val="FFFFFF"/>
                </a:solidFill>
                <a:latin typeface="Aptos"/>
              </a:defRPr>
            </a:pPr>
            <a:r>
              <a:t>SubSquads</a:t>
            </a:r>
          </a:p>
        </p:txBody>
      </p:sp>
      <p:sp>
        <p:nvSpPr>
          <p:cNvPr id="12" name="TextBox 11"/>
          <p:cNvSpPr txBox="1"/>
          <p:nvPr/>
        </p:nvSpPr>
        <p:spPr>
          <a:xfrm>
            <a:off x="1371600" y="4434840"/>
            <a:ext cx="9144000" cy="320040"/>
          </a:xfrm>
          <a:prstGeom prst="rect">
            <a:avLst/>
          </a:prstGeom>
          <a:noFill/>
        </p:spPr>
        <p:txBody>
          <a:bodyPr wrap="square">
            <a:spAutoFit/>
          </a:bodyPr>
          <a:lstStyle/>
          <a:p>
            <a:pPr algn="l">
              <a:defRPr sz="1200" b="0">
                <a:solidFill>
                  <a:srgbClr val="90B8E0"/>
                </a:solidFill>
                <a:latin typeface="Aptos"/>
              </a:defRPr>
            </a:pPr>
            <a:r>
              <a:t>Pull, configure, execute, and contribute back</a:t>
            </a:r>
          </a:p>
        </p:txBody>
      </p:sp>
      <p:sp>
        <p:nvSpPr>
          <p:cNvPr id="13" name="Oval 12"/>
          <p:cNvSpPr/>
          <p:nvPr/>
        </p:nvSpPr>
        <p:spPr>
          <a:xfrm>
            <a:off x="731520" y="4892040"/>
            <a:ext cx="411480" cy="411480"/>
          </a:xfrm>
          <a:prstGeom prst="ellipse">
            <a:avLst/>
          </a:prstGeom>
          <a:solidFill>
            <a:srgbClr val="CCE5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latin typeface="Aptos"/>
              </a:defRPr>
            </a:pPr>
            <a:r>
              <a:t>04</a:t>
            </a:r>
          </a:p>
        </p:txBody>
      </p:sp>
      <p:sp>
        <p:nvSpPr>
          <p:cNvPr id="14" name="TextBox 13"/>
          <p:cNvSpPr txBox="1"/>
          <p:nvPr/>
        </p:nvSpPr>
        <p:spPr>
          <a:xfrm>
            <a:off x="1371600" y="4892040"/>
            <a:ext cx="9144000" cy="274320"/>
          </a:xfrm>
          <a:prstGeom prst="rect">
            <a:avLst/>
          </a:prstGeom>
          <a:noFill/>
        </p:spPr>
        <p:txBody>
          <a:bodyPr wrap="square">
            <a:spAutoFit/>
          </a:bodyPr>
          <a:lstStyle/>
          <a:p>
            <a:pPr algn="l">
              <a:defRPr sz="1800" b="1">
                <a:solidFill>
                  <a:srgbClr val="FFFFFF"/>
                </a:solidFill>
                <a:latin typeface="Aptos"/>
              </a:defRPr>
            </a:pPr>
            <a:r>
              <a:t>Skills Compound</a:t>
            </a:r>
          </a:p>
        </p:txBody>
      </p:sp>
      <p:sp>
        <p:nvSpPr>
          <p:cNvPr id="15" name="TextBox 14"/>
          <p:cNvSpPr txBox="1"/>
          <p:nvPr/>
        </p:nvSpPr>
        <p:spPr>
          <a:xfrm>
            <a:off x="1371600" y="5212080"/>
            <a:ext cx="9144000" cy="320040"/>
          </a:xfrm>
          <a:prstGeom prst="rect">
            <a:avLst/>
          </a:prstGeom>
          <a:noFill/>
        </p:spPr>
        <p:txBody>
          <a:bodyPr wrap="square">
            <a:spAutoFit/>
          </a:bodyPr>
          <a:lstStyle/>
          <a:p>
            <a:pPr algn="l">
              <a:defRPr sz="1200" b="0">
                <a:solidFill>
                  <a:srgbClr val="90B8E0"/>
                </a:solidFill>
                <a:latin typeface="Aptos"/>
              </a:defRPr>
            </a:pPr>
            <a:r>
              <a:t>Every engagement makes the system smarter for everyone</a:t>
            </a:r>
          </a:p>
        </p:txBody>
      </p:sp>
      <p:sp>
        <p:nvSpPr>
          <p:cNvPr id="16" name="TextBox 15"/>
          <p:cNvSpPr txBox="1"/>
          <p:nvPr/>
        </p:nvSpPr>
        <p:spPr>
          <a:xfrm>
            <a:off x="731520" y="5669280"/>
            <a:ext cx="10058400" cy="320040"/>
          </a:xfrm>
          <a:prstGeom prst="rect">
            <a:avLst/>
          </a:prstGeom>
          <a:noFill/>
        </p:spPr>
        <p:txBody>
          <a:bodyPr wrap="square">
            <a:spAutoFit/>
          </a:bodyPr>
          <a:lstStyle/>
          <a:p>
            <a:pPr algn="l">
              <a:defRPr sz="1400" b="1">
                <a:solidFill>
                  <a:srgbClr val="CCE5FF"/>
                </a:solidFill>
                <a:latin typeface="Aptos"/>
              </a:defRPr>
            </a:pPr>
            <a:r>
              <a:t>Reuse is the default. Creating is the exception. Every engagement makes us smarter.</a:t>
            </a:r>
          </a:p>
        </p:txBody>
      </p:sp>
      <p:sp>
        <p:nvSpPr>
          <p:cNvPr id="17" name="TextBox 16"/>
          <p:cNvSpPr txBox="1"/>
          <p:nvPr/>
        </p:nvSpPr>
        <p:spPr>
          <a:xfrm>
            <a:off x="274320" y="6263640"/>
            <a:ext cx="9144000" cy="274320"/>
          </a:xfrm>
          <a:prstGeom prst="rect">
            <a:avLst/>
          </a:prstGeom>
          <a:noFill/>
        </p:spPr>
        <p:txBody>
          <a:bodyPr wrap="square">
            <a:spAutoFit/>
          </a:bodyPr>
          <a:lstStyle/>
          <a:p>
            <a:pPr algn="l">
              <a:defRPr sz="800" b="0">
                <a:solidFill>
                  <a:srgbClr val="666666"/>
                </a:solidFill>
                <a:latin typeface="Aptos"/>
              </a:defRPr>
            </a:pPr>
            <a:r>
              <a:t>CONFIDENTIAL  |  Microsoft Accelerate Factory  |  Copilot Squad + Snap Model</a:t>
            </a:r>
          </a:p>
        </p:txBody>
      </p:sp>
      <p:sp>
        <p:nvSpPr>
          <p:cNvPr id="18" name="TextBox 17"/>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15 / 15</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FY24 Global Customer Success">
  <a:themeElements>
    <a:clrScheme name="GCS">
      <a:dk1>
        <a:srgbClr val="1A1A1A"/>
      </a:dk1>
      <a:lt1>
        <a:srgbClr val="FFFFFF"/>
      </a:lt1>
      <a:dk2>
        <a:srgbClr val="2A446F"/>
      </a:dk2>
      <a:lt2>
        <a:srgbClr val="F2F2F2"/>
      </a:lt2>
      <a:accent1>
        <a:srgbClr val="D83B02"/>
      </a:accent1>
      <a:accent2>
        <a:srgbClr val="0178D4"/>
      </a:accent2>
      <a:accent3>
        <a:srgbClr val="FE8B00"/>
      </a:accent3>
      <a:accent4>
        <a:srgbClr val="00BCF2"/>
      </a:accent4>
      <a:accent5>
        <a:srgbClr val="463668"/>
      </a:accent5>
      <a:accent6>
        <a:srgbClr val="225B62"/>
      </a:accent6>
      <a:hlink>
        <a:srgbClr val="00BCF2"/>
      </a:hlink>
      <a:folHlink>
        <a:srgbClr val="274B47"/>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1" id="{E3795941-59EF-4171-B17A-5159030DBA48}" vid="{3A2A1809-9A9C-4605-B72D-992B45BBB6BE}"/>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3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31d963b9-1180-4647-93d7-d11aa08e2421" xsi:nil="true"/>
    <lcf76f155ced4ddcb4097134ff3c332f xmlns="f3541473-4e72-4c17-b1a6-32770bb766bd">
      <Terms xmlns="http://schemas.microsoft.com/office/infopath/2007/PartnerControls"/>
    </lcf76f155ced4ddcb4097134ff3c332f>
    <PrimeCorrectedByUser xmlns="31d963b9-1180-4647-93d7-d11aa08e2421" xsi:nil="true"/>
    <PrimeClassificationStatus xmlns="31d963b9-1180-4647-93d7-d11aa08e2421" xsi:nil="true"/>
    <Buckets xmlns="f3541473-4e72-4c17-b1a6-32770bb766bd" xsi:nil="true"/>
    <PrimeClassificationStatusDetails xmlns="31d963b9-1180-4647-93d7-d11aa08e2421" xsi:nil="true"/>
    <PrimeLastClassified xmlns="31d963b9-1180-4647-93d7-d11aa08e2421" xsi:nil="true"/>
    <Comments xmlns="f3541473-4e72-4c17-b1a6-32770bb766bd" xsi:nil="true"/>
    <ApprovedBy xmlns="f3541473-4e72-4c17-b1a6-32770bb766bd" xsi:nil="true"/>
    <ToBeMigrated_x003f_0 xmlns="f3541473-4e72-4c17-b1a6-32770bb766bd">true</ToBeMigrated_x003f_0>
    <ContentCategory xmlns="f3541473-4e72-4c17-b1a6-32770bb766bd" xsi:nil="true"/>
    <ToBeMigrated_x003f_ xmlns="f3541473-4e72-4c17-b1a6-32770bb766bd">true</ToBeMigrated_x003f_>
    <MigrationStatus xmlns="f3541473-4e72-4c17-b1a6-32770bb766bd" xsi:nil="true"/>
    <MigrationApproved xmlns="f3541473-4e72-4c17-b1a6-32770bb766bd">true</MigrationApproved>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C4F5606B695A84A87B74917185224FA" ma:contentTypeVersion="35" ma:contentTypeDescription="Create a new document." ma:contentTypeScope="" ma:versionID="780f07036e1844f54aa521de4e75515b">
  <xsd:schema xmlns:xsd="http://www.w3.org/2001/XMLSchema" xmlns:xs="http://www.w3.org/2001/XMLSchema" xmlns:p="http://schemas.microsoft.com/office/2006/metadata/properties" xmlns:ns1="http://schemas.microsoft.com/sharepoint/v3" xmlns:ns2="f3541473-4e72-4c17-b1a6-32770bb766bd" xmlns:ns3="31d963b9-1180-4647-93d7-d11aa08e2421" targetNamespace="http://schemas.microsoft.com/office/2006/metadata/properties" ma:root="true" ma:fieldsID="5f4092ba07087a62a5026b82b14c4bf7" ns1:_="" ns2:_="" ns3:_="">
    <xsd:import namespace="http://schemas.microsoft.com/sharepoint/v3"/>
    <xsd:import namespace="f3541473-4e72-4c17-b1a6-32770bb766bd"/>
    <xsd:import namespace="31d963b9-1180-4647-93d7-d11aa08e242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GenerationTime" minOccurs="0"/>
                <xsd:element ref="ns2:MediaServiceEventHashCode" minOccurs="0"/>
                <xsd:element ref="ns3:SharedWithUsers" minOccurs="0"/>
                <xsd:element ref="ns3:SharedWithDetails" minOccurs="0"/>
                <xsd:element ref="ns1:_ip_UnifiedCompliancePolicyProperties" minOccurs="0"/>
                <xsd:element ref="ns1:_ip_UnifiedCompliancePolicyUIAction" minOccurs="0"/>
                <xsd:element ref="ns2:MediaServiceSearchProperties" minOccurs="0"/>
                <xsd:element ref="ns2:MediaServiceDateTaken" minOccurs="0"/>
                <xsd:element ref="ns2:MediaLengthInSeconds" minOccurs="0"/>
                <xsd:element ref="ns2:MediaServiceDocTags" minOccurs="0"/>
                <xsd:element ref="ns2:lcf76f155ced4ddcb4097134ff3c332f" minOccurs="0"/>
                <xsd:element ref="ns3:TaxCatchAll" minOccurs="0"/>
                <xsd:element ref="ns2:MediaServiceObjectDetectorVersions" minOccurs="0"/>
                <xsd:element ref="ns2:TranslatedLang" minOccurs="0"/>
                <xsd:element ref="ns2:MediaServiceBillingMetadata" minOccurs="0"/>
                <xsd:element ref="ns3:PrimeClassificationStatus" minOccurs="0"/>
                <xsd:element ref="ns3:PrimeClassificationStatusDetails" minOccurs="0"/>
                <xsd:element ref="ns3:PrimeLastClassified" minOccurs="0"/>
                <xsd:element ref="ns3:PrimeCorrectedByUser" minOccurs="0"/>
                <xsd:element ref="ns2:Buckets" minOccurs="0"/>
                <xsd:element ref="ns2:MediaServiceLocation" minOccurs="0"/>
                <xsd:element ref="ns2:Comments" minOccurs="0"/>
                <xsd:element ref="ns2:ToBeMigrated_x003f_" minOccurs="0"/>
                <xsd:element ref="ns2:ToBeMigrated_x003f_0" minOccurs="0"/>
                <xsd:element ref="ns2:ApprovedBy" minOccurs="0"/>
                <xsd:element ref="ns2:MigrationApproved" minOccurs="0"/>
                <xsd:element ref="ns2:MigrationStatus" minOccurs="0"/>
                <xsd:element ref="ns2:Content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3541473-4e72-4c17-b1a6-32770bb766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Extracted Text" ma:internalName="MediaServiceOCR" ma:readOnly="true">
      <xsd:simpleType>
        <xsd:restriction base="dms:Note">
          <xsd:maxLength value="255"/>
        </xsd:restriction>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DocTags" ma:index="20" nillable="true" ma:displayName="MediaServiceDocTags" ma:hidden="true" ma:internalName="MediaServiceDocTags" ma:readOnly="true">
      <xsd:simpleType>
        <xsd:restriction base="dms:Note"/>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TranslatedLang" ma:index="25" nillable="true" ma:displayName="TranslatedLang" ma:hidden="true" ma:internalName="TranslatedLang" ma:readOnly="true">
      <xsd:simpleType>
        <xsd:restriction base="dms:Text"/>
      </xsd:simpleType>
    </xsd:element>
    <xsd:element name="MediaServiceBillingMetadata" ma:index="26" nillable="true" ma:displayName="MediaServiceBillingMetadata" ma:hidden="true" ma:internalName="MediaServiceBillingMetadata" ma:readOnly="true">
      <xsd:simpleType>
        <xsd:restriction base="dms:Text"/>
      </xsd:simpleType>
    </xsd:element>
    <xsd:element name="Buckets" ma:index="31" nillable="true" ma:displayName="Buckets" ma:description="Describes the content and where it sits within Seismic" ma:format="Dropdown" ma:internalName="Buckets">
      <xsd:complexType>
        <xsd:complexContent>
          <xsd:extension base="dms:MultiChoice">
            <xsd:sequence>
              <xsd:element name="Value" maxOccurs="unbounded" minOccurs="0" nillable="true">
                <xsd:simpleType>
                  <xsd:restriction base="dms:Choice">
                    <xsd:enumeration value="Customer"/>
                    <xsd:enumeration value="Field"/>
                    <xsd:enumeration value="Partner"/>
                    <xsd:enumeration value="Intake Nomination"/>
                    <xsd:enumeration value="RACI"/>
                  </xsd:restriction>
                </xsd:simpleType>
              </xsd:element>
            </xsd:sequence>
          </xsd:extension>
        </xsd:complexContent>
      </xsd:complexType>
    </xsd:element>
    <xsd:element name="MediaServiceLocation" ma:index="32" nillable="true" ma:displayName="Location" ma:description="" ma:indexed="true" ma:internalName="MediaServiceLocation" ma:readOnly="true">
      <xsd:simpleType>
        <xsd:restriction base="dms:Text"/>
      </xsd:simpleType>
    </xsd:element>
    <xsd:element name="Comments" ma:index="33" nillable="true" ma:displayName="Comments" ma:format="Dropdown" ma:internalName="Comments">
      <xsd:simpleType>
        <xsd:restriction base="dms:Text">
          <xsd:maxLength value="255"/>
        </xsd:restriction>
      </xsd:simpleType>
    </xsd:element>
    <xsd:element name="ToBeMigrated_x003f_" ma:index="34" nillable="true" ma:displayName="To Be Migrated?" ma:default="1" ma:description="Indicates whether this folder or content is intended to be migrated to the new SharePoint location. Set to Yes only after reviewing relevance, ownership, and usefulness." ma:format="Dropdown" ma:internalName="ToBeMigrated_x003f_">
      <xsd:simpleType>
        <xsd:restriction base="dms:Boolean"/>
      </xsd:simpleType>
    </xsd:element>
    <xsd:element name="ToBeMigrated_x003f_0" ma:index="35" nillable="true" ma:displayName="To Be Migrated?" ma:default="1" ma:description="Indicates whether this folder or content is intended to be migrated to the new SharePoint location. Set to Yes only after reviewing relevance, ownership, and usefulness." ma:format="Dropdown" ma:internalName="ToBeMigrated_x003f_0">
      <xsd:simpleType>
        <xsd:restriction base="dms:Boolean"/>
      </xsd:simpleType>
    </xsd:element>
    <xsd:element name="ApprovedBy" ma:index="36" nillable="true" ma:displayName="Approved By" ma:description="Identifies the individual who approved the migration of this content to the new SharePoint location. Used for audit and accountability purposes." ma:format="Dropdown" ma:internalName="ApprovedBy">
      <xsd:simpleType>
        <xsd:restriction base="dms:Text">
          <xsd:maxLength value="255"/>
        </xsd:restriction>
      </xsd:simpleType>
    </xsd:element>
    <xsd:element name="MigrationApproved" ma:index="37" nillable="true" ma:displayName="Migration Approved" ma:default="1" ma:description="Shows the approval decision for migrating this content. Content should be migrated only when the status is set to Approved." ma:format="Dropdown" ma:internalName="MigrationApproved">
      <xsd:simpleType>
        <xsd:restriction base="dms:Boolean"/>
      </xsd:simpleType>
    </xsd:element>
    <xsd:element name="MigrationStatus" ma:index="38" nillable="true" ma:displayName="Migration Status" ma:description="Tracks the current state of the migration activity for this content, from planning through completion or exception handling." ma:format="Dropdown" ma:internalName="MigrationStatus">
      <xsd:simpleType>
        <xsd:restriction base="dms:Text">
          <xsd:maxLength value="255"/>
        </xsd:restriction>
      </xsd:simpleType>
    </xsd:element>
    <xsd:element name="ContentCategory" ma:index="39" nillable="true" ma:displayName="Content Category" ma:description="Classifies the business nature of the content to support migration decisions, prioritization, and future governance." ma:format="Dropdown" ma:internalName="ContentCategory">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1d963b9-1180-4647-93d7-d11aa08e2421"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200b8a8-7722-4866-9ef1-0499ba3ec9e1}" ma:internalName="TaxCatchAll" ma:showField="CatchAllData" ma:web="31d963b9-1180-4647-93d7-d11aa08e2421">
      <xsd:complexType>
        <xsd:complexContent>
          <xsd:extension base="dms:MultiChoiceLookup">
            <xsd:sequence>
              <xsd:element name="Value" type="dms:Lookup" maxOccurs="unbounded" minOccurs="0" nillable="true"/>
            </xsd:sequence>
          </xsd:extension>
        </xsd:complexContent>
      </xsd:complexType>
    </xsd:element>
    <xsd:element name="PrimeClassificationStatus" ma:index="27" nillable="true" ma:displayName="Processing status" ma:internalName="PrimeClassificationStatus">
      <xsd:simpleType>
        <xsd:restriction base="dms:Text"/>
      </xsd:simpleType>
    </xsd:element>
    <xsd:element name="PrimeClassificationStatusDetails" ma:index="28" nillable="true" ma:displayName="Processing details" ma:internalName="PrimeClassificationStatusDetails">
      <xsd:simpleType>
        <xsd:restriction base="dms:Note">
          <xsd:maxLength value="255"/>
        </xsd:restriction>
      </xsd:simpleType>
    </xsd:element>
    <xsd:element name="PrimeLastClassified" ma:index="29" nillable="true" ma:displayName="Processed" ma:internalName="PrimeLastClassified">
      <xsd:simpleType>
        <xsd:restriction base="dms:DateTime"/>
      </xsd:simpleType>
    </xsd:element>
    <xsd:element name="PrimeCorrectedByUser" ma:index="30" nillable="true" ma:displayName="Corrected" ma:internalName="PrimeCorrectedByUser">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C55CB52-33A3-4B47-8C1D-0EE24875E3DC}">
  <ds:schemaRefs>
    <ds:schemaRef ds:uri="http://schemas.microsoft.com/sharepoint/v3"/>
    <ds:schemaRef ds:uri="http://purl.org/dc/dcmitype/"/>
    <ds:schemaRef ds:uri="http://purl.org/dc/terms/"/>
    <ds:schemaRef ds:uri="http://purl.org/dc/elements/1.1/"/>
    <ds:schemaRef ds:uri="http://schemas.microsoft.com/office/infopath/2007/PartnerControls"/>
    <ds:schemaRef ds:uri="http://schemas.microsoft.com/office/2006/documentManagement/types"/>
    <ds:schemaRef ds:uri="http://schemas.openxmlformats.org/package/2006/metadata/core-properties"/>
    <ds:schemaRef ds:uri="31d963b9-1180-4647-93d7-d11aa08e2421"/>
    <ds:schemaRef ds:uri="f3541473-4e72-4c17-b1a6-32770bb766bd"/>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3998B09E-68DE-4B62-A34E-BB5B738ECC36}">
  <ds:schemaRefs>
    <ds:schemaRef ds:uri="http://schemas.microsoft.com/sharepoint/v3/contenttype/forms"/>
  </ds:schemaRefs>
</ds:datastoreItem>
</file>

<file path=customXml/itemProps3.xml><?xml version="1.0" encoding="utf-8"?>
<ds:datastoreItem xmlns:ds="http://schemas.openxmlformats.org/officeDocument/2006/customXml" ds:itemID="{3D7418BF-5125-468A-8024-F23D251B58C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3541473-4e72-4c17-b1a6-32770bb766bd"/>
    <ds:schemaRef ds:uri="31d963b9-1180-4647-93d7-d11aa08e242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6953</TotalTime>
  <Words>15713</Words>
  <Application>Microsoft Office PowerPoint</Application>
  <PresentationFormat>Widescreen</PresentationFormat>
  <Paragraphs>4452</Paragraphs>
  <Slides>56</Slides>
  <Notes>48</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56</vt:i4>
      </vt:variant>
    </vt:vector>
  </HeadingPairs>
  <TitlesOfParts>
    <vt:vector size="70" baseType="lpstr">
      <vt:lpstr>Aptos</vt:lpstr>
      <vt:lpstr>Aptos Display</vt:lpstr>
      <vt:lpstr>Aptos Narrow</vt:lpstr>
      <vt:lpstr>Arial</vt:lpstr>
      <vt:lpstr>Arial,Sans-Serif</vt:lpstr>
      <vt:lpstr>Calibri</vt:lpstr>
      <vt:lpstr>Segoe Sans Display Semibold</vt:lpstr>
      <vt:lpstr>Segoe Sans Text</vt:lpstr>
      <vt:lpstr>Segoe UI</vt:lpstr>
      <vt:lpstr>Segoe UI Semibold</vt:lpstr>
      <vt:lpstr>Wingdings</vt:lpstr>
      <vt:lpstr>FY24 Global Customer Success</vt:lpstr>
      <vt:lpstr>1_Office Theme</vt:lpstr>
      <vt:lpstr>3_office theme</vt:lpstr>
      <vt:lpstr>Accounts Status – Area LATAM (MCSA)  Reporting Period – 04/03/2026 – 04/09/2026    Date : April 10, 2026 Generated By: Mani Kunda</vt:lpstr>
      <vt:lpstr>PowerPoint Presentation</vt:lpstr>
      <vt:lpstr>LATAM (MCSA) Nominations – Help required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Appendix</vt:lpstr>
      <vt:lpstr>LATAM (MCSA) Nominations – Stage 2 (1/2)</vt:lpstr>
      <vt:lpstr>LATAM (MCSA) Nominations – Stage 2 (2/2)</vt:lpstr>
      <vt:lpstr>LATAM (MCSA) Nominations – Stage 3</vt:lpstr>
      <vt:lpstr>LATAM (MCSA) Nominations – Stage 4 (1/2)</vt:lpstr>
      <vt:lpstr>LATAM (MCSA) Nominations – Stage 4 (2/2)</vt:lpstr>
      <vt:lpstr>LATAM (MCSA) Nominations – Stage 1</vt:lpstr>
      <vt:lpstr>LATAM (MCSA) Nominations – Deferred</vt:lpstr>
      <vt:lpstr>LATAM (MCSA) Nominations – Deferred</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Scope Sign off</dc:title>
  <dc:creator>Ancy Alexander (International Supplier)</dc:creator>
  <cp:keywords>CMF;</cp:keywords>
  <cp:lastModifiedBy>Misa Breton (International Supplier)</cp:lastModifiedBy>
  <cp:revision>45</cp:revision>
  <dcterms:created xsi:type="dcterms:W3CDTF">2024-07-26T14:11:23Z</dcterms:created>
  <dcterms:modified xsi:type="dcterms:W3CDTF">2026-04-10T13:35:33Z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0x010100CC4F5606B695A84A87B74917185224FA</vt:lpwstr>
  </property>
  <property fmtid="{D5CDD505-2E9C-101B-9397-08002B2CF9AE}" pid="3" name="_dlc_DocIdItemGuid">
    <vt:lpwstr>36da67c7-b504-4aea-865b-0e87cedc899d</vt:lpwstr>
  </property>
  <property fmtid="{D5CDD505-2E9C-101B-9397-08002B2CF9AE}" pid="4" name="MediaServiceImageTags">
    <vt:lpwstr/>
  </property>
</Properties>
</file>