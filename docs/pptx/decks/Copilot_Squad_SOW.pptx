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  <p:sldMasterId id="2147483893" r:id="rId5"/>
    <p:sldMasterId id="2147483931" r:id="rId6"/>
  </p:sldMasterIdLst>
  <p:notesMasterIdLst>
    <p:notesMasterId r:id="rId63"/>
  </p:notesMasterIdLst>
  <p:handoutMasterIdLst>
    <p:handoutMasterId r:id="rId64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45EA2D-1AF0-34E0-A8D1-7DC498B324C6}" name="Leonardo Miller (International Supplier)" initials="LS" userId="S::v-lemiller@microsoft.com::b0ce1011-fe8a-48ce-b2f3-38c535a7b86f" providerId="AD"/>
  <p188:author id="{FC373C85-ECD1-2EBC-3625-F268C6A7DD7A}" name="Rajesh Doddapaneni (International Supplier)" initials="RD" userId="S::v-rajeshdo@microsoft.com::ee900ee1-8550-492f-8251-d7fc83307c82" providerId="AD"/>
  <p188:author id="{7C0DA9EE-7FEB-4CFD-0381-2DB8493D0D32}" name="Sunil Babu A V (International Supplier)" initials="SA" userId="S::v-veammi@microsoft.com::440459d4-1f85-4015-ac68-7529db05610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DF7D"/>
    <a:srgbClr val="FE8B00"/>
    <a:srgbClr val="F2F7FA"/>
    <a:srgbClr val="6C7E9C"/>
    <a:srgbClr val="C71C0F"/>
    <a:srgbClr val="66FF99"/>
    <a:srgbClr val="DEF6DF"/>
    <a:srgbClr val="66B3E4"/>
    <a:srgbClr val="7FA3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110926-E7D1-4FF0-AB29-7A94F8F28BDE}" v="159" dt="2026-04-10T07:32:52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2" autoAdjust="0"/>
    <p:restoredTop sz="89212" autoAdjust="0"/>
  </p:normalViewPr>
  <p:slideViewPr>
    <p:cSldViewPr snapToGrid="0">
      <p:cViewPr varScale="1">
        <p:scale>
          <a:sx n="98" d="100"/>
          <a:sy n="98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63" Type="http://schemas.openxmlformats.org/officeDocument/2006/relationships/notesMaster" Target="notesMasters/notesMaster1.xml"/><Relationship Id="rId64" Type="http://schemas.openxmlformats.org/officeDocument/2006/relationships/handoutMaster" Target="handoutMasters/handout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Relationship Id="rId69" Type="http://schemas.microsoft.com/office/2015/10/relationships/revisionInfo" Target="revisionInfo.xml"/><Relationship Id="rId70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412D67-2B4E-9F55-6EDC-F2256BD021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68C3D-E520-C942-CFB7-27E263C06F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296E7-6EEA-4CEF-8F27-97AAB193940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DE418-482A-7A43-F10A-2705951C1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D5FD8-B708-FF93-D8FD-7A2F3AD618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EA95-EEDE-466E-B94C-8B572EEF9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94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36652-5418-49D0-B2AF-7B23846B1C09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800DA-E989-494E-83A7-D0E152267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255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8.emf"/><Relationship Id="rId4" Type="http://schemas.openxmlformats.org/officeDocument/2006/relationships/image" Target="../media/image9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blue gradient">
    <p:bg>
      <p:bgPr>
        <a:gradFill>
          <a:gsLst>
            <a:gs pos="0">
              <a:schemeClr val="accent4"/>
            </a:gs>
            <a:gs pos="68000">
              <a:schemeClr val="accent2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8" name="MS logo white - EMF" descr="Microsoft logo white text version">
            <a:extLst>
              <a:ext uri="{FF2B5EF4-FFF2-40B4-BE49-F238E27FC236}">
                <a16:creationId xmlns:a16="http://schemas.microsoft.com/office/drawing/2014/main" id="{B07EA41A-052C-9A8D-BC7D-FCDF9A324B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817E97-DBEB-FDDB-1B4E-61CD77C94EAF}"/>
              </a:ext>
            </a:extLst>
          </p:cNvPr>
          <p:cNvSpPr/>
          <p:nvPr userDrawn="1"/>
        </p:nvSpPr>
        <p:spPr>
          <a:xfrm>
            <a:off x="584200" y="6496253"/>
            <a:ext cx="2727670" cy="200055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en-US" sz="700" b="0" i="0" spc="80" baseline="0">
                <a:solidFill>
                  <a:schemeClr val="bg1"/>
                </a:solidFill>
                <a:latin typeface="+mn-lt"/>
              </a:rPr>
              <a:t>MICROSOFT CONFIDENTIAL. FOR INTERNAL USE ONLY</a:t>
            </a:r>
          </a:p>
        </p:txBody>
      </p:sp>
      <p:pic>
        <p:nvPicPr>
          <p:cNvPr id="3" name="Picture 2" descr="Grey dots in a spiral">
            <a:extLst>
              <a:ext uri="{FF2B5EF4-FFF2-40B4-BE49-F238E27FC236}">
                <a16:creationId xmlns:a16="http://schemas.microsoft.com/office/drawing/2014/main" id="{69B9EDB1-0B22-7101-DC5D-3EBD7B3168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  <a14:imgEffect>
                      <a14:saturation sat="0"/>
                    </a14:imgEffect>
                    <a14:imgEffect>
                      <a14:brightnessContrast bright="3000" contrast="-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35"/>
          <a:stretch>
            <a:fillRect/>
          </a:stretch>
        </p:blipFill>
        <p:spPr>
          <a:xfrm rot="17129996">
            <a:off x="5184478" y="-817591"/>
            <a:ext cx="9805678" cy="8054623"/>
          </a:xfrm>
          <a:custGeom>
            <a:avLst/>
            <a:gdLst>
              <a:gd name="connsiteX0" fmla="*/ 9805678 w 9805678"/>
              <a:gd name="connsiteY0" fmla="*/ 1 h 8054623"/>
              <a:gd name="connsiteX1" fmla="*/ 9805678 w 9805678"/>
              <a:gd name="connsiteY1" fmla="*/ 8054623 h 8054623"/>
              <a:gd name="connsiteX2" fmla="*/ 9350567 w 9805678"/>
              <a:gd name="connsiteY2" fmla="*/ 8054622 h 8054623"/>
              <a:gd name="connsiteX3" fmla="*/ 8558274 w 9805678"/>
              <a:gd name="connsiteY3" fmla="*/ 5197692 h 8054623"/>
              <a:gd name="connsiteX4" fmla="*/ 1949695 w 9805678"/>
              <a:gd name="connsiteY4" fmla="*/ 7030405 h 8054623"/>
              <a:gd name="connsiteX5" fmla="*/ 0 w 9805678"/>
              <a:gd name="connsiteY5" fmla="*/ 0 h 8054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05678" h="8054623">
                <a:moveTo>
                  <a:pt x="9805678" y="1"/>
                </a:moveTo>
                <a:lnTo>
                  <a:pt x="9805678" y="8054623"/>
                </a:lnTo>
                <a:lnTo>
                  <a:pt x="9350567" y="8054622"/>
                </a:lnTo>
                <a:lnTo>
                  <a:pt x="8558274" y="5197692"/>
                </a:lnTo>
                <a:lnTo>
                  <a:pt x="1949695" y="7030405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0434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F0C0C6-8E74-F1C6-CB02-B90E834AB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433554" y="1734160"/>
            <a:ext cx="8825" cy="4367213"/>
          </a:xfrm>
          <a:prstGeom prst="line">
            <a:avLst/>
          </a:prstGeom>
          <a:ln w="12700" cap="rnd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76A6B21-0BB3-8590-D0F6-797F169E18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263" y="1947764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1770E4A-D94C-1440-96DB-11ED823507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6938" y="1947764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3773F22-97EC-FB3E-4D5B-9A9A1ED5EE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8263" y="3096951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spc="0" baseline="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918F8579-3664-D735-7F75-FD9D1C7D64C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06938" y="3096951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D37564D-5CD2-62A4-1803-B42D963333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8263" y="4246138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spc="0" baseline="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04ECCB71-C833-E3E7-D4C2-2794E3F2F2D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938" y="4246138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13684C1-E303-03EA-424F-F44C5796D9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8263" y="5395325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spc="0" baseline="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82B21244-77F4-25F3-DAEE-DD3164EE2CD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806938" y="5395325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6" name="Picture 5" descr="Colorful blue and orange dots in a spiral">
            <a:extLst>
              <a:ext uri="{FF2B5EF4-FFF2-40B4-BE49-F238E27FC236}">
                <a16:creationId xmlns:a16="http://schemas.microsoft.com/office/drawing/2014/main" id="{11D5C2FF-9643-2529-88FD-6CE111F873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1" t="11117" r="16871"/>
          <a:stretch/>
        </p:blipFill>
        <p:spPr>
          <a:xfrm rot="18368998">
            <a:off x="11067826" y="-163464"/>
            <a:ext cx="1453231" cy="1530253"/>
          </a:xfrm>
          <a:custGeom>
            <a:avLst/>
            <a:gdLst>
              <a:gd name="connsiteX0" fmla="*/ 1453231 w 1453231"/>
              <a:gd name="connsiteY0" fmla="*/ 0 h 1530253"/>
              <a:gd name="connsiteX1" fmla="*/ 1453231 w 1453231"/>
              <a:gd name="connsiteY1" fmla="*/ 726645 h 1530253"/>
              <a:gd name="connsiteX2" fmla="*/ 353226 w 1453231"/>
              <a:gd name="connsiteY2" fmla="*/ 1530253 h 1530253"/>
              <a:gd name="connsiteX3" fmla="*/ 0 w 1453231"/>
              <a:gd name="connsiteY3" fmla="*/ 1530253 h 1530253"/>
              <a:gd name="connsiteX4" fmla="*/ 0 w 1453231"/>
              <a:gd name="connsiteY4" fmla="*/ 0 h 153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3231" h="1530253">
                <a:moveTo>
                  <a:pt x="1453231" y="0"/>
                </a:moveTo>
                <a:lnTo>
                  <a:pt x="1453231" y="726645"/>
                </a:lnTo>
                <a:lnTo>
                  <a:pt x="353226" y="1530253"/>
                </a:lnTo>
                <a:lnTo>
                  <a:pt x="0" y="1530253"/>
                </a:lnTo>
                <a:lnTo>
                  <a:pt x="0" y="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38998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9653392" cy="553998"/>
          </a:xfrm>
        </p:spPr>
        <p:txBody>
          <a:bodyPr/>
          <a:lstStyle>
            <a:lvl1pPr marL="0" algn="l" defTabSz="93238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Title only</a:t>
            </a:r>
          </a:p>
        </p:txBody>
      </p:sp>
      <p:pic>
        <p:nvPicPr>
          <p:cNvPr id="13" name="Picture 12" descr="Grey dots in a decorative spiral">
            <a:extLst>
              <a:ext uri="{FF2B5EF4-FFF2-40B4-BE49-F238E27FC236}">
                <a16:creationId xmlns:a16="http://schemas.microsoft.com/office/drawing/2014/main" id="{129FA58B-F4C2-FEF2-22E5-FAC33CC0D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9" t="18675" r="11937" b="17894"/>
          <a:stretch/>
        </p:blipFill>
        <p:spPr>
          <a:xfrm flipH="1">
            <a:off x="10728642" y="0"/>
            <a:ext cx="1463358" cy="1206500"/>
          </a:xfrm>
          <a:custGeom>
            <a:avLst/>
            <a:gdLst>
              <a:gd name="connsiteX0" fmla="*/ 1684338 w 1684338"/>
              <a:gd name="connsiteY0" fmla="*/ 0 h 1562100"/>
              <a:gd name="connsiteX1" fmla="*/ 0 w 1684338"/>
              <a:gd name="connsiteY1" fmla="*/ 0 h 1562100"/>
              <a:gd name="connsiteX2" fmla="*/ 0 w 1684338"/>
              <a:gd name="connsiteY2" fmla="*/ 1562100 h 1562100"/>
              <a:gd name="connsiteX3" fmla="*/ 1684338 w 1684338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4338" h="1562100">
                <a:moveTo>
                  <a:pt x="1684338" y="0"/>
                </a:moveTo>
                <a:lnTo>
                  <a:pt x="0" y="0"/>
                </a:lnTo>
                <a:lnTo>
                  <a:pt x="0" y="1562100"/>
                </a:lnTo>
                <a:lnTo>
                  <a:pt x="1684338" y="156210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617685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2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6D04CCF-14FA-CEB5-E030-6D6A6B1637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3152001"/>
            <a:ext cx="4634484" cy="553998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algn="l" defTabSz="9325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pic>
        <p:nvPicPr>
          <p:cNvPr id="16" name="Picture 15" descr="A colorful dots in a spiral">
            <a:extLst>
              <a:ext uri="{FF2B5EF4-FFF2-40B4-BE49-F238E27FC236}">
                <a16:creationId xmlns:a16="http://schemas.microsoft.com/office/drawing/2014/main" id="{F74F4322-8497-A551-1633-B7D13287D7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7" b="7924"/>
          <a:stretch>
            <a:fillRect/>
          </a:stretch>
        </p:blipFill>
        <p:spPr>
          <a:xfrm rot="240096" flipH="1">
            <a:off x="3825454" y="-881094"/>
            <a:ext cx="8615855" cy="80495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17882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: Top Corners Rounded 264">
            <a:extLst>
              <a:ext uri="{FF2B5EF4-FFF2-40B4-BE49-F238E27FC236}">
                <a16:creationId xmlns:a16="http://schemas.microsoft.com/office/drawing/2014/main" id="{F115F110-E677-8F61-1011-C854F8F41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16200000" flipH="1">
            <a:off x="5047344" y="-2667000"/>
            <a:ext cx="2097312" cy="121920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400F2C9-4D27-4A70-96EB-94073B1211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875002"/>
            <a:ext cx="5510783" cy="1107996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000" b="1" kern="1200" cap="none" spc="-100" baseline="0" dirty="0">
                <a:ln w="3175">
                  <a:noFill/>
                </a:ln>
                <a:solidFill>
                  <a:srgbClr val="1B87D8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272" name="MS logo gray - EMF" descr="Microsoft logo, gray text version">
            <a:extLst>
              <a:ext uri="{FF2B5EF4-FFF2-40B4-BE49-F238E27FC236}">
                <a16:creationId xmlns:a16="http://schemas.microsoft.com/office/drawing/2014/main" id="{2D2BFFA1-4E63-D173-568F-8EFA7A7597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668662" y="1180148"/>
            <a:ext cx="1366440" cy="292608"/>
          </a:xfrm>
          <a:prstGeom prst="rect">
            <a:avLst/>
          </a:prstGeom>
        </p:spPr>
      </p:pic>
      <p:pic>
        <p:nvPicPr>
          <p:cNvPr id="4" name="Picture 3" descr="Grey dots in a spiral">
            <a:extLst>
              <a:ext uri="{FF2B5EF4-FFF2-40B4-BE49-F238E27FC236}">
                <a16:creationId xmlns:a16="http://schemas.microsoft.com/office/drawing/2014/main" id="{DD8E2EE1-B219-7AD0-95E9-3B9AB4E3874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205" y="-1383478"/>
            <a:ext cx="10849756" cy="8516960"/>
          </a:xfrm>
          <a:prstGeom prst="rect">
            <a:avLst/>
          </a:prstGeom>
        </p:spPr>
      </p:pic>
      <p:pic>
        <p:nvPicPr>
          <p:cNvPr id="11" name="Picture 10" descr="Colorful blue and orange dots in a spiral">
            <a:extLst>
              <a:ext uri="{FF2B5EF4-FFF2-40B4-BE49-F238E27FC236}">
                <a16:creationId xmlns:a16="http://schemas.microsoft.com/office/drawing/2014/main" id="{4AAEA3C1-2FB5-2778-F403-804889B2935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92" r="25143" b="31183"/>
          <a:stretch>
            <a:fillRect/>
          </a:stretch>
        </p:blipFill>
        <p:spPr>
          <a:xfrm>
            <a:off x="4070206" y="2380346"/>
            <a:ext cx="8121795" cy="2097312"/>
          </a:xfrm>
          <a:custGeom>
            <a:avLst/>
            <a:gdLst>
              <a:gd name="connsiteX0" fmla="*/ 0 w 8121795"/>
              <a:gd name="connsiteY0" fmla="*/ 0 h 2097312"/>
              <a:gd name="connsiteX1" fmla="*/ 8121795 w 8121795"/>
              <a:gd name="connsiteY1" fmla="*/ 0 h 2097312"/>
              <a:gd name="connsiteX2" fmla="*/ 8121795 w 8121795"/>
              <a:gd name="connsiteY2" fmla="*/ 2097312 h 2097312"/>
              <a:gd name="connsiteX3" fmla="*/ 0 w 8121795"/>
              <a:gd name="connsiteY3" fmla="*/ 2097312 h 209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1795" h="2097312">
                <a:moveTo>
                  <a:pt x="0" y="0"/>
                </a:moveTo>
                <a:lnTo>
                  <a:pt x="8121795" y="0"/>
                </a:lnTo>
                <a:lnTo>
                  <a:pt x="8121795" y="2097312"/>
                </a:lnTo>
                <a:lnTo>
                  <a:pt x="0" y="2097312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4244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A43683-6DA3-CAB4-0B24-22FD85FE8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flipH="1">
            <a:off x="0" y="0"/>
            <a:ext cx="12192000" cy="1188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</a:schemeClr>
              </a:gs>
              <a:gs pos="26000">
                <a:schemeClr val="accent2">
                  <a:lumMod val="50000"/>
                  <a:alpha val="92000"/>
                </a:scheme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0083922" cy="553998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Title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1C0608-93BD-AA99-99FE-CE8B5C541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188720"/>
            <a:ext cx="12192000" cy="45719"/>
          </a:xfrm>
          <a:prstGeom prst="rect">
            <a:avLst/>
          </a:prstGeom>
          <a:solidFill>
            <a:srgbClr val="0178D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 descr="Grey dots in a decorative spiral">
            <a:extLst>
              <a:ext uri="{FF2B5EF4-FFF2-40B4-BE49-F238E27FC236}">
                <a16:creationId xmlns:a16="http://schemas.microsoft.com/office/drawing/2014/main" id="{233A85F5-7EA5-D2AC-23E2-52EDBB1A08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9" t="18675" r="11937" b="17894"/>
          <a:stretch/>
        </p:blipFill>
        <p:spPr>
          <a:xfrm flipH="1">
            <a:off x="10728642" y="0"/>
            <a:ext cx="1463358" cy="1206500"/>
          </a:xfrm>
          <a:custGeom>
            <a:avLst/>
            <a:gdLst>
              <a:gd name="connsiteX0" fmla="*/ 1684338 w 1684338"/>
              <a:gd name="connsiteY0" fmla="*/ 0 h 1562100"/>
              <a:gd name="connsiteX1" fmla="*/ 0 w 1684338"/>
              <a:gd name="connsiteY1" fmla="*/ 0 h 1562100"/>
              <a:gd name="connsiteX2" fmla="*/ 0 w 1684338"/>
              <a:gd name="connsiteY2" fmla="*/ 1562100 h 1562100"/>
              <a:gd name="connsiteX3" fmla="*/ 1684338 w 1684338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4338" h="1562100">
                <a:moveTo>
                  <a:pt x="1684338" y="0"/>
                </a:moveTo>
                <a:lnTo>
                  <a:pt x="0" y="0"/>
                </a:lnTo>
                <a:lnTo>
                  <a:pt x="0" y="1562100"/>
                </a:lnTo>
                <a:lnTo>
                  <a:pt x="1684338" y="156210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5392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12778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28907-B34B-EA5C-1932-0E6A41142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3A667-77F1-832C-B8F7-7508A647B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852E7-C8FB-4DA2-CDCB-A34BDD83C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B5BC0-4891-5505-4859-7947BCDF7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FBA88-B499-1118-EC80-C7206D44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46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D39EF-DFFF-D68B-DF06-AAD366734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2FD69-B14C-18E8-09A4-E45F4D372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16C19-7361-3743-5500-35D026249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E6084-AAAE-03BD-7178-EDBF83A1E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F7631-28B2-86FF-F99C-9FBCA4EA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28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30A0A-BE0C-B252-F913-577A75F3D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C9C56-EA9C-B39E-F4F1-EB9220FAB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2A18-4EEA-91F5-50C8-6551A4E7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28416-A8CD-4A77-47D0-2A4BA7BB3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8A763-0B34-E0D9-338A-0BCA0E47E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36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FA275-CC8E-AC00-E560-38823DCCD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A719D-0A05-6E51-2289-57CE6A23F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3CB6F-3885-C41F-6FCF-1A8E94483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FCE16-863E-C47B-BD5E-7E082204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40710-77AC-587D-9345-24988AACB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9A66C-64CC-F6A4-1EAB-FB436D9BE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77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4146-955C-B96D-FB84-663421F2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C63DC-2B98-47CA-5A29-E78AE5B1F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F2291-4F15-F94E-DCE3-2B05B1B57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511724-D3AF-8984-BDF1-EDE643CE8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CEAC95-B7F0-5CAA-278A-BE8279295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229BD1-D504-8F66-71A7-B27708E02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1A86E0-AEA2-2A5B-816F-D0F0F2F99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54A726-CDA9-CE16-656D-FE6DA092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72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953B-6D9C-6F4D-A79F-6C42DD5E9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743C4E-2952-D239-054A-A530A862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C98637-EE1F-4E91-F9E7-C09266D1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CE189-AC99-E8F8-FEF0-2E2CF518B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85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BA6C5-065A-D2AF-A291-BAA7647B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667236-3677-B639-D8BD-BCDC8477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025FF-25C8-5AE8-E5C0-075DA858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16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FFCF-BCA4-6422-EF55-418740440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5162D-91AC-3CD0-063C-E0BBBE4F7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01E6C-93B7-DB7B-2FF8-18E2CA47A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7B2EB-4B9F-4971-20DE-E2A0FC45D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2A8C-4192-A960-0924-32DB65E41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0DA8B-C4F6-F6C3-4CE3-6687BB6DE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234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5A505-4EF4-4344-50A8-5C3F9D6C8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6236DB-2AB7-8010-B7C4-9587733F86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2FC49-51D0-FAE6-AE4F-593E30C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D7ED5-3E99-EF65-A264-1FA60E019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4447A-20DA-776F-D992-D4C4F8FED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86DC0-2143-6FF7-D633-AEB90F170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97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C8807-8EA1-1E3F-C93C-53DC14957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E4496-F8E6-C5F2-080D-95D9D738D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A14D9-F8C6-8C40-2D38-4D3109554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B8470-3C92-A110-4A16-6471243B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E333C-EE8B-4C6C-740C-83DD53D2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1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EF8295-38FF-2EE2-BA5A-10F55BEC75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9746B-4BB9-92CC-BE72-BDD91738C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74B6F-9D5B-00D5-BC52-BFD90E7DF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5D54D-8851-7681-87FF-AD0C685D5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E94E6-BFED-206F-8DBE-C80EB6527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630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_Custom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55519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189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823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342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669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620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5603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806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9993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198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704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9013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9653392" cy="553998"/>
          </a:xfrm>
        </p:spPr>
        <p:txBody>
          <a:bodyPr/>
          <a:lstStyle>
            <a:lvl1pPr marL="0" algn="l" defTabSz="93238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Title only</a:t>
            </a:r>
          </a:p>
        </p:txBody>
      </p:sp>
      <p:pic>
        <p:nvPicPr>
          <p:cNvPr id="13" name="Picture 12" descr="Grey dots in a decorative spiral">
            <a:extLst>
              <a:ext uri="{FF2B5EF4-FFF2-40B4-BE49-F238E27FC236}">
                <a16:creationId xmlns:a16="http://schemas.microsoft.com/office/drawing/2014/main" id="{129FA58B-F4C2-FEF2-22E5-FAC33CC0D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9" t="18675" r="11937" b="17894"/>
          <a:stretch/>
        </p:blipFill>
        <p:spPr>
          <a:xfrm flipH="1">
            <a:off x="10728642" y="0"/>
            <a:ext cx="1463358" cy="1206500"/>
          </a:xfrm>
          <a:custGeom>
            <a:avLst/>
            <a:gdLst>
              <a:gd name="connsiteX0" fmla="*/ 1684338 w 1684338"/>
              <a:gd name="connsiteY0" fmla="*/ 0 h 1562100"/>
              <a:gd name="connsiteX1" fmla="*/ 0 w 1684338"/>
              <a:gd name="connsiteY1" fmla="*/ 0 h 1562100"/>
              <a:gd name="connsiteX2" fmla="*/ 0 w 1684338"/>
              <a:gd name="connsiteY2" fmla="*/ 1562100 h 1562100"/>
              <a:gd name="connsiteX3" fmla="*/ 1684338 w 1684338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4338" h="1562100">
                <a:moveTo>
                  <a:pt x="1684338" y="0"/>
                </a:moveTo>
                <a:lnTo>
                  <a:pt x="0" y="0"/>
                </a:lnTo>
                <a:lnTo>
                  <a:pt x="0" y="1562100"/>
                </a:lnTo>
                <a:lnTo>
                  <a:pt x="1684338" y="156210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09069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2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_Custom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94391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tags" Target="../tags/tag1.xml"/><Relationship Id="rId10" Type="http://schemas.openxmlformats.org/officeDocument/2006/relationships/image" Target="../media/image1.emf"/><Relationship Id="rId11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460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F863F8-3190-109C-7161-40345FE412FF}"/>
              </a:ext>
            </a:extLst>
          </p:cNvPr>
          <p:cNvSpPr/>
          <p:nvPr userDrawn="1"/>
        </p:nvSpPr>
        <p:spPr>
          <a:xfrm>
            <a:off x="584200" y="6496253"/>
            <a:ext cx="2727670" cy="200055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en-US" sz="700" b="0" i="0" spc="8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MICROSOFT CONFIDENTIAL. FOR INTERNAL USE ONLY</a:t>
            </a:r>
          </a:p>
        </p:txBody>
      </p:sp>
      <p:pic>
        <p:nvPicPr>
          <p:cNvPr id="64" name="NEW Brand Colors 2018">
            <a:extLst>
              <a:ext uri="{FF2B5EF4-FFF2-40B4-BE49-F238E27FC236}">
                <a16:creationId xmlns:a16="http://schemas.microsoft.com/office/drawing/2014/main" id="{A8BA6B64-5E5E-4B2E-8DF2-17DC5A1D39B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53628" y="2942644"/>
            <a:ext cx="6858000" cy="972712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6A88F09E-5CD6-2540-F778-A9F2267C6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3373253" y="12841"/>
            <a:ext cx="340671" cy="6832318"/>
          </a:xfrm>
          <a:prstGeom prst="rect">
            <a:avLst/>
          </a:prstGeom>
        </p:spPr>
      </p:pic>
    </p:spTree>
    <p:custDataLst>
      <p:tags r:id="rId9"/>
    </p:custDataLst>
    <p:extLst>
      <p:ext uri="{BB962C8B-B14F-4D97-AF65-F5344CB8AC3E}">
        <p14:creationId xmlns:p14="http://schemas.microsoft.com/office/powerpoint/2010/main" val="2927840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9" r:id="rId2"/>
    <p:sldLayoutId id="2147483693" r:id="rId3"/>
    <p:sldLayoutId id="2147483723" r:id="rId4"/>
    <p:sldLayoutId id="2147483730" r:id="rId5"/>
    <p:sldLayoutId id="2147483800" r:id="rId6"/>
    <p:sldLayoutId id="2147483801" r:id="rId7"/>
  </p:sldLayoutIdLst>
  <p:transition>
    <p:fade/>
  </p:transition>
  <p:hf sldNum="0" hdr="0" ftr="0" dt="0"/>
  <p:txStyles>
    <p:titleStyle>
      <a:lvl1pPr algn="l" defTabSz="932563" rtl="0" eaLnBrk="1" latinLnBrk="0" hangingPunct="1">
        <a:lnSpc>
          <a:spcPct val="100000"/>
        </a:lnSpc>
        <a:spcBef>
          <a:spcPct val="0"/>
        </a:spcBef>
        <a:buNone/>
        <a:defRPr lang="en-US" sz="3529" b="0" kern="1200" cap="none" spc="-5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556" marR="0" indent="-228556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Segoe UI Semilight" panose="020B0402040204020203" pitchFamily="34" charset="0"/>
        </a:defRPr>
      </a:lvl1pPr>
      <a:lvl2pPr marL="457112" marR="0" indent="-228556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57099" marR="0" indent="-199986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372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842801" marR="0" indent="-180940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372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741" marR="0" indent="-168243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372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4547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0830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111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3394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282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563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8844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126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408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7689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3970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252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5">
          <p15:clr>
            <a:srgbClr val="C35EA4"/>
          </p15:clr>
        </p15:guide>
        <p15:guide id="17" pos="7661">
          <p15:clr>
            <a:srgbClr val="A4A3A4"/>
          </p15:clr>
        </p15:guide>
        <p15:guide id="25" orient="horz" pos="379">
          <p15:clr>
            <a:srgbClr val="C35EA4"/>
          </p15:clr>
        </p15:guide>
        <p15:guide id="26" orient="horz" pos="4027">
          <p15:clr>
            <a:srgbClr val="C35EA4"/>
          </p15:clr>
        </p15:guide>
        <p15:guide id="27" orient="horz" pos="187">
          <p15:clr>
            <a:srgbClr val="A4A3A4"/>
          </p15:clr>
        </p15:guide>
        <p15:guide id="28" pos="173">
          <p15:clr>
            <a:srgbClr val="A4A3A4"/>
          </p15:clr>
        </p15:guide>
        <p15:guide id="29" orient="horz" pos="2347">
          <p15:clr>
            <a:srgbClr val="A4A3A4"/>
          </p15:clr>
        </p15:guide>
        <p15:guide id="30" pos="7320">
          <p15:clr>
            <a:srgbClr val="C35EA4"/>
          </p15:clr>
        </p15:guide>
        <p15:guide id="31" pos="3917">
          <p15:clr>
            <a:srgbClr val="C35EA4"/>
          </p15:clr>
        </p15:guide>
        <p15:guide id="32" orient="horz" pos="2203">
          <p15:clr>
            <a:srgbClr val="F26B43"/>
          </p15:clr>
        </p15:guide>
        <p15:guide id="33" orient="horz" pos="4219">
          <p15:clr>
            <a:srgbClr val="A4A3A4"/>
          </p15:clr>
        </p15:guide>
        <p15:guide id="34" orient="horz" pos="2059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FFDEB-E59B-898A-0919-D2FCE4263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73C94-ED43-8244-6B02-E7234CAF9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D8F9E-0E0A-9154-6906-F2228259F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9CEC8-4581-4497-9206-B9F450C3E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3F71B-B2A7-7E82-4132-62F4B834C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8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  <p:sldLayoutId id="214748394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422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Sans Display Semibold"/>
              </a:defRPr>
            </a:pPr>
            <a:r>
              <a:t>Microsoft Accelerated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ptos Display"/>
              </a:defRPr>
            </a:pPr>
            <a:r>
              <a:t>Statement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CE5FF"/>
                </a:solidFill>
                <a:latin typeface="Aptos Display"/>
              </a:defRPr>
            </a:pPr>
            <a:r>
              <a:t>Centralized Copilot Squad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D0F0"/>
                </a:solidFill>
                <a:latin typeface="Aptos"/>
              </a:defRPr>
            </a:pPr>
            <a:r>
              <a:t>AI-Driven Delivery at Scale with Central Squad + SubSquads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B8E0"/>
                </a:solidFill>
                <a:latin typeface="Aptos"/>
              </a:defRPr>
            </a:pPr>
            <a:r>
              <a:t>Prepared for: Accelerate Factory Leadership</a:t>
            </a:r>
            <a:br/>
            <a:r>
              <a:t>Version 1.0  |  May 2026  |  Classification: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SOW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1.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4E66"/>
                </a:solidFill>
                <a:latin typeface="Aptos"/>
              </a:defRPr>
            </a:pPr>
            <a:r>
              <a:t>Transforming Accelerate Factory delivery through AI-driven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0972800" cy="109728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This Statement of Work defines the implementation of a Centralized Copilot Squad model that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replaces manual, portal-driven execution with AI-orchestrated delivery. By establishing a Central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Squad as the intelligence layer and SubSquads as project execution teams, the Factory achieves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reusable automation, consistent governance, and scalable delivery across all engagements.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474720" cy="21945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3090672"/>
            <a:ext cx="3200400" cy="36576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178D4"/>
                </a:solidFill>
                <a:latin typeface="Aptos"/>
              </a:defRPr>
            </a:pPr>
            <a:r>
              <a:t>⚡ 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Reduce delivery cycles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through AI automation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and agent reuse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926080"/>
            <a:ext cx="3474720" cy="21945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3090672"/>
            <a:ext cx="3200400" cy="36576"/>
          </a:xfrm>
          <a:prstGeom prst="rect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63668"/>
                </a:solidFill>
                <a:latin typeface="Aptos"/>
              </a:defRPr>
            </a:pPr>
            <a:r>
              <a:t>📐 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611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SubSquads replicate proven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patterns without rebuilding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from scratch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926080"/>
            <a:ext cx="3474720" cy="21945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39" y="3090672"/>
            <a:ext cx="3200400" cy="36576"/>
          </a:xfrm>
          <a:prstGeom prst="rect">
            <a:avLst/>
          </a:prstGeom>
          <a:solidFill>
            <a:srgbClr val="225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5B62"/>
                </a:solidFill>
                <a:latin typeface="Aptos"/>
              </a:defRPr>
            </a:pPr>
            <a:r>
              <a:t>🔒  Consistency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3611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Centralized governance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ensures quality and security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across all engagements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94960"/>
            <a:ext cx="10972800" cy="6400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440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F2"/>
                </a:solidFill>
                <a:latin typeface="Aptos"/>
              </a:defRPr>
            </a:pPr>
            <a:r>
              <a:t>60%+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5486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ptos"/>
              </a:defRPr>
            </a:pPr>
            <a:r>
              <a:t>Reduction in manual effort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39" y="5440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F2"/>
                </a:solidFill>
                <a:latin typeface="Aptos"/>
              </a:defRPr>
            </a:pPr>
            <a:r>
              <a:t>3x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39" y="5486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ptos"/>
              </a:defRPr>
            </a:pPr>
            <a:r>
              <a:t>Faster delivery cycles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5440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F2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59" y="5486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ptos"/>
              </a:defRPr>
            </a:pPr>
            <a:r>
              <a:t>Agent reusability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5440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F2"/>
                </a:solidFill>
                <a:latin typeface="Aptos"/>
              </a:defRPr>
            </a:pPr>
            <a:r>
              <a:t>Zero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5486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ptos"/>
              </a:defRPr>
            </a:pPr>
            <a:r>
              <a:t>Client data exposure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SOW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2.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0972800" cy="1143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4864" cy="36576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170432"/>
            <a:ext cx="502920" cy="502920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1430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178D4"/>
                </a:solidFill>
                <a:latin typeface="Aptos"/>
              </a:defRPr>
            </a:pPr>
            <a:r>
              <a:t>Eliminate Manual Overhead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08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Replace portal-driven, manual execution with AI-orchestrated workflows. Agents handle infrastructure, testing, documentation, and deployment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04288"/>
            <a:ext cx="10972800" cy="1143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41448"/>
            <a:ext cx="54864" cy="36576"/>
          </a:xfrm>
          <a:prstGeom prst="rect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468880"/>
            <a:ext cx="502920" cy="502920"/>
          </a:xfrm>
          <a:prstGeom prst="ellipse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414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63668"/>
                </a:solidFill>
                <a:latin typeface="Aptos"/>
              </a:defRPr>
            </a:pPr>
            <a:r>
              <a:t>Enable Reusable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0720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Build once, use everywhere. Agents are generic, template-based enterprise assets — not tied to any single project or client.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02736"/>
            <a:ext cx="10972800" cy="1143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39896"/>
            <a:ext cx="54864" cy="36576"/>
          </a:xfrm>
          <a:prstGeom prst="rect">
            <a:avLst/>
          </a:prstGeom>
          <a:solidFill>
            <a:srgbClr val="225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767328"/>
            <a:ext cx="502920" cy="502920"/>
          </a:xfrm>
          <a:prstGeom prst="ellipse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39896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5B62"/>
                </a:solidFill>
                <a:latin typeface="Aptos"/>
              </a:defRPr>
            </a:pPr>
            <a:r>
              <a:t>Scale with Central + SubSquads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105656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The Central Squad maintains shared intelligence; SubSquads spin up per project, pulling proven agents and patterns from the central library.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01183"/>
            <a:ext cx="10972800" cy="1143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83B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038343"/>
            <a:ext cx="54864" cy="36576"/>
          </a:xfrm>
          <a:prstGeom prst="rect">
            <a:avLst/>
          </a:prstGeom>
          <a:solidFill>
            <a:srgbClr val="D83B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5065775"/>
            <a:ext cx="502920" cy="502920"/>
          </a:xfrm>
          <a:prstGeom prst="ellipse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038343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83B02"/>
                </a:solidFill>
                <a:latin typeface="Aptos"/>
              </a:defRPr>
            </a:pPr>
            <a:r>
              <a:t>Drive Cross-Team Collaboration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404103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Improvements from any SubSquad feed back to the Central Squad. Every engagement makes the entire system smarter.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SOW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3. Scope of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261872" cy="27432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ptos"/>
              </a:defRPr>
            </a:pPr>
            <a:r>
              <a:t>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8D4"/>
                </a:solidFill>
                <a:latin typeface="Aptos"/>
              </a:defRPr>
            </a:pPr>
            <a:r>
              <a:t>Agent Creation &amp; Sharing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19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Design, build, validate, and publish reusable agents to the Central Squad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214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ptos"/>
              </a:defRPr>
            </a:pPr>
            <a:r>
              <a:t>🏗️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8D4"/>
                </a:solidFill>
                <a:latin typeface="Aptos"/>
              </a:defRPr>
            </a:pPr>
            <a:r>
              <a:t>Squad-Based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Central Squad coordinates delivery; SubSquads execute using shared agents and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797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ptos"/>
              </a:defRPr>
            </a:pPr>
            <a:r>
              <a:t>☁️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797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8D4"/>
                </a:solidFill>
                <a:latin typeface="Aptos"/>
              </a:defRPr>
            </a:pPr>
            <a:r>
              <a:t>IaC-First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358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All infrastructure defined as code — Bicep, Terraform, azd — no portal clicking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381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ptos"/>
              </a:defRPr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381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8D4"/>
                </a:solidFill>
                <a:latin typeface="Aptos"/>
              </a:defRPr>
            </a:pPr>
            <a:r>
              <a:t>SubSquad 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941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Spin up project-specific SubSquads that inherit Central Squad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ptos"/>
              </a:defRPr>
            </a:pPr>
            <a: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96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8D4"/>
                </a:solidFill>
                <a:latin typeface="Aptos"/>
              </a:defRPr>
            </a:pPr>
            <a:r>
              <a:t>Continuous Improvement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525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SubSquads contribute improvements, patterns, and new agents back to Central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005840"/>
            <a:ext cx="1664208" cy="274320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OUT OF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5087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0000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Client-specific business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0116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0000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Custom agent training on proprietary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514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0000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514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Third-party tool licensing / procurement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0175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0000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Production operational support (BAU)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5204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0000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520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Client data migration or ETL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206240"/>
            <a:ext cx="4846320" cy="18288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0" y="4206240"/>
            <a:ext cx="2066543" cy="27432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KEY DELIVERABLES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617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05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6177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Central Squad agent library (versioned)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92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05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489204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SubSquad deployment templates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16635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05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5166359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Governance &amp; security 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44067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05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5440679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Agent lifecycle documentation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05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571500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Success metrics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SOW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4a. Delivery Model — Central Squad (The Brain)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E66"/>
                </a:solidFill>
                <a:latin typeface="Aptos"/>
              </a:defRPr>
            </a:pPr>
            <a:r>
              <a:t>The Central Squad is the intelligence layer: shared agents, standards, governance, and institutional memory.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3474720" cy="19202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764792"/>
            <a:ext cx="3200400" cy="36576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78D4"/>
                </a:solidFill>
                <a:latin typeface="Aptos"/>
              </a:defRPr>
            </a:pPr>
            <a:r>
              <a:t>🧠  Shared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Maintains decisions, patterns, templates,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and institutional knowledge across all projects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600200"/>
            <a:ext cx="3474720" cy="19202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764792"/>
            <a:ext cx="3200400" cy="36576"/>
          </a:xfrm>
          <a:prstGeom prst="rect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63668"/>
                </a:solidFill>
                <a:latin typeface="Aptos"/>
              </a:defRPr>
            </a:pPr>
            <a:r>
              <a:t>📦  Agent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Owns reusable, anonymized agents.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Prevents duplication across teams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600200"/>
            <a:ext cx="3474720" cy="19202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83B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39" y="1764792"/>
            <a:ext cx="3200400" cy="36576"/>
          </a:xfrm>
          <a:prstGeom prst="rect">
            <a:avLst/>
          </a:prstGeom>
          <a:solidFill>
            <a:srgbClr val="D83B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83B02"/>
                </a:solidFill>
                <a:latin typeface="Aptos"/>
              </a:defRPr>
            </a:pPr>
            <a:r>
              <a:t>🛡️ 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Enforces security rules, approval gates,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version control, and auditability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86200"/>
            <a:ext cx="3474720" cy="19202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050792"/>
            <a:ext cx="3200400" cy="36576"/>
          </a:xfrm>
          <a:prstGeom prst="rect">
            <a:avLst/>
          </a:prstGeom>
          <a:solidFill>
            <a:srgbClr val="225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5B62"/>
                </a:solidFill>
                <a:latin typeface="Aptos"/>
              </a:defRPr>
            </a:pPr>
            <a:r>
              <a:t>🔧  Standards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Defines coding patterns, IaC templates,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testing frameworks, and delivery playbooks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886200"/>
            <a:ext cx="3474720" cy="19202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FE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4050792"/>
            <a:ext cx="3200400" cy="36576"/>
          </a:xfrm>
          <a:prstGeom prst="rect">
            <a:avLst/>
          </a:prstGeom>
          <a:solidFill>
            <a:srgbClr val="FE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E8B00"/>
                </a:solidFill>
                <a:latin typeface="Aptos"/>
              </a:defRPr>
            </a:pPr>
            <a:r>
              <a:t>📊  Continuous Improvement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572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Aggregates learnings from SubSquads.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Every engagement makes the system smarter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577840"/>
            <a:ext cx="10972800" cy="5486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6235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🔑  Core Principle: Agents are enterprise assets — reusable, anonymized, never containing client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SOW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4b. Delivery Model — SubSquads (Execution Teams)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E66"/>
                </a:solidFill>
                <a:latin typeface="Aptos"/>
              </a:defRPr>
            </a:pPr>
            <a:r>
              <a:t>SubSquads are project-specific execution teams that pull from the Central Squad and contribute 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926080" cy="32004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926080" cy="27432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CENTRAL SQUAD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8D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Shared Agent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8D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Approved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8D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IaC Templates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8D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Governance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8D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94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Decision History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566160" y="3017520"/>
            <a:ext cx="640080" cy="27432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80560" y="1645920"/>
            <a:ext cx="3291840" cy="15544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737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3668"/>
                </a:solidFill>
                <a:latin typeface="Aptos"/>
              </a:defRPr>
            </a:pPr>
            <a:r>
              <a:t>SubSquad A  •  Project Alpha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  ▸ Pull agents from Central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  ▸ Execute delivery phases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697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  ▸ Report improvements 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383280"/>
            <a:ext cx="3291840" cy="15544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474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3668"/>
                </a:solidFill>
                <a:latin typeface="Aptos"/>
              </a:defRPr>
            </a:pPr>
            <a:r>
              <a:t>SubSquad B  •  Project Beta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794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  ▸ Inherit shared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114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  ▸ Apply IaC templates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434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  ▸ Contribute new patterns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001000" y="3017520"/>
            <a:ext cx="640080" cy="274320"/>
          </a:xfrm>
          <a:prstGeom prst="rightArrow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69680" y="1645920"/>
            <a:ext cx="2560320" cy="32004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69680" y="1645920"/>
            <a:ext cx="2560320" cy="274320"/>
          </a:xfrm>
          <a:prstGeom prst="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FACTORY PHASES</a:t>
            </a:r>
          </a:p>
        </p:txBody>
      </p:sp>
      <p:sp>
        <p:nvSpPr>
          <p:cNvPr id="30" name="Oval 29"/>
          <p:cNvSpPr/>
          <p:nvPr/>
        </p:nvSpPr>
        <p:spPr>
          <a:xfrm>
            <a:off x="9098280" y="2148840"/>
            <a:ext cx="320040" cy="320040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21762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ptos"/>
              </a:defRPr>
            </a:pPr>
            <a:r>
              <a:t>Intake</a:t>
            </a:r>
          </a:p>
        </p:txBody>
      </p:sp>
      <p:sp>
        <p:nvSpPr>
          <p:cNvPr id="32" name="Oval 31"/>
          <p:cNvSpPr/>
          <p:nvPr/>
        </p:nvSpPr>
        <p:spPr>
          <a:xfrm>
            <a:off x="9098280" y="2651760"/>
            <a:ext cx="320040" cy="320040"/>
          </a:xfrm>
          <a:prstGeom prst="ellipse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26791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34" name="Oval 33"/>
          <p:cNvSpPr/>
          <p:nvPr/>
        </p:nvSpPr>
        <p:spPr>
          <a:xfrm>
            <a:off x="9098280" y="3154680"/>
            <a:ext cx="320040" cy="320040"/>
          </a:xfrm>
          <a:prstGeom prst="ellipse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182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36" name="Oval 35"/>
          <p:cNvSpPr/>
          <p:nvPr/>
        </p:nvSpPr>
        <p:spPr>
          <a:xfrm>
            <a:off x="9098280" y="3657600"/>
            <a:ext cx="320040" cy="32004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6850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38" name="Oval 37"/>
          <p:cNvSpPr/>
          <p:nvPr/>
        </p:nvSpPr>
        <p:spPr>
          <a:xfrm>
            <a:off x="9098280" y="4160520"/>
            <a:ext cx="320040" cy="320040"/>
          </a:xfrm>
          <a:prstGeom prst="ellipse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41879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ptos"/>
              </a:defRPr>
            </a:pPr>
            <a:r>
              <a:t>Handover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212080"/>
            <a:ext cx="10972800" cy="82296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3035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  <a:latin typeface="Aptos"/>
              </a:defRPr>
            </a:pPr>
            <a:r>
              <a:t>🔄  Continuous Feedback Loop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6235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SubSquads execute → Surface improvements → Central Squad validates &amp; publishes → All SubSquads benefit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SOW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5. Accelerate Factory Phase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E66"/>
                </a:solidFill>
                <a:latin typeface="Aptos"/>
              </a:defRPr>
            </a:pPr>
            <a:r>
              <a:t>How the Copilot Squad model maps to each Factory delivery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2103120" cy="41148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2103120" cy="502920"/>
          </a:xfrm>
          <a:prstGeom prst="round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INTAKE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40280"/>
            <a:ext cx="1097280" cy="274320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060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Requirements gathering,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scope definition,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agent identification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40480"/>
            <a:ext cx="1280160" cy="274320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Squad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206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78D4"/>
                </a:solidFill>
                <a:latin typeface="Aptos"/>
              </a:defRPr>
            </a:pPr>
            <a:r>
              <a:t>Architect + Researcher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23160" y="1737360"/>
            <a:ext cx="164592" cy="27432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06039" y="1554480"/>
            <a:ext cx="2103120" cy="41148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06039" y="1554480"/>
            <a:ext cx="2103120" cy="502920"/>
          </a:xfrm>
          <a:prstGeom prst="round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79" y="1600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79" y="2240280"/>
            <a:ext cx="1097280" cy="274320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Activities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199" y="26060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Architecture decisions,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agent selection,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IaC planning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79" y="3840480"/>
            <a:ext cx="1280160" cy="274320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Squad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199" y="4206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Architect + Prompter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754879" y="1737360"/>
            <a:ext cx="164592" cy="274320"/>
          </a:xfrm>
          <a:prstGeom prst="rightArrow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37759" y="1554480"/>
            <a:ext cx="2103120" cy="41148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FE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37759" y="1554480"/>
            <a:ext cx="2103120" cy="502920"/>
          </a:xfrm>
          <a:prstGeom prst="round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199" y="1600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199" y="2240280"/>
            <a:ext cx="1097280" cy="274320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Activities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19" y="26060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Implementation,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agent orchestration,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automated testing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199" y="3840480"/>
            <a:ext cx="1280160" cy="274320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Squad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19" y="4206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E8B00"/>
                </a:solidFill>
                <a:latin typeface="Aptos"/>
              </a:defRPr>
            </a:pPr>
            <a:r>
              <a:t>Coder + Tester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86599" y="1737360"/>
            <a:ext cx="164592" cy="274320"/>
          </a:xfrm>
          <a:prstGeom prst="rightArrow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69479" y="1554480"/>
            <a:ext cx="2103120" cy="41148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69479" y="1554480"/>
            <a:ext cx="2103120" cy="50292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19" y="1600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0919" y="2240280"/>
            <a:ext cx="1097280" cy="274320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Activities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39" y="26060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IaC deployment,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CI/CD pipelines,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validation gates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19" y="3840480"/>
            <a:ext cx="1280160" cy="274320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Squad 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39" y="4206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050"/>
                </a:solidFill>
                <a:latin typeface="Aptos"/>
              </a:defRPr>
            </a:pPr>
            <a:r>
              <a:t>GitOps + Evaluator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418319" y="1737360"/>
            <a:ext cx="164592" cy="274320"/>
          </a:xfrm>
          <a:prstGeom prst="right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01200" y="1554480"/>
            <a:ext cx="2103120" cy="41148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01200" y="1554480"/>
            <a:ext cx="2103120" cy="502920"/>
          </a:xfrm>
          <a:prstGeom prst="round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0" y="1600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HANDOVER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92640" y="2240280"/>
            <a:ext cx="1097280" cy="274320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Activities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26060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Documentation,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knowledge transfer,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agent contribution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3840480"/>
            <a:ext cx="1280160" cy="274320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Squad Agents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60" y="4206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5B62"/>
                </a:solidFill>
                <a:latin typeface="Aptos"/>
              </a:defRPr>
            </a:pPr>
            <a:r>
              <a:t>DevRel + Scribe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SOW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6. Agent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E66"/>
                </a:solidFill>
                <a:latin typeface="Aptos"/>
              </a:defRPr>
            </a:pPr>
            <a:r>
              <a:t>Every agent follows a structured lifecycle from creation to continuous improvement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645920"/>
            <a:ext cx="594360" cy="594360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🛠️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178D4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697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Design agent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charter, identity,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and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83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666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2313432" y="1645920"/>
            <a:ext cx="594360" cy="59436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050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2697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Test against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quality gates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and edge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1783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666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3941064" y="1645920"/>
            <a:ext cx="594360" cy="594360"/>
          </a:xfrm>
          <a:prstGeom prst="ellipse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63668"/>
                </a:solidFill>
                <a:latin typeface="Aptos"/>
              </a:defRPr>
            </a:pPr>
            <a:r>
              <a:t>PUBLISH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2697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Register in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Central Squad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agent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1184" y="1783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666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5568696" y="1645920"/>
            <a:ext cx="594360" cy="594360"/>
          </a:xfrm>
          <a:prstGeom prst="ellipse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16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CF2"/>
                </a:solidFill>
                <a:latin typeface="Aptos"/>
              </a:defRPr>
            </a:pPr>
            <a:r>
              <a:t>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2697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Make available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to all SubSquads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via catalog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1783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666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7196328" y="1645920"/>
            <a:ext cx="594360" cy="594360"/>
          </a:xfrm>
          <a:prstGeom prst="ellipse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♻️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E8B00"/>
                </a:solidFill>
                <a:latin typeface="Aptos"/>
              </a:defRPr>
            </a:pPr>
            <a:r>
              <a:t>REUSE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2697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SubSquads pull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agents for project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1783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666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8823960" y="1645920"/>
            <a:ext cx="594360" cy="594360"/>
          </a:xfrm>
          <a:prstGeom prst="ellipse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5B62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697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Collect feedback,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merge improvements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from SubSquads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1783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666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10451592" y="1645920"/>
            <a:ext cx="594360" cy="594360"/>
          </a:xfrm>
          <a:prstGeom prst="ellipse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🏷️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0112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83B02"/>
                </a:solidFill>
                <a:latin typeface="Aptos"/>
              </a:defRPr>
            </a:pPr>
            <a:r>
              <a:t>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0112" y="2697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Publish updated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version with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changelog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06240"/>
            <a:ext cx="10972800" cy="4572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2519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78D4"/>
                </a:solidFill>
                <a:latin typeface="Aptos"/>
              </a:defRPr>
            </a:pPr>
            <a:r>
              <a:t>🔄  Lifecycle is circular: Version → triggers new Create cycle with accumulated improvements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37760"/>
            <a:ext cx="2066543" cy="274320"/>
          </a:xfrm>
          <a:prstGeom prst="rect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GOVERNANCE GATES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34924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49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83B02"/>
                </a:solidFill>
                <a:latin typeface="Aptos"/>
              </a:defRPr>
            </a:pPr>
            <a:r>
              <a:t>Validation 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53492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Automated tests + peer review before publishing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34924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349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83B02"/>
                </a:solidFill>
                <a:latin typeface="Aptos"/>
              </a:defRPr>
            </a:pPr>
            <a:r>
              <a:t>Security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53492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No client data, anonymized patterns, template-based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80644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83B02"/>
                </a:solidFill>
                <a:latin typeface="Aptos"/>
              </a:defRPr>
            </a:pPr>
            <a:r>
              <a:t>Approval Gate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80" y="58064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Architect sign-off required for Central Squad inclusion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80644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83B02"/>
                </a:solidFill>
                <a:latin typeface="Aptos"/>
              </a:defRPr>
            </a:pPr>
            <a:r>
              <a:t>Version 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58064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Semantic versioning with changelog and migration notes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SOW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7. Governance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E66"/>
                </a:solidFill>
                <a:latin typeface="Aptos"/>
              </a:defRPr>
            </a:pPr>
            <a:r>
              <a:t>Security is non-negotiable. Every layer enforces data isolation and auditability.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0972800" cy="640080"/>
          </a:xfrm>
          <a:prstGeom prst="roundRect">
            <a:avLst/>
          </a:prstGeom>
          <a:solidFill>
            <a:srgbClr val="FFEDED"/>
          </a:solidFill>
          <a:ln w="12700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E0000"/>
                </a:solidFill>
                <a:latin typeface="Aptos"/>
              </a:defRPr>
            </a:pPr>
            <a:r>
              <a:t>🚫  CRITICAL RULE: No client-specific or sensitive data is EVER shared across teams or stored in shared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2606040" cy="32918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83B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2606040" cy="457200"/>
          </a:xfrm>
          <a:prstGeom prst="roundRect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3288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🛡️  Data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Project config separated from shared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Client data never enters Central Squad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SubSquad memory is project-scoped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Agents are generic and template-based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468880"/>
            <a:ext cx="2606040" cy="32918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2468880"/>
            <a:ext cx="2606040" cy="457200"/>
          </a:xfrm>
          <a:prstGeom prst="round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53288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🛡️  Approval Gates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1089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Peer review for all shared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7033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Architect sign-off before publishing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2976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Automated security scanning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892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Compliance validation checks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468880"/>
            <a:ext cx="2606040" cy="32918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2468880"/>
            <a:ext cx="2606040" cy="457200"/>
          </a:xfrm>
          <a:prstGeom prst="round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53288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🛡️  Version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1089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All agents version-controlled in Git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7033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Semantic versioning with changelogs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2976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Immutable release artifacts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892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Full audit trail of changes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2468880"/>
            <a:ext cx="2606040" cy="32918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61120" y="2468880"/>
            <a:ext cx="2606040" cy="457200"/>
          </a:xfrm>
          <a:prstGeom prst="round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253288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🛡️  Auditability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1089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Decision logs for every engagement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7033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Agent usage tracking across SubSquads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29768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Governance compliance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892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Regular security reviews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SOW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8. Roles &amp; Responsibilities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49240" cy="21031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5074920" cy="36576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🏛️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417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178D4"/>
                </a:solidFill>
                <a:latin typeface="Aptos"/>
              </a:defRPr>
            </a:pPr>
            <a:r>
              <a:t>Architects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2880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Design patterns, define reusable agents,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make architectural decisions, review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agent quality before Central publish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349240" cy="21031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61872"/>
            <a:ext cx="5074920" cy="36576"/>
          </a:xfrm>
          <a:prstGeom prst="rect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5080" y="1463040"/>
            <a:ext cx="640080" cy="640080"/>
          </a:xfrm>
          <a:prstGeom prst="ellipse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417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63668"/>
                </a:solidFill>
                <a:latin typeface="Aptos"/>
              </a:defRPr>
            </a:pPr>
            <a:r>
              <a:t>Engineers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Build and extend agents, implement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delivery automation, contribute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improvements back to Central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5349240" cy="21031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83B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639312"/>
            <a:ext cx="5074920" cy="36576"/>
          </a:xfrm>
          <a:prstGeom prst="rect">
            <a:avLst/>
          </a:prstGeom>
          <a:solidFill>
            <a:srgbClr val="D83B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3840480"/>
            <a:ext cx="640080" cy="640080"/>
          </a:xfrm>
          <a:prstGeom prst="ellipse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794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83B02"/>
                </a:solidFill>
                <a:latin typeface="Aptos"/>
              </a:defRPr>
            </a:pPr>
            <a:r>
              <a:t>Central Squad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0624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Orchestrates shared library, enforces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governance, tracks agent lifecycle,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maintains institutional 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474720"/>
            <a:ext cx="5349240" cy="21031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639312"/>
            <a:ext cx="5074920" cy="36576"/>
          </a:xfrm>
          <a:prstGeom prst="rect">
            <a:avLst/>
          </a:prstGeom>
          <a:solidFill>
            <a:srgbClr val="225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3840480"/>
            <a:ext cx="640080" cy="640080"/>
          </a:xfrm>
          <a:prstGeom prst="ellipse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794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5B62"/>
                </a:solidFill>
                <a:latin typeface="Aptos"/>
              </a:defRPr>
            </a:pPr>
            <a:r>
              <a:t>SubSquads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20624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Execute project delivery, pull agents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from Central, apply shared patterns,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report learnings and improvements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669280"/>
            <a:ext cx="10972800" cy="4572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78D4"/>
                </a:solidFill>
                <a:latin typeface="Aptos"/>
              </a:defRPr>
            </a:pPr>
            <a:r>
              <a:t>📋  RACI Matrix: Architects = Accountable  |  Engineers = Responsible  |  Central = Consulted  |  SubSquads = Informed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SOW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9. Value &amp;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274320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BEFORE: Manual Factory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005840"/>
            <a:ext cx="3200400" cy="27432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AFTER: Copilot Squad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0000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Portal-driven, click-heavy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0000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Each team builds from scratch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0000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Knowledge locked in individual heads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0000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Inconsistent delivery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0000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Slow onboarding for new projects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0000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Manual documentation and handover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46304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05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AI-orchestrated, code-driven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96596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05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Reusable agents from Central library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46888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05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Shared memory across all engagements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9718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05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71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Consistent quality via governance gates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47472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05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474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Instant SubSquad spin-up with shared skills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977639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05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9776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Automated docs, journals, and handover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1005840"/>
            <a:ext cx="27432" cy="2926080"/>
          </a:xfrm>
          <a:prstGeom prst="rect">
            <a:avLst/>
          </a:prstGeom>
          <a:solidFill>
            <a:srgbClr val="D0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572000"/>
            <a:ext cx="2286000" cy="27432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QUANTIFIED VALUE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29200"/>
            <a:ext cx="201168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120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178D4"/>
                </a:solidFill>
                <a:latin typeface="Aptos"/>
              </a:defRPr>
            </a:pPr>
            <a:r>
              <a:t>60%+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778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Reduction in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manual effort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5029200"/>
            <a:ext cx="201168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5120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050"/>
                </a:solidFill>
                <a:latin typeface="Aptos"/>
              </a:defRPr>
            </a:pPr>
            <a:r>
              <a:t>3x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55778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Faster delivery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cycles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0" y="5029200"/>
            <a:ext cx="201168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66360" y="5120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3668"/>
                </a:solidFill>
                <a:latin typeface="Aptos"/>
              </a:defRPr>
            </a:pPr>
            <a:r>
              <a:t>80%+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55778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Agent reuse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across projects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0" y="5029200"/>
            <a:ext cx="201168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83B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52360" y="5120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83B02"/>
                </a:solidFill>
                <a:latin typeface="Aptos"/>
              </a:defRPr>
            </a:pPr>
            <a:r>
              <a:t>Zero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55778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Duplicated agents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across teams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0" y="5029200"/>
            <a:ext cx="2011680" cy="11887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38360" y="5120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5B62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55778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IaC coverage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Aptos"/>
              </a:defRPr>
            </a:pPr>
            <a:r>
              <a:t>no portal ops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SOW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10. Success Metrics &amp;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E66"/>
                </a:solidFill>
                <a:latin typeface="Aptos"/>
              </a:defRPr>
            </a:pPr>
            <a:r>
              <a:t>Measurable outcomes that define success for the Copilot Squad operating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474720" cy="20116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3200400" cy="36576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78D4"/>
                </a:solidFill>
                <a:latin typeface="Aptos"/>
              </a:defRPr>
            </a:pPr>
            <a:r>
              <a:t>Agent Reuse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% of agents reused across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multiple SubSquads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34640"/>
            <a:ext cx="1508760" cy="502920"/>
          </a:xfrm>
          <a:prstGeom prst="round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78D4"/>
                </a:solidFill>
                <a:latin typeface="Aptos"/>
              </a:defRPr>
            </a:pPr>
            <a:r>
              <a:t>≥80%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2834640"/>
            <a:ext cx="1508760" cy="502920"/>
          </a:xfrm>
          <a:prstGeom prst="round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19" y="288036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ptos"/>
              </a:defRPr>
            </a:pPr>
            <a:r>
              <a:t>CURRENT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19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554480"/>
            <a:ext cx="3474720" cy="20116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719072"/>
            <a:ext cx="3200400" cy="365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050"/>
                </a:solidFill>
                <a:latin typeface="Aptos"/>
              </a:defRPr>
            </a:pPr>
            <a:r>
              <a:t>Manual Effort Reduction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Hours saved per engagement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vs. manual execution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834640"/>
            <a:ext cx="1508760" cy="502920"/>
          </a:xfrm>
          <a:prstGeom prst="round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88036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050"/>
                </a:solidFill>
                <a:latin typeface="Aptos"/>
              </a:defRPr>
            </a:pPr>
            <a:r>
              <a:t>≥60%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834640"/>
            <a:ext cx="1508760" cy="502920"/>
          </a:xfrm>
          <a:prstGeom prst="round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59" y="288036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ptos"/>
              </a:defRPr>
            </a:pPr>
            <a:r>
              <a:t>CURRENT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1554480"/>
            <a:ext cx="3474720" cy="20116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39" y="1719072"/>
            <a:ext cx="3200400" cy="36576"/>
          </a:xfrm>
          <a:prstGeom prst="rect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59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63668"/>
                </a:solidFill>
                <a:latin typeface="Aptos"/>
              </a:defRPr>
            </a:pPr>
            <a:r>
              <a:t>Cycle Time Improvement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Time from Intake to Handover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compared to previous model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39" y="2834640"/>
            <a:ext cx="1508760" cy="502920"/>
          </a:xfrm>
          <a:prstGeom prst="round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288036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63668"/>
                </a:solidFill>
                <a:latin typeface="Aptos"/>
              </a:defRPr>
            </a:pPr>
            <a:r>
              <a:t>3x faster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38359" y="2834640"/>
            <a:ext cx="1508760" cy="502920"/>
          </a:xfrm>
          <a:prstGeom prst="round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798" y="288036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ptos"/>
              </a:defRPr>
            </a:pPr>
            <a:r>
              <a:t>CURRENT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798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840480"/>
            <a:ext cx="3474720" cy="20116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83B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" y="4005072"/>
            <a:ext cx="3200400" cy="36576"/>
          </a:xfrm>
          <a:prstGeom prst="rect">
            <a:avLst/>
          </a:prstGeom>
          <a:solidFill>
            <a:srgbClr val="D83B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83B02"/>
                </a:solidFill>
                <a:latin typeface="Aptos"/>
              </a:defRPr>
            </a:pPr>
            <a:r>
              <a:t>Cross-Team Adoption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434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Number of SubSquads actively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using Central Squad agents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120640"/>
            <a:ext cx="1508760" cy="502920"/>
          </a:xfrm>
          <a:prstGeom prst="round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16636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349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83B02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40280" y="5120640"/>
            <a:ext cx="1508760" cy="502920"/>
          </a:xfrm>
          <a:prstGeom prst="round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31719" y="516636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ptos"/>
              </a:defRPr>
            </a:pPr>
            <a:r>
              <a:t>CURRENT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1719" y="5349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Aptos"/>
              </a:defRPr>
            </a:pPr>
            <a:r>
              <a:t>Pilot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0" y="3840480"/>
            <a:ext cx="3474720" cy="20116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4005072"/>
            <a:ext cx="3200400" cy="36576"/>
          </a:xfrm>
          <a:prstGeom prst="rect">
            <a:avLst/>
          </a:prstGeom>
          <a:solidFill>
            <a:srgbClr val="225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5B62"/>
                </a:solidFill>
                <a:latin typeface="Aptos"/>
              </a:defRPr>
            </a:pPr>
            <a:r>
              <a:t>Security Compliance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4434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% of agents passing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security gate validation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43400" y="5120640"/>
            <a:ext cx="1508760" cy="502920"/>
          </a:xfrm>
          <a:prstGeom prst="round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34840" y="516636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349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5B62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89320" y="5120640"/>
            <a:ext cx="1508760" cy="502920"/>
          </a:xfrm>
          <a:prstGeom prst="round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0759" y="516636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ptos"/>
              </a:defRPr>
            </a:pPr>
            <a:r>
              <a:t>CURRENT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59" y="5349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Aptos"/>
              </a:defRPr>
            </a:pPr>
            <a:r>
              <a:t>N/A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55279" y="3840480"/>
            <a:ext cx="3474720" cy="20116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FE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92439" y="4005072"/>
            <a:ext cx="3200400" cy="36576"/>
          </a:xfrm>
          <a:prstGeom prst="rect">
            <a:avLst/>
          </a:prstGeom>
          <a:solidFill>
            <a:srgbClr val="FE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38159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E8B00"/>
                </a:solidFill>
                <a:latin typeface="Aptos"/>
              </a:defRPr>
            </a:pPr>
            <a:r>
              <a:t>Contribution Rate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59" y="4434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Improvements contributed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back to Central per quarter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92439" y="5120640"/>
            <a:ext cx="1508760" cy="502920"/>
          </a:xfrm>
          <a:prstGeom prst="round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83879" y="516636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83879" y="5349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E8B00"/>
                </a:solidFill>
                <a:latin typeface="Aptos"/>
              </a:defRPr>
            </a:pPr>
            <a:r>
              <a:t>≥5/team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38359" y="5120640"/>
            <a:ext cx="1508760" cy="502920"/>
          </a:xfrm>
          <a:prstGeom prst="round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29798" y="516636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ptos"/>
              </a:defRPr>
            </a:pPr>
            <a:r>
              <a:t>CURRENT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29798" y="5349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SOW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11. 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E66"/>
                </a:solidFill>
                <a:latin typeface="Aptos"/>
              </a:defRPr>
            </a:pPr>
            <a:r>
              <a:t>Phased rollout from pilot to full-scale adoption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2697480" cy="43891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2697480" cy="822960"/>
          </a:xfrm>
          <a:prstGeom prst="round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00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WAVE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0312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FF"/>
                </a:solidFill>
                <a:latin typeface="Aptos"/>
              </a:defRPr>
            </a:pPr>
            <a:r>
              <a:t>Weeks 1–4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603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Establish Central Squad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2461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Define governance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319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Create first 5 core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6177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Set up agent library repository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17520" y="2377440"/>
            <a:ext cx="137160" cy="27432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82112" y="1554480"/>
            <a:ext cx="2697480" cy="43891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82112" y="1554480"/>
            <a:ext cx="2697480" cy="822960"/>
          </a:xfrm>
          <a:prstGeom prst="round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1600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WAVE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18288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210312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FF"/>
                </a:solidFill>
                <a:latin typeface="Aptos"/>
              </a:defRPr>
            </a:pPr>
            <a:r>
              <a:t>Weeks 5–8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25603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Launch 2 pilot SubSquads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32461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Execute first project deliveries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39319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Validate agent reuse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9272" y="46177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Collect improvement feedback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25312" y="2377440"/>
            <a:ext cx="137160" cy="274320"/>
          </a:xfrm>
          <a:prstGeom prst="rightArrow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89904" y="1554480"/>
            <a:ext cx="2697480" cy="43891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FE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89904" y="1554480"/>
            <a:ext cx="2697480" cy="822960"/>
          </a:xfrm>
          <a:prstGeom prst="round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27064" y="1600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WAVE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7064" y="18288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7064" y="210312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FF"/>
                </a:solidFill>
                <a:latin typeface="Aptos"/>
              </a:defRPr>
            </a:pPr>
            <a:r>
              <a:t>Weeks 9–16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7064" y="25603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Onboard remaining teams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7064" y="32461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Expand agent catalog to 15+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7064" y="39319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Automate contribution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7064" y="46177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Deploy metrics dashboard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833104" y="2377440"/>
            <a:ext cx="137160" cy="274320"/>
          </a:xfrm>
          <a:prstGeom prst="rightArrow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97696" y="1554480"/>
            <a:ext cx="2697480" cy="43891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225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97696" y="1554480"/>
            <a:ext cx="2697480" cy="822960"/>
          </a:xfrm>
          <a:prstGeom prst="round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34856" y="1600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WAVE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4856" y="18288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Optimize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34856" y="210312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FF"/>
                </a:solidFill>
                <a:latin typeface="Aptos"/>
              </a:defRPr>
            </a:pPr>
            <a:r>
              <a:t>Ongoing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4856" y="25603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Continuous agent improvement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34856" y="32461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Advanced AI orchestration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34856" y="39319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Cross-factory knowledge sharing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4856" y="46177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▸ Quarterly governance reviews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SOW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Sans Display Semibold"/>
              </a:defRPr>
            </a:pPr>
            <a:r>
              <a:t>Microsoft Accelerated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Next Steps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CC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017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Review &amp; Approve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337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B8E0"/>
                </a:solidFill>
                <a:latin typeface="Aptos"/>
              </a:defRPr>
            </a:pPr>
            <a:r>
              <a:t>Stakeholder review of this SOW and alignment on scope, timelines, and governance model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794759"/>
            <a:ext cx="457200" cy="457200"/>
          </a:xfrm>
          <a:prstGeom prst="ellipse">
            <a:avLst/>
          </a:prstGeom>
          <a:solidFill>
            <a:srgbClr val="CC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7947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Establish Central Squad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4114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B8E0"/>
                </a:solidFill>
                <a:latin typeface="Aptos"/>
              </a:defRPr>
            </a:pPr>
            <a:r>
              <a:t>Stand up the Central Squad with initial architecture, governance framework, and agent library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CC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572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Launch Pilot SubSquads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892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B8E0"/>
                </a:solidFill>
                <a:latin typeface="Aptos"/>
              </a:defRPr>
            </a:pPr>
            <a:r>
              <a:t>Select 2 pilot projects and deploy SubSquads using Central Squad agents and patterns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349240"/>
            <a:ext cx="457200" cy="457200"/>
          </a:xfrm>
          <a:prstGeom prst="ellipse">
            <a:avLst/>
          </a:prstGeom>
          <a:solidFill>
            <a:srgbClr val="CC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349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Measure &amp;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B8E0"/>
                </a:solidFill>
                <a:latin typeface="Aptos"/>
              </a:defRPr>
            </a:pPr>
            <a:r>
              <a:t>Track KPIs from pilot, iterate on the model, and roll out to all Factory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E5FF"/>
                </a:solidFill>
                <a:latin typeface="Aptos"/>
              </a:defRPr>
            </a:pPr>
            <a:r>
              <a:t>Ready to transform Factory delivery  |  Let's build the future together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 Factory  |  Copilot Squad SOW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FY24 Global Customer Success">
  <a:themeElements>
    <a:clrScheme name="GCS">
      <a:dk1>
        <a:srgbClr val="1A1A1A"/>
      </a:dk1>
      <a:lt1>
        <a:srgbClr val="FFFFFF"/>
      </a:lt1>
      <a:dk2>
        <a:srgbClr val="2A446F"/>
      </a:dk2>
      <a:lt2>
        <a:srgbClr val="F2F2F2"/>
      </a:lt2>
      <a:accent1>
        <a:srgbClr val="D83B02"/>
      </a:accent1>
      <a:accent2>
        <a:srgbClr val="0178D4"/>
      </a:accent2>
      <a:accent3>
        <a:srgbClr val="FE8B00"/>
      </a:accent3>
      <a:accent4>
        <a:srgbClr val="00BCF2"/>
      </a:accent4>
      <a:accent5>
        <a:srgbClr val="463668"/>
      </a:accent5>
      <a:accent6>
        <a:srgbClr val="225B62"/>
      </a:accent6>
      <a:hlink>
        <a:srgbClr val="00BCF2"/>
      </a:hlink>
      <a:folHlink>
        <a:srgbClr val="274B47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E3795941-59EF-4171-B17A-5159030DBA48}" vid="{3A2A1809-9A9C-4605-B72D-992B45BBB6BE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31d963b9-1180-4647-93d7-d11aa08e2421" xsi:nil="true"/>
    <lcf76f155ced4ddcb4097134ff3c332f xmlns="f3541473-4e72-4c17-b1a6-32770bb766bd">
      <Terms xmlns="http://schemas.microsoft.com/office/infopath/2007/PartnerControls"/>
    </lcf76f155ced4ddcb4097134ff3c332f>
    <PrimeCorrectedByUser xmlns="31d963b9-1180-4647-93d7-d11aa08e2421" xsi:nil="true"/>
    <PrimeClassificationStatus xmlns="31d963b9-1180-4647-93d7-d11aa08e2421" xsi:nil="true"/>
    <Buckets xmlns="f3541473-4e72-4c17-b1a6-32770bb766bd" xsi:nil="true"/>
    <PrimeClassificationStatusDetails xmlns="31d963b9-1180-4647-93d7-d11aa08e2421" xsi:nil="true"/>
    <PrimeLastClassified xmlns="31d963b9-1180-4647-93d7-d11aa08e2421" xsi:nil="true"/>
    <Comments xmlns="f3541473-4e72-4c17-b1a6-32770bb766bd" xsi:nil="true"/>
    <ApprovedBy xmlns="f3541473-4e72-4c17-b1a6-32770bb766bd" xsi:nil="true"/>
    <ToBeMigrated_x003f_0 xmlns="f3541473-4e72-4c17-b1a6-32770bb766bd">true</ToBeMigrated_x003f_0>
    <ContentCategory xmlns="f3541473-4e72-4c17-b1a6-32770bb766bd" xsi:nil="true"/>
    <ToBeMigrated_x003f_ xmlns="f3541473-4e72-4c17-b1a6-32770bb766bd">true</ToBeMigrated_x003f_>
    <MigrationStatus xmlns="f3541473-4e72-4c17-b1a6-32770bb766bd" xsi:nil="true"/>
    <MigrationApproved xmlns="f3541473-4e72-4c17-b1a6-32770bb766bd">true</MigrationApprove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4F5606B695A84A87B74917185224FA" ma:contentTypeVersion="35" ma:contentTypeDescription="Create a new document." ma:contentTypeScope="" ma:versionID="780f07036e1844f54aa521de4e75515b">
  <xsd:schema xmlns:xsd="http://www.w3.org/2001/XMLSchema" xmlns:xs="http://www.w3.org/2001/XMLSchema" xmlns:p="http://schemas.microsoft.com/office/2006/metadata/properties" xmlns:ns1="http://schemas.microsoft.com/sharepoint/v3" xmlns:ns2="f3541473-4e72-4c17-b1a6-32770bb766bd" xmlns:ns3="31d963b9-1180-4647-93d7-d11aa08e2421" targetNamespace="http://schemas.microsoft.com/office/2006/metadata/properties" ma:root="true" ma:fieldsID="5f4092ba07087a62a5026b82b14c4bf7" ns1:_="" ns2:_="" ns3:_="">
    <xsd:import namespace="http://schemas.microsoft.com/sharepoint/v3"/>
    <xsd:import namespace="f3541473-4e72-4c17-b1a6-32770bb766bd"/>
    <xsd:import namespace="31d963b9-1180-4647-93d7-d11aa08e24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DocTag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TranslatedLang" minOccurs="0"/>
                <xsd:element ref="ns2:MediaServiceBillingMetadata" minOccurs="0"/>
                <xsd:element ref="ns3:PrimeClassificationStatus" minOccurs="0"/>
                <xsd:element ref="ns3:PrimeClassificationStatusDetails" minOccurs="0"/>
                <xsd:element ref="ns3:PrimeLastClassified" minOccurs="0"/>
                <xsd:element ref="ns3:PrimeCorrectedByUser" minOccurs="0"/>
                <xsd:element ref="ns2:Buckets" minOccurs="0"/>
                <xsd:element ref="ns2:MediaServiceLocation" minOccurs="0"/>
                <xsd:element ref="ns2:Comments" minOccurs="0"/>
                <xsd:element ref="ns2:ToBeMigrated_x003f_" minOccurs="0"/>
                <xsd:element ref="ns2:ToBeMigrated_x003f_0" minOccurs="0"/>
                <xsd:element ref="ns2:ApprovedBy" minOccurs="0"/>
                <xsd:element ref="ns2:MigrationApproved" minOccurs="0"/>
                <xsd:element ref="ns2:MigrationStatus" minOccurs="0"/>
                <xsd:element ref="ns2:Content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541473-4e72-4c17-b1a6-32770bb766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ocTags" ma:index="20" nillable="true" ma:displayName="MediaServiceDocTags" ma:hidden="true" ma:internalName="MediaServiceDocTags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TranslatedLang" ma:index="25" nillable="true" ma:displayName="TranslatedLang" ma:hidden="true" ma:internalName="TranslatedLang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Text"/>
      </xsd:simpleType>
    </xsd:element>
    <xsd:element name="Buckets" ma:index="31" nillable="true" ma:displayName="Buckets" ma:description="Describes the content and where it sits within Seismic" ma:format="Dropdown" ma:internalName="Bucket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Customer"/>
                    <xsd:enumeration value="Field"/>
                    <xsd:enumeration value="Partner"/>
                    <xsd:enumeration value="Intake Nomination"/>
                    <xsd:enumeration value="RACI"/>
                  </xsd:restriction>
                </xsd:simpleType>
              </xsd:element>
            </xsd:sequence>
          </xsd:extension>
        </xsd:complexContent>
      </xsd:complexType>
    </xsd:element>
    <xsd:element name="MediaServiceLocation" ma:index="32" nillable="true" ma:displayName="Location" ma:description="" ma:indexed="true" ma:internalName="MediaServiceLocation" ma:readOnly="true">
      <xsd:simpleType>
        <xsd:restriction base="dms:Text"/>
      </xsd:simpleType>
    </xsd:element>
    <xsd:element name="Comments" ma:index="33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ToBeMigrated_x003f_" ma:index="34" nillable="true" ma:displayName="To Be Migrated?" ma:default="1" ma:description="Indicates whether this folder or content is intended to be migrated to the new SharePoint location. Set to Yes only after reviewing relevance, ownership, and usefulness." ma:format="Dropdown" ma:internalName="ToBeMigrated_x003f_">
      <xsd:simpleType>
        <xsd:restriction base="dms:Boolean"/>
      </xsd:simpleType>
    </xsd:element>
    <xsd:element name="ToBeMigrated_x003f_0" ma:index="35" nillable="true" ma:displayName="To Be Migrated?" ma:default="1" ma:description="Indicates whether this folder or content is intended to be migrated to the new SharePoint location. Set to Yes only after reviewing relevance, ownership, and usefulness." ma:format="Dropdown" ma:internalName="ToBeMigrated_x003f_0">
      <xsd:simpleType>
        <xsd:restriction base="dms:Boolean"/>
      </xsd:simpleType>
    </xsd:element>
    <xsd:element name="ApprovedBy" ma:index="36" nillable="true" ma:displayName="Approved By" ma:description="Identifies the individual who approved the migration of this content to the new SharePoint location. Used for audit and accountability purposes." ma:format="Dropdown" ma:internalName="ApprovedBy">
      <xsd:simpleType>
        <xsd:restriction base="dms:Text">
          <xsd:maxLength value="255"/>
        </xsd:restriction>
      </xsd:simpleType>
    </xsd:element>
    <xsd:element name="MigrationApproved" ma:index="37" nillable="true" ma:displayName="Migration Approved" ma:default="1" ma:description="Shows the approval decision for migrating this content. Content should be migrated only when the status is set to Approved." ma:format="Dropdown" ma:internalName="MigrationApproved">
      <xsd:simpleType>
        <xsd:restriction base="dms:Boolean"/>
      </xsd:simpleType>
    </xsd:element>
    <xsd:element name="MigrationStatus" ma:index="38" nillable="true" ma:displayName="Migration Status" ma:description="Tracks the current state of the migration activity for this content, from planning through completion or exception handling." ma:format="Dropdown" ma:internalName="MigrationStatus">
      <xsd:simpleType>
        <xsd:restriction base="dms:Text">
          <xsd:maxLength value="255"/>
        </xsd:restriction>
      </xsd:simpleType>
    </xsd:element>
    <xsd:element name="ContentCategory" ma:index="39" nillable="true" ma:displayName="Content Category" ma:description="Classifies the business nature of the content to support migration decisions, prioritization, and future governance." ma:format="Dropdown" ma:internalName="ContentCategory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d963b9-1180-4647-93d7-d11aa08e242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00b8a8-7722-4866-9ef1-0499ba3ec9e1}" ma:internalName="TaxCatchAll" ma:showField="CatchAllData" ma:web="31d963b9-1180-4647-93d7-d11aa08e24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rimeClassificationStatus" ma:index="27" nillable="true" ma:displayName="Processing status" ma:internalName="PrimeClassificationStatus">
      <xsd:simpleType>
        <xsd:restriction base="dms:Text"/>
      </xsd:simpleType>
    </xsd:element>
    <xsd:element name="PrimeClassificationStatusDetails" ma:index="28" nillable="true" ma:displayName="Processing details" ma:internalName="PrimeClassificationStatusDetails">
      <xsd:simpleType>
        <xsd:restriction base="dms:Note">
          <xsd:maxLength value="255"/>
        </xsd:restriction>
      </xsd:simpleType>
    </xsd:element>
    <xsd:element name="PrimeLastClassified" ma:index="29" nillable="true" ma:displayName="Processed" ma:internalName="PrimeLastClassified">
      <xsd:simpleType>
        <xsd:restriction base="dms:DateTime"/>
      </xsd:simpleType>
    </xsd:element>
    <xsd:element name="PrimeCorrectedByUser" ma:index="30" nillable="true" ma:displayName="Corrected" ma:internalName="PrimeCorrectedByUser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55CB52-33A3-4B47-8C1D-0EE24875E3DC}">
  <ds:schemaRefs>
    <ds:schemaRef ds:uri="http://schemas.microsoft.com/sharepoint/v3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31d963b9-1180-4647-93d7-d11aa08e2421"/>
    <ds:schemaRef ds:uri="f3541473-4e72-4c17-b1a6-32770bb766bd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998B09E-68DE-4B62-A34E-BB5B738ECC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7418BF-5125-468A-8024-F23D251B58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3541473-4e72-4c17-b1a6-32770bb766bd"/>
    <ds:schemaRef ds:uri="31d963b9-1180-4647-93d7-d11aa08e24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6953</TotalTime>
  <Words>15713</Words>
  <Application>Microsoft Office PowerPoint</Application>
  <PresentationFormat>Widescreen</PresentationFormat>
  <Paragraphs>4452</Paragraphs>
  <Slides>56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56</vt:i4>
      </vt:variant>
    </vt:vector>
  </HeadingPairs>
  <TitlesOfParts>
    <vt:vector size="70" baseType="lpstr">
      <vt:lpstr>Aptos</vt:lpstr>
      <vt:lpstr>Aptos Display</vt:lpstr>
      <vt:lpstr>Aptos Narrow</vt:lpstr>
      <vt:lpstr>Arial</vt:lpstr>
      <vt:lpstr>Arial,Sans-Serif</vt:lpstr>
      <vt:lpstr>Calibri</vt:lpstr>
      <vt:lpstr>Segoe Sans Display Semibold</vt:lpstr>
      <vt:lpstr>Segoe Sans Text</vt:lpstr>
      <vt:lpstr>Segoe UI</vt:lpstr>
      <vt:lpstr>Segoe UI Semibold</vt:lpstr>
      <vt:lpstr>Wingdings</vt:lpstr>
      <vt:lpstr>FY24 Global Customer Success</vt:lpstr>
      <vt:lpstr>1_Office Theme</vt:lpstr>
      <vt:lpstr>3_office theme</vt:lpstr>
      <vt:lpstr>Accounts Status – Area LATAM (MCSA)  Reporting Period – 04/03/2026 – 04/09/2026    Date : April 10, 2026 Generated By: Mani Kunda</vt:lpstr>
      <vt:lpstr>PowerPoint Presentation</vt:lpstr>
      <vt:lpstr>LATAM (MCSA) Nominations – Help required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LATAM (MCSA) Nominations – Stage 2 (1/2)</vt:lpstr>
      <vt:lpstr>LATAM (MCSA) Nominations – Stage 2 (2/2)</vt:lpstr>
      <vt:lpstr>LATAM (MCSA) Nominations – Stage 3</vt:lpstr>
      <vt:lpstr>LATAM (MCSA) Nominations – Stage 4 (1/2)</vt:lpstr>
      <vt:lpstr>LATAM (MCSA) Nominations – Stage 4 (2/2)</vt:lpstr>
      <vt:lpstr>LATAM (MCSA) Nominations – Stage 1</vt:lpstr>
      <vt:lpstr>LATAM (MCSA) Nominations – Deferred</vt:lpstr>
      <vt:lpstr>LATAM (MCSA) Nominations – Deferred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Scope Sign off</dc:title>
  <dc:creator>Ancy Alexander (International Supplier)</dc:creator>
  <cp:keywords>CMF;</cp:keywords>
  <cp:lastModifiedBy>Misa Breton (International Supplier)</cp:lastModifiedBy>
  <cp:revision>45</cp:revision>
  <dcterms:created xsi:type="dcterms:W3CDTF">2024-07-26T14:11:23Z</dcterms:created>
  <dcterms:modified xsi:type="dcterms:W3CDTF">2026-04-10T13:35:33Z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0x010100CC4F5606B695A84A87B74917185224FA</vt:lpwstr>
  </property>
  <property fmtid="{D5CDD505-2E9C-101B-9397-08002B2CF9AE}" pid="3" name="_dlc_DocIdItemGuid">
    <vt:lpwstr>36da67c7-b504-4aea-865b-0e87cedc899d</vt:lpwstr>
  </property>
  <property fmtid="{D5CDD505-2E9C-101B-9397-08002B2CF9AE}" pid="4" name="MediaServiceImageTags">
    <vt:lpwstr/>
  </property>
</Properties>
</file>