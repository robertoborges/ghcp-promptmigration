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893" r:id="rId5"/>
    <p:sldMasterId id="2147483931" r:id="rId6"/>
  </p:sldMasterIdLst>
  <p:notesMasterIdLst>
    <p:notesMasterId r:id="rId63"/>
  </p:notesMasterIdLst>
  <p:handoutMasterIdLst>
    <p:handoutMasterId r:id="rId64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45EA2D-1AF0-34E0-A8D1-7DC498B324C6}" name="Leonardo Miller (International Supplier)" initials="LS" userId="S::v-lemiller@microsoft.com::b0ce1011-fe8a-48ce-b2f3-38c535a7b86f" providerId="AD"/>
  <p188:author id="{FC373C85-ECD1-2EBC-3625-F268C6A7DD7A}" name="Rajesh Doddapaneni (International Supplier)" initials="RD" userId="S::v-rajeshdo@microsoft.com::ee900ee1-8550-492f-8251-d7fc83307c82" providerId="AD"/>
  <p188:author id="{7C0DA9EE-7FEB-4CFD-0381-2DB8493D0D32}" name="Sunil Babu A V (International Supplier)" initials="SA" userId="S::v-veammi@microsoft.com::440459d4-1f85-4015-ac68-7529db0561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DF7D"/>
    <a:srgbClr val="FE8B00"/>
    <a:srgbClr val="F2F7FA"/>
    <a:srgbClr val="6C7E9C"/>
    <a:srgbClr val="C71C0F"/>
    <a:srgbClr val="66FF99"/>
    <a:srgbClr val="DEF6DF"/>
    <a:srgbClr val="66B3E4"/>
    <a:srgbClr val="7FA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10926-E7D1-4FF0-AB29-7A94F8F28BDE}" v="159" dt="2026-04-10T07:32:5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89212" autoAdjust="0"/>
  </p:normalViewPr>
  <p:slideViewPr>
    <p:cSldViewPr snapToGrid="0">
      <p:cViewPr varScale="1">
        <p:scale>
          <a:sx n="98" d="100"/>
          <a:sy n="98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36652-5418-49D0-B2AF-7B23846B1C0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00DA-E989-494E-83A7-D0E152267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5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1: Title</a:t>
            </a:r>
          </a:p>
          <a:p>
            <a:r>
              <a:t>Open with a future-facing story, not a tool demo.</a:t>
            </a:r>
          </a:p>
          <a:p>
            <a:r>
              <a:t>Position this as the evolution from expert-led migrations to a true delivery factory.</a:t>
            </a:r>
          </a:p>
          <a:p>
            <a:r>
              <a:t>Roberto brings hard-won migration knowledge from real legacy programs. Brady brings the operating system that turns that knowledge into repeatable team execution.</a:t>
            </a:r>
          </a:p>
          <a:p>
            <a:r>
              <a:t>The audience should leave this slide understanding that the partnership is about scale, confidence, and factory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2: The burning platform</a:t>
            </a:r>
          </a:p>
          <a:p>
            <a:r>
              <a:t>Frame these numbers as industry patterns, not a critique of any one team.</a:t>
            </a:r>
          </a:p>
          <a:p>
            <a:r>
              <a:t>The point is that migrations fail systemically when delivery depends on a few experts carrying too much context in their heads.</a:t>
            </a:r>
          </a:p>
          <a:p>
            <a:r>
              <a:t>Enterprises already have smart people. What they lack is a system that can preserve knowledge, coordinate specialists, and keep quality high while moving fast.</a:t>
            </a:r>
          </a:p>
          <a:p>
            <a:r>
              <a:t>That is the burning platform for a migration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3: Real cost of the status quo</a:t>
            </a:r>
          </a:p>
          <a:p>
            <a:r>
              <a:t>This is the hidden tax of migration work.</a:t>
            </a:r>
          </a:p>
          <a:p>
            <a:r>
              <a:t>Without a system, progress is fragile. It depends on who is available, what they remember, and whether the next person can reconstruct the context.</a:t>
            </a:r>
          </a:p>
          <a:p>
            <a:r>
              <a:t>With orchestration, the same expertise becomes durable and reusable. That changes the economics of delivery, because the team no longer resets every time work changes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4: Roberto's foundation</a:t>
            </a:r>
          </a:p>
          <a:p>
            <a:r>
              <a:t>Make it clear that Roberto's value is credibility.</a:t>
            </a:r>
          </a:p>
          <a:p>
            <a:r>
              <a:t>These prompts and skills were not invented in a vacuum. They came from real migration work across multiple legacy stacks, where issues like COM dependencies, SOAP contracts, ViewState, EF behavior, and deployment constraints show up in production.</a:t>
            </a:r>
          </a:p>
          <a:p>
            <a:r>
              <a:t>That foundation matters because factories only scale when the underlying playbook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5: Brady's multiplier</a:t>
            </a:r>
          </a:p>
          <a:p>
            <a:r>
              <a:t>Brady's contribution is not just more AI. It is governed coordination.</a:t>
            </a:r>
          </a:p>
          <a:p>
            <a:r>
              <a:t>The squad model makes ownership visible, enforces handoffs, preserves context, and triggers quality checks automatically.</a:t>
            </a:r>
          </a:p>
          <a:p>
            <a:r>
              <a:t>That means expert knowledge no longer behaves like a private asset. It behaves like an operating system the whole delivery team can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6: The fusion</a:t>
            </a:r>
          </a:p>
          <a:p>
            <a:r>
              <a:t>This is the key message of the deck.</a:t>
            </a:r>
          </a:p>
          <a:p>
            <a:r>
              <a:t>Roberto supplies migration intelligence. Brady supplies the system that makes that intelligence routable, durable, and enforceable.</a:t>
            </a:r>
          </a:p>
          <a:p>
            <a:r>
              <a:t>Together, they create something far more valuable than a prompt library or an agent framework on its own: a migration delivery engine that can scale across teams and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7: Factory delivery model</a:t>
            </a:r>
          </a:p>
          <a:p>
            <a:r>
              <a:t>Translate the partnership into a factory story.</a:t>
            </a:r>
          </a:p>
          <a:p>
            <a:r>
              <a:t>A factory is not just automation. It is repeatable intake, consistent assessment, parallel work, visible gates, and a reliable output.</a:t>
            </a:r>
          </a:p>
          <a:p>
            <a:r>
              <a:t>That is why this matters for Factory delivery: the system can take more opportunities, process them with less reinvention, and preserve quality as volume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8: Agent roster</a:t>
            </a:r>
          </a:p>
          <a:p>
            <a:r>
              <a:t>This is important because it shows the system is not a single opaque AI persona.</a:t>
            </a:r>
          </a:p>
          <a:p>
            <a:r>
              <a:t>Each specialist has a domain, which means work can be routed cleanly and reviewed with more confidence.</a:t>
            </a:r>
          </a:p>
          <a:p>
            <a:r>
              <a:t>For Factory delivery, that matters because trust grows when people can see who owns architecture, code, testing, security, cutover,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9: Real use cases</a:t>
            </a:r>
          </a:p>
          <a:p>
            <a:r>
              <a:t>This is the proof point behind the persuasive story.</a:t>
            </a:r>
          </a:p>
          <a:p>
            <a:r>
              <a:t>The playbook has already been exercised across Classic ASP, WCF, WebForms, Java, and ASP.NET estates.</a:t>
            </a:r>
          </a:p>
          <a:p>
            <a:r>
              <a:t>That breadth is exactly what makes the factory credible: each migration teaches the system something reusable instead of forcing the next team to start from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10: Factory ROI</a:t>
            </a:r>
          </a:p>
          <a:p>
            <a:r>
              <a:t>Now make the business case explicit.</a:t>
            </a:r>
          </a:p>
          <a:p>
            <a:r>
              <a:t>The value is not only better technical execution. It is lower assessment cost, faster onboarding, no knowledge reset between sessions, and complete phase coverage.</a:t>
            </a:r>
          </a:p>
          <a:p>
            <a:r>
              <a:t>That combination is what Factory leaders need: better throughput, more predictable quality, and less dependence on heroic individuals.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11: Evolution roadmap</a:t>
            </a:r>
          </a:p>
          <a:p>
            <a:r>
              <a:t>This slide turns the partnership from a point solution into a platform story.</a:t>
            </a:r>
          </a:p>
          <a:p>
            <a:r>
              <a:t>The system already works today, but the more important message is that it can keep learning and expanding.</a:t>
            </a:r>
          </a:p>
          <a:p>
            <a:r>
              <a:t>That makes it strategic for Factory growth: every customer engagement can improve the engine, widen the playbook, and strengthen the next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12: Customer impact vision</a:t>
            </a:r>
          </a:p>
          <a:p>
            <a:r>
              <a:t>Bring the story back to customer outcomes.</a:t>
            </a:r>
          </a:p>
          <a:p>
            <a:r>
              <a:t>Customers do not buy prompts. They buy speed, confidence, continuity, and an easier path through uncertainty.</a:t>
            </a:r>
          </a:p>
          <a:p>
            <a:r>
              <a:t>This is why the partnership matters commercially: it compresses the front end of migration work and makes expert execution available much earlier in the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13: Competitive advantage</a:t>
            </a:r>
          </a:p>
          <a:p>
            <a:r>
              <a:t>This is where the positioning gets sharp.</a:t>
            </a:r>
          </a:p>
          <a:p>
            <a:r>
              <a:t>Many AI tools can generate text. Very few can carry migration-specific knowledge, preserve team context, enforce phases, and coordinate specialists as a delivery model.</a:t>
            </a:r>
          </a:p>
          <a:p>
            <a:r>
              <a:t>That is the difference between assistance and orchestration, and it is the foundation of the competitive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14: Getting started</a:t>
            </a:r>
          </a:p>
          <a:p>
            <a:r>
              <a:t>End the operational story with low friction.</a:t>
            </a:r>
          </a:p>
          <a:p>
            <a:r>
              <a:t>The factory is persuasive only if people believe they can enter it easily.</a:t>
            </a:r>
          </a:p>
          <a:p>
            <a:r>
              <a:t>That is why the starting motion is simple: clone, launch, ask who the squad is, describe the legacy app, and let the system route the work.</a:t>
            </a:r>
          </a:p>
          <a:p>
            <a:r>
              <a:t>Simple entry is how scalable delivery becomes adoptable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15: Closing</a:t>
            </a:r>
          </a:p>
          <a:p>
            <a:r>
              <a:t>Finish with the transformation message.</a:t>
            </a:r>
          </a:p>
          <a:p>
            <a:r>
              <a:t>The ask is not to migrate one more app with a clever prompt. The ask is to build a migration factory that compounds knowledge, keeps quality high, and improves with every engagement.</a:t>
            </a:r>
          </a:p>
          <a:p>
            <a:r>
              <a:t>That is why Roberto Borges and Brady Squad are powerful together: one brings the playbook, the other turns it into a scalable engine for Factory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emf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blue gradient">
    <p:bg>
      <p:bgPr>
        <a:gradFill>
          <a:gsLst>
            <a:gs pos="0">
              <a:schemeClr val="accent4"/>
            </a:gs>
            <a:gs pos="68000">
              <a:schemeClr val="accent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B07EA41A-052C-9A8D-BC7D-FCDF9A324B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817E97-DBEB-FDDB-1B4E-61CD77C94EA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bg1"/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3" name="Picture 2" descr="Grey dots in a spiral">
            <a:extLst>
              <a:ext uri="{FF2B5EF4-FFF2-40B4-BE49-F238E27FC236}">
                <a16:creationId xmlns:a16="http://schemas.microsoft.com/office/drawing/2014/main" id="{69B9EDB1-0B22-7101-DC5D-3EBD7B316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  <a14:imgEffect>
                      <a14:brightnessContrast bright="3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35"/>
          <a:stretch>
            <a:fillRect/>
          </a:stretch>
        </p:blipFill>
        <p:spPr>
          <a:xfrm rot="17129996">
            <a:off x="5184478" y="-817591"/>
            <a:ext cx="9805678" cy="8054623"/>
          </a:xfrm>
          <a:custGeom>
            <a:avLst/>
            <a:gdLst>
              <a:gd name="connsiteX0" fmla="*/ 9805678 w 9805678"/>
              <a:gd name="connsiteY0" fmla="*/ 1 h 8054623"/>
              <a:gd name="connsiteX1" fmla="*/ 9805678 w 9805678"/>
              <a:gd name="connsiteY1" fmla="*/ 8054623 h 8054623"/>
              <a:gd name="connsiteX2" fmla="*/ 9350567 w 9805678"/>
              <a:gd name="connsiteY2" fmla="*/ 8054622 h 8054623"/>
              <a:gd name="connsiteX3" fmla="*/ 8558274 w 9805678"/>
              <a:gd name="connsiteY3" fmla="*/ 5197692 h 8054623"/>
              <a:gd name="connsiteX4" fmla="*/ 1949695 w 9805678"/>
              <a:gd name="connsiteY4" fmla="*/ 7030405 h 8054623"/>
              <a:gd name="connsiteX5" fmla="*/ 0 w 9805678"/>
              <a:gd name="connsiteY5" fmla="*/ 0 h 805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05678" h="8054623">
                <a:moveTo>
                  <a:pt x="9805678" y="1"/>
                </a:moveTo>
                <a:lnTo>
                  <a:pt x="9805678" y="8054623"/>
                </a:lnTo>
                <a:lnTo>
                  <a:pt x="9350567" y="8054622"/>
                </a:lnTo>
                <a:lnTo>
                  <a:pt x="8558274" y="5197692"/>
                </a:lnTo>
                <a:lnTo>
                  <a:pt x="1949695" y="703040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0434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C0C6-8E74-F1C6-CB02-B90E834A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3554" y="1734160"/>
            <a:ext cx="8825" cy="4367213"/>
          </a:xfrm>
          <a:prstGeom prst="line">
            <a:avLst/>
          </a:prstGeom>
          <a:ln w="12700" cap="rnd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6A6B21-0BB3-8590-D0F6-797F169E18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947764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1770E4A-D94C-1440-96DB-11ED82350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6938" y="1947764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3773F22-97EC-FB3E-4D5B-9A9A1ED5EE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3096951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18F8579-3664-D735-7F75-FD9D1C7D6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06938" y="3096951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D37564D-5CD2-62A4-1803-B42D96333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8263" y="4246138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4ECCB71-C833-E3E7-D4C2-2794E3F2F2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938" y="4246138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13684C1-E303-03EA-424F-F44C5796D9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8263" y="5395325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82B21244-77F4-25F3-DAEE-DD3164EE2C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806938" y="5395325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 descr="Colorful blue and orange dots in a spiral">
            <a:extLst>
              <a:ext uri="{FF2B5EF4-FFF2-40B4-BE49-F238E27FC236}">
                <a16:creationId xmlns:a16="http://schemas.microsoft.com/office/drawing/2014/main" id="{11D5C2FF-9643-2529-88FD-6CE111F873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1" t="11117" r="16871"/>
          <a:stretch/>
        </p:blipFill>
        <p:spPr>
          <a:xfrm rot="18368998">
            <a:off x="11067826" y="-163464"/>
            <a:ext cx="1453231" cy="1530253"/>
          </a:xfrm>
          <a:custGeom>
            <a:avLst/>
            <a:gdLst>
              <a:gd name="connsiteX0" fmla="*/ 1453231 w 1453231"/>
              <a:gd name="connsiteY0" fmla="*/ 0 h 1530253"/>
              <a:gd name="connsiteX1" fmla="*/ 1453231 w 1453231"/>
              <a:gd name="connsiteY1" fmla="*/ 726645 h 1530253"/>
              <a:gd name="connsiteX2" fmla="*/ 353226 w 1453231"/>
              <a:gd name="connsiteY2" fmla="*/ 1530253 h 1530253"/>
              <a:gd name="connsiteX3" fmla="*/ 0 w 1453231"/>
              <a:gd name="connsiteY3" fmla="*/ 1530253 h 1530253"/>
              <a:gd name="connsiteX4" fmla="*/ 0 w 1453231"/>
              <a:gd name="connsiteY4" fmla="*/ 0 h 15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231" h="1530253">
                <a:moveTo>
                  <a:pt x="1453231" y="0"/>
                </a:moveTo>
                <a:lnTo>
                  <a:pt x="1453231" y="726645"/>
                </a:lnTo>
                <a:lnTo>
                  <a:pt x="353226" y="1530253"/>
                </a:lnTo>
                <a:lnTo>
                  <a:pt x="0" y="1530253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38998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1768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6D04CCF-14FA-CEB5-E030-6D6A6B163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152001"/>
            <a:ext cx="4634484" cy="553998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325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16" name="Picture 15" descr="A colorful dots in a spiral">
            <a:extLst>
              <a:ext uri="{FF2B5EF4-FFF2-40B4-BE49-F238E27FC236}">
                <a16:creationId xmlns:a16="http://schemas.microsoft.com/office/drawing/2014/main" id="{F74F4322-8497-A551-1633-B7D13287D7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7" b="7924"/>
          <a:stretch>
            <a:fillRect/>
          </a:stretch>
        </p:blipFill>
        <p:spPr>
          <a:xfrm rot="240096" flipH="1">
            <a:off x="3825454" y="-881094"/>
            <a:ext cx="8615855" cy="80495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788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: Top Corners Rounded 264">
            <a:extLst>
              <a:ext uri="{FF2B5EF4-FFF2-40B4-BE49-F238E27FC236}">
                <a16:creationId xmlns:a16="http://schemas.microsoft.com/office/drawing/2014/main" id="{F115F110-E677-8F61-1011-C854F8F4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5047344" y="-2667000"/>
            <a:ext cx="2097312" cy="121920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00F2C9-4D27-4A70-96EB-94073B1211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875002"/>
            <a:ext cx="5510783" cy="1107996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kern="1200" cap="none" spc="-100" baseline="0" dirty="0">
                <a:ln w="3175">
                  <a:noFill/>
                </a:ln>
                <a:solidFill>
                  <a:srgbClr val="1B87D8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72" name="MS logo gray - EMF" descr="Microsoft logo, gray text version">
            <a:extLst>
              <a:ext uri="{FF2B5EF4-FFF2-40B4-BE49-F238E27FC236}">
                <a16:creationId xmlns:a16="http://schemas.microsoft.com/office/drawing/2014/main" id="{2D2BFFA1-4E63-D173-568F-8EFA7A75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668662" y="1180148"/>
            <a:ext cx="1366440" cy="292608"/>
          </a:xfrm>
          <a:prstGeom prst="rect">
            <a:avLst/>
          </a:prstGeom>
        </p:spPr>
      </p:pic>
      <p:pic>
        <p:nvPicPr>
          <p:cNvPr id="4" name="Picture 3" descr="Grey dots in a spiral">
            <a:extLst>
              <a:ext uri="{FF2B5EF4-FFF2-40B4-BE49-F238E27FC236}">
                <a16:creationId xmlns:a16="http://schemas.microsoft.com/office/drawing/2014/main" id="{DD8E2EE1-B219-7AD0-95E9-3B9AB4E387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05" y="-1383478"/>
            <a:ext cx="10849756" cy="8516960"/>
          </a:xfrm>
          <a:prstGeom prst="rect">
            <a:avLst/>
          </a:prstGeom>
        </p:spPr>
      </p:pic>
      <p:pic>
        <p:nvPicPr>
          <p:cNvPr id="11" name="Picture 10" descr="Colorful blue and orange dots in a spiral">
            <a:extLst>
              <a:ext uri="{FF2B5EF4-FFF2-40B4-BE49-F238E27FC236}">
                <a16:creationId xmlns:a16="http://schemas.microsoft.com/office/drawing/2014/main" id="{4AAEA3C1-2FB5-2778-F403-804889B293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92" r="25143" b="31183"/>
          <a:stretch>
            <a:fillRect/>
          </a:stretch>
        </p:blipFill>
        <p:spPr>
          <a:xfrm>
            <a:off x="4070206" y="2380346"/>
            <a:ext cx="8121795" cy="2097312"/>
          </a:xfrm>
          <a:custGeom>
            <a:avLst/>
            <a:gdLst>
              <a:gd name="connsiteX0" fmla="*/ 0 w 8121795"/>
              <a:gd name="connsiteY0" fmla="*/ 0 h 2097312"/>
              <a:gd name="connsiteX1" fmla="*/ 8121795 w 8121795"/>
              <a:gd name="connsiteY1" fmla="*/ 0 h 2097312"/>
              <a:gd name="connsiteX2" fmla="*/ 8121795 w 8121795"/>
              <a:gd name="connsiteY2" fmla="*/ 2097312 h 2097312"/>
              <a:gd name="connsiteX3" fmla="*/ 0 w 8121795"/>
              <a:gd name="connsiteY3" fmla="*/ 2097312 h 209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1795" h="2097312">
                <a:moveTo>
                  <a:pt x="0" y="0"/>
                </a:moveTo>
                <a:lnTo>
                  <a:pt x="8121795" y="0"/>
                </a:lnTo>
                <a:lnTo>
                  <a:pt x="8121795" y="2097312"/>
                </a:lnTo>
                <a:lnTo>
                  <a:pt x="0" y="209731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24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43683-6DA3-CAB4-0B24-22FD85FE8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0" y="0"/>
            <a:ext cx="12192000" cy="1188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26000">
                <a:schemeClr val="accent2">
                  <a:lumMod val="50000"/>
                  <a:alpha val="9200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0083922" cy="553998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C0608-93BD-AA99-99FE-CE8B5C541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88720"/>
            <a:ext cx="12192000" cy="45719"/>
          </a:xfrm>
          <a:prstGeom prst="rect">
            <a:avLst/>
          </a:prstGeom>
          <a:solidFill>
            <a:srgbClr val="01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 descr="Grey dots in a decorative spiral">
            <a:extLst>
              <a:ext uri="{FF2B5EF4-FFF2-40B4-BE49-F238E27FC236}">
                <a16:creationId xmlns:a16="http://schemas.microsoft.com/office/drawing/2014/main" id="{233A85F5-7EA5-D2AC-23E2-52EDBB1A0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392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1277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8907-B34B-EA5C-1932-0E6A41142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3A667-77F1-832C-B8F7-7508A647B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52E7-C8FB-4DA2-CDCB-A34BDD83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5BC0-4891-5505-4859-7947BCDF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BA88-B499-1118-EC80-C7206D44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39EF-DFFF-D68B-DF06-AAD36673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FD69-B14C-18E8-09A4-E45F4D37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6C19-7361-3743-5500-35D02624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6084-AAAE-03BD-7178-EDBF83A1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7631-28B2-86FF-F99C-9FBCA4EA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0A0A-BE0C-B252-F913-577A75F3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9C56-EA9C-B39E-F4F1-EB9220FA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2A18-4EEA-91F5-50C8-6551A4E7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8416-A8CD-4A77-47D0-2A4BA7BB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A763-0B34-E0D9-338A-0BCA0E47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A275-CC8E-AC00-E560-38823DCC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719D-0A05-6E51-2289-57CE6A23F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CB6F-3885-C41F-6FCF-1A8E94483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CE16-863E-C47B-BD5E-7E08220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40710-77AC-587D-9345-24988AAC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A66C-64CC-F6A4-1EAB-FB436D9B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7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4146-955C-B96D-FB84-663421F2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C63DC-2B98-47CA-5A29-E78AE5B1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F2291-4F15-F94E-DCE3-2B05B1B5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11724-D3AF-8984-BDF1-EDE643CE8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EAC95-B7F0-5CAA-278A-BE827929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29BD1-D504-8F66-71A7-B27708E0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A86E0-AEA2-2A5B-816F-D0F0F2F9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4A726-CDA9-CE16-656D-FE6DA092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953B-6D9C-6F4D-A79F-6C42DD5E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43C4E-2952-D239-054A-A530A862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98637-EE1F-4E91-F9E7-C09266D1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CE189-AC99-E8F8-FEF0-2E2CF518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BA6C5-065A-D2AF-A291-BAA7647B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67236-3677-B639-D8BD-BCDC8477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025FF-25C8-5AE8-E5C0-075DA85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6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FFCF-BCA4-6422-EF55-41874044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62D-91AC-3CD0-063C-E0BBBE4F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01E6C-93B7-DB7B-2FF8-18E2CA47A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7B2EB-4B9F-4971-20DE-E2A0FC45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2A8C-4192-A960-0924-32DB65E4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0DA8B-C4F6-F6C3-4CE3-6687BB6D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3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505-4EF4-4344-50A8-5C3F9D6C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236DB-2AB7-8010-B7C4-9587733F8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2FC49-51D0-FAE6-AE4F-593E30C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D7ED5-3E99-EF65-A264-1FA60E01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447A-20DA-776F-D992-D4C4F8FE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6DC0-2143-6FF7-D633-AEB90F17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807-8EA1-1E3F-C93C-53DC1495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4496-F8E6-C5F2-080D-95D9D738D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A14D9-F8C6-8C40-2D38-4D310955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8470-3C92-A110-4A16-6471243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333C-EE8B-4C6C-740C-83DD53D2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F8295-38FF-2EE2-BA5A-10F55BEC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9746B-4BB9-92CC-BE72-BDD91738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4B6F-9D5B-00D5-BC52-BFD90E7D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5D54D-8851-7681-87FF-AD0C685D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94E6-BFED-206F-8DBE-C80EB652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30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551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18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82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4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6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2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60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8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9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19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70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1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906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4391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460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63F8-3190-109C-7161-40345FE412F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64" name="NEW Brand Colors 2018">
            <a:extLst>
              <a:ext uri="{FF2B5EF4-FFF2-40B4-BE49-F238E27FC236}">
                <a16:creationId xmlns:a16="http://schemas.microsoft.com/office/drawing/2014/main" id="{A8BA6B64-5E5E-4B2E-8DF2-17DC5A1D39B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53628" y="2942644"/>
            <a:ext cx="6858000" cy="97271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A88F09E-5CD6-2540-F778-A9F2267C6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3373253" y="12841"/>
            <a:ext cx="340671" cy="6832318"/>
          </a:xfrm>
          <a:prstGeom prst="rect">
            <a:avLst/>
          </a:prstGeom>
        </p:spPr>
      </p:pic>
    </p:spTree>
    <p:custDataLst>
      <p:tags r:id="rId9"/>
    </p:custDataLst>
    <p:extLst>
      <p:ext uri="{BB962C8B-B14F-4D97-AF65-F5344CB8AC3E}">
        <p14:creationId xmlns:p14="http://schemas.microsoft.com/office/powerpoint/2010/main" val="292784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3" r:id="rId3"/>
    <p:sldLayoutId id="2147483723" r:id="rId4"/>
    <p:sldLayoutId id="2147483730" r:id="rId5"/>
    <p:sldLayoutId id="2147483800" r:id="rId6"/>
    <p:sldLayoutId id="2147483801" r:id="rId7"/>
  </p:sldLayoutIdLst>
  <p:transition>
    <p:fade/>
  </p:transition>
  <p:hf sldNum="0" hdr="0" ftr="0" dt="0"/>
  <p:txStyles>
    <p:titleStyle>
      <a:lvl1pPr algn="l" defTabSz="932563" rtl="0" eaLnBrk="1" latinLnBrk="0" hangingPunct="1">
        <a:lnSpc>
          <a:spcPct val="100000"/>
        </a:lnSpc>
        <a:spcBef>
          <a:spcPct val="0"/>
        </a:spcBef>
        <a:buNone/>
        <a:defRPr lang="en-US" sz="3529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556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Segoe UI Semilight" panose="020B0402040204020203" pitchFamily="34" charset="0"/>
        </a:defRPr>
      </a:lvl1pPr>
      <a:lvl2pPr marL="457112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099" marR="0" indent="-19998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801" marR="0" indent="-180940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741" marR="0" indent="-168243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4547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1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5">
          <p15:clr>
            <a:srgbClr val="C35EA4"/>
          </p15:clr>
        </p15:guide>
        <p15:guide id="17" pos="7661">
          <p15:clr>
            <a:srgbClr val="A4A3A4"/>
          </p15:clr>
        </p15:guide>
        <p15:guide id="25" orient="horz" pos="379">
          <p15:clr>
            <a:srgbClr val="C35EA4"/>
          </p15:clr>
        </p15:guide>
        <p15:guide id="26" orient="horz" pos="4027">
          <p15:clr>
            <a:srgbClr val="C35EA4"/>
          </p15:clr>
        </p15:guide>
        <p15:guide id="27" orient="horz" pos="187">
          <p15:clr>
            <a:srgbClr val="A4A3A4"/>
          </p15:clr>
        </p15:guide>
        <p15:guide id="28" pos="173">
          <p15:clr>
            <a:srgbClr val="A4A3A4"/>
          </p15:clr>
        </p15:guide>
        <p15:guide id="29" orient="horz" pos="2347">
          <p15:clr>
            <a:srgbClr val="A4A3A4"/>
          </p15:clr>
        </p15:guide>
        <p15:guide id="30" pos="7320">
          <p15:clr>
            <a:srgbClr val="C35EA4"/>
          </p15:clr>
        </p15:guide>
        <p15:guide id="31" pos="3917">
          <p15:clr>
            <a:srgbClr val="C35EA4"/>
          </p15:clr>
        </p15:guide>
        <p15:guide id="32" orient="horz" pos="2203">
          <p15:clr>
            <a:srgbClr val="F26B43"/>
          </p15:clr>
        </p15:guide>
        <p15:guide id="33" orient="horz" pos="4219">
          <p15:clr>
            <a:srgbClr val="A4A3A4"/>
          </p15:clr>
        </p15:guide>
        <p15:guide id="34" orient="horz" pos="2059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FFDEB-E59B-898A-0919-D2FCE42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3C94-ED43-8244-6B02-E7234CAF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8F9E-0E0A-9154-6906-F2228259F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CEC8-4581-4497-9206-B9F450C3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71B-B2A7-7E82-4132-62F4B834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2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The Migration Factory: Roberto Borges × Brady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7E3FF"/>
                </a:solidFill>
                <a:latin typeface="Aptos Display"/>
              </a:defRPr>
            </a:pPr>
            <a:r>
              <a:t>From Expert Knowledge to Scalable Delivery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32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7C5D8"/>
                </a:solidFill>
                <a:latin typeface="Aptos"/>
              </a:defRPr>
            </a:pPr>
            <a:r>
              <a:t>Microsoft | Accelerated Factory | 2026</a:t>
            </a:r>
          </a:p>
        </p:txBody>
      </p:sp>
      <p:sp>
        <p:nvSpPr>
          <p:cNvPr id="5" name="Oval 4"/>
          <p:cNvSpPr/>
          <p:nvPr/>
        </p:nvSpPr>
        <p:spPr>
          <a:xfrm>
            <a:off x="9784080" y="1143000"/>
            <a:ext cx="502920" cy="50292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143000"/>
            <a:ext cx="502920" cy="50292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1143000"/>
            <a:ext cx="502920" cy="50292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Why Legacy Migration Stalls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64592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" y="1719072"/>
            <a:ext cx="3145536" cy="45720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901952"/>
            <a:ext cx="29626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83B02"/>
                </a:solidFill>
                <a:latin typeface="Aptos Display"/>
              </a:defRPr>
            </a:pPr>
            <a: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606040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Aptos"/>
              </a:defRPr>
            </a:pPr>
            <a:r>
              <a:t>of migrations miss deadlines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999232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ptos"/>
              </a:defRPr>
            </a:pPr>
            <a:r>
              <a:t>Execution breaks when expert knowledge cannot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64592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719072"/>
            <a:ext cx="3145536" cy="45720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01952"/>
            <a:ext cx="29626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E8B00"/>
                </a:solidFill>
                <a:latin typeface="Aptos Display"/>
              </a:defRPr>
            </a:pPr>
            <a:r>
              <a:t>3.2x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Aptos"/>
              </a:defRPr>
            </a:pPr>
            <a:r>
              <a:t>average cost overrun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99232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ptos"/>
              </a:defRPr>
            </a:pPr>
            <a:r>
              <a:t>Rework compounds when sequencing and governance are weak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1896" y="164592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5048" y="1719072"/>
            <a:ext cx="314553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901952"/>
            <a:ext cx="29626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63668"/>
                </a:solidFill>
                <a:latin typeface="Aptos Display"/>
              </a:defRPr>
            </a:pPr>
            <a:r>
              <a:t>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06040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Aptos"/>
              </a:defRPr>
            </a:pPr>
            <a:r>
              <a:t>delivered with critical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999232"/>
            <a:ext cx="29626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ptos"/>
              </a:defRPr>
            </a:pPr>
            <a:r>
              <a:t>Quality slips when teams cannot coordinate across phases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2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33333"/>
                </a:solidFill>
                <a:latin typeface="Aptos Display"/>
              </a:defRPr>
            </a:pPr>
            <a:r>
              <a:t>The problem isn't knowledge. It's orchestration at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What Happens Without a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C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490472"/>
            <a:ext cx="5020056" cy="45720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83B02"/>
                </a:solidFill>
                <a:latin typeface="Aptos Display"/>
              </a:defRPr>
            </a:pPr>
            <a:r>
              <a:t>Without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465429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Knowledge trapped in individuals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Sequential execution (one expert bottleneck)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No memory between sessions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Quality depends on who's running it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Onboarding takes weeks per new team 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E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28232" y="1490472"/>
            <a:ext cx="502005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050"/>
                </a:solidFill>
                <a:latin typeface="Aptos Display"/>
              </a:defRPr>
            </a:pPr>
            <a:r>
              <a:t>With Squad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5429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Knowledge encoded in reusable skills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Parallel fan-out across specialists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Shared decisions and journal persist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Quality enforced by hooks and gates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Onboarding: clone + "@squad who are you?"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Roberto Borges: The Migration Playbook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663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490472"/>
            <a:ext cx="502005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61848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78D4"/>
                </a:solidFill>
                <a:latin typeface="Aptos Display"/>
              </a:defRPr>
            </a:pPr>
            <a:r>
              <a:t>Battle-Tested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47640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7 real-world legacy stacks migrated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21 phase-aware migration prompts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26+ reusable modernization skills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Patterns for COM, WCF, WebForms, EF, 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28232" y="1490472"/>
            <a:ext cx="502005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1848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  <a:latin typeface="Aptos Display"/>
              </a:defRPr>
            </a:pPr>
            <a:r>
              <a:t>Proven Migration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48840"/>
            <a:ext cx="47640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Phase 0: Portfolio assessment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Phase 1-2: Plan, assess, migrate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Phase 3-4: Infrastructure + deploy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Phase 5-6: CI/CD + operations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Security hardening + 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ptos Display"/>
              </a:defRPr>
            </a:pPr>
            <a:r>
              <a:t>This is not theory. This is operational reality.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Brady Squad: The Operating System for Experts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663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490472"/>
            <a:ext cx="502005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61848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3668"/>
                </a:solidFill>
                <a:latin typeface="Aptos Display"/>
              </a:defRPr>
            </a:pPr>
            <a:r>
              <a:t>Orchestration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48840"/>
            <a:ext cx="47640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12 named specialist agents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Automatic routing by task type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Fan-out parallelism (agents work simultaneously)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Shared memory across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28232" y="1490472"/>
            <a:ext cx="502005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18488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  <a:latin typeface="Aptos Display"/>
              </a:defRPr>
            </a:pPr>
            <a:r>
              <a:t>Quality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48840"/>
            <a:ext cx="47640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Phase gates prevent skipping steps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Agent charters define ownership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Hooks trigger tests, docs, and reviews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Every decision logged and traceable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ptos Display"/>
              </a:defRPr>
            </a:pPr>
            <a:r>
              <a:t>Squad turns expertise into a team sport.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Better Together: Ocean's Twelve — The Azure Heist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5448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8952" y="1627632"/>
            <a:ext cx="259689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178D4"/>
                </a:solidFill>
                <a:latin typeface="Aptos Display"/>
              </a:defRPr>
            </a:pPr>
            <a:r>
              <a:t>Roberto's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490472"/>
            <a:ext cx="323697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7556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050"/>
                </a:solidFill>
                <a:latin typeface="Aptos Display"/>
              </a:defRPr>
            </a:pPr>
            <a:r>
              <a:t>Ocean's Twelve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57984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The Azure Heist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554480"/>
            <a:ext cx="27432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636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05672" y="1627632"/>
            <a:ext cx="259689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63668"/>
                </a:solidFill>
                <a:latin typeface="Aptos Display"/>
              </a:defRPr>
            </a:pPr>
            <a:r>
              <a:t>Brady's Framework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2057400"/>
            <a:ext cx="841248" cy="0"/>
          </a:xfrm>
          <a:prstGeom prst="line">
            <a:avLst/>
          </a:prstGeom>
          <a:ln w="25400">
            <a:solidFill>
              <a:srgbClr val="01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Arrow 13"/>
          <p:cNvSpPr/>
          <p:nvPr/>
        </p:nvSpPr>
        <p:spPr>
          <a:xfrm>
            <a:off x="3913632" y="1938528"/>
            <a:ext cx="256032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6459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178D4"/>
                </a:solidFill>
                <a:latin typeface="Aptos"/>
              </a:defRPr>
            </a:pPr>
            <a:r>
              <a:t>FEEDS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845552" y="2057400"/>
            <a:ext cx="813816" cy="0"/>
          </a:xfrm>
          <a:prstGeom prst="line">
            <a:avLst/>
          </a:prstGeom>
          <a:ln w="25400">
            <a:solidFill>
              <a:srgbClr val="4636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Arrow 16"/>
          <p:cNvSpPr/>
          <p:nvPr/>
        </p:nvSpPr>
        <p:spPr>
          <a:xfrm>
            <a:off x="8065008" y="1938528"/>
            <a:ext cx="256032" cy="228600"/>
          </a:xfrm>
          <a:prstGeom prst="leftArrow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64592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63668"/>
                </a:solidFill>
                <a:latin typeface="Aptos"/>
              </a:defRPr>
            </a:pPr>
            <a:r>
              <a:t>POWERED BY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" y="3730752"/>
            <a:ext cx="323697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913632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178D4"/>
                </a:solidFill>
                <a:latin typeface="Aptos Display"/>
              </a:defRPr>
            </a:pPr>
            <a:r>
              <a:t>12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617720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Aptos"/>
              </a:defRPr>
            </a:pPr>
            <a:r>
              <a:t>Named specialists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010912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ptos"/>
              </a:defRPr>
            </a:pPr>
            <a:r>
              <a:t>Not one generic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65760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730752"/>
            <a:ext cx="323697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913632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B050"/>
                </a:solidFill>
                <a:latin typeface="Aptos Display"/>
              </a:defRPr>
            </a:pPr>
            <a:r>
              <a:t>21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Aptos"/>
              </a:defRPr>
            </a:pPr>
            <a:r>
              <a:t>Every migration phase covered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10912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ptos"/>
              </a:defRPr>
            </a:pPr>
            <a:r>
              <a:t>Assessment through operations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365760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0727" y="3730752"/>
            <a:ext cx="323697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7" y="3913632"/>
            <a:ext cx="3054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63668"/>
                </a:solidFill>
                <a:latin typeface="Aptos Display"/>
              </a:defRPr>
            </a:pPr>
            <a:r>
              <a:t>37+ 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7" y="4617720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Aptos"/>
              </a:defRPr>
            </a:pPr>
            <a:r>
              <a:t>Reusable 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5010912"/>
            <a:ext cx="3054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ptos"/>
              </a:defRPr>
            </a:pPr>
            <a:r>
              <a:t>Across all migration use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559552"/>
            <a:ext cx="9966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ptos Display"/>
              </a:defRPr>
            </a:pPr>
            <a:r>
              <a:t>One system. Twelve specialists. Zero gaps.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From Expert Tool to Factory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572768" cy="749808"/>
          </a:xfrm>
          <a:prstGeom prst="round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  <a:br/>
            <a:r>
              <a:t>Intake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48840" y="2084832"/>
            <a:ext cx="201168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59152" y="1828800"/>
            <a:ext cx="1572768" cy="749808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Squad</a:t>
            </a:r>
            <a:br/>
            <a:r>
              <a:t>Interview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05072" y="2084832"/>
            <a:ext cx="201168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15384" y="1828800"/>
            <a:ext cx="1572768" cy="749808"/>
          </a:xfrm>
          <a:prstGeom prst="roundRect">
            <a:avLst/>
          </a:prstGeom>
          <a:solidFill>
            <a:srgbClr val="225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Automated</a:t>
            </a:r>
            <a:br/>
            <a:r>
              <a:t>Assessment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084832"/>
            <a:ext cx="201168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71616" y="1828800"/>
            <a:ext cx="1572768" cy="749808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Parallel</a:t>
            </a:r>
            <a:br/>
            <a:r>
              <a:t>Migration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17536" y="2084832"/>
            <a:ext cx="201168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27848" y="1828800"/>
            <a:ext cx="1572768" cy="749808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Quality</a:t>
            </a:r>
            <a:br/>
            <a:r>
              <a:t>Gates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73768" y="2084832"/>
            <a:ext cx="201168" cy="228600"/>
          </a:xfrm>
          <a:prstGeom prst="rightArrow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1828800"/>
            <a:ext cx="1572768" cy="749808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Azure</a:t>
            </a:r>
            <a:br/>
            <a:r>
              <a:t>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34290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3913632"/>
            <a:ext cx="328269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096512"/>
            <a:ext cx="3136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Repeatable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72000"/>
            <a:ext cx="3099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Same process, different apps, consistent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3840480"/>
            <a:ext cx="34290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53128" y="3913632"/>
            <a:ext cx="328269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096512"/>
            <a:ext cx="3136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Measurable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572000"/>
            <a:ext cx="3099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Every phase tracked, every decision logged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3840480"/>
            <a:ext cx="34290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3913632"/>
            <a:ext cx="328269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6" y="4096512"/>
            <a:ext cx="3136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4572000"/>
            <a:ext cx="30998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Add new use cases without rebuilding the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Your Migration Crew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743200"/>
                <a:gridCol w="2880360"/>
                <a:gridCol w="484632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Alias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Danny Ocean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Lead strategist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Coder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Rusty Ryan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Full-stack dev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Linus Caldwell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QA + DevRel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Azure Specialist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Basher Tarr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Cloud platform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DevOps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Turk Malloy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CI/CD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Observability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Livingston Dell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Amazing 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Data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Virgil Malloy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Benchmarks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Security Auditor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Frank Catton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Vulnerability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Evaluator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Saul Bloom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Prompt quality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Cutover Commander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Reuben Tishkoff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Go-live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Scribe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Roman Nagel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5321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Aptos"/>
              </a:defRPr>
            </a:pPr>
            <a:r>
              <a:t>Named specialists create trust, ownership, and true parallel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7 Legacy Stacks, 1 Playbook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965960"/>
                <a:gridCol w="3566160"/>
                <a:gridCol w="228600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Codename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Stack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Difficulty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01-ASPClassicApp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Antique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Classic ASP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02-NetFramework30-ASPNET-WEB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Fossil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Framework 3.0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03-WCFNet35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WCF .NET 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04-ContosoUniversityDiPS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Campus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ASP.NET MVC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05-BookShop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3.5 WebForms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06-Java-API-BusReservation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Express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Java 8 API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07-PartsUnlimited-aspnet45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ASP.NET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ptos Display"/>
              </a:defRPr>
            </a:pPr>
            <a:r>
              <a:t>Each stack validated. Each pattern encoded. Each lesson reusable.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The Business 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916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" y="1764792"/>
            <a:ext cx="245973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947672"/>
            <a:ext cx="2313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178D4"/>
                </a:solidFill>
                <a:latin typeface="Aptos Display"/>
              </a:defRPr>
            </a:pPr>
            <a:r>
              <a:t>60-80%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249631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Reduction in assessment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971800"/>
            <a:ext cx="22768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Automated codebase scanning + pattern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6916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764792"/>
            <a:ext cx="245973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947672"/>
            <a:ext cx="2313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050"/>
                </a:solidFill>
                <a:latin typeface="Aptos Display"/>
              </a:defRPr>
            </a:pPr>
            <a:r>
              <a:t>5×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49631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Onboarding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71800"/>
            <a:ext cx="22768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Clone repo, talk to squad, start migrating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6916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764792"/>
            <a:ext cx="2459736" cy="45720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47672"/>
            <a:ext cx="2313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E8B00"/>
                </a:solidFill>
                <a:latin typeface="Aptos Display"/>
              </a:defRPr>
            </a:pPr>
            <a: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9631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Knowledge loss between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971800"/>
            <a:ext cx="22768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Shared memory, decisions journal, handoff docs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1691640"/>
            <a:ext cx="26060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764792"/>
            <a:ext cx="245973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947672"/>
            <a:ext cx="2313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3668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49631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Phase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971800"/>
            <a:ext cx="227685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No step skipped, no gate bypassed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ptos Display"/>
              </a:defRPr>
            </a:pPr>
            <a:r>
              <a:t>This is how migration work moves from artisanal to industrial.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The Path Forward: Always Evolving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6072" y="1490472"/>
            <a:ext cx="341985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618488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78D4"/>
                </a:solidFill>
                <a:latin typeface="Aptos Display"/>
              </a:defRPr>
            </a:pPr>
            <a: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48840"/>
            <a:ext cx="316382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7 use cases proven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12 agents operational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CLI-first UX live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Interactive interview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90472"/>
            <a:ext cx="341985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18488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  <a:latin typeface="Aptos Display"/>
              </a:defRPr>
            </a:pPr>
            <a:r>
              <a:t>Next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148840"/>
            <a:ext cx="316382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Custom agent training per customer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Self-improving prompt evaluation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Multi-repo portfolio orchestration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Automated compliance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417320"/>
            <a:ext cx="35661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2168" y="1490472"/>
            <a:ext cx="341985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618488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63668"/>
                </a:solidFill>
                <a:latin typeface="Aptos Display"/>
              </a:defRPr>
            </a:pPr>
            <a:r>
              <a:t>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148840"/>
            <a:ext cx="316382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Cross-team federation (multiple squads)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AI-assisted architecture decisions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Continuous migration-as-a-service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Industry-specific migration accelerators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What Customers 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34290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764792"/>
            <a:ext cx="3282696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47672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178D4"/>
                </a:solidFill>
                <a:latin typeface="Aptos Display"/>
              </a:defRPr>
            </a:pPr>
            <a:r>
              <a:t>1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96312"/>
            <a:ext cx="3136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Portfolio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71800"/>
            <a:ext cx="3099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vs weeks of manual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91640"/>
            <a:ext cx="34290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128" y="1764792"/>
            <a:ext cx="328269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47672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050"/>
                </a:solidFill>
                <a:latin typeface="Aptos Display"/>
              </a:defRPr>
            </a:pPr>
            <a:r>
              <a:t>1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96312"/>
            <a:ext cx="3136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Migration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971800"/>
            <a:ext cx="3099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vs months of planning cycles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91640"/>
            <a:ext cx="34290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1764792"/>
            <a:ext cx="3282696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3668"/>
                </a:solidFill>
                <a:latin typeface="Aptos Display"/>
              </a:defRPr>
            </a:pPr>
            <a:r>
              <a:t>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496312"/>
            <a:ext cx="3136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Aptos"/>
              </a:defRPr>
            </a:pPr>
            <a:r>
              <a:t>Team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971800"/>
            <a:ext cx="3099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Aptos"/>
              </a:defRPr>
            </a:pPr>
            <a:r>
              <a:t>vs days of training and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Aptos Display"/>
              </a:defRPr>
            </a:pPr>
            <a:r>
              <a:t>From months to days. From individuals to teams. From one-time to repeatable.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Why This Beats Everything Else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C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490472"/>
            <a:ext cx="5020056" cy="45720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83B02"/>
                </a:solidFill>
                <a:latin typeface="Aptos Display"/>
              </a:defRPr>
            </a:pPr>
            <a:r>
              <a:t>Generic AI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94560"/>
            <a:ext cx="465429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One-size-fits-all prompts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No migration domain knowledge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No memory between sessions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No quality governance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No team coordination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E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28232" y="1490472"/>
            <a:ext cx="502005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050"/>
                </a:solidFill>
                <a:latin typeface="Aptos Display"/>
              </a:defRPr>
            </a:pPr>
            <a:r>
              <a:t>Roberto + Squad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5429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Battle-tested migration patterns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Deep .NET, Java, and Azure expertise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Persistent shared memory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Phase gates + quality hooks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•  12 coordinated specialists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Aptos Display"/>
              </a:defRPr>
            </a:pPr>
            <a:r>
              <a:t>This isn't AI-assisted migration. This is AI-orchestrated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Start Today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417320"/>
            <a:ext cx="310896" cy="310896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0817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ptos"/>
              </a:defRPr>
            </a:pPr>
            <a:r>
              <a:t>Clone the repo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75688"/>
            <a:ext cx="310896" cy="310896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66544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ptos"/>
              </a:defRPr>
            </a:pPr>
            <a:r>
              <a:t>Launch Copilot CLI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734056"/>
            <a:ext cx="310896" cy="310896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ptos"/>
              </a:defRPr>
            </a:pPr>
            <a:r>
              <a:t>@squad who are you?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392424"/>
            <a:ext cx="310896" cy="310896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ptos"/>
              </a:defRPr>
            </a:pPr>
            <a:r>
              <a:t>@squad I have a legacy app to migrate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050792"/>
            <a:ext cx="310896" cy="310896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41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Aptos"/>
              </a:defRPr>
            </a:pPr>
            <a:r>
              <a:t>Squad handles the 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1719072"/>
            <a:ext cx="27432" cy="269748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Aptos"/>
              </a:defRPr>
            </a:pPr>
            <a:r>
              <a:t>https://github.com/RobertoBorges/GHCP-PromptMigration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920240"/>
            <a:ext cx="4297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E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76872" y="1993392"/>
            <a:ext cx="4151376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240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761488"/>
            <a:ext cx="37947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Aptos"/>
              </a:defRPr>
            </a:pPr>
            <a:r>
              <a:t>No prompt memorization. No phase guessing. Just start the conversation.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Don't Just Migrate. Transform.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2148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7E3FF"/>
                </a:solidFill>
                <a:latin typeface="Aptos Display"/>
              </a:defRPr>
            </a:pPr>
            <a:r>
              <a:t>Roberto Borges × Brady Squad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880360"/>
            <a:ext cx="9372600" cy="1463040"/>
          </a:xfrm>
          <a:prstGeom prst="roundRect">
            <a:avLst>
              <a:gd name="adj" fmla="val 6000"/>
            </a:avLst>
          </a:prstGeom>
          <a:solidFill>
            <a:srgbClr val="005A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3246120"/>
            <a:ext cx="8732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"The best migration factory is a team that never forgets, never gets tired, and always follows the plan — then gets smarter every time."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7C5D8"/>
                </a:solidFill>
                <a:latin typeface="Aptos"/>
              </a:defRPr>
            </a:pPr>
            <a:r>
              <a:t>Roberto Borges | Microsoft | Accelerated Factory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63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FY24 Global Customer Success">
  <a:themeElements>
    <a:clrScheme name="GCS">
      <a:dk1>
        <a:srgbClr val="1A1A1A"/>
      </a:dk1>
      <a:lt1>
        <a:srgbClr val="FFFFFF"/>
      </a:lt1>
      <a:dk2>
        <a:srgbClr val="2A446F"/>
      </a:dk2>
      <a:lt2>
        <a:srgbClr val="F2F2F2"/>
      </a:lt2>
      <a:accent1>
        <a:srgbClr val="D83B02"/>
      </a:accent1>
      <a:accent2>
        <a:srgbClr val="0178D4"/>
      </a:accent2>
      <a:accent3>
        <a:srgbClr val="FE8B00"/>
      </a:accent3>
      <a:accent4>
        <a:srgbClr val="00BCF2"/>
      </a:accent4>
      <a:accent5>
        <a:srgbClr val="463668"/>
      </a:accent5>
      <a:accent6>
        <a:srgbClr val="225B62"/>
      </a:accent6>
      <a:hlink>
        <a:srgbClr val="00BCF2"/>
      </a:hlink>
      <a:folHlink>
        <a:srgbClr val="274B47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3795941-59EF-4171-B17A-5159030DBA48}" vid="{3A2A1809-9A9C-4605-B72D-992B45BBB6B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1d963b9-1180-4647-93d7-d11aa08e2421" xsi:nil="true"/>
    <lcf76f155ced4ddcb4097134ff3c332f xmlns="f3541473-4e72-4c17-b1a6-32770bb766bd">
      <Terms xmlns="http://schemas.microsoft.com/office/infopath/2007/PartnerControls"/>
    </lcf76f155ced4ddcb4097134ff3c332f>
    <PrimeCorrectedByUser xmlns="31d963b9-1180-4647-93d7-d11aa08e2421" xsi:nil="true"/>
    <PrimeClassificationStatus xmlns="31d963b9-1180-4647-93d7-d11aa08e2421" xsi:nil="true"/>
    <Buckets xmlns="f3541473-4e72-4c17-b1a6-32770bb766bd" xsi:nil="true"/>
    <PrimeClassificationStatusDetails xmlns="31d963b9-1180-4647-93d7-d11aa08e2421" xsi:nil="true"/>
    <PrimeLastClassified xmlns="31d963b9-1180-4647-93d7-d11aa08e2421" xsi:nil="true"/>
    <Comments xmlns="f3541473-4e72-4c17-b1a6-32770bb766bd" xsi:nil="true"/>
    <ApprovedBy xmlns="f3541473-4e72-4c17-b1a6-32770bb766bd" xsi:nil="true"/>
    <ToBeMigrated_x003f_0 xmlns="f3541473-4e72-4c17-b1a6-32770bb766bd">true</ToBeMigrated_x003f_0>
    <ContentCategory xmlns="f3541473-4e72-4c17-b1a6-32770bb766bd" xsi:nil="true"/>
    <ToBeMigrated_x003f_ xmlns="f3541473-4e72-4c17-b1a6-32770bb766bd">true</ToBeMigrated_x003f_>
    <MigrationStatus xmlns="f3541473-4e72-4c17-b1a6-32770bb766bd" xsi:nil="true"/>
    <MigrationApproved xmlns="f3541473-4e72-4c17-b1a6-32770bb766bd">true</MigrationApprove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F5606B695A84A87B74917185224FA" ma:contentTypeVersion="35" ma:contentTypeDescription="Create a new document." ma:contentTypeScope="" ma:versionID="780f07036e1844f54aa521de4e75515b">
  <xsd:schema xmlns:xsd="http://www.w3.org/2001/XMLSchema" xmlns:xs="http://www.w3.org/2001/XMLSchema" xmlns:p="http://schemas.microsoft.com/office/2006/metadata/properties" xmlns:ns1="http://schemas.microsoft.com/sharepoint/v3" xmlns:ns2="f3541473-4e72-4c17-b1a6-32770bb766bd" xmlns:ns3="31d963b9-1180-4647-93d7-d11aa08e2421" targetNamespace="http://schemas.microsoft.com/office/2006/metadata/properties" ma:root="true" ma:fieldsID="5f4092ba07087a62a5026b82b14c4bf7" ns1:_="" ns2:_="" ns3:_="">
    <xsd:import namespace="http://schemas.microsoft.com/sharepoint/v3"/>
    <xsd:import namespace="f3541473-4e72-4c17-b1a6-32770bb766bd"/>
    <xsd:import namespace="31d963b9-1180-4647-93d7-d11aa08e24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TranslatedLang" minOccurs="0"/>
                <xsd:element ref="ns2:MediaServiceBillingMetadata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Buckets" minOccurs="0"/>
                <xsd:element ref="ns2:MediaServiceLocation" minOccurs="0"/>
                <xsd:element ref="ns2:Comments" minOccurs="0"/>
                <xsd:element ref="ns2:ToBeMigrated_x003f_" minOccurs="0"/>
                <xsd:element ref="ns2:ToBeMigrated_x003f_0" minOccurs="0"/>
                <xsd:element ref="ns2:ApprovedBy" minOccurs="0"/>
                <xsd:element ref="ns2:MigrationApproved" minOccurs="0"/>
                <xsd:element ref="ns2:MigrationStatus" minOccurs="0"/>
                <xsd:element ref="ns2:Content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541473-4e72-4c17-b1a6-32770bb7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20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5" nillable="true" ma:displayName="TranslatedLang" ma:hidden="true" ma:internalName="TranslatedLang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Text"/>
      </xsd:simpleType>
    </xsd:element>
    <xsd:element name="Buckets" ma:index="31" nillable="true" ma:displayName="Buckets" ma:description="Describes the content and where it sits within Seismic" ma:format="Dropdown" ma:internalName="Bucket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ustomer"/>
                    <xsd:enumeration value="Field"/>
                    <xsd:enumeration value="Partner"/>
                    <xsd:enumeration value="Intake Nomination"/>
                    <xsd:enumeration value="RACI"/>
                  </xsd:restriction>
                </xsd:simpleType>
              </xsd:element>
            </xsd:sequence>
          </xsd:extension>
        </xsd:complexContent>
      </xsd:complex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  <xsd:element name="Comments" ma:index="33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ToBeMigrated_x003f_" ma:index="34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">
      <xsd:simpleType>
        <xsd:restriction base="dms:Boolean"/>
      </xsd:simpleType>
    </xsd:element>
    <xsd:element name="ToBeMigrated_x003f_0" ma:index="35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0">
      <xsd:simpleType>
        <xsd:restriction base="dms:Boolean"/>
      </xsd:simpleType>
    </xsd:element>
    <xsd:element name="ApprovedBy" ma:index="36" nillable="true" ma:displayName="Approved By" ma:description="Identifies the individual who approved the migration of this content to the new SharePoint location. Used for audit and accountability purposes." ma:format="Dropdown" ma:internalName="ApprovedBy">
      <xsd:simpleType>
        <xsd:restriction base="dms:Text">
          <xsd:maxLength value="255"/>
        </xsd:restriction>
      </xsd:simpleType>
    </xsd:element>
    <xsd:element name="MigrationApproved" ma:index="37" nillable="true" ma:displayName="Migration Approved" ma:default="1" ma:description="Shows the approval decision for migrating this content. Content should be migrated only when the status is set to Approved." ma:format="Dropdown" ma:internalName="MigrationApproved">
      <xsd:simpleType>
        <xsd:restriction base="dms:Boolean"/>
      </xsd:simpleType>
    </xsd:element>
    <xsd:element name="MigrationStatus" ma:index="38" nillable="true" ma:displayName="Migration Status" ma:description="Tracks the current state of the migration activity for this content, from planning through completion or exception handling." ma:format="Dropdown" ma:internalName="MigrationStatus">
      <xsd:simpleType>
        <xsd:restriction base="dms:Text">
          <xsd:maxLength value="255"/>
        </xsd:restriction>
      </xsd:simpleType>
    </xsd:element>
    <xsd:element name="ContentCategory" ma:index="39" nillable="true" ma:displayName="Content Category" ma:description="Classifies the business nature of the content to support migration decisions, prioritization, and future governance." ma:format="Dropdown" ma:internalName="ContentCateg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d963b9-1180-4647-93d7-d11aa08e242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00b8a8-7722-4866-9ef1-0499ba3ec9e1}" ma:internalName="TaxCatchAll" ma:showField="CatchAllData" ma:web="31d963b9-1180-4647-93d7-d11aa08e24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7" nillable="true" ma:displayName="Processing status" ma:internalName="PrimeClassificationStatus">
      <xsd:simpleType>
        <xsd:restriction base="dms:Text"/>
      </xsd:simpleType>
    </xsd:element>
    <xsd:element name="PrimeClassificationStatusDetails" ma:index="28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9" nillable="true" ma:displayName="Processed" ma:internalName="PrimeLastClassified">
      <xsd:simpleType>
        <xsd:restriction base="dms:DateTime"/>
      </xsd:simpleType>
    </xsd:element>
    <xsd:element name="PrimeCorrectedByUser" ma:index="30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schemas.microsoft.com/sharepoint/v3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1d963b9-1180-4647-93d7-d11aa08e2421"/>
    <ds:schemaRef ds:uri="f3541473-4e72-4c17-b1a6-32770bb766b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418BF-5125-468A-8024-F23D251B58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3541473-4e72-4c17-b1a6-32770bb766bd"/>
    <ds:schemaRef ds:uri="31d963b9-1180-4647-93d7-d11aa08e24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</TotalTime>
  <Words>15713</Words>
  <Application>Microsoft Office PowerPoint</Application>
  <PresentationFormat>Widescreen</PresentationFormat>
  <Paragraphs>4452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Aptos</vt:lpstr>
      <vt:lpstr>Aptos Display</vt:lpstr>
      <vt:lpstr>Aptos Narrow</vt:lpstr>
      <vt:lpstr>Arial</vt:lpstr>
      <vt:lpstr>Arial,Sans-Serif</vt:lpstr>
      <vt:lpstr>Calibri</vt:lpstr>
      <vt:lpstr>Segoe Sans Display Semibold</vt:lpstr>
      <vt:lpstr>Segoe Sans Text</vt:lpstr>
      <vt:lpstr>Segoe UI</vt:lpstr>
      <vt:lpstr>Segoe UI Semibold</vt:lpstr>
      <vt:lpstr>Wingdings</vt:lpstr>
      <vt:lpstr>FY24 Global Customer Success</vt:lpstr>
      <vt:lpstr>1_Office Theme</vt:lpstr>
      <vt:lpstr>3_office theme</vt:lpstr>
      <vt:lpstr>Accounts Status – Area LATAM (MCSA)  Reporting Period – 04/03/2026 – 04/09/2026    Date : April 10, 2026 Generated By: Mani Kunda</vt:lpstr>
      <vt:lpstr>PowerPoint Presentation</vt:lpstr>
      <vt:lpstr>LATAM (MCSA) Nominations – Help required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LATAM (MCSA) Nominations – Stage 2 (1/2)</vt:lpstr>
      <vt:lpstr>LATAM (MCSA) Nominations – Stage 2 (2/2)</vt:lpstr>
      <vt:lpstr>LATAM (MCSA) Nominations – Stage 3</vt:lpstr>
      <vt:lpstr>LATAM (MCSA) Nominations – Stage 4 (1/2)</vt:lpstr>
      <vt:lpstr>LATAM (MCSA) Nominations – Stage 4 (2/2)</vt:lpstr>
      <vt:lpstr>LATAM (MCSA) Nominations – Stage 1</vt:lpstr>
      <vt:lpstr>LATAM (MCSA) Nominations – Deferred</vt:lpstr>
      <vt:lpstr>LATAM (MCSA) Nominations – Deferred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Sign off</dc:title>
  <dc:creator>Ancy Alexander (International Supplier)</dc:creator>
  <cp:keywords>CMF;</cp:keywords>
  <cp:lastModifiedBy>Misa Breton (International Supplier)</cp:lastModifiedBy>
  <cp:revision>45</cp:revision>
  <dcterms:created xsi:type="dcterms:W3CDTF">2024-07-26T14:11:23Z</dcterms:created>
  <dcterms:modified xsi:type="dcterms:W3CDTF">2026-04-10T13:35:33Z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0x010100CC4F5606B695A84A87B74917185224FA</vt:lpwstr>
  </property>
  <property fmtid="{D5CDD505-2E9C-101B-9397-08002B2CF9AE}" pid="3" name="_dlc_DocIdItemGuid">
    <vt:lpwstr>36da67c7-b504-4aea-865b-0e87cedc899d</vt:lpwstr>
  </property>
  <property fmtid="{D5CDD505-2E9C-101B-9397-08002B2CF9AE}" pid="4" name="MediaServiceImageTags">
    <vt:lpwstr/>
  </property>
</Properties>
</file>