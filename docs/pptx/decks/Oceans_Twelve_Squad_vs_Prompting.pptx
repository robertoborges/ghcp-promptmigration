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0" r:id="rId4"/>
    <p:sldMasterId id="2147483893" r:id="rId5"/>
    <p:sldMasterId id="2147483931" r:id="rId6"/>
  </p:sldMasterIdLst>
  <p:notesMasterIdLst>
    <p:notesMasterId r:id="rId63"/>
  </p:notesMasterIdLst>
  <p:handoutMasterIdLst>
    <p:handoutMasterId r:id="rId64"/>
  </p:handoutMasterIdLst>
  <p:sldIdLst>
    <p:sldId id="256" r:id="rId15"/>
    <p:sldId id="257" r:id="rId16"/>
    <p:sldId id="258" r:id="rId17"/>
    <p:sldId id="259" r:id="rId18"/>
    <p:sldId id="260" r:id="rId19"/>
    <p:sldId id="261" r:id="rId20"/>
    <p:sldId id="262" r:id="rId21"/>
    <p:sldId id="263" r:id="rId22"/>
    <p:sldId id="264" r:id="rId23"/>
    <p:sldId id="265" r:id="rId24"/>
    <p:sldId id="266" r:id="rId25"/>
    <p:sldId id="267" r:id="rId26"/>
    <p:sldId id="268" r:id="rId27"/>
    <p:sldId id="269" r:id="rId28"/>
    <p:sldId id="270" r:id="rId29"/>
    <p:sldId id="271" r:id="rId30"/>
    <p:sldId id="272"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B45EA2D-1AF0-34E0-A8D1-7DC498B324C6}" name="Leonardo Miller (International Supplier)" initials="LS" userId="S::v-lemiller@microsoft.com::b0ce1011-fe8a-48ce-b2f3-38c535a7b86f" providerId="AD"/>
  <p188:author id="{FC373C85-ECD1-2EBC-3625-F268C6A7DD7A}" name="Rajesh Doddapaneni (International Supplier)" initials="RD" userId="S::v-rajeshdo@microsoft.com::ee900ee1-8550-492f-8251-d7fc83307c82" providerId="AD"/>
  <p188:author id="{7C0DA9EE-7FEB-4CFD-0381-2DB8493D0D32}" name="Sunil Babu A V (International Supplier)" initials="SA" userId="S::v-veammi@microsoft.com::440459d4-1f85-4015-ac68-7529db05610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050"/>
    <a:srgbClr val="FFDF7D"/>
    <a:srgbClr val="FE8B00"/>
    <a:srgbClr val="F2F7FA"/>
    <a:srgbClr val="6C7E9C"/>
    <a:srgbClr val="C71C0F"/>
    <a:srgbClr val="66FF99"/>
    <a:srgbClr val="DEF6DF"/>
    <a:srgbClr val="66B3E4"/>
    <a:srgbClr val="7FA3B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3110926-E7D1-4FF0-AB29-7A94F8F28BDE}" v="159" dt="2026-04-10T07:32:52.55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122" autoAdjust="0"/>
    <p:restoredTop sz="89212" autoAdjust="0"/>
  </p:normalViewPr>
  <p:slideViewPr>
    <p:cSldViewPr snapToGrid="0">
      <p:cViewPr varScale="1">
        <p:scale>
          <a:sx n="98" d="100"/>
          <a:sy n="98" d="100"/>
        </p:scale>
        <p:origin x="8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15" Type="http://schemas.openxmlformats.org/officeDocument/2006/relationships/slide" Target="slides/slide1.xml"/><Relationship Id="rId16" Type="http://schemas.openxmlformats.org/officeDocument/2006/relationships/slide" Target="slides/slide2.xml"/><Relationship Id="rId17" Type="http://schemas.openxmlformats.org/officeDocument/2006/relationships/slide" Target="slides/slide3.xml"/><Relationship Id="rId18" Type="http://schemas.openxmlformats.org/officeDocument/2006/relationships/slide" Target="slides/slide4.xml"/><Relationship Id="rId19" Type="http://schemas.openxmlformats.org/officeDocument/2006/relationships/slide" Target="slides/slide5.xml"/><Relationship Id="rId20" Type="http://schemas.openxmlformats.org/officeDocument/2006/relationships/slide" Target="slides/slide6.xml"/><Relationship Id="rId21" Type="http://schemas.openxmlformats.org/officeDocument/2006/relationships/slide" Target="slides/slide7.xml"/><Relationship Id="rId22" Type="http://schemas.openxmlformats.org/officeDocument/2006/relationships/slide" Target="slides/slide8.xml"/><Relationship Id="rId23" Type="http://schemas.openxmlformats.org/officeDocument/2006/relationships/slide" Target="slides/slide9.xml"/><Relationship Id="rId24" Type="http://schemas.openxmlformats.org/officeDocument/2006/relationships/slide" Target="slides/slide10.xml"/><Relationship Id="rId25" Type="http://schemas.openxmlformats.org/officeDocument/2006/relationships/slide" Target="slides/slide11.xml"/><Relationship Id="rId26" Type="http://schemas.openxmlformats.org/officeDocument/2006/relationships/slide" Target="slides/slide12.xml"/><Relationship Id="rId27" Type="http://schemas.openxmlformats.org/officeDocument/2006/relationships/slide" Target="slides/slide13.xml"/><Relationship Id="rId28" Type="http://schemas.openxmlformats.org/officeDocument/2006/relationships/slide" Target="slides/slide14.xml"/><Relationship Id="rId29" Type="http://schemas.openxmlformats.org/officeDocument/2006/relationships/slide" Target="slides/slide15.xml"/><Relationship Id="rId30" Type="http://schemas.openxmlformats.org/officeDocument/2006/relationships/slide" Target="slides/slide16.xml"/><Relationship Id="rId31" Type="http://schemas.openxmlformats.org/officeDocument/2006/relationships/slide" Target="slides/slide17.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presProps" Target="presProps.xml"/><Relationship Id="rId66" Type="http://schemas.openxmlformats.org/officeDocument/2006/relationships/viewProps" Target="viewProps.xml"/><Relationship Id="rId67" Type="http://schemas.openxmlformats.org/officeDocument/2006/relationships/theme" Target="theme/theme1.xml"/><Relationship Id="rId68" Type="http://schemas.openxmlformats.org/officeDocument/2006/relationships/tableStyles" Target="tableStyles.xml"/><Relationship Id="rId69" Type="http://schemas.microsoft.com/office/2015/10/relationships/revisionInfo" Target="revisionInfo.xml"/><Relationship Id="rId70"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C412D67-2B4E-9F55-6EDC-F2256BD0218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5668C3D-E520-C942-CFB7-27E263C06F0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D5296E7-6EEA-4CEF-8F27-97AAB1939405}" type="datetimeFigureOut">
              <a:rPr lang="en-US" smtClean="0"/>
              <a:t>4/10/2026</a:t>
            </a:fld>
            <a:endParaRPr lang="en-US"/>
          </a:p>
        </p:txBody>
      </p:sp>
      <p:sp>
        <p:nvSpPr>
          <p:cNvPr id="4" name="Footer Placeholder 3">
            <a:extLst>
              <a:ext uri="{FF2B5EF4-FFF2-40B4-BE49-F238E27FC236}">
                <a16:creationId xmlns:a16="http://schemas.microsoft.com/office/drawing/2014/main" id="{15EDE418-482A-7A43-F10A-2705951C158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43D5FD8-B708-FF93-D8FD-7A2F3AD6180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978EA95-EEDE-466E-B94C-8B572EEF9CB7}" type="slidenum">
              <a:rPr lang="en-US" smtClean="0"/>
              <a:t>‹#›</a:t>
            </a:fld>
            <a:endParaRPr lang="en-US"/>
          </a:p>
        </p:txBody>
      </p:sp>
    </p:spTree>
    <p:extLst>
      <p:ext uri="{BB962C8B-B14F-4D97-AF65-F5344CB8AC3E}">
        <p14:creationId xmlns:p14="http://schemas.microsoft.com/office/powerpoint/2010/main" val="6989948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B36652-5418-49D0-B2AF-7B23846B1C09}" type="datetimeFigureOut">
              <a:rPr lang="en-IN" smtClean="0"/>
              <a:t>10-04-2026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6800DA-E989-494E-83A7-D0E15226734A}" type="slidenum">
              <a:rPr lang="en-IN" smtClean="0"/>
              <a:t>‹#›</a:t>
            </a:fld>
            <a:endParaRPr lang="en-IN"/>
          </a:p>
        </p:txBody>
      </p:sp>
    </p:spTree>
    <p:extLst>
      <p:ext uri="{BB962C8B-B14F-4D97-AF65-F5344CB8AC3E}">
        <p14:creationId xmlns:p14="http://schemas.microsoft.com/office/powerpoint/2010/main" val="24622551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1: Title</a:t>
            </a:r>
          </a:p>
          <a:p>
            <a:r>
              <a:t>Open with the metaphor: this is not about prompting harder, it is about orchestrating a crew.</a:t>
            </a:r>
          </a:p>
          <a:p>
            <a:r>
              <a:t>Frame the audience: architects care about operating models, governance, and scale.</a:t>
            </a:r>
          </a:p>
          <a:p>
            <a:r>
              <a:t>Explain that Ocean's Twelve is the migration pattern: specialized roles, coordinated handoffs, reusable skills, and visible quality gates.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2: The problem</a:t>
            </a:r>
          </a:p>
          <a:p>
            <a:r>
              <a:t>Stress the scale mismatch. The migration portfolio spans seven very different applications and more than a dozen engineering concerns.</a:t>
            </a:r>
          </a:p>
          <a:p>
            <a:r>
              <a:t>A single person or single prompt cannot reliably hold architecture, security, data, deployment, and operations context at once.</a:t>
            </a:r>
          </a:p>
          <a:p>
            <a:r>
              <a:t>This is the forcing function that makes orchestration necessary.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3: The old way</a:t>
            </a:r>
          </a:p>
          <a:p>
            <a:r>
              <a:t>Walk the audience through the anti-pattern. One huge prompt becomes the architecture, the checklist, the team, and the memory system.</a:t>
            </a:r>
          </a:p>
          <a:p>
            <a:r>
              <a:t>That means every concern competes for the same context window and the same generic reasoning path.</a:t>
            </a:r>
          </a:p>
          <a:p>
            <a:r>
              <a:t>The result is fragile quality, no reuse, and no scalable delivery model.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4: The new way</a:t>
            </a:r>
          </a:p>
          <a:p>
            <a:r>
              <a:t>Show the architectural inversion. The user no longer pushes detail into one giant prompt.</a:t>
            </a:r>
          </a:p>
          <a:p>
            <a:r>
              <a:t>Instead, the orchestrator routes work to specialists, each with a clear charter, while reusable skills sit underneath the whole system.</a:t>
            </a:r>
          </a:p>
          <a:p>
            <a:r>
              <a:t>This makes ownership, parallelism, and governance explicit.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5: Head-to-head</a:t>
            </a:r>
          </a:p>
          <a:p>
            <a:r>
              <a:t>Use this as the clean comparison slide for executives.</a:t>
            </a:r>
          </a:p>
          <a:p>
            <a:r>
              <a:t>Every row translates a prompting weakness into an orchestration strength: specialization, reuse, memory, scale, and governance.</a:t>
            </a:r>
          </a:p>
          <a:p>
            <a:r>
              <a:t>The key message: squad is not just a nicer UX, it is a better system design.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6: The layered architecture</a:t>
            </a:r>
          </a:p>
          <a:p>
            <a:r>
              <a:t>Explain that squad is layered by design.</a:t>
            </a:r>
          </a:p>
          <a:p>
            <a:r>
              <a:t>Skills capture durable knowledge, agents own execution, prompts structure tasks, chatmodes define user journeys, and orchestration governs routing and validation.</a:t>
            </a:r>
          </a:p>
          <a:p>
            <a:r>
              <a:t>Architects should see this as a composable platform, not a pile of prompts.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7: Meet the crew</a:t>
            </a:r>
          </a:p>
          <a:p>
            <a:r>
              <a:t>This slide makes the operating model human and memorable.</a:t>
            </a:r>
          </a:p>
          <a:p>
            <a:r>
              <a:t>Each agent owns one domain, which reduces role confusion and prevents one prompt from acting like a god-object.</a:t>
            </a:r>
          </a:p>
          <a:p>
            <a:r>
              <a:t>Use the aliases to keep the deck sticky, but anchor the value in functional ownership.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8: Skills composition</a:t>
            </a:r>
          </a:p>
          <a:p>
            <a:r>
              <a:t>Make the reuse story concrete.</a:t>
            </a:r>
          </a:p>
          <a:p>
            <a:r>
              <a:t>Skills are the Lego bricks. Prompts are the assembly instructions. Agents are the specialists who execute the work.</a:t>
            </a:r>
          </a:p>
          <a:p>
            <a:r>
              <a:t>That means the team can change one skill once and improve every workflow that references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9: Orchestration flow</a:t>
            </a:r>
          </a:p>
          <a:p>
            <a:r>
              <a:t>This is the runtime picture.</a:t>
            </a:r>
          </a:p>
          <a:p>
            <a:r>
              <a:t>The user chooses the journey, the orchestrator selects the right prompt, the prompt loads reusable skills, the right agent executes, hooks validate, and then work hands off to the next specialist.</a:t>
            </a:r>
          </a:p>
          <a:p>
            <a:r>
              <a:t>The feedback loop matters because failures do not disappear; they route back into the system.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10: Use-case map</a:t>
            </a:r>
          </a:p>
          <a:p>
            <a:r>
              <a:t>Show that one architecture can cover very different migration targets without collapsing into a generic blob.</a:t>
            </a:r>
          </a:p>
          <a:p>
            <a:r>
              <a:t>The playbook is shared, but the active crew shifts by stack and risk profile.</a:t>
            </a:r>
          </a:p>
          <a:p>
            <a:r>
              <a:t>That is exactly why orchestration is superior to one mega-prompt.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11: Quality gates</a:t>
            </a:r>
          </a:p>
          <a:p>
            <a:r>
              <a:t>This is where architects should lean in.</a:t>
            </a:r>
          </a:p>
          <a:p>
            <a:r>
              <a:t>Monolithic prompting tends to rely on best effort. Squad introduces explicit gates before, during, and after migration.</a:t>
            </a:r>
          </a:p>
          <a:p>
            <a:r>
              <a:t>That means quality is built into the workflow instead of being checked at the end when it is expensive.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12: Metrics</a:t>
            </a:r>
          </a:p>
          <a:p>
            <a:r>
              <a:t>These are architecture metrics, not vanity metrics.</a:t>
            </a:r>
          </a:p>
          <a:p>
            <a:r>
              <a:t>Every number represents a unit of modularity and control: more agents, more skills, more task-specific prompts, more user journeys.</a:t>
            </a:r>
          </a:p>
          <a:p>
            <a:r>
              <a:t>The result is a system that can be versioned, tested, and assigned like real engineering work.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13: Why architects should care</a:t>
            </a:r>
          </a:p>
          <a:p>
            <a:r>
              <a:t>Summarize the architectural payoff.</a:t>
            </a:r>
          </a:p>
          <a:p>
            <a:r>
              <a:t>Squad respects separation of concerns, enables composition, and creates a governance trail.</a:t>
            </a:r>
          </a:p>
          <a:p>
            <a:r>
              <a:t>That is the language architects need: cleaner boundaries, reusable building blocks, and auditable execution.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14: Interactive Interview</a:t>
            </a:r>
          </a:p>
          <a:p>
            <a:r>
              <a:t>This is the breakthrough UX improvement. Instead of copying hardcoded prompt files, the user types one natural language request.</a:t>
            </a:r>
          </a:p>
          <a:p>
            <a:r>
              <a:t>The squad interviews them, scans the codebase, and generates a tailored migration plan with phases.</a:t>
            </a:r>
          </a:p>
          <a:p>
            <a:r>
              <a:t>The user navigates phases by saying 'show phase 2' or 'run all, fan out'. No chatmode switching, no manual prompt editing.</a:t>
            </a:r>
          </a:p>
          <a:p>
            <a:r>
              <a:t>This makes the system accessible to teams who have never used the squad before.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15: Team onboarding</a:t>
            </a:r>
          </a:p>
          <a:p>
            <a:r>
              <a:t>This is the slide to share with your team. Every row is a copy-paste prompt they can use immediately.</a:t>
            </a:r>
          </a:p>
          <a:p>
            <a:r>
              <a:t>No training required. No documentation to read first. Just paste into Copilot CLI and the squad handles routing.</a:t>
            </a:r>
          </a:p>
          <a:p>
            <a:r>
              <a:t>Point them to docs/team-onboarding-prompts.md for the full list organized by category.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16: Getting started</a:t>
            </a:r>
          </a:p>
          <a:p>
            <a:r>
              <a:t>End with an implementation path, not just theory.</a:t>
            </a:r>
          </a:p>
          <a:p>
            <a:r>
              <a:t>The key change: users start with the CLI and the interactive interview, not by editing config files.</a:t>
            </a:r>
          </a:p>
          <a:p>
            <a:r>
              <a:t>Clone, launch CLI, type one prompt, and the squad takes over. That is the onboarding story.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17: Closing</a:t>
            </a:r>
          </a:p>
          <a:p>
            <a:r>
              <a:t>Land the message with a call to action.</a:t>
            </a:r>
          </a:p>
          <a:p>
            <a:r>
              <a:t>The shift is from isolated prompting to orchestrated delivery.</a:t>
            </a:r>
          </a:p>
          <a:p>
            <a:r>
              <a:t>Close by reinforcing that architects should design AI systems the same way they design software systems: modular, governed, reusable, and scalable.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 Id="rId3" Type="http://schemas.openxmlformats.org/officeDocument/2006/relationships/image" Target="../media/image4.png"/><Relationship Id="rId4" Type="http://schemas.microsoft.com/office/2007/relationships/hdphoto" Target="../media/hdphoto1.wdp"/></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 Id="rId3"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 Id="rId3"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 Id="rId3"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 Id="rId3" Type="http://schemas.openxmlformats.org/officeDocument/2006/relationships/image" Target="../media/image8.emf"/><Relationship Id="rId4"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 Id="rId3"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3.xml"/><Relationship Id="rId3" Type="http://schemas.openxmlformats.org/officeDocument/2006/relationships/image" Target="../media/image6.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Title Slide blue gradient">
    <p:bg>
      <p:bgPr>
        <a:gradFill>
          <a:gsLst>
            <a:gs pos="0">
              <a:schemeClr val="accent4"/>
            </a:gs>
            <a:gs pos="68000">
              <a:schemeClr val="accent2"/>
            </a:gs>
          </a:gsLst>
          <a:path path="circle">
            <a:fillToRect l="100000" t="100000"/>
          </a:path>
        </a:gra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chemeClr val="bg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 text</a:t>
            </a:r>
          </a:p>
        </p:txBody>
      </p:sp>
      <p:pic>
        <p:nvPicPr>
          <p:cNvPr id="8" name="MS logo white - EMF" descr="Microsoft logo white text version">
            <a:extLst>
              <a:ext uri="{FF2B5EF4-FFF2-40B4-BE49-F238E27FC236}">
                <a16:creationId xmlns:a16="http://schemas.microsoft.com/office/drawing/2014/main" id="{B07EA41A-052C-9A8D-BC7D-FCDF9A324B66}"/>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
        <p:nvSpPr>
          <p:cNvPr id="2" name="Rectangle 1">
            <a:extLst>
              <a:ext uri="{FF2B5EF4-FFF2-40B4-BE49-F238E27FC236}">
                <a16:creationId xmlns:a16="http://schemas.microsoft.com/office/drawing/2014/main" id="{F3817E97-DBEB-FDDB-1B4E-61CD77C94EAF}"/>
              </a:ext>
            </a:extLst>
          </p:cNvPr>
          <p:cNvSpPr/>
          <p:nvPr userDrawn="1"/>
        </p:nvSpPr>
        <p:spPr>
          <a:xfrm>
            <a:off x="584200" y="6496253"/>
            <a:ext cx="2727670" cy="200055"/>
          </a:xfrm>
          <a:prstGeom prst="rect">
            <a:avLst/>
          </a:prstGeom>
        </p:spPr>
        <p:txBody>
          <a:bodyPr wrap="none" lIns="0">
            <a:spAutoFit/>
          </a:bodyPr>
          <a:lstStyle/>
          <a:p>
            <a:r>
              <a:rPr lang="en-US" sz="700" b="0" i="0" spc="80" baseline="0">
                <a:solidFill>
                  <a:schemeClr val="bg1"/>
                </a:solidFill>
                <a:latin typeface="+mn-lt"/>
              </a:rPr>
              <a:t>MICROSOFT CONFIDENTIAL. FOR INTERNAL USE ONLY</a:t>
            </a:r>
          </a:p>
        </p:txBody>
      </p:sp>
      <p:pic>
        <p:nvPicPr>
          <p:cNvPr id="3" name="Picture 2" descr="Grey dots in a spiral">
            <a:extLst>
              <a:ext uri="{FF2B5EF4-FFF2-40B4-BE49-F238E27FC236}">
                <a16:creationId xmlns:a16="http://schemas.microsoft.com/office/drawing/2014/main" id="{69B9EDB1-0B22-7101-DC5D-3EBD7B31689E}"/>
              </a:ext>
              <a:ext uri="{C183D7F6-B498-43B3-948B-1728B52AA6E4}">
                <adec:decorative xmlns:adec="http://schemas.microsoft.com/office/drawing/2017/decorative" val="0"/>
              </a:ext>
            </a:extLst>
          </p:cNvPr>
          <p:cNvPicPr>
            <a:picLocks noChangeAspect="1"/>
          </p:cNvPicPr>
          <p:nvPr userDrawn="1"/>
        </p:nvPicPr>
        <p:blipFill>
          <a:blip r:embed="rId3" cstate="print">
            <a:duotone>
              <a:schemeClr val="bg2">
                <a:shade val="45000"/>
                <a:satMod val="135000"/>
              </a:schemeClr>
              <a:prstClr val="white"/>
            </a:duotone>
            <a:extLst>
              <a:ext uri="{BEBA8EAE-BF5A-486C-A8C5-ECC9F3942E4B}">
                <a14:imgProps xmlns:a14="http://schemas.microsoft.com/office/drawing/2010/main">
                  <a14:imgLayer r:embed="rId4">
                    <a14:imgEffect>
                      <a14:colorTemperature colorTemp="5300"/>
                    </a14:imgEffect>
                    <a14:imgEffect>
                      <a14:saturation sat="0"/>
                    </a14:imgEffect>
                    <a14:imgEffect>
                      <a14:brightnessContrast bright="3000" contrast="-12000"/>
                    </a14:imgEffect>
                  </a14:imgLayer>
                </a14:imgProps>
              </a:ext>
              <a:ext uri="{28A0092B-C50C-407E-A947-70E740481C1C}">
                <a14:useLocalDpi xmlns:a14="http://schemas.microsoft.com/office/drawing/2010/main" val="0"/>
              </a:ext>
            </a:extLst>
          </a:blip>
          <a:srcRect l="4435"/>
          <a:stretch>
            <a:fillRect/>
          </a:stretch>
        </p:blipFill>
        <p:spPr>
          <a:xfrm rot="17129996">
            <a:off x="5184478" y="-817591"/>
            <a:ext cx="9805678" cy="8054623"/>
          </a:xfrm>
          <a:custGeom>
            <a:avLst/>
            <a:gdLst>
              <a:gd name="connsiteX0" fmla="*/ 9805678 w 9805678"/>
              <a:gd name="connsiteY0" fmla="*/ 1 h 8054623"/>
              <a:gd name="connsiteX1" fmla="*/ 9805678 w 9805678"/>
              <a:gd name="connsiteY1" fmla="*/ 8054623 h 8054623"/>
              <a:gd name="connsiteX2" fmla="*/ 9350567 w 9805678"/>
              <a:gd name="connsiteY2" fmla="*/ 8054622 h 8054623"/>
              <a:gd name="connsiteX3" fmla="*/ 8558274 w 9805678"/>
              <a:gd name="connsiteY3" fmla="*/ 5197692 h 8054623"/>
              <a:gd name="connsiteX4" fmla="*/ 1949695 w 9805678"/>
              <a:gd name="connsiteY4" fmla="*/ 7030405 h 8054623"/>
              <a:gd name="connsiteX5" fmla="*/ 0 w 9805678"/>
              <a:gd name="connsiteY5" fmla="*/ 0 h 8054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805678" h="8054623">
                <a:moveTo>
                  <a:pt x="9805678" y="1"/>
                </a:moveTo>
                <a:lnTo>
                  <a:pt x="9805678" y="8054623"/>
                </a:lnTo>
                <a:lnTo>
                  <a:pt x="9350567" y="8054622"/>
                </a:lnTo>
                <a:lnTo>
                  <a:pt x="8558274" y="5197692"/>
                </a:lnTo>
                <a:lnTo>
                  <a:pt x="1949695" y="7030405"/>
                </a:lnTo>
                <a:lnTo>
                  <a:pt x="0" y="0"/>
                </a:lnTo>
                <a:close/>
              </a:path>
            </a:pathLst>
          </a:custGeom>
        </p:spPr>
      </p:pic>
    </p:spTree>
    <p:extLst>
      <p:ext uri="{BB962C8B-B14F-4D97-AF65-F5344CB8AC3E}">
        <p14:creationId xmlns:p14="http://schemas.microsoft.com/office/powerpoint/2010/main" val="12043495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Agenda_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754DF-CB0E-46F9-AA3C-00BC673EBDF3}"/>
              </a:ext>
            </a:extLst>
          </p:cNvPr>
          <p:cNvSpPr>
            <a:spLocks noGrp="1"/>
          </p:cNvSpPr>
          <p:nvPr>
            <p:ph type="title" hasCustomPrompt="1"/>
          </p:nvPr>
        </p:nvSpPr>
        <p:spPr>
          <a:xfrm>
            <a:off x="588263" y="457200"/>
            <a:ext cx="11018520" cy="553998"/>
          </a:xfrm>
        </p:spPr>
        <p:txBody>
          <a:bodyPr/>
          <a:lstStyle>
            <a:lvl1pPr>
              <a:defRPr sz="3600">
                <a:solidFill>
                  <a:schemeClr val="tx1"/>
                </a:solidFill>
              </a:defRPr>
            </a:lvl1pPr>
          </a:lstStyle>
          <a:p>
            <a:r>
              <a:rPr lang="en-US"/>
              <a:t>Agenda</a:t>
            </a:r>
          </a:p>
        </p:txBody>
      </p:sp>
      <p:cxnSp>
        <p:nvCxnSpPr>
          <p:cNvPr id="9" name="Straight Connector 8">
            <a:extLst>
              <a:ext uri="{FF2B5EF4-FFF2-40B4-BE49-F238E27FC236}">
                <a16:creationId xmlns:a16="http://schemas.microsoft.com/office/drawing/2014/main" id="{2AF0C0C6-8E74-F1C6-CB02-B90E834ABF03}"/>
              </a:ext>
              <a:ext uri="{C183D7F6-B498-43B3-948B-1728B52AA6E4}">
                <adec:decorative xmlns:adec="http://schemas.microsoft.com/office/drawing/2017/decorative" val="1"/>
              </a:ext>
            </a:extLst>
          </p:cNvPr>
          <p:cNvCxnSpPr>
            <a:cxnSpLocks/>
          </p:cNvCxnSpPr>
          <p:nvPr userDrawn="1"/>
        </p:nvCxnSpPr>
        <p:spPr>
          <a:xfrm flipH="1">
            <a:off x="1433554" y="1734160"/>
            <a:ext cx="8825" cy="4367213"/>
          </a:xfrm>
          <a:prstGeom prst="line">
            <a:avLst/>
          </a:prstGeom>
          <a:ln w="12700" cap="rnd">
            <a:gradFill>
              <a:gsLst>
                <a:gs pos="0">
                  <a:schemeClr val="accent3"/>
                </a:gs>
                <a:gs pos="100000">
                  <a:schemeClr val="accent1"/>
                </a:gs>
              </a:gsLst>
              <a:lin ang="5400000" scaled="1"/>
            </a:gra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 name="Text Placeholder 10">
            <a:extLst>
              <a:ext uri="{FF2B5EF4-FFF2-40B4-BE49-F238E27FC236}">
                <a16:creationId xmlns:a16="http://schemas.microsoft.com/office/drawing/2014/main" id="{276A6B21-0BB3-8590-D0F6-797F169E1857}"/>
              </a:ext>
            </a:extLst>
          </p:cNvPr>
          <p:cNvSpPr>
            <a:spLocks noGrp="1"/>
          </p:cNvSpPr>
          <p:nvPr>
            <p:ph type="body" sz="quarter" idx="10" hasCustomPrompt="1"/>
          </p:nvPr>
        </p:nvSpPr>
        <p:spPr>
          <a:xfrm>
            <a:off x="588263" y="1947764"/>
            <a:ext cx="480733" cy="492443"/>
          </a:xfrm>
        </p:spPr>
        <p:txBody>
          <a:bodyPr/>
          <a:lstStyle>
            <a:lvl1pPr marL="0" indent="0">
              <a:buNone/>
              <a:defRPr lang="en-US" sz="3200" b="1" kern="1200" dirty="0">
                <a:gradFill>
                  <a:gsLst>
                    <a:gs pos="11000">
                      <a:schemeClr val="accent3"/>
                    </a:gs>
                    <a:gs pos="100000">
                      <a:schemeClr val="accent1"/>
                    </a:gs>
                  </a:gsLst>
                  <a:path path="circle">
                    <a:fillToRect r="100000" b="100000"/>
                  </a:path>
                </a:gradFill>
                <a:latin typeface="+mn-lt"/>
                <a:ea typeface="+mn-ea"/>
                <a:cs typeface="+mn-cs"/>
              </a:defRPr>
            </a:lvl1pPr>
          </a:lstStyle>
          <a:p>
            <a:pPr lvl="0"/>
            <a:r>
              <a:rPr lang="en-US"/>
              <a:t>01</a:t>
            </a:r>
          </a:p>
        </p:txBody>
      </p:sp>
      <p:sp>
        <p:nvSpPr>
          <p:cNvPr id="22" name="Text Placeholder 21">
            <a:extLst>
              <a:ext uri="{FF2B5EF4-FFF2-40B4-BE49-F238E27FC236}">
                <a16:creationId xmlns:a16="http://schemas.microsoft.com/office/drawing/2014/main" id="{C1770E4A-D94C-1440-96DB-11ED8235076D}"/>
              </a:ext>
            </a:extLst>
          </p:cNvPr>
          <p:cNvSpPr>
            <a:spLocks noGrp="1"/>
          </p:cNvSpPr>
          <p:nvPr>
            <p:ph type="body" sz="quarter" idx="14"/>
          </p:nvPr>
        </p:nvSpPr>
        <p:spPr>
          <a:xfrm>
            <a:off x="1806938" y="1947764"/>
            <a:ext cx="9813562" cy="492443"/>
          </a:xfrm>
        </p:spPr>
        <p:txBody>
          <a:bodyPr>
            <a:noAutofit/>
          </a:bodyPr>
          <a:lstStyle>
            <a:lvl1pPr marL="0" indent="0">
              <a:buNone/>
              <a:defRPr lang="en-US" sz="1600" dirty="0" smtClean="0">
                <a:solidFill>
                  <a:schemeClr val="tx1"/>
                </a:solidFill>
                <a:latin typeface="+mn-lt"/>
              </a:defRPr>
            </a:lvl1pPr>
            <a:lvl2pPr marL="228556" indent="0">
              <a:buNone/>
              <a:defRPr lang="en-US" sz="1600" dirty="0">
                <a:solidFill>
                  <a:schemeClr val="tx1"/>
                </a:solidFill>
                <a:latin typeface="+mn-lt"/>
              </a:defRPr>
            </a:lvl2pPr>
          </a:lstStyle>
          <a:p>
            <a:pPr lvl="0"/>
            <a:r>
              <a:rPr lang="en-US"/>
              <a:t>Click to edit Master text styles</a:t>
            </a:r>
          </a:p>
          <a:p>
            <a:pPr lvl="1"/>
            <a:r>
              <a:rPr lang="en-US"/>
              <a:t>Second level</a:t>
            </a:r>
          </a:p>
        </p:txBody>
      </p:sp>
      <p:sp>
        <p:nvSpPr>
          <p:cNvPr id="40" name="Text Placeholder 39">
            <a:extLst>
              <a:ext uri="{FF2B5EF4-FFF2-40B4-BE49-F238E27FC236}">
                <a16:creationId xmlns:a16="http://schemas.microsoft.com/office/drawing/2014/main" id="{93773F22-97EC-FB3E-4D5B-9A9A1ED5EE89}"/>
              </a:ext>
            </a:extLst>
          </p:cNvPr>
          <p:cNvSpPr>
            <a:spLocks noGrp="1"/>
          </p:cNvSpPr>
          <p:nvPr>
            <p:ph type="body" sz="quarter" idx="25" hasCustomPrompt="1"/>
          </p:nvPr>
        </p:nvSpPr>
        <p:spPr>
          <a:xfrm>
            <a:off x="588263" y="3096951"/>
            <a:ext cx="480733" cy="492443"/>
          </a:xfrm>
        </p:spPr>
        <p:txBody>
          <a:bodyPr/>
          <a:lstStyle>
            <a:lvl1pPr marL="0" indent="0">
              <a:buNone/>
              <a:defRPr lang="en-US" sz="3200" b="1" kern="1200" spc="0" baseline="0" dirty="0">
                <a:gradFill>
                  <a:gsLst>
                    <a:gs pos="11000">
                      <a:schemeClr val="accent3"/>
                    </a:gs>
                    <a:gs pos="100000">
                      <a:schemeClr val="accent1"/>
                    </a:gs>
                  </a:gsLst>
                  <a:path path="circle">
                    <a:fillToRect r="100000" b="100000"/>
                  </a:path>
                </a:gradFill>
                <a:latin typeface="+mn-lt"/>
                <a:ea typeface="+mn-ea"/>
                <a:cs typeface="+mn-cs"/>
              </a:defRPr>
            </a:lvl1pPr>
          </a:lstStyle>
          <a:p>
            <a:pPr lvl="0"/>
            <a:r>
              <a:rPr lang="en-US"/>
              <a:t>02</a:t>
            </a:r>
          </a:p>
        </p:txBody>
      </p:sp>
      <p:sp>
        <p:nvSpPr>
          <p:cNvPr id="5" name="Text Placeholder 21">
            <a:extLst>
              <a:ext uri="{FF2B5EF4-FFF2-40B4-BE49-F238E27FC236}">
                <a16:creationId xmlns:a16="http://schemas.microsoft.com/office/drawing/2014/main" id="{918F8579-3664-D735-7F75-FD9D1C7D64CC}"/>
              </a:ext>
            </a:extLst>
          </p:cNvPr>
          <p:cNvSpPr>
            <a:spLocks noGrp="1"/>
          </p:cNvSpPr>
          <p:nvPr>
            <p:ph type="body" sz="quarter" idx="26"/>
          </p:nvPr>
        </p:nvSpPr>
        <p:spPr>
          <a:xfrm>
            <a:off x="1806938" y="3096951"/>
            <a:ext cx="9813562" cy="492443"/>
          </a:xfrm>
        </p:spPr>
        <p:txBody>
          <a:bodyPr>
            <a:noAutofit/>
          </a:bodyPr>
          <a:lstStyle>
            <a:lvl1pPr marL="0" indent="0">
              <a:buNone/>
              <a:defRPr lang="en-US" sz="1600" dirty="0" smtClean="0">
                <a:solidFill>
                  <a:schemeClr val="tx1"/>
                </a:solidFill>
                <a:latin typeface="+mn-lt"/>
              </a:defRPr>
            </a:lvl1pPr>
            <a:lvl2pPr marL="228556" indent="0">
              <a:buNone/>
              <a:defRPr lang="en-US" sz="1600" dirty="0">
                <a:solidFill>
                  <a:schemeClr val="tx1"/>
                </a:solidFill>
                <a:latin typeface="+mn-lt"/>
              </a:defRPr>
            </a:lvl2pPr>
          </a:lstStyle>
          <a:p>
            <a:pPr lvl="0"/>
            <a:r>
              <a:rPr lang="en-US"/>
              <a:t>Click to edit Master text styles</a:t>
            </a:r>
          </a:p>
          <a:p>
            <a:pPr lvl="1"/>
            <a:r>
              <a:rPr lang="en-US"/>
              <a:t>Second level</a:t>
            </a:r>
          </a:p>
        </p:txBody>
      </p:sp>
      <p:sp>
        <p:nvSpPr>
          <p:cNvPr id="36" name="Text Placeholder 35">
            <a:extLst>
              <a:ext uri="{FF2B5EF4-FFF2-40B4-BE49-F238E27FC236}">
                <a16:creationId xmlns:a16="http://schemas.microsoft.com/office/drawing/2014/main" id="{BD37564D-5CD2-62A4-1803-B42D963333A8}"/>
              </a:ext>
            </a:extLst>
          </p:cNvPr>
          <p:cNvSpPr>
            <a:spLocks noGrp="1"/>
          </p:cNvSpPr>
          <p:nvPr>
            <p:ph type="body" sz="quarter" idx="23" hasCustomPrompt="1"/>
          </p:nvPr>
        </p:nvSpPr>
        <p:spPr>
          <a:xfrm>
            <a:off x="588263" y="4246138"/>
            <a:ext cx="480733" cy="492443"/>
          </a:xfrm>
        </p:spPr>
        <p:txBody>
          <a:bodyPr/>
          <a:lstStyle>
            <a:lvl1pPr marL="0" indent="0">
              <a:buNone/>
              <a:defRPr lang="en-US" sz="3200" b="1" kern="1200" spc="0" baseline="0" dirty="0">
                <a:gradFill>
                  <a:gsLst>
                    <a:gs pos="11000">
                      <a:schemeClr val="accent3"/>
                    </a:gs>
                    <a:gs pos="100000">
                      <a:schemeClr val="accent1"/>
                    </a:gs>
                  </a:gsLst>
                  <a:path path="circle">
                    <a:fillToRect r="100000" b="100000"/>
                  </a:path>
                </a:gradFill>
                <a:latin typeface="+mn-lt"/>
                <a:ea typeface="+mn-ea"/>
                <a:cs typeface="+mn-cs"/>
              </a:defRPr>
            </a:lvl1pPr>
          </a:lstStyle>
          <a:p>
            <a:pPr lvl="0"/>
            <a:r>
              <a:rPr lang="en-US"/>
              <a:t>03</a:t>
            </a:r>
          </a:p>
        </p:txBody>
      </p:sp>
      <p:sp>
        <p:nvSpPr>
          <p:cNvPr id="7" name="Text Placeholder 21">
            <a:extLst>
              <a:ext uri="{FF2B5EF4-FFF2-40B4-BE49-F238E27FC236}">
                <a16:creationId xmlns:a16="http://schemas.microsoft.com/office/drawing/2014/main" id="{04ECCB71-C833-E3E7-D4C2-2794E3F2F2DB}"/>
              </a:ext>
            </a:extLst>
          </p:cNvPr>
          <p:cNvSpPr>
            <a:spLocks noGrp="1"/>
          </p:cNvSpPr>
          <p:nvPr>
            <p:ph type="body" sz="quarter" idx="27"/>
          </p:nvPr>
        </p:nvSpPr>
        <p:spPr>
          <a:xfrm>
            <a:off x="1806938" y="4246138"/>
            <a:ext cx="9813562" cy="492443"/>
          </a:xfrm>
        </p:spPr>
        <p:txBody>
          <a:bodyPr>
            <a:noAutofit/>
          </a:bodyPr>
          <a:lstStyle>
            <a:lvl1pPr marL="0" indent="0">
              <a:buNone/>
              <a:defRPr lang="en-US" sz="1600" dirty="0" smtClean="0">
                <a:solidFill>
                  <a:schemeClr val="tx1"/>
                </a:solidFill>
                <a:latin typeface="+mn-lt"/>
              </a:defRPr>
            </a:lvl1pPr>
            <a:lvl2pPr marL="228556" indent="0">
              <a:buNone/>
              <a:defRPr lang="en-US" sz="1600" dirty="0">
                <a:solidFill>
                  <a:schemeClr val="tx1"/>
                </a:solidFill>
                <a:latin typeface="+mn-lt"/>
              </a:defRPr>
            </a:lvl2pPr>
          </a:lstStyle>
          <a:p>
            <a:pPr lvl="0"/>
            <a:r>
              <a:rPr lang="en-US"/>
              <a:t>Click to edit Master text styles</a:t>
            </a:r>
          </a:p>
          <a:p>
            <a:pPr lvl="1"/>
            <a:r>
              <a:rPr lang="en-US"/>
              <a:t>Second level</a:t>
            </a:r>
          </a:p>
        </p:txBody>
      </p:sp>
      <p:sp>
        <p:nvSpPr>
          <p:cNvPr id="38" name="Text Placeholder 37">
            <a:extLst>
              <a:ext uri="{FF2B5EF4-FFF2-40B4-BE49-F238E27FC236}">
                <a16:creationId xmlns:a16="http://schemas.microsoft.com/office/drawing/2014/main" id="{C13684C1-E303-03EA-424F-F44C5796D988}"/>
              </a:ext>
            </a:extLst>
          </p:cNvPr>
          <p:cNvSpPr>
            <a:spLocks noGrp="1"/>
          </p:cNvSpPr>
          <p:nvPr>
            <p:ph type="body" sz="quarter" idx="24" hasCustomPrompt="1"/>
          </p:nvPr>
        </p:nvSpPr>
        <p:spPr>
          <a:xfrm>
            <a:off x="588263" y="5395325"/>
            <a:ext cx="480733" cy="492443"/>
          </a:xfrm>
        </p:spPr>
        <p:txBody>
          <a:bodyPr/>
          <a:lstStyle>
            <a:lvl1pPr marL="0" indent="0">
              <a:buNone/>
              <a:defRPr lang="en-US" sz="3200" b="1" kern="1200" spc="0" baseline="0" dirty="0">
                <a:gradFill>
                  <a:gsLst>
                    <a:gs pos="11000">
                      <a:schemeClr val="accent3"/>
                    </a:gs>
                    <a:gs pos="100000">
                      <a:schemeClr val="accent1"/>
                    </a:gs>
                  </a:gsLst>
                  <a:path path="circle">
                    <a:fillToRect r="100000" b="100000"/>
                  </a:path>
                </a:gradFill>
                <a:latin typeface="+mn-lt"/>
                <a:ea typeface="+mn-ea"/>
                <a:cs typeface="+mn-cs"/>
              </a:defRPr>
            </a:lvl1pPr>
          </a:lstStyle>
          <a:p>
            <a:pPr lvl="0"/>
            <a:r>
              <a:rPr lang="en-US"/>
              <a:t>04</a:t>
            </a:r>
          </a:p>
        </p:txBody>
      </p:sp>
      <p:sp>
        <p:nvSpPr>
          <p:cNvPr id="10" name="Text Placeholder 21">
            <a:extLst>
              <a:ext uri="{FF2B5EF4-FFF2-40B4-BE49-F238E27FC236}">
                <a16:creationId xmlns:a16="http://schemas.microsoft.com/office/drawing/2014/main" id="{82B21244-77F4-25F3-DAEE-DD3164EE2CDD}"/>
              </a:ext>
            </a:extLst>
          </p:cNvPr>
          <p:cNvSpPr>
            <a:spLocks noGrp="1"/>
          </p:cNvSpPr>
          <p:nvPr>
            <p:ph type="body" sz="quarter" idx="28"/>
          </p:nvPr>
        </p:nvSpPr>
        <p:spPr>
          <a:xfrm>
            <a:off x="1806938" y="5395325"/>
            <a:ext cx="9813562" cy="492443"/>
          </a:xfrm>
        </p:spPr>
        <p:txBody>
          <a:bodyPr>
            <a:noAutofit/>
          </a:bodyPr>
          <a:lstStyle>
            <a:lvl1pPr marL="0" indent="0">
              <a:buNone/>
              <a:defRPr lang="en-US" sz="1600" dirty="0" smtClean="0">
                <a:solidFill>
                  <a:schemeClr val="tx1"/>
                </a:solidFill>
                <a:latin typeface="+mn-lt"/>
              </a:defRPr>
            </a:lvl1pPr>
            <a:lvl2pPr marL="228556" indent="0">
              <a:buNone/>
              <a:defRPr lang="en-US" sz="1600" dirty="0">
                <a:solidFill>
                  <a:schemeClr val="tx1"/>
                </a:solidFill>
                <a:latin typeface="+mn-lt"/>
              </a:defRPr>
            </a:lvl2pPr>
          </a:lstStyle>
          <a:p>
            <a:pPr lvl="0"/>
            <a:r>
              <a:rPr lang="en-US"/>
              <a:t>Click to edit Master text styles</a:t>
            </a:r>
          </a:p>
          <a:p>
            <a:pPr lvl="1"/>
            <a:r>
              <a:rPr lang="en-US"/>
              <a:t>Second level</a:t>
            </a:r>
          </a:p>
        </p:txBody>
      </p:sp>
      <p:pic>
        <p:nvPicPr>
          <p:cNvPr id="6" name="Picture 5" descr="Colorful blue and orange dots in a spiral">
            <a:extLst>
              <a:ext uri="{FF2B5EF4-FFF2-40B4-BE49-F238E27FC236}">
                <a16:creationId xmlns:a16="http://schemas.microsoft.com/office/drawing/2014/main" id="{11D5C2FF-9643-2529-88FD-6CE111F87329}"/>
              </a:ext>
              <a:ext uri="{C183D7F6-B498-43B3-948B-1728B52AA6E4}">
                <adec:decorative xmlns:adec="http://schemas.microsoft.com/office/drawing/2017/decorative" val="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16871" t="11117" r="16871"/>
          <a:stretch/>
        </p:blipFill>
        <p:spPr>
          <a:xfrm rot="18368998">
            <a:off x="11067826" y="-163464"/>
            <a:ext cx="1453231" cy="1530253"/>
          </a:xfrm>
          <a:custGeom>
            <a:avLst/>
            <a:gdLst>
              <a:gd name="connsiteX0" fmla="*/ 1453231 w 1453231"/>
              <a:gd name="connsiteY0" fmla="*/ 0 h 1530253"/>
              <a:gd name="connsiteX1" fmla="*/ 1453231 w 1453231"/>
              <a:gd name="connsiteY1" fmla="*/ 726645 h 1530253"/>
              <a:gd name="connsiteX2" fmla="*/ 353226 w 1453231"/>
              <a:gd name="connsiteY2" fmla="*/ 1530253 h 1530253"/>
              <a:gd name="connsiteX3" fmla="*/ 0 w 1453231"/>
              <a:gd name="connsiteY3" fmla="*/ 1530253 h 1530253"/>
              <a:gd name="connsiteX4" fmla="*/ 0 w 1453231"/>
              <a:gd name="connsiteY4" fmla="*/ 0 h 1530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3231" h="1530253">
                <a:moveTo>
                  <a:pt x="1453231" y="0"/>
                </a:moveTo>
                <a:lnTo>
                  <a:pt x="1453231" y="726645"/>
                </a:lnTo>
                <a:lnTo>
                  <a:pt x="353226" y="1530253"/>
                </a:lnTo>
                <a:lnTo>
                  <a:pt x="0" y="1530253"/>
                </a:lnTo>
                <a:lnTo>
                  <a:pt x="0" y="0"/>
                </a:lnTo>
                <a:close/>
              </a:path>
            </a:pathLst>
          </a:custGeom>
        </p:spPr>
      </p:pic>
    </p:spTree>
    <p:custDataLst>
      <p:tags r:id="rId1"/>
    </p:custDataLst>
    <p:extLst>
      <p:ext uri="{BB962C8B-B14F-4D97-AF65-F5344CB8AC3E}">
        <p14:creationId xmlns:p14="http://schemas.microsoft.com/office/powerpoint/2010/main" val="3673899805"/>
      </p:ext>
    </p:extLst>
  </p:cSld>
  <p:clrMapOvr>
    <a:masterClrMapping/>
  </p:clrMapOvr>
  <p:transition>
    <p:fade/>
  </p:transition>
  <p:extLst>
    <p:ext uri="{DCECCB84-F9BA-43D5-87BE-67443E8EF086}">
      <p15:sldGuideLst xmlns:p15="http://schemas.microsoft.com/office/powerpoint/2012/main">
        <p15:guide id="3" orient="horz" pos="900">
          <p15:clr>
            <a:srgbClr val="5ACBF0"/>
          </p15:clr>
        </p15:guide>
        <p15:guide id="4" orient="horz" pos="1276">
          <p15:clr>
            <a:srgbClr val="5ACBF0"/>
          </p15:clr>
        </p15:guide>
        <p15:guide id="5" orient="horz" pos="283">
          <p15:clr>
            <a:srgbClr val="5ACBF0"/>
          </p15:clr>
        </p15:guide>
        <p15:guide id="6" pos="3917">
          <p15:clr>
            <a:srgbClr val="FBAE40"/>
          </p15:clr>
        </p15:guide>
        <p15:guide id="7" orient="horz" pos="2203">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_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754DF-CB0E-46F9-AA3C-00BC673EBDF3}"/>
              </a:ext>
            </a:extLst>
          </p:cNvPr>
          <p:cNvSpPr>
            <a:spLocks noGrp="1"/>
          </p:cNvSpPr>
          <p:nvPr>
            <p:ph type="title" hasCustomPrompt="1"/>
          </p:nvPr>
        </p:nvSpPr>
        <p:spPr>
          <a:xfrm>
            <a:off x="588263" y="457200"/>
            <a:ext cx="9653392" cy="553998"/>
          </a:xfrm>
        </p:spPr>
        <p:txBody>
          <a:bodyPr/>
          <a:lstStyle>
            <a:lvl1pPr marL="0" algn="l" defTabSz="932384" rtl="0" eaLnBrk="1" latinLnBrk="0" hangingPunct="1">
              <a:lnSpc>
                <a:spcPct val="100000"/>
              </a:lnSpc>
              <a:spcBef>
                <a:spcPct val="0"/>
              </a:spcBef>
              <a:buNone/>
              <a:defRPr lang="en-US" sz="3600" b="0" kern="1200" cap="none" spc="-50" baseline="0" dirty="0">
                <a:ln w="3175">
                  <a:noFill/>
                </a:ln>
                <a:solidFill>
                  <a:schemeClr val="accent2">
                    <a:lumMod val="50000"/>
                  </a:schemeClr>
                </a:solidFill>
                <a:effectLst/>
                <a:latin typeface="+mj-lt"/>
                <a:ea typeface="+mn-ea"/>
                <a:cs typeface="Segoe UI" pitchFamily="34" charset="0"/>
              </a:defRPr>
            </a:lvl1pPr>
          </a:lstStyle>
          <a:p>
            <a:r>
              <a:rPr lang="en-US"/>
              <a:t>Title only</a:t>
            </a:r>
          </a:p>
        </p:txBody>
      </p:sp>
      <p:pic>
        <p:nvPicPr>
          <p:cNvPr id="13" name="Picture 12" descr="Grey dots in a decorative spiral">
            <a:extLst>
              <a:ext uri="{FF2B5EF4-FFF2-40B4-BE49-F238E27FC236}">
                <a16:creationId xmlns:a16="http://schemas.microsoft.com/office/drawing/2014/main" id="{129FA58B-F4C2-FEF2-22E5-FAC33CC0DA58}"/>
              </a:ext>
              <a:ext uri="{C183D7F6-B498-43B3-948B-1728B52AA6E4}">
                <adec:decorative xmlns:adec="http://schemas.microsoft.com/office/drawing/2017/decorative" val="0"/>
              </a:ext>
            </a:extLst>
          </p:cNvPr>
          <p:cNvPicPr>
            <a:picLocks noChangeAspect="1"/>
          </p:cNvPicPr>
          <p:nvPr userDrawn="1"/>
        </p:nvPicPr>
        <p:blipFill rotWithShape="1">
          <a:blip r:embed="rId3" cstate="print">
            <a:alphaModFix amt="48000"/>
            <a:grayscl/>
            <a:extLst>
              <a:ext uri="{28A0092B-C50C-407E-A947-70E740481C1C}">
                <a14:useLocalDpi xmlns:a14="http://schemas.microsoft.com/office/drawing/2010/main" val="0"/>
              </a:ext>
            </a:extLst>
          </a:blip>
          <a:srcRect l="27639" t="18675" r="11937" b="17894"/>
          <a:stretch/>
        </p:blipFill>
        <p:spPr>
          <a:xfrm flipH="1">
            <a:off x="10728642" y="0"/>
            <a:ext cx="1463358" cy="1206500"/>
          </a:xfrm>
          <a:custGeom>
            <a:avLst/>
            <a:gdLst>
              <a:gd name="connsiteX0" fmla="*/ 1684338 w 1684338"/>
              <a:gd name="connsiteY0" fmla="*/ 0 h 1562100"/>
              <a:gd name="connsiteX1" fmla="*/ 0 w 1684338"/>
              <a:gd name="connsiteY1" fmla="*/ 0 h 1562100"/>
              <a:gd name="connsiteX2" fmla="*/ 0 w 1684338"/>
              <a:gd name="connsiteY2" fmla="*/ 1562100 h 1562100"/>
              <a:gd name="connsiteX3" fmla="*/ 1684338 w 1684338"/>
              <a:gd name="connsiteY3" fmla="*/ 1562100 h 1562100"/>
            </a:gdLst>
            <a:ahLst/>
            <a:cxnLst>
              <a:cxn ang="0">
                <a:pos x="connsiteX0" y="connsiteY0"/>
              </a:cxn>
              <a:cxn ang="0">
                <a:pos x="connsiteX1" y="connsiteY1"/>
              </a:cxn>
              <a:cxn ang="0">
                <a:pos x="connsiteX2" y="connsiteY2"/>
              </a:cxn>
              <a:cxn ang="0">
                <a:pos x="connsiteX3" y="connsiteY3"/>
              </a:cxn>
            </a:cxnLst>
            <a:rect l="l" t="t" r="r" b="b"/>
            <a:pathLst>
              <a:path w="1684338" h="1562100">
                <a:moveTo>
                  <a:pt x="1684338" y="0"/>
                </a:moveTo>
                <a:lnTo>
                  <a:pt x="0" y="0"/>
                </a:lnTo>
                <a:lnTo>
                  <a:pt x="0" y="1562100"/>
                </a:lnTo>
                <a:lnTo>
                  <a:pt x="1684338" y="1562100"/>
                </a:lnTo>
                <a:close/>
              </a:path>
            </a:pathLst>
          </a:custGeom>
        </p:spPr>
      </p:pic>
    </p:spTree>
    <p:custDataLst>
      <p:tags r:id="rId1"/>
    </p:custDataLst>
    <p:extLst>
      <p:ext uri="{BB962C8B-B14F-4D97-AF65-F5344CB8AC3E}">
        <p14:creationId xmlns:p14="http://schemas.microsoft.com/office/powerpoint/2010/main" val="3661768528"/>
      </p:ext>
    </p:extLst>
  </p:cSld>
  <p:clrMapOvr>
    <a:masterClrMapping/>
  </p:clrMapOvr>
  <p:transition>
    <p:fade/>
  </p:transition>
  <p:extLst>
    <p:ext uri="{DCECCB84-F9BA-43D5-87BE-67443E8EF086}">
      <p15:sldGuideLst xmlns:p15="http://schemas.microsoft.com/office/powerpoint/2012/main">
        <p15:guide id="3" orient="horz" pos="900">
          <p15:clr>
            <a:srgbClr val="5ACBF0"/>
          </p15:clr>
        </p15:guide>
        <p15:guide id="4" orient="horz" pos="1272">
          <p15:clr>
            <a:srgbClr val="5ACBF0"/>
          </p15:clr>
        </p15:guide>
        <p15:guide id="5" orient="horz" pos="283">
          <p15:clr>
            <a:srgbClr val="5ACBF0"/>
          </p15:clr>
        </p15:guide>
        <p15:guide id="6" pos="3917">
          <p15:clr>
            <a:srgbClr val="FBAE40"/>
          </p15:clr>
        </p15:guide>
        <p15:guide id="7" orient="horz" pos="2203">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Divider with image 1">
    <p:bg>
      <p:bgPr>
        <a:solidFill>
          <a:schemeClr val="bg1"/>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26D04CCF-14FA-CEB5-E030-6D6A6B1637AF}"/>
              </a:ext>
            </a:extLst>
          </p:cNvPr>
          <p:cNvSpPr>
            <a:spLocks noGrp="1"/>
          </p:cNvSpPr>
          <p:nvPr>
            <p:ph type="title" hasCustomPrompt="1"/>
          </p:nvPr>
        </p:nvSpPr>
        <p:spPr>
          <a:xfrm>
            <a:off x="585216" y="3152001"/>
            <a:ext cx="4634484" cy="553998"/>
          </a:xfrm>
          <a:noFill/>
        </p:spPr>
        <p:txBody>
          <a:bodyPr wrap="square" lIns="0" tIns="0" rIns="0" bIns="0" anchor="b" anchorCtr="0">
            <a:spAutoFit/>
          </a:bodyPr>
          <a:lstStyle>
            <a:lvl1pPr marL="0" algn="l" defTabSz="932563" rtl="0" eaLnBrk="1" latinLnBrk="0" hangingPunct="1">
              <a:lnSpc>
                <a:spcPct val="10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Divider</a:t>
            </a:r>
          </a:p>
        </p:txBody>
      </p:sp>
      <p:pic>
        <p:nvPicPr>
          <p:cNvPr id="16" name="Picture 15" descr="A colorful dots in a spiral">
            <a:extLst>
              <a:ext uri="{FF2B5EF4-FFF2-40B4-BE49-F238E27FC236}">
                <a16:creationId xmlns:a16="http://schemas.microsoft.com/office/drawing/2014/main" id="{F74F4322-8497-A551-1633-B7D13287D757}"/>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l="22637" b="7924"/>
          <a:stretch>
            <a:fillRect/>
          </a:stretch>
        </p:blipFill>
        <p:spPr>
          <a:xfrm rot="240096" flipH="1">
            <a:off x="3825454" y="-881094"/>
            <a:ext cx="8615855" cy="8049533"/>
          </a:xfrm>
          <a:prstGeom prst="rect">
            <a:avLst/>
          </a:prstGeom>
        </p:spPr>
      </p:pic>
    </p:spTree>
    <p:custDataLst>
      <p:tags r:id="rId1"/>
    </p:custDataLst>
    <p:extLst>
      <p:ext uri="{BB962C8B-B14F-4D97-AF65-F5344CB8AC3E}">
        <p14:creationId xmlns:p14="http://schemas.microsoft.com/office/powerpoint/2010/main" val="131788203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hank You Slide 2">
    <p:bg>
      <p:bgPr>
        <a:solidFill>
          <a:srgbClr val="F7F7F7"/>
        </a:solidFill>
        <a:effectLst/>
      </p:bgPr>
    </p:bg>
    <p:spTree>
      <p:nvGrpSpPr>
        <p:cNvPr id="1" name=""/>
        <p:cNvGrpSpPr/>
        <p:nvPr/>
      </p:nvGrpSpPr>
      <p:grpSpPr>
        <a:xfrm>
          <a:off x="0" y="0"/>
          <a:ext cx="0" cy="0"/>
          <a:chOff x="0" y="0"/>
          <a:chExt cx="0" cy="0"/>
        </a:xfrm>
      </p:grpSpPr>
      <p:sp>
        <p:nvSpPr>
          <p:cNvPr id="265" name="Rectangle: Top Corners Rounded 264">
            <a:extLst>
              <a:ext uri="{FF2B5EF4-FFF2-40B4-BE49-F238E27FC236}">
                <a16:creationId xmlns:a16="http://schemas.microsoft.com/office/drawing/2014/main" id="{F115F110-E677-8F61-1011-C854F8F41079}"/>
              </a:ext>
              <a:ext uri="{C183D7F6-B498-43B3-948B-1728B52AA6E4}">
                <adec:decorative xmlns:adec="http://schemas.microsoft.com/office/drawing/2017/decorative" val="1"/>
              </a:ext>
            </a:extLst>
          </p:cNvPr>
          <p:cNvSpPr/>
          <p:nvPr userDrawn="1"/>
        </p:nvSpPr>
        <p:spPr bwMode="auto">
          <a:xfrm rot="16200000" flipH="1">
            <a:off x="5047344" y="-2667000"/>
            <a:ext cx="2097312" cy="12192001"/>
          </a:xfrm>
          <a:prstGeom prst="round2SameRect">
            <a:avLst>
              <a:gd name="adj1" fmla="val 0"/>
              <a:gd name="adj2" fmla="val 0"/>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000" err="1">
              <a:gradFill>
                <a:gsLst>
                  <a:gs pos="0">
                    <a:srgbClr val="FFFFFF"/>
                  </a:gs>
                  <a:gs pos="100000">
                    <a:srgbClr val="FFFFFF"/>
                  </a:gs>
                </a:gsLst>
                <a:lin ang="5400000" scaled="0"/>
              </a:gradFill>
              <a:ea typeface="Segoe UI" pitchFamily="34" charset="0"/>
              <a:cs typeface="Segoe UI" pitchFamily="34" charset="0"/>
            </a:endParaRPr>
          </a:p>
        </p:txBody>
      </p:sp>
      <p:sp>
        <p:nvSpPr>
          <p:cNvPr id="10" name="Title 1">
            <a:extLst>
              <a:ext uri="{FF2B5EF4-FFF2-40B4-BE49-F238E27FC236}">
                <a16:creationId xmlns:a16="http://schemas.microsoft.com/office/drawing/2014/main" id="{2400F2C9-4D27-4A70-96EB-94073B12115C}"/>
              </a:ext>
            </a:extLst>
          </p:cNvPr>
          <p:cNvSpPr>
            <a:spLocks noGrp="1"/>
          </p:cNvSpPr>
          <p:nvPr>
            <p:ph type="title" hasCustomPrompt="1"/>
          </p:nvPr>
        </p:nvSpPr>
        <p:spPr>
          <a:xfrm>
            <a:off x="585216" y="2875002"/>
            <a:ext cx="5510783" cy="1107996"/>
          </a:xfrm>
          <a:noFill/>
        </p:spPr>
        <p:txBody>
          <a:bodyPr wrap="square" lIns="0" tIns="0" rIns="0" bIns="0" anchor="b" anchorCtr="0">
            <a:spAutoFit/>
          </a:bodyPr>
          <a:lstStyle>
            <a:lvl1pPr marL="0" algn="l" defTabSz="914400" rtl="0" eaLnBrk="1" latinLnBrk="0" hangingPunct="1">
              <a:lnSpc>
                <a:spcPct val="90000"/>
              </a:lnSpc>
              <a:spcBef>
                <a:spcPct val="0"/>
              </a:spcBef>
              <a:buNone/>
              <a:defRPr lang="en-US" sz="8000" b="1" kern="1200" cap="none" spc="-100" baseline="0" dirty="0">
                <a:ln w="3175">
                  <a:noFill/>
                </a:ln>
                <a:solidFill>
                  <a:srgbClr val="1B87D8"/>
                </a:solidFill>
                <a:effectLst/>
                <a:latin typeface="+mn-lt"/>
                <a:ea typeface="+mn-ea"/>
                <a:cs typeface="+mn-cs"/>
              </a:defRPr>
            </a:lvl1pPr>
          </a:lstStyle>
          <a:p>
            <a:r>
              <a:rPr lang="en-US"/>
              <a:t>Thank You</a:t>
            </a:r>
          </a:p>
        </p:txBody>
      </p:sp>
      <p:pic>
        <p:nvPicPr>
          <p:cNvPr id="272" name="MS logo gray - EMF" descr="Microsoft logo, gray text version">
            <a:extLst>
              <a:ext uri="{FF2B5EF4-FFF2-40B4-BE49-F238E27FC236}">
                <a16:creationId xmlns:a16="http://schemas.microsoft.com/office/drawing/2014/main" id="{2D2BFFA1-4E63-D173-568F-8EFA7A759798}"/>
              </a:ext>
            </a:extLst>
          </p:cNvPr>
          <p:cNvPicPr>
            <a:picLocks noChangeAspect="1"/>
          </p:cNvPicPr>
          <p:nvPr userDrawn="1"/>
        </p:nvPicPr>
        <p:blipFill>
          <a:blip r:embed="rId3"/>
          <a:stretch>
            <a:fillRect/>
          </a:stretch>
        </p:blipFill>
        <p:spPr bwMode="black">
          <a:xfrm>
            <a:off x="668662" y="1180148"/>
            <a:ext cx="1366440" cy="292608"/>
          </a:xfrm>
          <a:prstGeom prst="rect">
            <a:avLst/>
          </a:prstGeom>
        </p:spPr>
      </p:pic>
      <p:pic>
        <p:nvPicPr>
          <p:cNvPr id="4" name="Picture 3" descr="Grey dots in a spiral">
            <a:extLst>
              <a:ext uri="{FF2B5EF4-FFF2-40B4-BE49-F238E27FC236}">
                <a16:creationId xmlns:a16="http://schemas.microsoft.com/office/drawing/2014/main" id="{DD8E2EE1-B219-7AD0-95E9-3B9AB4E38744}"/>
              </a:ext>
            </a:extLst>
          </p:cNvPr>
          <p:cNvPicPr>
            <a:picLocks noChangeAspect="1"/>
          </p:cNvPicPr>
          <p:nvPr userDrawn="1"/>
        </p:nvPicPr>
        <p:blipFill>
          <a:blip r:embed="rId4" cstate="print">
            <a:duotone>
              <a:schemeClr val="bg2">
                <a:shade val="45000"/>
                <a:satMod val="135000"/>
              </a:schemeClr>
              <a:prstClr val="white"/>
            </a:duotone>
            <a:alphaModFix/>
            <a:extLst>
              <a:ext uri="{28A0092B-C50C-407E-A947-70E740481C1C}">
                <a14:useLocalDpi xmlns:a14="http://schemas.microsoft.com/office/drawing/2010/main" val="0"/>
              </a:ext>
            </a:extLst>
          </a:blip>
          <a:stretch>
            <a:fillRect/>
          </a:stretch>
        </p:blipFill>
        <p:spPr>
          <a:xfrm>
            <a:off x="4070205" y="-1383478"/>
            <a:ext cx="10849756" cy="8516960"/>
          </a:xfrm>
          <a:prstGeom prst="rect">
            <a:avLst/>
          </a:prstGeom>
        </p:spPr>
      </p:pic>
      <p:pic>
        <p:nvPicPr>
          <p:cNvPr id="11" name="Picture 10" descr="Colorful blue and orange dots in a spiral">
            <a:extLst>
              <a:ext uri="{FF2B5EF4-FFF2-40B4-BE49-F238E27FC236}">
                <a16:creationId xmlns:a16="http://schemas.microsoft.com/office/drawing/2014/main" id="{4AAEA3C1-2FB5-2778-F403-804889B29359}"/>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t="44192" r="25143" b="31183"/>
          <a:stretch>
            <a:fillRect/>
          </a:stretch>
        </p:blipFill>
        <p:spPr>
          <a:xfrm>
            <a:off x="4070206" y="2380346"/>
            <a:ext cx="8121795" cy="2097312"/>
          </a:xfrm>
          <a:custGeom>
            <a:avLst/>
            <a:gdLst>
              <a:gd name="connsiteX0" fmla="*/ 0 w 8121795"/>
              <a:gd name="connsiteY0" fmla="*/ 0 h 2097312"/>
              <a:gd name="connsiteX1" fmla="*/ 8121795 w 8121795"/>
              <a:gd name="connsiteY1" fmla="*/ 0 h 2097312"/>
              <a:gd name="connsiteX2" fmla="*/ 8121795 w 8121795"/>
              <a:gd name="connsiteY2" fmla="*/ 2097312 h 2097312"/>
              <a:gd name="connsiteX3" fmla="*/ 0 w 8121795"/>
              <a:gd name="connsiteY3" fmla="*/ 2097312 h 2097312"/>
            </a:gdLst>
            <a:ahLst/>
            <a:cxnLst>
              <a:cxn ang="0">
                <a:pos x="connsiteX0" y="connsiteY0"/>
              </a:cxn>
              <a:cxn ang="0">
                <a:pos x="connsiteX1" y="connsiteY1"/>
              </a:cxn>
              <a:cxn ang="0">
                <a:pos x="connsiteX2" y="connsiteY2"/>
              </a:cxn>
              <a:cxn ang="0">
                <a:pos x="connsiteX3" y="connsiteY3"/>
              </a:cxn>
            </a:cxnLst>
            <a:rect l="l" t="t" r="r" b="b"/>
            <a:pathLst>
              <a:path w="8121795" h="2097312">
                <a:moveTo>
                  <a:pt x="0" y="0"/>
                </a:moveTo>
                <a:lnTo>
                  <a:pt x="8121795" y="0"/>
                </a:lnTo>
                <a:lnTo>
                  <a:pt x="8121795" y="2097312"/>
                </a:lnTo>
                <a:lnTo>
                  <a:pt x="0" y="2097312"/>
                </a:lnTo>
                <a:close/>
              </a:path>
            </a:pathLst>
          </a:custGeom>
        </p:spPr>
      </p:pic>
    </p:spTree>
    <p:custDataLst>
      <p:tags r:id="rId1"/>
    </p:custDataLst>
    <p:extLst>
      <p:ext uri="{BB962C8B-B14F-4D97-AF65-F5344CB8AC3E}">
        <p14:creationId xmlns:p14="http://schemas.microsoft.com/office/powerpoint/2010/main" val="1504244246"/>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itle Only_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5A43683-6DA3-CAB4-0B24-22FD85FE89C2}"/>
              </a:ext>
              <a:ext uri="{C183D7F6-B498-43B3-948B-1728B52AA6E4}">
                <adec:decorative xmlns:adec="http://schemas.microsoft.com/office/drawing/2017/decorative" val="1"/>
              </a:ext>
            </a:extLst>
          </p:cNvPr>
          <p:cNvSpPr/>
          <p:nvPr userDrawn="1"/>
        </p:nvSpPr>
        <p:spPr bwMode="auto">
          <a:xfrm flipH="1">
            <a:off x="0" y="0"/>
            <a:ext cx="12192000" cy="1188720"/>
          </a:xfrm>
          <a:prstGeom prst="rect">
            <a:avLst/>
          </a:prstGeom>
          <a:gradFill flip="none" rotWithShape="1">
            <a:gsLst>
              <a:gs pos="0">
                <a:schemeClr val="accent2">
                  <a:lumMod val="75000"/>
                </a:schemeClr>
              </a:gs>
              <a:gs pos="26000">
                <a:schemeClr val="accent2">
                  <a:lumMod val="50000"/>
                  <a:alpha val="9200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IN" sz="2000" err="1">
              <a:gradFill>
                <a:gsLst>
                  <a:gs pos="0">
                    <a:srgbClr val="FFFFFF"/>
                  </a:gs>
                  <a:gs pos="100000">
                    <a:srgbClr val="FFFFFF"/>
                  </a:gs>
                </a:gsLst>
                <a:lin ang="5400000" scaled="0"/>
              </a:gradFill>
              <a:cs typeface="Segoe UI" pitchFamily="34" charset="0"/>
            </a:endParaRPr>
          </a:p>
        </p:txBody>
      </p:sp>
      <p:sp>
        <p:nvSpPr>
          <p:cNvPr id="2" name="Title 1">
            <a:extLst>
              <a:ext uri="{FF2B5EF4-FFF2-40B4-BE49-F238E27FC236}">
                <a16:creationId xmlns:a16="http://schemas.microsoft.com/office/drawing/2014/main" id="{562754DF-CB0E-46F9-AA3C-00BC673EBDF3}"/>
              </a:ext>
            </a:extLst>
          </p:cNvPr>
          <p:cNvSpPr>
            <a:spLocks noGrp="1"/>
          </p:cNvSpPr>
          <p:nvPr>
            <p:ph type="title" hasCustomPrompt="1"/>
          </p:nvPr>
        </p:nvSpPr>
        <p:spPr>
          <a:xfrm>
            <a:off x="588263" y="457200"/>
            <a:ext cx="10083922" cy="553998"/>
          </a:xfrm>
        </p:spPr>
        <p:txBody>
          <a:bodyPr/>
          <a:lstStyle>
            <a:lvl1pPr>
              <a:defRPr sz="3600">
                <a:solidFill>
                  <a:schemeClr val="bg1"/>
                </a:solidFill>
              </a:defRPr>
            </a:lvl1pPr>
          </a:lstStyle>
          <a:p>
            <a:r>
              <a:rPr lang="en-US"/>
              <a:t>Title only</a:t>
            </a:r>
          </a:p>
        </p:txBody>
      </p:sp>
      <p:sp>
        <p:nvSpPr>
          <p:cNvPr id="5" name="Rectangle 4">
            <a:extLst>
              <a:ext uri="{FF2B5EF4-FFF2-40B4-BE49-F238E27FC236}">
                <a16:creationId xmlns:a16="http://schemas.microsoft.com/office/drawing/2014/main" id="{2C1C0608-93BD-AA99-99FE-CE8B5C541457}"/>
              </a:ext>
              <a:ext uri="{C183D7F6-B498-43B3-948B-1728B52AA6E4}">
                <adec:decorative xmlns:adec="http://schemas.microsoft.com/office/drawing/2017/decorative" val="1"/>
              </a:ext>
            </a:extLst>
          </p:cNvPr>
          <p:cNvSpPr/>
          <p:nvPr userDrawn="1"/>
        </p:nvSpPr>
        <p:spPr bwMode="auto">
          <a:xfrm>
            <a:off x="0" y="1188720"/>
            <a:ext cx="12192000" cy="45719"/>
          </a:xfrm>
          <a:prstGeom prst="rect">
            <a:avLst/>
          </a:prstGeom>
          <a:solidFill>
            <a:srgbClr val="01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pic>
        <p:nvPicPr>
          <p:cNvPr id="7" name="Picture 6" descr="Grey dots in a decorative spiral">
            <a:extLst>
              <a:ext uri="{FF2B5EF4-FFF2-40B4-BE49-F238E27FC236}">
                <a16:creationId xmlns:a16="http://schemas.microsoft.com/office/drawing/2014/main" id="{233A85F5-7EA5-D2AC-23E2-52EDBB1A0887}"/>
              </a:ext>
            </a:extLst>
          </p:cNvPr>
          <p:cNvPicPr>
            <a:picLocks noChangeAspect="1"/>
          </p:cNvPicPr>
          <p:nvPr userDrawn="1"/>
        </p:nvPicPr>
        <p:blipFill rotWithShape="1">
          <a:blip r:embed="rId3" cstate="print">
            <a:alphaModFix/>
            <a:duotone>
              <a:schemeClr val="bg2">
                <a:shade val="45000"/>
                <a:satMod val="135000"/>
              </a:schemeClr>
              <a:prstClr val="white"/>
            </a:duotone>
            <a:extLst>
              <a:ext uri="{28A0092B-C50C-407E-A947-70E740481C1C}">
                <a14:useLocalDpi xmlns:a14="http://schemas.microsoft.com/office/drawing/2010/main" val="0"/>
              </a:ext>
            </a:extLst>
          </a:blip>
          <a:srcRect l="27639" t="18675" r="11937" b="17894"/>
          <a:stretch/>
        </p:blipFill>
        <p:spPr>
          <a:xfrm flipH="1">
            <a:off x="10728642" y="0"/>
            <a:ext cx="1463358" cy="1206500"/>
          </a:xfrm>
          <a:custGeom>
            <a:avLst/>
            <a:gdLst>
              <a:gd name="connsiteX0" fmla="*/ 1684338 w 1684338"/>
              <a:gd name="connsiteY0" fmla="*/ 0 h 1562100"/>
              <a:gd name="connsiteX1" fmla="*/ 0 w 1684338"/>
              <a:gd name="connsiteY1" fmla="*/ 0 h 1562100"/>
              <a:gd name="connsiteX2" fmla="*/ 0 w 1684338"/>
              <a:gd name="connsiteY2" fmla="*/ 1562100 h 1562100"/>
              <a:gd name="connsiteX3" fmla="*/ 1684338 w 1684338"/>
              <a:gd name="connsiteY3" fmla="*/ 1562100 h 1562100"/>
            </a:gdLst>
            <a:ahLst/>
            <a:cxnLst>
              <a:cxn ang="0">
                <a:pos x="connsiteX0" y="connsiteY0"/>
              </a:cxn>
              <a:cxn ang="0">
                <a:pos x="connsiteX1" y="connsiteY1"/>
              </a:cxn>
              <a:cxn ang="0">
                <a:pos x="connsiteX2" y="connsiteY2"/>
              </a:cxn>
              <a:cxn ang="0">
                <a:pos x="connsiteX3" y="connsiteY3"/>
              </a:cxn>
            </a:cxnLst>
            <a:rect l="l" t="t" r="r" b="b"/>
            <a:pathLst>
              <a:path w="1684338" h="1562100">
                <a:moveTo>
                  <a:pt x="1684338" y="0"/>
                </a:moveTo>
                <a:lnTo>
                  <a:pt x="0" y="0"/>
                </a:lnTo>
                <a:lnTo>
                  <a:pt x="0" y="1562100"/>
                </a:lnTo>
                <a:lnTo>
                  <a:pt x="1684338" y="1562100"/>
                </a:lnTo>
                <a:close/>
              </a:path>
            </a:pathLst>
          </a:custGeom>
        </p:spPr>
      </p:pic>
    </p:spTree>
    <p:custDataLst>
      <p:tags r:id="rId1"/>
    </p:custDataLst>
    <p:extLst>
      <p:ext uri="{BB962C8B-B14F-4D97-AF65-F5344CB8AC3E}">
        <p14:creationId xmlns:p14="http://schemas.microsoft.com/office/powerpoint/2010/main" val="3953922826"/>
      </p:ext>
    </p:extLst>
  </p:cSld>
  <p:clrMapOvr>
    <a:masterClrMapping/>
  </p:clrMapOvr>
  <p:transition>
    <p:fade/>
  </p:transition>
  <p:extLst>
    <p:ext uri="{DCECCB84-F9BA-43D5-87BE-67443E8EF086}">
      <p15:sldGuideLst xmlns:p15="http://schemas.microsoft.com/office/powerpoint/2012/main">
        <p15:guide id="3" orient="horz" pos="900">
          <p15:clr>
            <a:srgbClr val="5ACBF0"/>
          </p15:clr>
        </p15:guide>
        <p15:guide id="4" orient="horz" pos="1276">
          <p15:clr>
            <a:srgbClr val="5ACBF0"/>
          </p15:clr>
        </p15:guide>
        <p15:guide id="5" orient="horz" pos="283">
          <p15:clr>
            <a:srgbClr val="5ACBF0"/>
          </p15:clr>
        </p15:guide>
        <p15:guide id="6" pos="3917">
          <p15:clr>
            <a:srgbClr val="FBAE40"/>
          </p15:clr>
        </p15:guide>
        <p15:guide id="7" orient="horz" pos="2203">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61277850"/>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28907-B34B-EA5C-1932-0E6A4114294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CD3A667-77F1-832C-B8F7-7508A647BE4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62852E7-C8FB-4DA2-CDCB-A34BDD83C1F6}"/>
              </a:ext>
            </a:extLst>
          </p:cNvPr>
          <p:cNvSpPr>
            <a:spLocks noGrp="1"/>
          </p:cNvSpPr>
          <p:nvPr>
            <p:ph type="dt" sz="half" idx="10"/>
          </p:nvPr>
        </p:nvSpPr>
        <p:spPr/>
        <p:txBody>
          <a:bodyPr/>
          <a:lstStyle/>
          <a:p>
            <a:fld id="{9E128125-7331-418B-970D-A88E73B1885B}" type="datetimeFigureOut">
              <a:rPr lang="en-US" smtClean="0"/>
              <a:t>4/10/2026</a:t>
            </a:fld>
            <a:endParaRPr lang="en-US"/>
          </a:p>
        </p:txBody>
      </p:sp>
      <p:sp>
        <p:nvSpPr>
          <p:cNvPr id="5" name="Footer Placeholder 4">
            <a:extLst>
              <a:ext uri="{FF2B5EF4-FFF2-40B4-BE49-F238E27FC236}">
                <a16:creationId xmlns:a16="http://schemas.microsoft.com/office/drawing/2014/main" id="{714B5BC0-4891-5505-4859-7947BCDF71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2FBA88-B499-1118-EC80-C7206D44486E}"/>
              </a:ext>
            </a:extLst>
          </p:cNvPr>
          <p:cNvSpPr>
            <a:spLocks noGrp="1"/>
          </p:cNvSpPr>
          <p:nvPr>
            <p:ph type="sldNum" sz="quarter" idx="12"/>
          </p:nvPr>
        </p:nvSpPr>
        <p:spPr/>
        <p:txBody>
          <a:bodyPr/>
          <a:lstStyle/>
          <a:p>
            <a:fld id="{C8CA5850-4711-418D-B090-9E8809BBEA03}" type="slidenum">
              <a:rPr lang="en-US" smtClean="0"/>
              <a:t>‹#›</a:t>
            </a:fld>
            <a:endParaRPr lang="en-US"/>
          </a:p>
        </p:txBody>
      </p:sp>
    </p:spTree>
    <p:extLst>
      <p:ext uri="{BB962C8B-B14F-4D97-AF65-F5344CB8AC3E}">
        <p14:creationId xmlns:p14="http://schemas.microsoft.com/office/powerpoint/2010/main" val="15865466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D39EF-DFFF-D68B-DF06-AAD3667348C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4A2FD69-B14C-18E8-09A4-E45F4D37205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F16C19-7361-3743-5500-35D026249CF9}"/>
              </a:ext>
            </a:extLst>
          </p:cNvPr>
          <p:cNvSpPr>
            <a:spLocks noGrp="1"/>
          </p:cNvSpPr>
          <p:nvPr>
            <p:ph type="dt" sz="half" idx="10"/>
          </p:nvPr>
        </p:nvSpPr>
        <p:spPr/>
        <p:txBody>
          <a:bodyPr/>
          <a:lstStyle/>
          <a:p>
            <a:fld id="{9E128125-7331-418B-970D-A88E73B1885B}" type="datetimeFigureOut">
              <a:rPr lang="en-US" smtClean="0"/>
              <a:t>4/10/2026</a:t>
            </a:fld>
            <a:endParaRPr lang="en-US"/>
          </a:p>
        </p:txBody>
      </p:sp>
      <p:sp>
        <p:nvSpPr>
          <p:cNvPr id="5" name="Footer Placeholder 4">
            <a:extLst>
              <a:ext uri="{FF2B5EF4-FFF2-40B4-BE49-F238E27FC236}">
                <a16:creationId xmlns:a16="http://schemas.microsoft.com/office/drawing/2014/main" id="{16FE6084-AAAE-03BD-7178-EDBF83A1E2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3F7631-28B2-86FF-F99C-9FBCA4EA38FA}"/>
              </a:ext>
            </a:extLst>
          </p:cNvPr>
          <p:cNvSpPr>
            <a:spLocks noGrp="1"/>
          </p:cNvSpPr>
          <p:nvPr>
            <p:ph type="sldNum" sz="quarter" idx="12"/>
          </p:nvPr>
        </p:nvSpPr>
        <p:spPr/>
        <p:txBody>
          <a:bodyPr/>
          <a:lstStyle/>
          <a:p>
            <a:fld id="{C8CA5850-4711-418D-B090-9E8809BBEA03}" type="slidenum">
              <a:rPr lang="en-US" smtClean="0"/>
              <a:t>‹#›</a:t>
            </a:fld>
            <a:endParaRPr lang="en-US"/>
          </a:p>
        </p:txBody>
      </p:sp>
    </p:spTree>
    <p:extLst>
      <p:ext uri="{BB962C8B-B14F-4D97-AF65-F5344CB8AC3E}">
        <p14:creationId xmlns:p14="http://schemas.microsoft.com/office/powerpoint/2010/main" val="37462812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30A0A-BE0C-B252-F913-577A75F3D0F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C9C56-EA9C-B39E-F4F1-EB9220FAB89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F1A2A18-4EEA-91F5-50C8-6551A4E748EF}"/>
              </a:ext>
            </a:extLst>
          </p:cNvPr>
          <p:cNvSpPr>
            <a:spLocks noGrp="1"/>
          </p:cNvSpPr>
          <p:nvPr>
            <p:ph type="dt" sz="half" idx="10"/>
          </p:nvPr>
        </p:nvSpPr>
        <p:spPr/>
        <p:txBody>
          <a:bodyPr/>
          <a:lstStyle/>
          <a:p>
            <a:fld id="{9E128125-7331-418B-970D-A88E73B1885B}" type="datetimeFigureOut">
              <a:rPr lang="en-US" smtClean="0"/>
              <a:t>4/10/2026</a:t>
            </a:fld>
            <a:endParaRPr lang="en-US"/>
          </a:p>
        </p:txBody>
      </p:sp>
      <p:sp>
        <p:nvSpPr>
          <p:cNvPr id="5" name="Footer Placeholder 4">
            <a:extLst>
              <a:ext uri="{FF2B5EF4-FFF2-40B4-BE49-F238E27FC236}">
                <a16:creationId xmlns:a16="http://schemas.microsoft.com/office/drawing/2014/main" id="{A2C28416-A8CD-4A77-47D0-2A4BA7BB34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B8A763-0B34-E0D9-338A-0BCA0E47E448}"/>
              </a:ext>
            </a:extLst>
          </p:cNvPr>
          <p:cNvSpPr>
            <a:spLocks noGrp="1"/>
          </p:cNvSpPr>
          <p:nvPr>
            <p:ph type="sldNum" sz="quarter" idx="12"/>
          </p:nvPr>
        </p:nvSpPr>
        <p:spPr/>
        <p:txBody>
          <a:bodyPr/>
          <a:lstStyle/>
          <a:p>
            <a:fld id="{C8CA5850-4711-418D-B090-9E8809BBEA03}" type="slidenum">
              <a:rPr lang="en-US" smtClean="0"/>
              <a:t>‹#›</a:t>
            </a:fld>
            <a:endParaRPr lang="en-US"/>
          </a:p>
        </p:txBody>
      </p:sp>
    </p:spTree>
    <p:extLst>
      <p:ext uri="{BB962C8B-B14F-4D97-AF65-F5344CB8AC3E}">
        <p14:creationId xmlns:p14="http://schemas.microsoft.com/office/powerpoint/2010/main" val="35321364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FA275-CC8E-AC00-E560-38823DCCD44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A8A719D-0A05-6E51-2289-57CE6A23F1C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C33CB6F-3885-C41F-6FCF-1A8E944838B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FCFCE16-863E-C47B-BD5E-7E082204753C}"/>
              </a:ext>
            </a:extLst>
          </p:cNvPr>
          <p:cNvSpPr>
            <a:spLocks noGrp="1"/>
          </p:cNvSpPr>
          <p:nvPr>
            <p:ph type="dt" sz="half" idx="10"/>
          </p:nvPr>
        </p:nvSpPr>
        <p:spPr/>
        <p:txBody>
          <a:bodyPr/>
          <a:lstStyle/>
          <a:p>
            <a:fld id="{9E128125-7331-418B-970D-A88E73B1885B}" type="datetimeFigureOut">
              <a:rPr lang="en-US" smtClean="0"/>
              <a:t>4/10/2026</a:t>
            </a:fld>
            <a:endParaRPr lang="en-US"/>
          </a:p>
        </p:txBody>
      </p:sp>
      <p:sp>
        <p:nvSpPr>
          <p:cNvPr id="6" name="Footer Placeholder 5">
            <a:extLst>
              <a:ext uri="{FF2B5EF4-FFF2-40B4-BE49-F238E27FC236}">
                <a16:creationId xmlns:a16="http://schemas.microsoft.com/office/drawing/2014/main" id="{9B740710-77AC-587D-9345-24988AACBF4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BF9A66C-64CC-F6A4-1EAB-FB436D9BE144}"/>
              </a:ext>
            </a:extLst>
          </p:cNvPr>
          <p:cNvSpPr>
            <a:spLocks noGrp="1"/>
          </p:cNvSpPr>
          <p:nvPr>
            <p:ph type="sldNum" sz="quarter" idx="12"/>
          </p:nvPr>
        </p:nvSpPr>
        <p:spPr/>
        <p:txBody>
          <a:bodyPr/>
          <a:lstStyle/>
          <a:p>
            <a:fld id="{C8CA5850-4711-418D-B090-9E8809BBEA03}" type="slidenum">
              <a:rPr lang="en-US" smtClean="0"/>
              <a:t>‹#›</a:t>
            </a:fld>
            <a:endParaRPr lang="en-US"/>
          </a:p>
        </p:txBody>
      </p:sp>
    </p:spTree>
    <p:extLst>
      <p:ext uri="{BB962C8B-B14F-4D97-AF65-F5344CB8AC3E}">
        <p14:creationId xmlns:p14="http://schemas.microsoft.com/office/powerpoint/2010/main" val="21295777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F4146-955C-B96D-FB84-663421F2953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5C63DC-2B98-47CA-5A29-E78AE5B1F44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2FF2291-4F15-F94E-DCE3-2B05B1B57BF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2511724-D3AF-8984-BDF1-EDE643CE82B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9CEAC95-B7F0-5CAA-278A-BE82792952B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C229BD1-D504-8F66-71A7-B27708E02BC4}"/>
              </a:ext>
            </a:extLst>
          </p:cNvPr>
          <p:cNvSpPr>
            <a:spLocks noGrp="1"/>
          </p:cNvSpPr>
          <p:nvPr>
            <p:ph type="dt" sz="half" idx="10"/>
          </p:nvPr>
        </p:nvSpPr>
        <p:spPr/>
        <p:txBody>
          <a:bodyPr/>
          <a:lstStyle/>
          <a:p>
            <a:fld id="{9E128125-7331-418B-970D-A88E73B1885B}" type="datetimeFigureOut">
              <a:rPr lang="en-US" smtClean="0"/>
              <a:t>4/10/2026</a:t>
            </a:fld>
            <a:endParaRPr lang="en-US"/>
          </a:p>
        </p:txBody>
      </p:sp>
      <p:sp>
        <p:nvSpPr>
          <p:cNvPr id="8" name="Footer Placeholder 7">
            <a:extLst>
              <a:ext uri="{FF2B5EF4-FFF2-40B4-BE49-F238E27FC236}">
                <a16:creationId xmlns:a16="http://schemas.microsoft.com/office/drawing/2014/main" id="{6F1A86E0-AEA2-2A5B-816F-D0F0F2F9962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D54A726-CDA9-CE16-656D-FE6DA092584A}"/>
              </a:ext>
            </a:extLst>
          </p:cNvPr>
          <p:cNvSpPr>
            <a:spLocks noGrp="1"/>
          </p:cNvSpPr>
          <p:nvPr>
            <p:ph type="sldNum" sz="quarter" idx="12"/>
          </p:nvPr>
        </p:nvSpPr>
        <p:spPr/>
        <p:txBody>
          <a:bodyPr/>
          <a:lstStyle/>
          <a:p>
            <a:fld id="{C8CA5850-4711-418D-B090-9E8809BBEA03}" type="slidenum">
              <a:rPr lang="en-US" smtClean="0"/>
              <a:t>‹#›</a:t>
            </a:fld>
            <a:endParaRPr lang="en-US"/>
          </a:p>
        </p:txBody>
      </p:sp>
    </p:spTree>
    <p:extLst>
      <p:ext uri="{BB962C8B-B14F-4D97-AF65-F5344CB8AC3E}">
        <p14:creationId xmlns:p14="http://schemas.microsoft.com/office/powerpoint/2010/main" val="5135728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6953B-6D9C-6F4D-A79F-6C42DD5E97A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9743C4E-2952-D239-054A-A530A862B6D8}"/>
              </a:ext>
            </a:extLst>
          </p:cNvPr>
          <p:cNvSpPr>
            <a:spLocks noGrp="1"/>
          </p:cNvSpPr>
          <p:nvPr>
            <p:ph type="dt" sz="half" idx="10"/>
          </p:nvPr>
        </p:nvSpPr>
        <p:spPr/>
        <p:txBody>
          <a:bodyPr/>
          <a:lstStyle/>
          <a:p>
            <a:fld id="{9E128125-7331-418B-970D-A88E73B1885B}" type="datetimeFigureOut">
              <a:rPr lang="en-US" smtClean="0"/>
              <a:t>4/10/2026</a:t>
            </a:fld>
            <a:endParaRPr lang="en-US"/>
          </a:p>
        </p:txBody>
      </p:sp>
      <p:sp>
        <p:nvSpPr>
          <p:cNvPr id="4" name="Footer Placeholder 3">
            <a:extLst>
              <a:ext uri="{FF2B5EF4-FFF2-40B4-BE49-F238E27FC236}">
                <a16:creationId xmlns:a16="http://schemas.microsoft.com/office/drawing/2014/main" id="{FEC98637-EE1F-4E91-F9E7-C09266D1D8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D9CE189-AC99-E8F8-FEF0-2E2CF518BF14}"/>
              </a:ext>
            </a:extLst>
          </p:cNvPr>
          <p:cNvSpPr>
            <a:spLocks noGrp="1"/>
          </p:cNvSpPr>
          <p:nvPr>
            <p:ph type="sldNum" sz="quarter" idx="12"/>
          </p:nvPr>
        </p:nvSpPr>
        <p:spPr/>
        <p:txBody>
          <a:bodyPr/>
          <a:lstStyle/>
          <a:p>
            <a:fld id="{C8CA5850-4711-418D-B090-9E8809BBEA03}" type="slidenum">
              <a:rPr lang="en-US" smtClean="0"/>
              <a:t>‹#›</a:t>
            </a:fld>
            <a:endParaRPr lang="en-US"/>
          </a:p>
        </p:txBody>
      </p:sp>
    </p:spTree>
    <p:extLst>
      <p:ext uri="{BB962C8B-B14F-4D97-AF65-F5344CB8AC3E}">
        <p14:creationId xmlns:p14="http://schemas.microsoft.com/office/powerpoint/2010/main" val="5910852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1BBA6C5-065A-D2AF-A291-BAA7647BCC9C}"/>
              </a:ext>
            </a:extLst>
          </p:cNvPr>
          <p:cNvSpPr>
            <a:spLocks noGrp="1"/>
          </p:cNvSpPr>
          <p:nvPr>
            <p:ph type="dt" sz="half" idx="10"/>
          </p:nvPr>
        </p:nvSpPr>
        <p:spPr/>
        <p:txBody>
          <a:bodyPr/>
          <a:lstStyle/>
          <a:p>
            <a:fld id="{9E128125-7331-418B-970D-A88E73B1885B}" type="datetimeFigureOut">
              <a:rPr lang="en-US" smtClean="0"/>
              <a:t>4/10/2026</a:t>
            </a:fld>
            <a:endParaRPr lang="en-US"/>
          </a:p>
        </p:txBody>
      </p:sp>
      <p:sp>
        <p:nvSpPr>
          <p:cNvPr id="3" name="Footer Placeholder 2">
            <a:extLst>
              <a:ext uri="{FF2B5EF4-FFF2-40B4-BE49-F238E27FC236}">
                <a16:creationId xmlns:a16="http://schemas.microsoft.com/office/drawing/2014/main" id="{BC667236-3677-B639-D8BD-BCDC8477AC6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50025FF-25C8-5AE8-E5C0-075DA858ACD4}"/>
              </a:ext>
            </a:extLst>
          </p:cNvPr>
          <p:cNvSpPr>
            <a:spLocks noGrp="1"/>
          </p:cNvSpPr>
          <p:nvPr>
            <p:ph type="sldNum" sz="quarter" idx="12"/>
          </p:nvPr>
        </p:nvSpPr>
        <p:spPr/>
        <p:txBody>
          <a:bodyPr/>
          <a:lstStyle/>
          <a:p>
            <a:fld id="{C8CA5850-4711-418D-B090-9E8809BBEA03}" type="slidenum">
              <a:rPr lang="en-US" smtClean="0"/>
              <a:t>‹#›</a:t>
            </a:fld>
            <a:endParaRPr lang="en-US"/>
          </a:p>
        </p:txBody>
      </p:sp>
    </p:spTree>
    <p:extLst>
      <p:ext uri="{BB962C8B-B14F-4D97-AF65-F5344CB8AC3E}">
        <p14:creationId xmlns:p14="http://schemas.microsoft.com/office/powerpoint/2010/main" val="42664166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5FFCF-BCA4-6422-EF55-4187404405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2A5162D-91AC-3CD0-063C-E0BBBE4F787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2301E6C-93B7-DB7B-2FF8-18E2CA47A7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D07B2EB-4B9F-4971-20DE-E2A0FC45D622}"/>
              </a:ext>
            </a:extLst>
          </p:cNvPr>
          <p:cNvSpPr>
            <a:spLocks noGrp="1"/>
          </p:cNvSpPr>
          <p:nvPr>
            <p:ph type="dt" sz="half" idx="10"/>
          </p:nvPr>
        </p:nvSpPr>
        <p:spPr/>
        <p:txBody>
          <a:bodyPr/>
          <a:lstStyle/>
          <a:p>
            <a:fld id="{9E128125-7331-418B-970D-A88E73B1885B}" type="datetimeFigureOut">
              <a:rPr lang="en-US" smtClean="0"/>
              <a:t>4/10/2026</a:t>
            </a:fld>
            <a:endParaRPr lang="en-US"/>
          </a:p>
        </p:txBody>
      </p:sp>
      <p:sp>
        <p:nvSpPr>
          <p:cNvPr id="6" name="Footer Placeholder 5">
            <a:extLst>
              <a:ext uri="{FF2B5EF4-FFF2-40B4-BE49-F238E27FC236}">
                <a16:creationId xmlns:a16="http://schemas.microsoft.com/office/drawing/2014/main" id="{33312A8C-4192-A960-0924-32DB65E413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10DA8B-C4F6-F6C3-4CE3-6687BB6DE5DF}"/>
              </a:ext>
            </a:extLst>
          </p:cNvPr>
          <p:cNvSpPr>
            <a:spLocks noGrp="1"/>
          </p:cNvSpPr>
          <p:nvPr>
            <p:ph type="sldNum" sz="quarter" idx="12"/>
          </p:nvPr>
        </p:nvSpPr>
        <p:spPr/>
        <p:txBody>
          <a:bodyPr/>
          <a:lstStyle/>
          <a:p>
            <a:fld id="{C8CA5850-4711-418D-B090-9E8809BBEA03}" type="slidenum">
              <a:rPr lang="en-US" smtClean="0"/>
              <a:t>‹#›</a:t>
            </a:fld>
            <a:endParaRPr lang="en-US"/>
          </a:p>
        </p:txBody>
      </p:sp>
    </p:spTree>
    <p:extLst>
      <p:ext uri="{BB962C8B-B14F-4D97-AF65-F5344CB8AC3E}">
        <p14:creationId xmlns:p14="http://schemas.microsoft.com/office/powerpoint/2010/main" val="9860234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5A505-4EF4-4344-50A8-5C3F9D6C83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E6236DB-2AB7-8010-B7C4-9587733F86C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232FC49-51D0-FAE6-AE4F-593E30C1D0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54D7ED5-3E99-EF65-A264-1FA60E019AE3}"/>
              </a:ext>
            </a:extLst>
          </p:cNvPr>
          <p:cNvSpPr>
            <a:spLocks noGrp="1"/>
          </p:cNvSpPr>
          <p:nvPr>
            <p:ph type="dt" sz="half" idx="10"/>
          </p:nvPr>
        </p:nvSpPr>
        <p:spPr/>
        <p:txBody>
          <a:bodyPr/>
          <a:lstStyle/>
          <a:p>
            <a:fld id="{9E128125-7331-418B-970D-A88E73B1885B}" type="datetimeFigureOut">
              <a:rPr lang="en-US" smtClean="0"/>
              <a:t>4/10/2026</a:t>
            </a:fld>
            <a:endParaRPr lang="en-US"/>
          </a:p>
        </p:txBody>
      </p:sp>
      <p:sp>
        <p:nvSpPr>
          <p:cNvPr id="6" name="Footer Placeholder 5">
            <a:extLst>
              <a:ext uri="{FF2B5EF4-FFF2-40B4-BE49-F238E27FC236}">
                <a16:creationId xmlns:a16="http://schemas.microsoft.com/office/drawing/2014/main" id="{3FF4447A-20DA-776F-D992-D4C4F8FED47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786DC0-2143-6FF7-D633-AEB90F170132}"/>
              </a:ext>
            </a:extLst>
          </p:cNvPr>
          <p:cNvSpPr>
            <a:spLocks noGrp="1"/>
          </p:cNvSpPr>
          <p:nvPr>
            <p:ph type="sldNum" sz="quarter" idx="12"/>
          </p:nvPr>
        </p:nvSpPr>
        <p:spPr/>
        <p:txBody>
          <a:bodyPr/>
          <a:lstStyle/>
          <a:p>
            <a:fld id="{C8CA5850-4711-418D-B090-9E8809BBEA03}" type="slidenum">
              <a:rPr lang="en-US" smtClean="0"/>
              <a:t>‹#›</a:t>
            </a:fld>
            <a:endParaRPr lang="en-US"/>
          </a:p>
        </p:txBody>
      </p:sp>
    </p:spTree>
    <p:extLst>
      <p:ext uri="{BB962C8B-B14F-4D97-AF65-F5344CB8AC3E}">
        <p14:creationId xmlns:p14="http://schemas.microsoft.com/office/powerpoint/2010/main" val="4300974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C8807-8EA1-1E3F-C93C-53DC1495715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30E4496-F8E6-C5F2-080D-95D9D738D3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5A14D9-F8C6-8C40-2D38-4D310955402B}"/>
              </a:ext>
            </a:extLst>
          </p:cNvPr>
          <p:cNvSpPr>
            <a:spLocks noGrp="1"/>
          </p:cNvSpPr>
          <p:nvPr>
            <p:ph type="dt" sz="half" idx="10"/>
          </p:nvPr>
        </p:nvSpPr>
        <p:spPr/>
        <p:txBody>
          <a:bodyPr/>
          <a:lstStyle/>
          <a:p>
            <a:fld id="{9E128125-7331-418B-970D-A88E73B1885B}" type="datetimeFigureOut">
              <a:rPr lang="en-US" smtClean="0"/>
              <a:t>4/10/2026</a:t>
            </a:fld>
            <a:endParaRPr lang="en-US"/>
          </a:p>
        </p:txBody>
      </p:sp>
      <p:sp>
        <p:nvSpPr>
          <p:cNvPr id="5" name="Footer Placeholder 4">
            <a:extLst>
              <a:ext uri="{FF2B5EF4-FFF2-40B4-BE49-F238E27FC236}">
                <a16:creationId xmlns:a16="http://schemas.microsoft.com/office/drawing/2014/main" id="{C78B8470-3C92-A110-4A16-6471243BBF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3E333C-EE8B-4C6C-740C-83DD53D29AAB}"/>
              </a:ext>
            </a:extLst>
          </p:cNvPr>
          <p:cNvSpPr>
            <a:spLocks noGrp="1"/>
          </p:cNvSpPr>
          <p:nvPr>
            <p:ph type="sldNum" sz="quarter" idx="12"/>
          </p:nvPr>
        </p:nvSpPr>
        <p:spPr/>
        <p:txBody>
          <a:bodyPr/>
          <a:lstStyle/>
          <a:p>
            <a:fld id="{C8CA5850-4711-418D-B090-9E8809BBEA03}" type="slidenum">
              <a:rPr lang="en-US" smtClean="0"/>
              <a:t>‹#›</a:t>
            </a:fld>
            <a:endParaRPr lang="en-US"/>
          </a:p>
        </p:txBody>
      </p:sp>
    </p:spTree>
    <p:extLst>
      <p:ext uri="{BB962C8B-B14F-4D97-AF65-F5344CB8AC3E}">
        <p14:creationId xmlns:p14="http://schemas.microsoft.com/office/powerpoint/2010/main" val="32122180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EEF8295-38FF-2EE2-BA5A-10F55BEC751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4A9746B-4BB9-92CC-BE72-BDD91738C96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E74B6F-9D5B-00D5-BC52-BFD90E7DF413}"/>
              </a:ext>
            </a:extLst>
          </p:cNvPr>
          <p:cNvSpPr>
            <a:spLocks noGrp="1"/>
          </p:cNvSpPr>
          <p:nvPr>
            <p:ph type="dt" sz="half" idx="10"/>
          </p:nvPr>
        </p:nvSpPr>
        <p:spPr/>
        <p:txBody>
          <a:bodyPr/>
          <a:lstStyle/>
          <a:p>
            <a:fld id="{9E128125-7331-418B-970D-A88E73B1885B}" type="datetimeFigureOut">
              <a:rPr lang="en-US" smtClean="0"/>
              <a:t>4/10/2026</a:t>
            </a:fld>
            <a:endParaRPr lang="en-US"/>
          </a:p>
        </p:txBody>
      </p:sp>
      <p:sp>
        <p:nvSpPr>
          <p:cNvPr id="5" name="Footer Placeholder 4">
            <a:extLst>
              <a:ext uri="{FF2B5EF4-FFF2-40B4-BE49-F238E27FC236}">
                <a16:creationId xmlns:a16="http://schemas.microsoft.com/office/drawing/2014/main" id="{7C45D54D-8851-7681-87FF-AD0C685D50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9E94E6-BFED-206F-8DBE-C80EB6527FC5}"/>
              </a:ext>
            </a:extLst>
          </p:cNvPr>
          <p:cNvSpPr>
            <a:spLocks noGrp="1"/>
          </p:cNvSpPr>
          <p:nvPr>
            <p:ph type="sldNum" sz="quarter" idx="12"/>
          </p:nvPr>
        </p:nvSpPr>
        <p:spPr/>
        <p:txBody>
          <a:bodyPr/>
          <a:lstStyle/>
          <a:p>
            <a:fld id="{C8CA5850-4711-418D-B090-9E8809BBEA03}" type="slidenum">
              <a:rPr lang="en-US" smtClean="0"/>
              <a:t>‹#›</a:t>
            </a:fld>
            <a:endParaRPr lang="en-US"/>
          </a:p>
        </p:txBody>
      </p:sp>
    </p:spTree>
    <p:extLst>
      <p:ext uri="{BB962C8B-B14F-4D97-AF65-F5344CB8AC3E}">
        <p14:creationId xmlns:p14="http://schemas.microsoft.com/office/powerpoint/2010/main" val="154863001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Title Only_Custom Background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7555195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99521895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92608237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8062342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92146694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4/10/2026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0166209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4/10/2026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5156034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4/10/2026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8738062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408299931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47001986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39997046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83290133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only_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754DF-CB0E-46F9-AA3C-00BC673EBDF3}"/>
              </a:ext>
            </a:extLst>
          </p:cNvPr>
          <p:cNvSpPr>
            <a:spLocks noGrp="1"/>
          </p:cNvSpPr>
          <p:nvPr>
            <p:ph type="title" hasCustomPrompt="1"/>
          </p:nvPr>
        </p:nvSpPr>
        <p:spPr>
          <a:xfrm>
            <a:off x="588263" y="457200"/>
            <a:ext cx="9653392" cy="553998"/>
          </a:xfrm>
        </p:spPr>
        <p:txBody>
          <a:bodyPr/>
          <a:lstStyle>
            <a:lvl1pPr marL="0" algn="l" defTabSz="932384" rtl="0" eaLnBrk="1" latinLnBrk="0" hangingPunct="1">
              <a:lnSpc>
                <a:spcPct val="100000"/>
              </a:lnSpc>
              <a:spcBef>
                <a:spcPct val="0"/>
              </a:spcBef>
              <a:buNone/>
              <a:defRPr lang="en-US" sz="3600" b="0" kern="1200" cap="none" spc="-50" baseline="0" dirty="0">
                <a:ln w="3175">
                  <a:noFill/>
                </a:ln>
                <a:solidFill>
                  <a:schemeClr val="accent2">
                    <a:lumMod val="50000"/>
                  </a:schemeClr>
                </a:solidFill>
                <a:effectLst/>
                <a:latin typeface="+mj-lt"/>
                <a:ea typeface="+mn-ea"/>
                <a:cs typeface="Segoe UI" pitchFamily="34" charset="0"/>
              </a:defRPr>
            </a:lvl1pPr>
          </a:lstStyle>
          <a:p>
            <a:r>
              <a:rPr lang="en-US"/>
              <a:t>Title only</a:t>
            </a:r>
          </a:p>
        </p:txBody>
      </p:sp>
      <p:pic>
        <p:nvPicPr>
          <p:cNvPr id="13" name="Picture 12" descr="Grey dots in a decorative spiral">
            <a:extLst>
              <a:ext uri="{FF2B5EF4-FFF2-40B4-BE49-F238E27FC236}">
                <a16:creationId xmlns:a16="http://schemas.microsoft.com/office/drawing/2014/main" id="{129FA58B-F4C2-FEF2-22E5-FAC33CC0DA58}"/>
              </a:ext>
              <a:ext uri="{C183D7F6-B498-43B3-948B-1728B52AA6E4}">
                <adec:decorative xmlns:adec="http://schemas.microsoft.com/office/drawing/2017/decorative" val="0"/>
              </a:ext>
            </a:extLst>
          </p:cNvPr>
          <p:cNvPicPr>
            <a:picLocks noChangeAspect="1"/>
          </p:cNvPicPr>
          <p:nvPr userDrawn="1"/>
        </p:nvPicPr>
        <p:blipFill rotWithShape="1">
          <a:blip r:embed="rId3" cstate="print">
            <a:alphaModFix amt="48000"/>
            <a:grayscl/>
            <a:extLst>
              <a:ext uri="{28A0092B-C50C-407E-A947-70E740481C1C}">
                <a14:useLocalDpi xmlns:a14="http://schemas.microsoft.com/office/drawing/2010/main" val="0"/>
              </a:ext>
            </a:extLst>
          </a:blip>
          <a:srcRect l="27639" t="18675" r="11937" b="17894"/>
          <a:stretch/>
        </p:blipFill>
        <p:spPr>
          <a:xfrm flipH="1">
            <a:off x="10728642" y="0"/>
            <a:ext cx="1463358" cy="1206500"/>
          </a:xfrm>
          <a:custGeom>
            <a:avLst/>
            <a:gdLst>
              <a:gd name="connsiteX0" fmla="*/ 1684338 w 1684338"/>
              <a:gd name="connsiteY0" fmla="*/ 0 h 1562100"/>
              <a:gd name="connsiteX1" fmla="*/ 0 w 1684338"/>
              <a:gd name="connsiteY1" fmla="*/ 0 h 1562100"/>
              <a:gd name="connsiteX2" fmla="*/ 0 w 1684338"/>
              <a:gd name="connsiteY2" fmla="*/ 1562100 h 1562100"/>
              <a:gd name="connsiteX3" fmla="*/ 1684338 w 1684338"/>
              <a:gd name="connsiteY3" fmla="*/ 1562100 h 1562100"/>
            </a:gdLst>
            <a:ahLst/>
            <a:cxnLst>
              <a:cxn ang="0">
                <a:pos x="connsiteX0" y="connsiteY0"/>
              </a:cxn>
              <a:cxn ang="0">
                <a:pos x="connsiteX1" y="connsiteY1"/>
              </a:cxn>
              <a:cxn ang="0">
                <a:pos x="connsiteX2" y="connsiteY2"/>
              </a:cxn>
              <a:cxn ang="0">
                <a:pos x="connsiteX3" y="connsiteY3"/>
              </a:cxn>
            </a:cxnLst>
            <a:rect l="l" t="t" r="r" b="b"/>
            <a:pathLst>
              <a:path w="1684338" h="1562100">
                <a:moveTo>
                  <a:pt x="1684338" y="0"/>
                </a:moveTo>
                <a:lnTo>
                  <a:pt x="0" y="0"/>
                </a:lnTo>
                <a:lnTo>
                  <a:pt x="0" y="1562100"/>
                </a:lnTo>
                <a:lnTo>
                  <a:pt x="1684338" y="1562100"/>
                </a:lnTo>
                <a:close/>
              </a:path>
            </a:pathLst>
          </a:custGeom>
        </p:spPr>
      </p:pic>
    </p:spTree>
    <p:custDataLst>
      <p:tags r:id="rId1"/>
    </p:custDataLst>
    <p:extLst>
      <p:ext uri="{BB962C8B-B14F-4D97-AF65-F5344CB8AC3E}">
        <p14:creationId xmlns:p14="http://schemas.microsoft.com/office/powerpoint/2010/main" val="300906940"/>
      </p:ext>
    </p:extLst>
  </p:cSld>
  <p:clrMapOvr>
    <a:masterClrMapping/>
  </p:clrMapOvr>
  <p:transition>
    <p:fade/>
  </p:transition>
  <p:extLst>
    <p:ext uri="{DCECCB84-F9BA-43D5-87BE-67443E8EF086}">
      <p15:sldGuideLst xmlns:p15="http://schemas.microsoft.com/office/powerpoint/2012/main">
        <p15:guide id="3" orient="horz" pos="900">
          <p15:clr>
            <a:srgbClr val="5ACBF0"/>
          </p15:clr>
        </p15:guide>
        <p15:guide id="4" orient="horz" pos="1272">
          <p15:clr>
            <a:srgbClr val="5ACBF0"/>
          </p15:clr>
        </p15:guide>
        <p15:guide id="5" orient="horz" pos="283">
          <p15:clr>
            <a:srgbClr val="5ACBF0"/>
          </p15:clr>
        </p15:guide>
        <p15:guide id="6" pos="3917">
          <p15:clr>
            <a:srgbClr val="FBAE40"/>
          </p15:clr>
        </p15:guide>
        <p15:guide id="7" orient="horz" pos="2203">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Title Only_Custom Background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5943918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 Id="rId9" Type="http://schemas.openxmlformats.org/officeDocument/2006/relationships/tags" Target="../tags/tag1.xml"/><Relationship Id="rId10" Type="http://schemas.openxmlformats.org/officeDocument/2006/relationships/image" Target="../media/image1.emf"/><Relationship Id="rId11"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slideLayout" Target="../slideLayouts/slideLayout9.xml"/><Relationship Id="rId3" Type="http://schemas.openxmlformats.org/officeDocument/2006/relationships/slideLayout" Target="../slideLayouts/slideLayout10.xml"/><Relationship Id="rId4" Type="http://schemas.openxmlformats.org/officeDocument/2006/relationships/slideLayout" Target="../slideLayouts/slideLayout11.xml"/><Relationship Id="rId5" Type="http://schemas.openxmlformats.org/officeDocument/2006/relationships/slideLayout" Target="../slideLayouts/slideLayout12.xml"/><Relationship Id="rId6" Type="http://schemas.openxmlformats.org/officeDocument/2006/relationships/slideLayout" Target="../slideLayouts/slideLayout13.xml"/><Relationship Id="rId7" Type="http://schemas.openxmlformats.org/officeDocument/2006/relationships/slideLayout" Target="../slideLayouts/slideLayout14.xml"/><Relationship Id="rId8" Type="http://schemas.openxmlformats.org/officeDocument/2006/relationships/slideLayout" Target="../slideLayouts/slideLayout15.xml"/><Relationship Id="rId9" Type="http://schemas.openxmlformats.org/officeDocument/2006/relationships/slideLayout" Target="../slideLayouts/slideLayout16.xml"/><Relationship Id="rId10" Type="http://schemas.openxmlformats.org/officeDocument/2006/relationships/slideLayout" Target="../slideLayouts/slideLayout17.xml"/><Relationship Id="rId11" Type="http://schemas.openxmlformats.org/officeDocument/2006/relationships/slideLayout" Target="../slideLayouts/slideLayout18.xml"/><Relationship Id="rId12" Type="http://schemas.openxmlformats.org/officeDocument/2006/relationships/slideLayout" Target="../slideLayouts/slideLayout19.xml"/><Relationship Id="rId13"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Layout" Target="../slideLayouts/slideLayout21.xml"/><Relationship Id="rId3" Type="http://schemas.openxmlformats.org/officeDocument/2006/relationships/slideLayout" Target="../slideLayouts/slideLayout22.xml"/><Relationship Id="rId4" Type="http://schemas.openxmlformats.org/officeDocument/2006/relationships/slideLayout" Target="../slideLayouts/slideLayout23.xml"/><Relationship Id="rId5" Type="http://schemas.openxmlformats.org/officeDocument/2006/relationships/slideLayout" Target="../slideLayouts/slideLayout24.xml"/><Relationship Id="rId6" Type="http://schemas.openxmlformats.org/officeDocument/2006/relationships/slideLayout" Target="../slideLayouts/slideLayout25.xml"/><Relationship Id="rId7" Type="http://schemas.openxmlformats.org/officeDocument/2006/relationships/slideLayout" Target="../slideLayouts/slideLayout26.xml"/><Relationship Id="rId8" Type="http://schemas.openxmlformats.org/officeDocument/2006/relationships/slideLayout" Target="../slideLayouts/slideLayout27.xml"/><Relationship Id="rId9" Type="http://schemas.openxmlformats.org/officeDocument/2006/relationships/slideLayout" Target="../slideLayouts/slideLayout28.xml"/><Relationship Id="rId10" Type="http://schemas.openxmlformats.org/officeDocument/2006/relationships/slideLayout" Target="../slideLayouts/slideLayout29.xml"/><Relationship Id="rId11" Type="http://schemas.openxmlformats.org/officeDocument/2006/relationships/slideLayout" Target="../slideLayouts/slideLayout30.xml"/><Relationship Id="rId12" Type="http://schemas.openxmlformats.org/officeDocument/2006/relationships/slideLayout" Target="../slideLayouts/slideLayout31.xml"/><Relationship Id="rId13" Type="http://schemas.openxmlformats.org/officeDocument/2006/relationships/slideLayout" Target="../slideLayouts/slideLayout32.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460563"/>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A4F863F8-3190-109C-7161-40345FE412FF}"/>
              </a:ext>
            </a:extLst>
          </p:cNvPr>
          <p:cNvSpPr/>
          <p:nvPr userDrawn="1"/>
        </p:nvSpPr>
        <p:spPr>
          <a:xfrm>
            <a:off x="584200" y="6496253"/>
            <a:ext cx="2727670" cy="200055"/>
          </a:xfrm>
          <a:prstGeom prst="rect">
            <a:avLst/>
          </a:prstGeom>
        </p:spPr>
        <p:txBody>
          <a:bodyPr wrap="none" lIns="0">
            <a:spAutoFit/>
          </a:bodyPr>
          <a:lstStyle/>
          <a:p>
            <a:r>
              <a:rPr lang="en-US" sz="700" b="0" i="0" spc="80" baseline="0">
                <a:solidFill>
                  <a:schemeClr val="tx1">
                    <a:lumMod val="50000"/>
                    <a:lumOff val="50000"/>
                  </a:schemeClr>
                </a:solidFill>
                <a:latin typeface="+mn-lt"/>
              </a:rPr>
              <a:t>MICROSOFT CONFIDENTIAL. FOR INTERNAL USE ONLY</a:t>
            </a:r>
          </a:p>
        </p:txBody>
      </p:sp>
      <p:pic>
        <p:nvPicPr>
          <p:cNvPr id="64" name="NEW Brand Colors 2018">
            <a:extLst>
              <a:ext uri="{FF2B5EF4-FFF2-40B4-BE49-F238E27FC236}">
                <a16:creationId xmlns:a16="http://schemas.microsoft.com/office/drawing/2014/main" id="{A8BA6B64-5E5E-4B2E-8DF2-17DC5A1D39B7}"/>
              </a:ext>
            </a:extLst>
          </p:cNvPr>
          <p:cNvPicPr>
            <a:picLocks noChangeAspect="1"/>
          </p:cNvPicPr>
          <p:nvPr userDrawn="1"/>
        </p:nvPicPr>
        <p:blipFill>
          <a:blip r:embed="rId10" cstate="screen">
            <a:extLst>
              <a:ext uri="{28A0092B-C50C-407E-A947-70E740481C1C}">
                <a14:useLocalDpi xmlns:a14="http://schemas.microsoft.com/office/drawing/2010/main"/>
              </a:ext>
            </a:extLst>
          </a:blip>
          <a:stretch>
            <a:fillRect/>
          </a:stretch>
        </p:blipFill>
        <p:spPr>
          <a:xfrm rot="5400000">
            <a:off x="9353628" y="2942644"/>
            <a:ext cx="6858000" cy="972712"/>
          </a:xfrm>
          <a:prstGeom prst="rect">
            <a:avLst/>
          </a:prstGeom>
        </p:spPr>
      </p:pic>
      <p:pic>
        <p:nvPicPr>
          <p:cNvPr id="94" name="Picture 93">
            <a:extLst>
              <a:ext uri="{FF2B5EF4-FFF2-40B4-BE49-F238E27FC236}">
                <a16:creationId xmlns:a16="http://schemas.microsoft.com/office/drawing/2014/main" id="{6A88F09E-5CD6-2540-F778-A9F2267C630D}"/>
              </a:ext>
              <a:ext uri="{C183D7F6-B498-43B3-948B-1728B52AA6E4}">
                <adec:decorative xmlns:adec="http://schemas.microsoft.com/office/drawing/2017/decorative" val="1"/>
              </a:ext>
            </a:extLst>
          </p:cNvPr>
          <p:cNvPicPr>
            <a:picLocks noChangeAspect="1"/>
          </p:cNvPicPr>
          <p:nvPr userDrawn="1"/>
        </p:nvPicPr>
        <p:blipFill>
          <a:blip r:embed="rId11"/>
          <a:stretch>
            <a:fillRect/>
          </a:stretch>
        </p:blipFill>
        <p:spPr>
          <a:xfrm>
            <a:off x="13373253" y="12841"/>
            <a:ext cx="340671" cy="6832318"/>
          </a:xfrm>
          <a:prstGeom prst="rect">
            <a:avLst/>
          </a:prstGeom>
        </p:spPr>
      </p:pic>
    </p:spTree>
    <p:custDataLst>
      <p:tags r:id="rId9"/>
    </p:custDataLst>
    <p:extLst>
      <p:ext uri="{BB962C8B-B14F-4D97-AF65-F5344CB8AC3E}">
        <p14:creationId xmlns:p14="http://schemas.microsoft.com/office/powerpoint/2010/main" val="2927840230"/>
      </p:ext>
    </p:extLst>
  </p:cSld>
  <p:clrMap bg1="lt1" tx1="dk1" bg2="lt2" tx2="dk2" accent1="accent1" accent2="accent2" accent3="accent3" accent4="accent4" accent5="accent5" accent6="accent6" hlink="hlink" folHlink="folHlink"/>
  <p:sldLayoutIdLst>
    <p:sldLayoutId id="2147483685" r:id="rId1"/>
    <p:sldLayoutId id="2147483689" r:id="rId2"/>
    <p:sldLayoutId id="2147483693" r:id="rId3"/>
    <p:sldLayoutId id="2147483723" r:id="rId4"/>
    <p:sldLayoutId id="2147483730" r:id="rId5"/>
    <p:sldLayoutId id="2147483800" r:id="rId6"/>
    <p:sldLayoutId id="2147483801" r:id="rId7"/>
  </p:sldLayoutIdLst>
  <p:transition>
    <p:fade/>
  </p:transition>
  <p:hf sldNum="0" hdr="0" ftr="0" dt="0"/>
  <p:txStyles>
    <p:titleStyle>
      <a:lvl1pPr algn="l" defTabSz="932563" rtl="0" eaLnBrk="1" latinLnBrk="0" hangingPunct="1">
        <a:lnSpc>
          <a:spcPct val="100000"/>
        </a:lnSpc>
        <a:spcBef>
          <a:spcPct val="0"/>
        </a:spcBef>
        <a:buNone/>
        <a:defRPr lang="en-US" sz="3529"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556" marR="0" indent="-22855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961" kern="1200" spc="0" baseline="0">
          <a:gradFill>
            <a:gsLst>
              <a:gs pos="1250">
                <a:schemeClr val="tx1"/>
              </a:gs>
              <a:gs pos="100000">
                <a:schemeClr val="tx1"/>
              </a:gs>
            </a:gsLst>
            <a:lin ang="5400000" scaled="0"/>
          </a:gradFill>
          <a:latin typeface="+mj-lt"/>
          <a:ea typeface="+mn-ea"/>
          <a:cs typeface="Segoe UI Semilight" panose="020B0402040204020203" pitchFamily="34" charset="0"/>
        </a:defRPr>
      </a:lvl1pPr>
      <a:lvl2pPr marL="457112" marR="0" indent="-22855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961" kern="1200" spc="0" baseline="0">
          <a:gradFill>
            <a:gsLst>
              <a:gs pos="1250">
                <a:schemeClr val="tx1"/>
              </a:gs>
              <a:gs pos="100000">
                <a:schemeClr val="tx1"/>
              </a:gs>
            </a:gsLst>
            <a:lin ang="5400000" scaled="0"/>
          </a:gradFill>
          <a:latin typeface="+mn-lt"/>
          <a:ea typeface="+mn-ea"/>
          <a:cs typeface="+mn-cs"/>
        </a:defRPr>
      </a:lvl2pPr>
      <a:lvl3pPr marL="657099" marR="0" indent="-19998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372" kern="1200" spc="0" baseline="0">
          <a:gradFill>
            <a:gsLst>
              <a:gs pos="1250">
                <a:schemeClr val="tx1"/>
              </a:gs>
              <a:gs pos="100000">
                <a:schemeClr val="tx1"/>
              </a:gs>
            </a:gsLst>
            <a:lin ang="5400000" scaled="0"/>
          </a:gradFill>
          <a:latin typeface="+mn-lt"/>
          <a:ea typeface="+mn-ea"/>
          <a:cs typeface="+mn-cs"/>
        </a:defRPr>
      </a:lvl3pPr>
      <a:lvl4pPr marL="842801" marR="0" indent="-180940"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372" kern="1200" spc="0" baseline="0">
          <a:gradFill>
            <a:gsLst>
              <a:gs pos="1250">
                <a:schemeClr val="tx1"/>
              </a:gs>
              <a:gs pos="100000">
                <a:schemeClr val="tx1"/>
              </a:gs>
            </a:gsLst>
            <a:lin ang="5400000" scaled="0"/>
          </a:gradFill>
          <a:latin typeface="+mn-lt"/>
          <a:ea typeface="+mn-ea"/>
          <a:cs typeface="+mn-cs"/>
        </a:defRPr>
      </a:lvl4pPr>
      <a:lvl5pPr marL="1023741" marR="0" indent="-168243"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372" kern="1200" spc="0" baseline="0">
          <a:gradFill>
            <a:gsLst>
              <a:gs pos="1250">
                <a:schemeClr val="tx1"/>
              </a:gs>
              <a:gs pos="100000">
                <a:schemeClr val="tx1"/>
              </a:gs>
            </a:gsLst>
            <a:lin ang="5400000" scaled="0"/>
          </a:gradFill>
          <a:latin typeface="+mn-lt"/>
          <a:ea typeface="+mn-ea"/>
          <a:cs typeface="+mn-cs"/>
        </a:defRPr>
      </a:lvl5pPr>
      <a:lvl6pPr marL="2564547"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0830"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111"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3394"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563" rtl="0" eaLnBrk="1" latinLnBrk="0" hangingPunct="1">
        <a:defRPr sz="1800" kern="1200">
          <a:solidFill>
            <a:schemeClr val="tx1"/>
          </a:solidFill>
          <a:latin typeface="+mn-lt"/>
          <a:ea typeface="+mn-ea"/>
          <a:cs typeface="+mn-cs"/>
        </a:defRPr>
      </a:lvl1pPr>
      <a:lvl2pPr marL="466282" algn="l" defTabSz="932563" rtl="0" eaLnBrk="1" latinLnBrk="0" hangingPunct="1">
        <a:defRPr sz="1800" kern="1200">
          <a:solidFill>
            <a:schemeClr val="tx1"/>
          </a:solidFill>
          <a:latin typeface="+mn-lt"/>
          <a:ea typeface="+mn-ea"/>
          <a:cs typeface="+mn-cs"/>
        </a:defRPr>
      </a:lvl2pPr>
      <a:lvl3pPr marL="932563" algn="l" defTabSz="932563" rtl="0" eaLnBrk="1" latinLnBrk="0" hangingPunct="1">
        <a:defRPr sz="1800" kern="1200">
          <a:solidFill>
            <a:schemeClr val="tx1"/>
          </a:solidFill>
          <a:latin typeface="+mn-lt"/>
          <a:ea typeface="+mn-ea"/>
          <a:cs typeface="+mn-cs"/>
        </a:defRPr>
      </a:lvl3pPr>
      <a:lvl4pPr marL="1398844" algn="l" defTabSz="932563" rtl="0" eaLnBrk="1" latinLnBrk="0" hangingPunct="1">
        <a:defRPr sz="1800" kern="1200">
          <a:solidFill>
            <a:schemeClr val="tx1"/>
          </a:solidFill>
          <a:latin typeface="+mn-lt"/>
          <a:ea typeface="+mn-ea"/>
          <a:cs typeface="+mn-cs"/>
        </a:defRPr>
      </a:lvl4pPr>
      <a:lvl5pPr marL="1865126" algn="l" defTabSz="932563" rtl="0" eaLnBrk="1" latinLnBrk="0" hangingPunct="1">
        <a:defRPr sz="1800" kern="1200">
          <a:solidFill>
            <a:schemeClr val="tx1"/>
          </a:solidFill>
          <a:latin typeface="+mn-lt"/>
          <a:ea typeface="+mn-ea"/>
          <a:cs typeface="+mn-cs"/>
        </a:defRPr>
      </a:lvl5pPr>
      <a:lvl6pPr marL="2331408" algn="l" defTabSz="932563" rtl="0" eaLnBrk="1" latinLnBrk="0" hangingPunct="1">
        <a:defRPr sz="1800" kern="1200">
          <a:solidFill>
            <a:schemeClr val="tx1"/>
          </a:solidFill>
          <a:latin typeface="+mn-lt"/>
          <a:ea typeface="+mn-ea"/>
          <a:cs typeface="+mn-cs"/>
        </a:defRPr>
      </a:lvl6pPr>
      <a:lvl7pPr marL="2797689" algn="l" defTabSz="932563" rtl="0" eaLnBrk="1" latinLnBrk="0" hangingPunct="1">
        <a:defRPr sz="1800" kern="1200">
          <a:solidFill>
            <a:schemeClr val="tx1"/>
          </a:solidFill>
          <a:latin typeface="+mn-lt"/>
          <a:ea typeface="+mn-ea"/>
          <a:cs typeface="+mn-cs"/>
        </a:defRPr>
      </a:lvl7pPr>
      <a:lvl8pPr marL="3263970" algn="l" defTabSz="932563" rtl="0" eaLnBrk="1" latinLnBrk="0" hangingPunct="1">
        <a:defRPr sz="1800" kern="1200">
          <a:solidFill>
            <a:schemeClr val="tx1"/>
          </a:solidFill>
          <a:latin typeface="+mn-lt"/>
          <a:ea typeface="+mn-ea"/>
          <a:cs typeface="+mn-cs"/>
        </a:defRPr>
      </a:lvl8pPr>
      <a:lvl9pPr marL="3730252" algn="l" defTabSz="932563"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5">
          <p15:clr>
            <a:srgbClr val="C35EA4"/>
          </p15:clr>
        </p15:guide>
        <p15:guide id="17" pos="7661">
          <p15:clr>
            <a:srgbClr val="A4A3A4"/>
          </p15:clr>
        </p15:guide>
        <p15:guide id="25" orient="horz" pos="379">
          <p15:clr>
            <a:srgbClr val="C35EA4"/>
          </p15:clr>
        </p15:guide>
        <p15:guide id="26" orient="horz" pos="4027">
          <p15:clr>
            <a:srgbClr val="C35EA4"/>
          </p15:clr>
        </p15:guide>
        <p15:guide id="27" orient="horz" pos="187">
          <p15:clr>
            <a:srgbClr val="A4A3A4"/>
          </p15:clr>
        </p15:guide>
        <p15:guide id="28" pos="173">
          <p15:clr>
            <a:srgbClr val="A4A3A4"/>
          </p15:clr>
        </p15:guide>
        <p15:guide id="29" orient="horz" pos="2347">
          <p15:clr>
            <a:srgbClr val="A4A3A4"/>
          </p15:clr>
        </p15:guide>
        <p15:guide id="30" pos="7320">
          <p15:clr>
            <a:srgbClr val="C35EA4"/>
          </p15:clr>
        </p15:guide>
        <p15:guide id="31" pos="3917">
          <p15:clr>
            <a:srgbClr val="C35EA4"/>
          </p15:clr>
        </p15:guide>
        <p15:guide id="32" orient="horz" pos="2203">
          <p15:clr>
            <a:srgbClr val="F26B43"/>
          </p15:clr>
        </p15:guide>
        <p15:guide id="33" orient="horz" pos="4219">
          <p15:clr>
            <a:srgbClr val="A4A3A4"/>
          </p15:clr>
        </p15:guide>
        <p15:guide id="34" orient="horz" pos="2059">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38FFDEB-E59B-898A-0919-D2FCE426388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7773C94-ED43-8244-6B02-E7234CAF928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4D8F9E-0E0A-9154-6906-F2228259F96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E128125-7331-418B-970D-A88E73B1885B}" type="datetimeFigureOut">
              <a:rPr lang="en-US" smtClean="0"/>
              <a:t>4/10/2026</a:t>
            </a:fld>
            <a:endParaRPr lang="en-US"/>
          </a:p>
        </p:txBody>
      </p:sp>
      <p:sp>
        <p:nvSpPr>
          <p:cNvPr id="5" name="Footer Placeholder 4">
            <a:extLst>
              <a:ext uri="{FF2B5EF4-FFF2-40B4-BE49-F238E27FC236}">
                <a16:creationId xmlns:a16="http://schemas.microsoft.com/office/drawing/2014/main" id="{9399CEC8-4581-4497-9206-B9F450C3E8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F03F71B-B2A7-7E82-4132-62F4B834C1A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8CA5850-4711-418D-B090-9E8809BBEA03}" type="slidenum">
              <a:rPr lang="en-US" smtClean="0"/>
              <a:t>‹#›</a:t>
            </a:fld>
            <a:endParaRPr lang="en-US"/>
          </a:p>
        </p:txBody>
      </p:sp>
    </p:spTree>
    <p:extLst>
      <p:ext uri="{BB962C8B-B14F-4D97-AF65-F5344CB8AC3E}">
        <p14:creationId xmlns:p14="http://schemas.microsoft.com/office/powerpoint/2010/main" val="174378396"/>
      </p:ext>
    </p:extLst>
  </p:cSld>
  <p:clrMap bg1="lt1" tx1="dk1" bg2="lt2" tx2="dk2" accent1="accent1" accent2="accent2" accent3="accent3" accent4="accent4" accent5="accent5" accent6="accent6" hlink="hlink" folHlink="folHlink"/>
  <p:sldLayoutIdLst>
    <p:sldLayoutId id="2147483894" r:id="rId1"/>
    <p:sldLayoutId id="2147483895" r:id="rId2"/>
    <p:sldLayoutId id="2147483896" r:id="rId3"/>
    <p:sldLayoutId id="2147483897" r:id="rId4"/>
    <p:sldLayoutId id="2147483898" r:id="rId5"/>
    <p:sldLayoutId id="2147483899" r:id="rId6"/>
    <p:sldLayoutId id="2147483900" r:id="rId7"/>
    <p:sldLayoutId id="2147483901" r:id="rId8"/>
    <p:sldLayoutId id="2147483902" r:id="rId9"/>
    <p:sldLayoutId id="2147483903" r:id="rId10"/>
    <p:sldLayoutId id="2147483904" r:id="rId11"/>
    <p:sldLayoutId id="2147483945"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4/10/2026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1930422111"/>
      </p:ext>
    </p:extLst>
  </p:cSld>
  <p:clrMap bg1="lt1" tx1="dk1" bg2="lt2" tx2="dk2" accent1="accent1" accent2="accent2" accent3="accent3" accent4="accent4" accent5="accent5" accent6="accent6" hlink="hlink" folHlink="folHlink"/>
  <p:sldLayoutIdLst>
    <p:sldLayoutId id="2147483932" r:id="rId1"/>
    <p:sldLayoutId id="2147483933" r:id="rId2"/>
    <p:sldLayoutId id="2147483934" r:id="rId3"/>
    <p:sldLayoutId id="2147483935" r:id="rId4"/>
    <p:sldLayoutId id="2147483936" r:id="rId5"/>
    <p:sldLayoutId id="2147483937" r:id="rId6"/>
    <p:sldLayoutId id="2147483938" r:id="rId7"/>
    <p:sldLayoutId id="2147483939" r:id="rId8"/>
    <p:sldLayoutId id="2147483940" r:id="rId9"/>
    <p:sldLayoutId id="2147483941" r:id="rId10"/>
    <p:sldLayoutId id="2147483942" r:id="rId11"/>
    <p:sldLayoutId id="2147483943" r:id="rId12"/>
    <p:sldLayoutId id="2147483944"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685800"/>
            <a:ext cx="3840480" cy="274320"/>
          </a:xfrm>
          <a:prstGeom prst="rect">
            <a:avLst/>
          </a:prstGeom>
          <a:noFill/>
        </p:spPr>
        <p:txBody>
          <a:bodyPr wrap="square">
            <a:spAutoFit/>
          </a:bodyPr>
          <a:lstStyle/>
          <a:p>
            <a:pPr algn="l">
              <a:defRPr sz="1400" b="0">
                <a:solidFill>
                  <a:srgbClr val="C5D7F2"/>
                </a:solidFill>
                <a:latin typeface="Aptos"/>
              </a:defRPr>
            </a:pPr>
            <a:r>
              <a:t>Roberto Borges presents</a:t>
            </a:r>
          </a:p>
        </p:txBody>
      </p:sp>
      <p:sp>
        <p:nvSpPr>
          <p:cNvPr id="3" name="TextBox 2"/>
          <p:cNvSpPr txBox="1"/>
          <p:nvPr/>
        </p:nvSpPr>
        <p:spPr>
          <a:xfrm>
            <a:off x="731520" y="1508760"/>
            <a:ext cx="10424160" cy="1097280"/>
          </a:xfrm>
          <a:prstGeom prst="rect">
            <a:avLst/>
          </a:prstGeom>
          <a:noFill/>
        </p:spPr>
        <p:txBody>
          <a:bodyPr wrap="square">
            <a:spAutoFit/>
          </a:bodyPr>
          <a:lstStyle/>
          <a:p>
            <a:pPr algn="l">
              <a:defRPr sz="2800" b="1">
                <a:solidFill>
                  <a:srgbClr val="FFFFFF"/>
                </a:solidFill>
                <a:latin typeface="Aptos Display"/>
              </a:defRPr>
            </a:pPr>
            <a:r>
              <a:t>Ocean's Twelve — The Azure Heist 🎰</a:t>
            </a:r>
          </a:p>
        </p:txBody>
      </p:sp>
      <p:sp>
        <p:nvSpPr>
          <p:cNvPr id="4" name="TextBox 3"/>
          <p:cNvSpPr txBox="1"/>
          <p:nvPr/>
        </p:nvSpPr>
        <p:spPr>
          <a:xfrm>
            <a:off x="731520" y="2606040"/>
            <a:ext cx="9875520" cy="548640"/>
          </a:xfrm>
          <a:prstGeom prst="rect">
            <a:avLst/>
          </a:prstGeom>
          <a:noFill/>
        </p:spPr>
        <p:txBody>
          <a:bodyPr wrap="square">
            <a:spAutoFit/>
          </a:bodyPr>
          <a:lstStyle/>
          <a:p>
            <a:pPr algn="l">
              <a:defRPr sz="2200" b="0">
                <a:solidFill>
                  <a:srgbClr val="C7E3FF"/>
                </a:solidFill>
                <a:latin typeface="Aptos Display"/>
              </a:defRPr>
            </a:pPr>
            <a:r>
              <a:t>Why Squad Orchestration Beats Monolithic Prompting</a:t>
            </a:r>
          </a:p>
        </p:txBody>
      </p:sp>
      <p:sp>
        <p:nvSpPr>
          <p:cNvPr id="5" name="TextBox 4"/>
          <p:cNvSpPr txBox="1"/>
          <p:nvPr/>
        </p:nvSpPr>
        <p:spPr>
          <a:xfrm>
            <a:off x="731520" y="3291840"/>
            <a:ext cx="9692640" cy="457200"/>
          </a:xfrm>
          <a:prstGeom prst="rect">
            <a:avLst/>
          </a:prstGeom>
          <a:noFill/>
        </p:spPr>
        <p:txBody>
          <a:bodyPr wrap="square">
            <a:spAutoFit/>
          </a:bodyPr>
          <a:lstStyle/>
          <a:p>
            <a:pPr algn="l">
              <a:defRPr sz="1500" b="0">
                <a:solidFill>
                  <a:srgbClr val="A6C5E8"/>
                </a:solidFill>
                <a:latin typeface="Aptos"/>
              </a:defRPr>
            </a:pPr>
            <a:r>
              <a:t>A GitHub Copilot Migration Architecture for Architects</a:t>
            </a:r>
          </a:p>
        </p:txBody>
      </p:sp>
      <p:sp>
        <p:nvSpPr>
          <p:cNvPr id="6" name="TextBox 5"/>
          <p:cNvSpPr txBox="1"/>
          <p:nvPr/>
        </p:nvSpPr>
        <p:spPr>
          <a:xfrm>
            <a:off x="731520" y="4800600"/>
            <a:ext cx="6583680" cy="365760"/>
          </a:xfrm>
          <a:prstGeom prst="rect">
            <a:avLst/>
          </a:prstGeom>
          <a:noFill/>
        </p:spPr>
        <p:txBody>
          <a:bodyPr wrap="square">
            <a:spAutoFit/>
          </a:bodyPr>
          <a:lstStyle/>
          <a:p>
            <a:pPr algn="l">
              <a:defRPr sz="1600" b="0">
                <a:solidFill>
                  <a:srgbClr val="FFFFFF"/>
                </a:solidFill>
                <a:latin typeface="Aptos"/>
              </a:defRPr>
            </a:pPr>
            <a:r>
              <a:t>From one giant prompt to a coordinated crew of specialists</a:t>
            </a:r>
          </a:p>
        </p:txBody>
      </p:sp>
      <p:sp>
        <p:nvSpPr>
          <p:cNvPr id="7" name="TextBox 6"/>
          <p:cNvSpPr txBox="1"/>
          <p:nvPr/>
        </p:nvSpPr>
        <p:spPr>
          <a:xfrm>
            <a:off x="731520" y="5623560"/>
            <a:ext cx="4572000" cy="274320"/>
          </a:xfrm>
          <a:prstGeom prst="rect">
            <a:avLst/>
          </a:prstGeom>
          <a:noFill/>
        </p:spPr>
        <p:txBody>
          <a:bodyPr wrap="square">
            <a:spAutoFit/>
          </a:bodyPr>
          <a:lstStyle/>
          <a:p>
            <a:pPr algn="l">
              <a:defRPr sz="1200" b="0">
                <a:solidFill>
                  <a:srgbClr val="B7C5D8"/>
                </a:solidFill>
                <a:latin typeface="Aptos"/>
              </a:defRPr>
            </a:pPr>
            <a:r>
              <a:t>Roberto Borges | Microsoft | 2026</a:t>
            </a:r>
          </a:p>
        </p:txBody>
      </p:sp>
      <p:sp>
        <p:nvSpPr>
          <p:cNvPr id="8" name="Oval 7"/>
          <p:cNvSpPr/>
          <p:nvPr/>
        </p:nvSpPr>
        <p:spPr>
          <a:xfrm>
            <a:off x="9784080" y="1234440"/>
            <a:ext cx="502920" cy="502920"/>
          </a:xfrm>
          <a:prstGeom prst="ellipse">
            <a:avLst/>
          </a:prstGeom>
          <a:solidFill>
            <a:srgbClr val="FE8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78440" y="1234440"/>
            <a:ext cx="502920" cy="502920"/>
          </a:xfrm>
          <a:prstGeom prst="ellipse">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972800" y="1234440"/>
            <a:ext cx="502920" cy="502920"/>
          </a:xfrm>
          <a:prstGeom prst="ellipse">
            <a:avLst/>
          </a:prstGeom>
          <a:solidFill>
            <a:srgbClr val="4636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0" y="6263640"/>
            <a:ext cx="1371600" cy="274320"/>
          </a:xfrm>
          <a:prstGeom prst="rect">
            <a:avLst/>
          </a:prstGeom>
          <a:noFill/>
        </p:spPr>
        <p:txBody>
          <a:bodyPr wrap="square">
            <a:spAutoFit/>
          </a:bodyPr>
          <a:lstStyle/>
          <a:p>
            <a:pPr algn="r">
              <a:defRPr sz="800" b="0">
                <a:solidFill>
                  <a:srgbClr val="666666"/>
                </a:solidFill>
                <a:latin typeface="Aptos"/>
              </a:defRPr>
            </a:pPr>
            <a:r>
              <a:t>1 / 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91440"/>
            <a:ext cx="12192000" cy="594360"/>
          </a:xfrm>
          <a:prstGeom prst="rect">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800" b="1">
                <a:solidFill>
                  <a:srgbClr val="FFFFFF"/>
                </a:solidFill>
                <a:latin typeface="Aptos Display"/>
              </a:defRPr>
            </a:pPr>
            <a:r>
              <a:t>The Problem: Legacy Migration at Scale</a:t>
            </a:r>
          </a:p>
        </p:txBody>
      </p:sp>
      <p:sp>
        <p:nvSpPr>
          <p:cNvPr id="3" name="TextBox 2"/>
          <p:cNvSpPr txBox="1"/>
          <p:nvPr/>
        </p:nvSpPr>
        <p:spPr>
          <a:xfrm>
            <a:off x="10515600" y="6263640"/>
            <a:ext cx="1371600" cy="274320"/>
          </a:xfrm>
          <a:prstGeom prst="rect">
            <a:avLst/>
          </a:prstGeom>
          <a:noFill/>
        </p:spPr>
        <p:txBody>
          <a:bodyPr wrap="square">
            <a:spAutoFit/>
          </a:bodyPr>
          <a:lstStyle/>
          <a:p>
            <a:pPr algn="r">
              <a:defRPr sz="800" b="0">
                <a:solidFill>
                  <a:srgbClr val="666666"/>
                </a:solidFill>
                <a:latin typeface="Aptos"/>
              </a:defRPr>
            </a:pPr>
            <a:r>
              <a:t>2 / 17</a:t>
            </a:r>
          </a:p>
        </p:txBody>
      </p:sp>
      <p:sp>
        <p:nvSpPr>
          <p:cNvPr id="4" name="Rounded Rectangle 3"/>
          <p:cNvSpPr/>
          <p:nvPr/>
        </p:nvSpPr>
        <p:spPr>
          <a:xfrm>
            <a:off x="548640" y="1417320"/>
            <a:ext cx="3611880" cy="2057400"/>
          </a:xfrm>
          <a:prstGeom prst="roundRect">
            <a:avLst>
              <a:gd name="adj" fmla="val 6000"/>
            </a:avLst>
          </a:prstGeom>
          <a:solidFill>
            <a:srgbClr val="FFFFFF"/>
          </a:solidFill>
          <a:ln w="12700">
            <a:solidFill>
              <a:srgbClr val="D0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21792" y="1490472"/>
            <a:ext cx="3465576" cy="45720"/>
          </a:xfrm>
          <a:prstGeom prst="rect">
            <a:avLst/>
          </a:prstGeom>
          <a:solidFill>
            <a:srgbClr val="01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673352"/>
            <a:ext cx="3319272" cy="457200"/>
          </a:xfrm>
          <a:prstGeom prst="rect">
            <a:avLst/>
          </a:prstGeom>
          <a:noFill/>
        </p:spPr>
        <p:txBody>
          <a:bodyPr wrap="square">
            <a:spAutoFit/>
          </a:bodyPr>
          <a:lstStyle/>
          <a:p>
            <a:pPr algn="ctr">
              <a:defRPr sz="2800" b="1">
                <a:solidFill>
                  <a:srgbClr val="0178D4"/>
                </a:solidFill>
                <a:latin typeface="Aptos Display"/>
              </a:defRPr>
            </a:pPr>
            <a:r>
              <a:t>7</a:t>
            </a:r>
          </a:p>
        </p:txBody>
      </p:sp>
      <p:sp>
        <p:nvSpPr>
          <p:cNvPr id="7" name="TextBox 6"/>
          <p:cNvSpPr txBox="1"/>
          <p:nvPr/>
        </p:nvSpPr>
        <p:spPr>
          <a:xfrm>
            <a:off x="694944" y="2221992"/>
            <a:ext cx="3319272" cy="411480"/>
          </a:xfrm>
          <a:prstGeom prst="rect">
            <a:avLst/>
          </a:prstGeom>
          <a:noFill/>
        </p:spPr>
        <p:txBody>
          <a:bodyPr wrap="square">
            <a:spAutoFit/>
          </a:bodyPr>
          <a:lstStyle/>
          <a:p>
            <a:pPr algn="ctr">
              <a:defRPr sz="1600" b="1">
                <a:solidFill>
                  <a:srgbClr val="333333"/>
                </a:solidFill>
                <a:latin typeface="Aptos"/>
              </a:defRPr>
            </a:pPr>
            <a:r>
              <a:t>7 Legacy Applications</a:t>
            </a:r>
          </a:p>
        </p:txBody>
      </p:sp>
      <p:sp>
        <p:nvSpPr>
          <p:cNvPr id="8" name="TextBox 7"/>
          <p:cNvSpPr txBox="1"/>
          <p:nvPr/>
        </p:nvSpPr>
        <p:spPr>
          <a:xfrm>
            <a:off x="713232" y="2697480"/>
            <a:ext cx="3282696" cy="1143000"/>
          </a:xfrm>
          <a:prstGeom prst="rect">
            <a:avLst/>
          </a:prstGeom>
          <a:noFill/>
        </p:spPr>
        <p:txBody>
          <a:bodyPr wrap="square">
            <a:spAutoFit/>
          </a:bodyPr>
          <a:lstStyle/>
          <a:p>
            <a:pPr algn="ctr">
              <a:defRPr sz="1200" b="0">
                <a:solidFill>
                  <a:srgbClr val="666666"/>
                </a:solidFill>
                <a:latin typeface="Aptos"/>
              </a:defRPr>
            </a:pPr>
            <a:r>
              <a:t>Classic ASP, .NET 3.0-4.5, WCF, Java 8</a:t>
            </a:r>
          </a:p>
        </p:txBody>
      </p:sp>
      <p:sp>
        <p:nvSpPr>
          <p:cNvPr id="9" name="Rounded Rectangle 8"/>
          <p:cNvSpPr/>
          <p:nvPr/>
        </p:nvSpPr>
        <p:spPr>
          <a:xfrm>
            <a:off x="4279392" y="1417320"/>
            <a:ext cx="3611880" cy="2057400"/>
          </a:xfrm>
          <a:prstGeom prst="roundRect">
            <a:avLst>
              <a:gd name="adj" fmla="val 6000"/>
            </a:avLst>
          </a:prstGeom>
          <a:solidFill>
            <a:srgbClr val="FFFFFF"/>
          </a:solidFill>
          <a:ln w="12700">
            <a:solidFill>
              <a:srgbClr val="D0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52544" y="1490472"/>
            <a:ext cx="3465576" cy="45720"/>
          </a:xfrm>
          <a:prstGeom prst="rect">
            <a:avLst/>
          </a:prstGeom>
          <a:solidFill>
            <a:srgbClr val="FE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25696" y="1673352"/>
            <a:ext cx="3319272" cy="457200"/>
          </a:xfrm>
          <a:prstGeom prst="rect">
            <a:avLst/>
          </a:prstGeom>
          <a:noFill/>
        </p:spPr>
        <p:txBody>
          <a:bodyPr wrap="square">
            <a:spAutoFit/>
          </a:bodyPr>
          <a:lstStyle/>
          <a:p>
            <a:pPr algn="ctr">
              <a:defRPr sz="2800" b="1">
                <a:solidFill>
                  <a:srgbClr val="FE8B00"/>
                </a:solidFill>
                <a:latin typeface="Aptos Display"/>
              </a:defRPr>
            </a:pPr>
            <a:r>
              <a:t>12+</a:t>
            </a:r>
          </a:p>
        </p:txBody>
      </p:sp>
      <p:sp>
        <p:nvSpPr>
          <p:cNvPr id="12" name="TextBox 11"/>
          <p:cNvSpPr txBox="1"/>
          <p:nvPr/>
        </p:nvSpPr>
        <p:spPr>
          <a:xfrm>
            <a:off x="4425696" y="2221992"/>
            <a:ext cx="3319272" cy="411480"/>
          </a:xfrm>
          <a:prstGeom prst="rect">
            <a:avLst/>
          </a:prstGeom>
          <a:noFill/>
        </p:spPr>
        <p:txBody>
          <a:bodyPr wrap="square">
            <a:spAutoFit/>
          </a:bodyPr>
          <a:lstStyle/>
          <a:p>
            <a:pPr algn="ctr">
              <a:defRPr sz="1600" b="1">
                <a:solidFill>
                  <a:srgbClr val="333333"/>
                </a:solidFill>
                <a:latin typeface="Aptos"/>
              </a:defRPr>
            </a:pPr>
            <a:r>
              <a:t>12+ Migration Concerns</a:t>
            </a:r>
          </a:p>
        </p:txBody>
      </p:sp>
      <p:sp>
        <p:nvSpPr>
          <p:cNvPr id="13" name="TextBox 12"/>
          <p:cNvSpPr txBox="1"/>
          <p:nvPr/>
        </p:nvSpPr>
        <p:spPr>
          <a:xfrm>
            <a:off x="4443984" y="2697480"/>
            <a:ext cx="3282696" cy="1143000"/>
          </a:xfrm>
          <a:prstGeom prst="rect">
            <a:avLst/>
          </a:prstGeom>
          <a:noFill/>
        </p:spPr>
        <p:txBody>
          <a:bodyPr wrap="square">
            <a:spAutoFit/>
          </a:bodyPr>
          <a:lstStyle/>
          <a:p>
            <a:pPr algn="ctr">
              <a:defRPr sz="1200" b="0">
                <a:solidFill>
                  <a:srgbClr val="666666"/>
                </a:solidFill>
                <a:latin typeface="Aptos"/>
              </a:defRPr>
            </a:pPr>
            <a:r>
              <a:t>Security, Performance, DB, CI/CD, Monitoring, Cost</a:t>
            </a:r>
          </a:p>
        </p:txBody>
      </p:sp>
      <p:sp>
        <p:nvSpPr>
          <p:cNvPr id="14" name="Rounded Rectangle 13"/>
          <p:cNvSpPr/>
          <p:nvPr/>
        </p:nvSpPr>
        <p:spPr>
          <a:xfrm>
            <a:off x="8010144" y="1417320"/>
            <a:ext cx="3611880" cy="2057400"/>
          </a:xfrm>
          <a:prstGeom prst="roundRect">
            <a:avLst>
              <a:gd name="adj" fmla="val 6000"/>
            </a:avLst>
          </a:prstGeom>
          <a:solidFill>
            <a:srgbClr val="FFFFFF"/>
          </a:solidFill>
          <a:ln w="12700">
            <a:solidFill>
              <a:srgbClr val="D0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83296" y="1490472"/>
            <a:ext cx="3465576" cy="45720"/>
          </a:xfrm>
          <a:prstGeom prst="rect">
            <a:avLst/>
          </a:prstGeom>
          <a:solidFill>
            <a:srgbClr val="4636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56448" y="1673352"/>
            <a:ext cx="3319272" cy="457200"/>
          </a:xfrm>
          <a:prstGeom prst="rect">
            <a:avLst/>
          </a:prstGeom>
          <a:noFill/>
        </p:spPr>
        <p:txBody>
          <a:bodyPr wrap="square">
            <a:spAutoFit/>
          </a:bodyPr>
          <a:lstStyle/>
          <a:p>
            <a:pPr algn="ctr">
              <a:defRPr sz="2800" b="1">
                <a:solidFill>
                  <a:srgbClr val="463668"/>
                </a:solidFill>
                <a:latin typeface="Aptos Display"/>
              </a:defRPr>
            </a:pPr>
            <a:r>
              <a:t>1</a:t>
            </a:r>
          </a:p>
        </p:txBody>
      </p:sp>
      <p:sp>
        <p:nvSpPr>
          <p:cNvPr id="17" name="TextBox 16"/>
          <p:cNvSpPr txBox="1"/>
          <p:nvPr/>
        </p:nvSpPr>
        <p:spPr>
          <a:xfrm>
            <a:off x="8156448" y="2221992"/>
            <a:ext cx="3319272" cy="411480"/>
          </a:xfrm>
          <a:prstGeom prst="rect">
            <a:avLst/>
          </a:prstGeom>
          <a:noFill/>
        </p:spPr>
        <p:txBody>
          <a:bodyPr wrap="square">
            <a:spAutoFit/>
          </a:bodyPr>
          <a:lstStyle/>
          <a:p>
            <a:pPr algn="ctr">
              <a:defRPr sz="1600" b="1">
                <a:solidFill>
                  <a:srgbClr val="333333"/>
                </a:solidFill>
                <a:latin typeface="Aptos"/>
              </a:defRPr>
            </a:pPr>
            <a:r>
              <a:t>1 Developer</a:t>
            </a:r>
          </a:p>
        </p:txBody>
      </p:sp>
      <p:sp>
        <p:nvSpPr>
          <p:cNvPr id="18" name="TextBox 17"/>
          <p:cNvSpPr txBox="1"/>
          <p:nvPr/>
        </p:nvSpPr>
        <p:spPr>
          <a:xfrm>
            <a:off x="8174736" y="2697480"/>
            <a:ext cx="3282696" cy="1143000"/>
          </a:xfrm>
          <a:prstGeom prst="rect">
            <a:avLst/>
          </a:prstGeom>
          <a:noFill/>
        </p:spPr>
        <p:txBody>
          <a:bodyPr wrap="square">
            <a:spAutoFit/>
          </a:bodyPr>
          <a:lstStyle/>
          <a:p>
            <a:pPr algn="ctr">
              <a:defRPr sz="1200" b="0">
                <a:solidFill>
                  <a:srgbClr val="666666"/>
                </a:solidFill>
                <a:latin typeface="Aptos"/>
              </a:defRPr>
            </a:pPr>
            <a:r>
              <a:t>Can't hold all context at once</a:t>
            </a:r>
          </a:p>
        </p:txBody>
      </p:sp>
      <p:sp>
        <p:nvSpPr>
          <p:cNvPr id="19" name="TextBox 18"/>
          <p:cNvSpPr txBox="1"/>
          <p:nvPr/>
        </p:nvSpPr>
        <p:spPr>
          <a:xfrm>
            <a:off x="914400" y="4343400"/>
            <a:ext cx="10332720" cy="731520"/>
          </a:xfrm>
          <a:prstGeom prst="rect">
            <a:avLst/>
          </a:prstGeom>
          <a:noFill/>
        </p:spPr>
        <p:txBody>
          <a:bodyPr wrap="square">
            <a:spAutoFit/>
          </a:bodyPr>
          <a:lstStyle/>
          <a:p>
            <a:pPr algn="ctr">
              <a:defRPr sz="2200" b="1">
                <a:solidFill>
                  <a:srgbClr val="333333"/>
                </a:solidFill>
                <a:latin typeface="Aptos Display"/>
              </a:defRPr>
            </a:pPr>
            <a:r>
              <a:t>How do you orchestrate 7 migrations across 12 domains without losing quality?</a:t>
            </a:r>
          </a:p>
        </p:txBody>
      </p:sp>
      <p:sp>
        <p:nvSpPr>
          <p:cNvPr id="20" name="TextBox 19"/>
          <p:cNvSpPr txBox="1"/>
          <p:nvPr/>
        </p:nvSpPr>
        <p:spPr>
          <a:xfrm>
            <a:off x="1828800" y="4983480"/>
            <a:ext cx="8412480" cy="411480"/>
          </a:xfrm>
          <a:prstGeom prst="rect">
            <a:avLst/>
          </a:prstGeom>
          <a:noFill/>
        </p:spPr>
        <p:txBody>
          <a:bodyPr wrap="square">
            <a:spAutoFit/>
          </a:bodyPr>
          <a:lstStyle/>
          <a:p>
            <a:pPr algn="ctr">
              <a:defRPr sz="1400" b="0">
                <a:solidFill>
                  <a:srgbClr val="666666"/>
                </a:solidFill>
                <a:latin typeface="Aptos"/>
              </a:defRPr>
            </a:pPr>
            <a:r>
              <a:t>That is an architecture problem, not a prompting problem.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91440"/>
            <a:ext cx="12192000" cy="594360"/>
          </a:xfrm>
          <a:prstGeom prst="rect">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800" b="1">
                <a:solidFill>
                  <a:srgbClr val="FFFFFF"/>
                </a:solidFill>
                <a:latin typeface="Aptos Display"/>
              </a:defRPr>
            </a:pPr>
            <a:r>
              <a:t>The Old Way: Monolithic Prompting</a:t>
            </a:r>
          </a:p>
        </p:txBody>
      </p:sp>
      <p:sp>
        <p:nvSpPr>
          <p:cNvPr id="3" name="TextBox 2"/>
          <p:cNvSpPr txBox="1"/>
          <p:nvPr/>
        </p:nvSpPr>
        <p:spPr>
          <a:xfrm>
            <a:off x="10515600" y="6263640"/>
            <a:ext cx="1371600" cy="274320"/>
          </a:xfrm>
          <a:prstGeom prst="rect">
            <a:avLst/>
          </a:prstGeom>
          <a:noFill/>
        </p:spPr>
        <p:txBody>
          <a:bodyPr wrap="square">
            <a:spAutoFit/>
          </a:bodyPr>
          <a:lstStyle/>
          <a:p>
            <a:pPr algn="r">
              <a:defRPr sz="800" b="0">
                <a:solidFill>
                  <a:srgbClr val="666666"/>
                </a:solidFill>
                <a:latin typeface="Aptos"/>
              </a:defRPr>
            </a:pPr>
            <a:r>
              <a:t>3 / 17</a:t>
            </a:r>
          </a:p>
        </p:txBody>
      </p:sp>
      <p:sp>
        <p:nvSpPr>
          <p:cNvPr id="4" name="Rectangle 3"/>
          <p:cNvSpPr/>
          <p:nvPr/>
        </p:nvSpPr>
        <p:spPr>
          <a:xfrm>
            <a:off x="594360" y="914400"/>
            <a:ext cx="1005840" cy="274320"/>
          </a:xfrm>
          <a:prstGeom prst="rect">
            <a:avLst/>
          </a:prstGeom>
          <a:solidFill>
            <a:srgbClr val="D83B0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6200" rIns="76200"/>
          <a:lstStyle/>
          <a:p>
            <a:pPr algn="ctr">
              <a:defRPr sz="1100" b="1">
                <a:solidFill>
                  <a:srgbClr val="FFFFFF"/>
                </a:solidFill>
                <a:latin typeface="Aptos"/>
              </a:defRPr>
            </a:pPr>
            <a:r>
              <a:t>Before</a:t>
            </a:r>
          </a:p>
        </p:txBody>
      </p:sp>
      <p:sp>
        <p:nvSpPr>
          <p:cNvPr id="5" name="Rounded Rectangle 4"/>
          <p:cNvSpPr/>
          <p:nvPr/>
        </p:nvSpPr>
        <p:spPr>
          <a:xfrm>
            <a:off x="822960" y="2148840"/>
            <a:ext cx="1234440" cy="731520"/>
          </a:xfrm>
          <a:prstGeom prst="roundRect">
            <a:avLst/>
          </a:prstGeom>
          <a:solidFill>
            <a:srgbClr val="4A4E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latin typeface="Aptos"/>
              </a:defRPr>
            </a:pPr>
            <a:r>
              <a:t>User</a:t>
            </a:r>
          </a:p>
        </p:txBody>
      </p:sp>
      <p:sp>
        <p:nvSpPr>
          <p:cNvPr id="6" name="Rounded Rectangle 5"/>
          <p:cNvSpPr/>
          <p:nvPr/>
        </p:nvSpPr>
        <p:spPr>
          <a:xfrm>
            <a:off x="2606040" y="1920240"/>
            <a:ext cx="2606040" cy="1188720"/>
          </a:xfrm>
          <a:prstGeom prst="roundRect">
            <a:avLst/>
          </a:prstGeom>
          <a:solidFill>
            <a:srgbClr val="D83B0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FFFFFF"/>
                </a:solidFill>
                <a:latin typeface="Aptos"/>
              </a:defRPr>
            </a:pPr>
            <a:r>
              <a:t>Single Prompt File</a:t>
            </a:r>
            <a:br/>
            <a:r>
              <a:t>(500+ lines)</a:t>
            </a:r>
          </a:p>
        </p:txBody>
      </p:sp>
      <p:sp>
        <p:nvSpPr>
          <p:cNvPr id="7" name="Rounded Rectangle 6"/>
          <p:cNvSpPr/>
          <p:nvPr/>
        </p:nvSpPr>
        <p:spPr>
          <a:xfrm>
            <a:off x="5760720" y="2148840"/>
            <a:ext cx="1463040" cy="731520"/>
          </a:xfrm>
          <a:prstGeom prst="roundRect">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latin typeface="Aptos"/>
              </a:defRPr>
            </a:pPr>
            <a:r>
              <a:t>Copilot</a:t>
            </a:r>
          </a:p>
        </p:txBody>
      </p:sp>
      <p:sp>
        <p:nvSpPr>
          <p:cNvPr id="8" name="Right Arrow 7"/>
          <p:cNvSpPr/>
          <p:nvPr/>
        </p:nvSpPr>
        <p:spPr>
          <a:xfrm>
            <a:off x="2103120" y="2404872"/>
            <a:ext cx="411480" cy="228600"/>
          </a:xfrm>
          <a:prstGeom prst="rightArrow">
            <a:avLst/>
          </a:prstGeom>
          <a:solidFill>
            <a:srgbClr val="D83B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ight Arrow 8"/>
          <p:cNvSpPr/>
          <p:nvPr/>
        </p:nvSpPr>
        <p:spPr>
          <a:xfrm>
            <a:off x="5321808" y="2404872"/>
            <a:ext cx="347472" cy="228600"/>
          </a:xfrm>
          <a:prstGeom prst="rightArrow">
            <a:avLst/>
          </a:prstGeom>
          <a:solidFill>
            <a:srgbClr val="D83B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3429000"/>
            <a:ext cx="6355080" cy="411480"/>
          </a:xfrm>
          <a:prstGeom prst="rect">
            <a:avLst/>
          </a:prstGeom>
          <a:noFill/>
        </p:spPr>
        <p:txBody>
          <a:bodyPr wrap="square">
            <a:spAutoFit/>
          </a:bodyPr>
          <a:lstStyle/>
          <a:p>
            <a:pPr algn="ctr">
              <a:defRPr sz="1500" b="0">
                <a:solidFill>
                  <a:srgbClr val="666666"/>
                </a:solidFill>
                <a:latin typeface="Aptos"/>
              </a:defRPr>
            </a:pPr>
            <a:r>
              <a:t>Linear, sequential, one-size-fits-all</a:t>
            </a:r>
          </a:p>
        </p:txBody>
      </p:sp>
      <p:sp>
        <p:nvSpPr>
          <p:cNvPr id="11" name="Rounded Rectangle 10"/>
          <p:cNvSpPr/>
          <p:nvPr/>
        </p:nvSpPr>
        <p:spPr>
          <a:xfrm>
            <a:off x="7360920" y="1325880"/>
            <a:ext cx="4114800" cy="4114800"/>
          </a:xfrm>
          <a:prstGeom prst="roundRect">
            <a:avLst>
              <a:gd name="adj" fmla="val 6000"/>
            </a:avLst>
          </a:prstGeom>
          <a:solidFill>
            <a:srgbClr val="FEF7F6"/>
          </a:solidFill>
          <a:ln w="12700">
            <a:solidFill>
              <a:srgbClr val="F0C5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60920" y="1325880"/>
            <a:ext cx="4114800" cy="45720"/>
          </a:xfrm>
          <a:prstGeom prst="rect">
            <a:avLst/>
          </a:prstGeom>
          <a:solidFill>
            <a:srgbClr val="D83B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25512" y="1527048"/>
            <a:ext cx="3017520" cy="365760"/>
          </a:xfrm>
          <a:prstGeom prst="rect">
            <a:avLst/>
          </a:prstGeom>
          <a:noFill/>
        </p:spPr>
        <p:txBody>
          <a:bodyPr wrap="square">
            <a:spAutoFit/>
          </a:bodyPr>
          <a:lstStyle/>
          <a:p>
            <a:pPr algn="l">
              <a:defRPr sz="1600" b="1">
                <a:solidFill>
                  <a:srgbClr val="D83B02"/>
                </a:solidFill>
                <a:latin typeface="Aptos Display"/>
              </a:defRPr>
            </a:pPr>
            <a:r>
              <a:t>Pain points</a:t>
            </a:r>
          </a:p>
        </p:txBody>
      </p:sp>
      <p:sp>
        <p:nvSpPr>
          <p:cNvPr id="14" name="TextBox 13"/>
          <p:cNvSpPr txBox="1"/>
          <p:nvPr/>
        </p:nvSpPr>
        <p:spPr>
          <a:xfrm>
            <a:off x="7562088" y="2011680"/>
            <a:ext cx="3657600" cy="3291840"/>
          </a:xfrm>
          <a:prstGeom prst="rect">
            <a:avLst/>
          </a:prstGeom>
          <a:noFill/>
        </p:spPr>
        <p:txBody>
          <a:bodyPr wrap="square">
            <a:spAutoFit/>
          </a:bodyPr>
          <a:lstStyle/>
          <a:p>
            <a:pPr>
              <a:spcAft>
                <a:spcPts val="400"/>
              </a:spcAft>
              <a:defRPr sz="1200" b="0">
                <a:solidFill>
                  <a:srgbClr val="333333"/>
                </a:solidFill>
                <a:latin typeface="Aptos"/>
              </a:defRPr>
            </a:pPr>
            <a:r>
              <a:t>❌ One giant prompt tries to cover everything</a:t>
            </a:r>
          </a:p>
          <a:p>
            <a:pPr>
              <a:spcAft>
                <a:spcPts val="400"/>
              </a:spcAft>
              <a:defRPr sz="1200" b="0">
                <a:solidFill>
                  <a:srgbClr val="333333"/>
                </a:solidFill>
                <a:latin typeface="Aptos"/>
              </a:defRPr>
            </a:pPr>
            <a:r>
              <a:t>❌ No specialization — same prompt for security AND database AND performance</a:t>
            </a:r>
          </a:p>
          <a:p>
            <a:pPr>
              <a:spcAft>
                <a:spcPts val="400"/>
              </a:spcAft>
              <a:defRPr sz="1200" b="0">
                <a:solidFill>
                  <a:srgbClr val="333333"/>
                </a:solidFill>
                <a:latin typeface="Aptos"/>
              </a:defRPr>
            </a:pPr>
            <a:r>
              <a:t>❌ No memory between sessions</a:t>
            </a:r>
          </a:p>
          <a:p>
            <a:pPr>
              <a:spcAft>
                <a:spcPts val="400"/>
              </a:spcAft>
              <a:defRPr sz="1200" b="0">
                <a:solidFill>
                  <a:srgbClr val="333333"/>
                </a:solidFill>
                <a:latin typeface="Aptos"/>
              </a:defRPr>
            </a:pPr>
            <a:r>
              <a:t>❌ No quality gates or validation</a:t>
            </a:r>
          </a:p>
          <a:p>
            <a:pPr>
              <a:spcAft>
                <a:spcPts val="400"/>
              </a:spcAft>
              <a:defRPr sz="1200" b="0">
                <a:solidFill>
                  <a:srgbClr val="333333"/>
                </a:solidFill>
                <a:latin typeface="Aptos"/>
              </a:defRPr>
            </a:pPr>
            <a:r>
              <a:t>❌ Context window overflow on complex tasks</a:t>
            </a:r>
          </a:p>
          <a:p>
            <a:pPr>
              <a:spcAft>
                <a:spcPts val="400"/>
              </a:spcAft>
              <a:defRPr sz="1200" b="0">
                <a:solidFill>
                  <a:srgbClr val="333333"/>
                </a:solidFill>
                <a:latin typeface="Aptos"/>
              </a:defRPr>
            </a:pPr>
            <a:r>
              <a:t>❌ No parallel execution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91440"/>
            <a:ext cx="12192000" cy="594360"/>
          </a:xfrm>
          <a:prstGeom prst="rect">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800" b="1">
                <a:solidFill>
                  <a:srgbClr val="FFFFFF"/>
                </a:solidFill>
                <a:latin typeface="Aptos Display"/>
              </a:defRPr>
            </a:pPr>
            <a:r>
              <a:t>The New Way: Ocean's Twelve Squad</a:t>
            </a:r>
          </a:p>
        </p:txBody>
      </p:sp>
      <p:sp>
        <p:nvSpPr>
          <p:cNvPr id="3" name="TextBox 2"/>
          <p:cNvSpPr txBox="1"/>
          <p:nvPr/>
        </p:nvSpPr>
        <p:spPr>
          <a:xfrm>
            <a:off x="10515600" y="6263640"/>
            <a:ext cx="1371600" cy="274320"/>
          </a:xfrm>
          <a:prstGeom prst="rect">
            <a:avLst/>
          </a:prstGeom>
          <a:noFill/>
        </p:spPr>
        <p:txBody>
          <a:bodyPr wrap="square">
            <a:spAutoFit/>
          </a:bodyPr>
          <a:lstStyle/>
          <a:p>
            <a:pPr algn="r">
              <a:defRPr sz="800" b="0">
                <a:solidFill>
                  <a:srgbClr val="666666"/>
                </a:solidFill>
                <a:latin typeface="Aptos"/>
              </a:defRPr>
            </a:pPr>
            <a:r>
              <a:t>4 / 17</a:t>
            </a:r>
          </a:p>
        </p:txBody>
      </p:sp>
      <p:sp>
        <p:nvSpPr>
          <p:cNvPr id="4" name="Rectangle 3"/>
          <p:cNvSpPr/>
          <p:nvPr/>
        </p:nvSpPr>
        <p:spPr>
          <a:xfrm>
            <a:off x="594360" y="914400"/>
            <a:ext cx="914400" cy="274320"/>
          </a:xfrm>
          <a:prstGeom prst="rect">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6200" rIns="76200"/>
          <a:lstStyle/>
          <a:p>
            <a:pPr algn="ctr">
              <a:defRPr sz="1100" b="1">
                <a:solidFill>
                  <a:srgbClr val="FFFFFF"/>
                </a:solidFill>
                <a:latin typeface="Aptos"/>
              </a:defRPr>
            </a:pPr>
            <a:r>
              <a:t>After</a:t>
            </a:r>
          </a:p>
        </p:txBody>
      </p:sp>
      <p:sp>
        <p:nvSpPr>
          <p:cNvPr id="5" name="Rounded Rectangle 4"/>
          <p:cNvSpPr/>
          <p:nvPr/>
        </p:nvSpPr>
        <p:spPr>
          <a:xfrm>
            <a:off x="5029200" y="1005840"/>
            <a:ext cx="1920240" cy="457200"/>
          </a:xfrm>
          <a:prstGeom prst="roundRect">
            <a:avLst/>
          </a:prstGeom>
          <a:solidFill>
            <a:srgbClr val="4A4E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Aptos"/>
              </a:defRPr>
            </a:pPr>
            <a:r>
              <a:t>User</a:t>
            </a:r>
          </a:p>
        </p:txBody>
      </p:sp>
      <p:sp>
        <p:nvSpPr>
          <p:cNvPr id="6" name="Rounded Rectangle 5"/>
          <p:cNvSpPr/>
          <p:nvPr/>
        </p:nvSpPr>
        <p:spPr>
          <a:xfrm>
            <a:off x="4297680" y="1691640"/>
            <a:ext cx="3383280" cy="594360"/>
          </a:xfrm>
          <a:prstGeom prst="roundRect">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Aptos"/>
              </a:defRPr>
            </a:pPr>
            <a:r>
              <a:t>Migration Orchestrator (Chatmode)</a:t>
            </a:r>
          </a:p>
        </p:txBody>
      </p:sp>
      <p:cxnSp>
        <p:nvCxnSpPr>
          <p:cNvPr id="7" name="Connector 6"/>
          <p:cNvCxnSpPr/>
          <p:nvPr/>
        </p:nvCxnSpPr>
        <p:spPr>
          <a:xfrm>
            <a:off x="5989320" y="1463040"/>
            <a:ext cx="0" cy="228600"/>
          </a:xfrm>
          <a:prstGeom prst="line">
            <a:avLst/>
          </a:prstGeom>
          <a:ln w="25400">
            <a:solidFill>
              <a:srgbClr val="0178D4"/>
            </a:solidFill>
          </a:ln>
        </p:spPr>
        <p:style>
          <a:lnRef idx="2">
            <a:schemeClr val="accent1"/>
          </a:lnRef>
          <a:fillRef idx="0">
            <a:schemeClr val="accent1"/>
          </a:fillRef>
          <a:effectRef idx="1">
            <a:schemeClr val="accent1"/>
          </a:effectRef>
          <a:fontRef idx="minor">
            <a:schemeClr val="tx1"/>
          </a:fontRef>
        </p:style>
      </p:cxnSp>
      <p:sp>
        <p:nvSpPr>
          <p:cNvPr id="8" name="Right Arrow 7"/>
          <p:cNvSpPr/>
          <p:nvPr/>
        </p:nvSpPr>
        <p:spPr>
          <a:xfrm>
            <a:off x="5824728" y="1517904"/>
            <a:ext cx="329184" cy="228600"/>
          </a:xfrm>
          <a:prstGeom prst="rightArrow">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flipH="1">
            <a:off x="1755648" y="2286000"/>
            <a:ext cx="4233672" cy="274320"/>
          </a:xfrm>
          <a:prstGeom prst="line">
            <a:avLst/>
          </a:prstGeom>
          <a:ln w="12700">
            <a:solidFill>
              <a:srgbClr val="0178D4"/>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4590288" y="2286000"/>
            <a:ext cx="1399032" cy="274320"/>
          </a:xfrm>
          <a:prstGeom prst="line">
            <a:avLst/>
          </a:prstGeom>
          <a:ln w="12700">
            <a:solidFill>
              <a:srgbClr val="0178D4"/>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989320" y="2286000"/>
            <a:ext cx="1572768" cy="274320"/>
          </a:xfrm>
          <a:prstGeom prst="line">
            <a:avLst/>
          </a:prstGeom>
          <a:ln w="12700">
            <a:solidFill>
              <a:srgbClr val="0178D4"/>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989320" y="2286000"/>
            <a:ext cx="4224528" cy="274320"/>
          </a:xfrm>
          <a:prstGeom prst="line">
            <a:avLst/>
          </a:prstGeom>
          <a:ln w="12700">
            <a:solidFill>
              <a:srgbClr val="0178D4"/>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640080" y="2697480"/>
            <a:ext cx="2240280" cy="393192"/>
          </a:xfrm>
          <a:prstGeom prst="roundRect">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Aptos"/>
              </a:defRPr>
            </a:pPr>
            <a:r>
              <a:t>Architect</a:t>
            </a:r>
          </a:p>
        </p:txBody>
      </p:sp>
      <p:sp>
        <p:nvSpPr>
          <p:cNvPr id="14" name="Rounded Rectangle 13"/>
          <p:cNvSpPr/>
          <p:nvPr/>
        </p:nvSpPr>
        <p:spPr>
          <a:xfrm>
            <a:off x="640080" y="3154680"/>
            <a:ext cx="2240280" cy="393192"/>
          </a:xfrm>
          <a:prstGeom prst="roundRect">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Aptos"/>
              </a:defRPr>
            </a:pPr>
            <a:r>
              <a:t>Coder</a:t>
            </a:r>
          </a:p>
        </p:txBody>
      </p:sp>
      <p:sp>
        <p:nvSpPr>
          <p:cNvPr id="15" name="Rounded Rectangle 14"/>
          <p:cNvSpPr/>
          <p:nvPr/>
        </p:nvSpPr>
        <p:spPr>
          <a:xfrm>
            <a:off x="640080" y="3611880"/>
            <a:ext cx="2240280" cy="393192"/>
          </a:xfrm>
          <a:prstGeom prst="roundRect">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Aptos"/>
              </a:defRPr>
            </a:pPr>
            <a:r>
              <a:t>Tester</a:t>
            </a:r>
          </a:p>
        </p:txBody>
      </p:sp>
      <p:sp>
        <p:nvSpPr>
          <p:cNvPr id="16" name="Rounded Rectangle 15"/>
          <p:cNvSpPr/>
          <p:nvPr/>
        </p:nvSpPr>
        <p:spPr>
          <a:xfrm>
            <a:off x="3474720" y="2697480"/>
            <a:ext cx="2240280" cy="393192"/>
          </a:xfrm>
          <a:prstGeom prst="roundRect">
            <a:avLst/>
          </a:prstGeom>
          <a:solidFill>
            <a:srgbClr val="00BC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Aptos"/>
              </a:defRPr>
            </a:pPr>
            <a:r>
              <a:t>Azure Specialist</a:t>
            </a:r>
          </a:p>
        </p:txBody>
      </p:sp>
      <p:sp>
        <p:nvSpPr>
          <p:cNvPr id="17" name="Rounded Rectangle 16"/>
          <p:cNvSpPr/>
          <p:nvPr/>
        </p:nvSpPr>
        <p:spPr>
          <a:xfrm>
            <a:off x="3474720" y="3154680"/>
            <a:ext cx="2240280" cy="393192"/>
          </a:xfrm>
          <a:prstGeom prst="roundRect">
            <a:avLst/>
          </a:prstGeom>
          <a:solidFill>
            <a:srgbClr val="00BC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Aptos"/>
              </a:defRPr>
            </a:pPr>
            <a:r>
              <a:t>DevOps</a:t>
            </a:r>
          </a:p>
        </p:txBody>
      </p:sp>
      <p:sp>
        <p:nvSpPr>
          <p:cNvPr id="18" name="Rounded Rectangle 17"/>
          <p:cNvSpPr/>
          <p:nvPr/>
        </p:nvSpPr>
        <p:spPr>
          <a:xfrm>
            <a:off x="3474720" y="3611880"/>
            <a:ext cx="2240280" cy="393192"/>
          </a:xfrm>
          <a:prstGeom prst="roundRect">
            <a:avLst/>
          </a:prstGeom>
          <a:solidFill>
            <a:srgbClr val="00BC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Aptos"/>
              </a:defRPr>
            </a:pPr>
            <a:r>
              <a:t>Observability</a:t>
            </a:r>
          </a:p>
        </p:txBody>
      </p:sp>
      <p:sp>
        <p:nvSpPr>
          <p:cNvPr id="19" name="Rounded Rectangle 18"/>
          <p:cNvSpPr/>
          <p:nvPr/>
        </p:nvSpPr>
        <p:spPr>
          <a:xfrm>
            <a:off x="6446520" y="2926080"/>
            <a:ext cx="2240280" cy="393192"/>
          </a:xfrm>
          <a:prstGeom prst="roundRect">
            <a:avLst/>
          </a:prstGeom>
          <a:solidFill>
            <a:srgbClr val="FE8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Aptos"/>
              </a:defRPr>
            </a:pPr>
            <a:r>
              <a:t>Database</a:t>
            </a:r>
          </a:p>
        </p:txBody>
      </p:sp>
      <p:sp>
        <p:nvSpPr>
          <p:cNvPr id="20" name="Rounded Rectangle 19"/>
          <p:cNvSpPr/>
          <p:nvPr/>
        </p:nvSpPr>
        <p:spPr>
          <a:xfrm>
            <a:off x="6446520" y="3383280"/>
            <a:ext cx="2240280" cy="393192"/>
          </a:xfrm>
          <a:prstGeom prst="roundRect">
            <a:avLst/>
          </a:prstGeom>
          <a:solidFill>
            <a:srgbClr val="FE8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Aptos"/>
              </a:defRPr>
            </a:pPr>
            <a:r>
              <a:t>Performance</a:t>
            </a:r>
          </a:p>
        </p:txBody>
      </p:sp>
      <p:sp>
        <p:nvSpPr>
          <p:cNvPr id="21" name="Rounded Rectangle 20"/>
          <p:cNvSpPr/>
          <p:nvPr/>
        </p:nvSpPr>
        <p:spPr>
          <a:xfrm>
            <a:off x="9098280" y="2560320"/>
            <a:ext cx="2240280" cy="393192"/>
          </a:xfrm>
          <a:prstGeom prst="roundRect">
            <a:avLst/>
          </a:prstGeom>
          <a:solidFill>
            <a:srgbClr val="4636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Aptos"/>
              </a:defRPr>
            </a:pPr>
            <a:r>
              <a:t>Security</a:t>
            </a:r>
          </a:p>
        </p:txBody>
      </p:sp>
      <p:sp>
        <p:nvSpPr>
          <p:cNvPr id="22" name="Rounded Rectangle 21"/>
          <p:cNvSpPr/>
          <p:nvPr/>
        </p:nvSpPr>
        <p:spPr>
          <a:xfrm>
            <a:off x="9098280" y="2971800"/>
            <a:ext cx="2240280" cy="393192"/>
          </a:xfrm>
          <a:prstGeom prst="roundRect">
            <a:avLst/>
          </a:prstGeom>
          <a:solidFill>
            <a:srgbClr val="4636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Aptos"/>
              </a:defRPr>
            </a:pPr>
            <a:r>
              <a:t>Evaluator</a:t>
            </a:r>
          </a:p>
        </p:txBody>
      </p:sp>
      <p:sp>
        <p:nvSpPr>
          <p:cNvPr id="23" name="Rounded Rectangle 22"/>
          <p:cNvSpPr/>
          <p:nvPr/>
        </p:nvSpPr>
        <p:spPr>
          <a:xfrm>
            <a:off x="9098280" y="3383280"/>
            <a:ext cx="2240280" cy="393192"/>
          </a:xfrm>
          <a:prstGeom prst="roundRect">
            <a:avLst/>
          </a:prstGeom>
          <a:solidFill>
            <a:srgbClr val="4636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Aptos"/>
              </a:defRPr>
            </a:pPr>
            <a:r>
              <a:t>Cutover</a:t>
            </a:r>
          </a:p>
        </p:txBody>
      </p:sp>
      <p:sp>
        <p:nvSpPr>
          <p:cNvPr id="24" name="Rounded Rectangle 23"/>
          <p:cNvSpPr/>
          <p:nvPr/>
        </p:nvSpPr>
        <p:spPr>
          <a:xfrm>
            <a:off x="9098280" y="3794760"/>
            <a:ext cx="2240280" cy="393192"/>
          </a:xfrm>
          <a:prstGeom prst="roundRect">
            <a:avLst/>
          </a:prstGeom>
          <a:solidFill>
            <a:srgbClr val="4636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Aptos"/>
              </a:defRPr>
            </a:pPr>
            <a:r>
              <a:t>Scribe</a:t>
            </a:r>
          </a:p>
        </p:txBody>
      </p:sp>
      <p:sp>
        <p:nvSpPr>
          <p:cNvPr id="25" name="TextBox 24"/>
          <p:cNvSpPr txBox="1"/>
          <p:nvPr/>
        </p:nvSpPr>
        <p:spPr>
          <a:xfrm>
            <a:off x="713232" y="2359152"/>
            <a:ext cx="2057400" cy="201168"/>
          </a:xfrm>
          <a:prstGeom prst="rect">
            <a:avLst/>
          </a:prstGeom>
          <a:noFill/>
        </p:spPr>
        <p:txBody>
          <a:bodyPr wrap="square">
            <a:spAutoFit/>
          </a:bodyPr>
          <a:lstStyle/>
          <a:p>
            <a:pPr algn="ctr">
              <a:defRPr sz="1100" b="1">
                <a:solidFill>
                  <a:srgbClr val="00B050"/>
                </a:solidFill>
                <a:latin typeface="Aptos"/>
              </a:defRPr>
            </a:pPr>
            <a:r>
              <a:t>Core team</a:t>
            </a:r>
          </a:p>
        </p:txBody>
      </p:sp>
      <p:sp>
        <p:nvSpPr>
          <p:cNvPr id="26" name="TextBox 25"/>
          <p:cNvSpPr txBox="1"/>
          <p:nvPr/>
        </p:nvSpPr>
        <p:spPr>
          <a:xfrm>
            <a:off x="3566160" y="2359152"/>
            <a:ext cx="2057400" cy="201168"/>
          </a:xfrm>
          <a:prstGeom prst="rect">
            <a:avLst/>
          </a:prstGeom>
          <a:noFill/>
        </p:spPr>
        <p:txBody>
          <a:bodyPr wrap="square">
            <a:spAutoFit/>
          </a:bodyPr>
          <a:lstStyle/>
          <a:p>
            <a:pPr algn="ctr">
              <a:defRPr sz="1100" b="1">
                <a:solidFill>
                  <a:srgbClr val="00BCF2"/>
                </a:solidFill>
                <a:latin typeface="Aptos"/>
              </a:defRPr>
            </a:pPr>
            <a:r>
              <a:t>Infrastructure</a:t>
            </a:r>
          </a:p>
        </p:txBody>
      </p:sp>
      <p:sp>
        <p:nvSpPr>
          <p:cNvPr id="27" name="TextBox 26"/>
          <p:cNvSpPr txBox="1"/>
          <p:nvPr/>
        </p:nvSpPr>
        <p:spPr>
          <a:xfrm>
            <a:off x="6537960" y="2587752"/>
            <a:ext cx="2057400" cy="201168"/>
          </a:xfrm>
          <a:prstGeom prst="rect">
            <a:avLst/>
          </a:prstGeom>
          <a:noFill/>
        </p:spPr>
        <p:txBody>
          <a:bodyPr wrap="square">
            <a:spAutoFit/>
          </a:bodyPr>
          <a:lstStyle/>
          <a:p>
            <a:pPr algn="ctr">
              <a:defRPr sz="1100" b="1">
                <a:solidFill>
                  <a:srgbClr val="FE8B00"/>
                </a:solidFill>
                <a:latin typeface="Aptos"/>
              </a:defRPr>
            </a:pPr>
            <a:r>
              <a:t>Data</a:t>
            </a:r>
          </a:p>
        </p:txBody>
      </p:sp>
      <p:sp>
        <p:nvSpPr>
          <p:cNvPr id="28" name="TextBox 27"/>
          <p:cNvSpPr txBox="1"/>
          <p:nvPr/>
        </p:nvSpPr>
        <p:spPr>
          <a:xfrm>
            <a:off x="9189720" y="2240280"/>
            <a:ext cx="2057400" cy="201168"/>
          </a:xfrm>
          <a:prstGeom prst="rect">
            <a:avLst/>
          </a:prstGeom>
          <a:noFill/>
        </p:spPr>
        <p:txBody>
          <a:bodyPr wrap="square">
            <a:spAutoFit/>
          </a:bodyPr>
          <a:lstStyle/>
          <a:p>
            <a:pPr algn="ctr">
              <a:defRPr sz="1100" b="1">
                <a:solidFill>
                  <a:srgbClr val="463668"/>
                </a:solidFill>
                <a:latin typeface="Aptos"/>
              </a:defRPr>
            </a:pPr>
            <a:r>
              <a:t>Quality + release</a:t>
            </a:r>
          </a:p>
        </p:txBody>
      </p:sp>
      <p:sp>
        <p:nvSpPr>
          <p:cNvPr id="29" name="Rounded Rectangle 28"/>
          <p:cNvSpPr/>
          <p:nvPr/>
        </p:nvSpPr>
        <p:spPr>
          <a:xfrm>
            <a:off x="1097280" y="4709160"/>
            <a:ext cx="10058400" cy="438912"/>
          </a:xfrm>
          <a:prstGeom prst="roundRect">
            <a:avLst/>
          </a:prstGeom>
          <a:solidFill>
            <a:srgbClr val="225B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Aptos"/>
              </a:defRPr>
            </a:pPr>
            <a:r>
              <a:t>Skills Library (26 reusable modules)</a:t>
            </a:r>
          </a:p>
        </p:txBody>
      </p:sp>
      <p:sp>
        <p:nvSpPr>
          <p:cNvPr id="30" name="Rounded Rectangle 29"/>
          <p:cNvSpPr/>
          <p:nvPr/>
        </p:nvSpPr>
        <p:spPr>
          <a:xfrm>
            <a:off x="1097280" y="5321808"/>
            <a:ext cx="10058400" cy="438912"/>
          </a:xfrm>
          <a:prstGeom prst="roundRect">
            <a:avLst/>
          </a:prstGeom>
          <a:solidFill>
            <a:srgbClr val="4A4E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Aptos"/>
              </a:defRPr>
            </a:pPr>
            <a:r>
              <a:t>7 Use-Case Targets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91440"/>
            <a:ext cx="12192000" cy="594360"/>
          </a:xfrm>
          <a:prstGeom prst="rect">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800" b="1">
                <a:solidFill>
                  <a:srgbClr val="FFFFFF"/>
                </a:solidFill>
                <a:latin typeface="Aptos Display"/>
              </a:defRPr>
            </a:pPr>
            <a:r>
              <a:t>Head-to-Head: Old Prompting vs Squad</a:t>
            </a:r>
          </a:p>
        </p:txBody>
      </p:sp>
      <p:sp>
        <p:nvSpPr>
          <p:cNvPr id="3" name="TextBox 2"/>
          <p:cNvSpPr txBox="1"/>
          <p:nvPr/>
        </p:nvSpPr>
        <p:spPr>
          <a:xfrm>
            <a:off x="10515600" y="6263640"/>
            <a:ext cx="1371600" cy="274320"/>
          </a:xfrm>
          <a:prstGeom prst="rect">
            <a:avLst/>
          </a:prstGeom>
          <a:noFill/>
        </p:spPr>
        <p:txBody>
          <a:bodyPr wrap="square">
            <a:spAutoFit/>
          </a:bodyPr>
          <a:lstStyle/>
          <a:p>
            <a:pPr algn="r">
              <a:defRPr sz="800" b="0">
                <a:solidFill>
                  <a:srgbClr val="666666"/>
                </a:solidFill>
                <a:latin typeface="Aptos"/>
              </a:defRPr>
            </a:pPr>
            <a:r>
              <a:t>5 / 17</a:t>
            </a:r>
          </a:p>
        </p:txBody>
      </p:sp>
      <p:graphicFrame>
        <p:nvGraphicFramePr>
          <p:cNvPr id="4" name="Table 3"/>
          <p:cNvGraphicFramePr>
            <a:graphicFrameLocks noGrp="1"/>
          </p:cNvGraphicFramePr>
          <p:nvPr/>
        </p:nvGraphicFramePr>
        <p:xfrm>
          <a:off x="502920" y="1280160"/>
          <a:ext cx="11064240" cy="3950208"/>
        </p:xfrm>
        <a:graphic>
          <a:graphicData uri="http://schemas.openxmlformats.org/drawingml/2006/table">
            <a:tbl>
              <a:tblPr firstRow="1" bandRow="1">
                <a:tableStyleId>{5C22544A-7EE6-4342-B048-85BDC9FD1C3A}</a:tableStyleId>
              </a:tblPr>
              <a:tblGrid>
                <a:gridCol w="2011680"/>
                <a:gridCol w="3429000"/>
                <a:gridCol w="5623560"/>
              </a:tblGrid>
              <a:tr h="438912">
                <a:tc>
                  <a:txBody>
                    <a:bodyPr/>
                    <a:lstStyle/>
                    <a:p>
                      <a:pPr>
                        <a:defRPr sz="1000" b="1">
                          <a:solidFill>
                            <a:srgbClr val="FFFFFF"/>
                          </a:solidFill>
                          <a:latin typeface="Aptos"/>
                        </a:defRPr>
                      </a:pPr>
                      <a:r>
                        <a:t>Dimension</a:t>
                      </a:r>
                    </a:p>
                  </a:txBody>
                  <a:tcPr>
                    <a:solidFill>
                      <a:srgbClr val="0178D4"/>
                    </a:solidFill>
                  </a:tcPr>
                </a:tc>
                <a:tc>
                  <a:txBody>
                    <a:bodyPr/>
                    <a:lstStyle/>
                    <a:p>
                      <a:pPr>
                        <a:defRPr sz="1000" b="1">
                          <a:solidFill>
                            <a:srgbClr val="FFFFFF"/>
                          </a:solidFill>
                          <a:latin typeface="Aptos"/>
                        </a:defRPr>
                      </a:pPr>
                      <a:r>
                        <a:t>Old Prompting</a:t>
                      </a:r>
                    </a:p>
                  </a:txBody>
                  <a:tcPr>
                    <a:solidFill>
                      <a:srgbClr val="0178D4"/>
                    </a:solidFill>
                  </a:tcPr>
                </a:tc>
                <a:tc>
                  <a:txBody>
                    <a:bodyPr/>
                    <a:lstStyle/>
                    <a:p>
                      <a:pPr>
                        <a:defRPr sz="1000" b="1">
                          <a:solidFill>
                            <a:srgbClr val="FFFFFF"/>
                          </a:solidFill>
                          <a:latin typeface="Aptos"/>
                        </a:defRPr>
                      </a:pPr>
                      <a:r>
                        <a:t>Squad Orchestration</a:t>
                      </a:r>
                    </a:p>
                  </a:txBody>
                  <a:tcPr>
                    <a:solidFill>
                      <a:srgbClr val="0178D4"/>
                    </a:solidFill>
                  </a:tcPr>
                </a:tc>
              </a:tr>
              <a:tr h="438912">
                <a:tc>
                  <a:txBody>
                    <a:bodyPr/>
                    <a:lstStyle/>
                    <a:p>
                      <a:pPr>
                        <a:defRPr sz="1000">
                          <a:solidFill>
                            <a:srgbClr val="333333"/>
                          </a:solidFill>
                          <a:latin typeface="Aptos"/>
                        </a:defRPr>
                      </a:pPr>
                      <a:r>
                        <a:t>Architecture</a:t>
                      </a:r>
                    </a:p>
                  </a:txBody>
                  <a:tcPr>
                    <a:solidFill>
                      <a:srgbClr val="FFFFFF"/>
                    </a:solidFill>
                  </a:tcPr>
                </a:tc>
                <a:tc>
                  <a:txBody>
                    <a:bodyPr/>
                    <a:lstStyle/>
                    <a:p>
                      <a:pPr>
                        <a:defRPr sz="1000">
                          <a:solidFill>
                            <a:srgbClr val="333333"/>
                          </a:solidFill>
                          <a:latin typeface="Aptos"/>
                        </a:defRPr>
                      </a:pPr>
                      <a:r>
                        <a:t>1 monolithic prompt</a:t>
                      </a:r>
                    </a:p>
                  </a:txBody>
                  <a:tcPr>
                    <a:solidFill>
                      <a:srgbClr val="FFFFFF"/>
                    </a:solidFill>
                  </a:tcPr>
                </a:tc>
                <a:tc>
                  <a:txBody>
                    <a:bodyPr/>
                    <a:lstStyle/>
                    <a:p>
                      <a:pPr>
                        <a:defRPr sz="1000">
                          <a:solidFill>
                            <a:srgbClr val="333333"/>
                          </a:solidFill>
                          <a:latin typeface="Aptos"/>
                        </a:defRPr>
                      </a:pPr>
                      <a:r>
                        <a:t>12 specialized agents</a:t>
                      </a:r>
                    </a:p>
                  </a:txBody>
                  <a:tcPr>
                    <a:solidFill>
                      <a:srgbClr val="FFFFFF"/>
                    </a:solidFill>
                  </a:tcPr>
                </a:tc>
              </a:tr>
              <a:tr h="438912">
                <a:tc>
                  <a:txBody>
                    <a:bodyPr/>
                    <a:lstStyle/>
                    <a:p>
                      <a:pPr>
                        <a:defRPr sz="1000">
                          <a:solidFill>
                            <a:srgbClr val="333333"/>
                          </a:solidFill>
                          <a:latin typeface="Aptos"/>
                        </a:defRPr>
                      </a:pPr>
                      <a:r>
                        <a:t>Specialization</a:t>
                      </a:r>
                    </a:p>
                  </a:txBody>
                  <a:tcPr>
                    <a:solidFill>
                      <a:srgbClr val="F2F7FA"/>
                    </a:solidFill>
                  </a:tcPr>
                </a:tc>
                <a:tc>
                  <a:txBody>
                    <a:bodyPr/>
                    <a:lstStyle/>
                    <a:p>
                      <a:pPr>
                        <a:defRPr sz="1000">
                          <a:solidFill>
                            <a:srgbClr val="333333"/>
                          </a:solidFill>
                          <a:latin typeface="Aptos"/>
                        </a:defRPr>
                      </a:pPr>
                      <a:r>
                        <a:t>None — generic</a:t>
                      </a:r>
                    </a:p>
                  </a:txBody>
                  <a:tcPr>
                    <a:solidFill>
                      <a:srgbClr val="F2F7FA"/>
                    </a:solidFill>
                  </a:tcPr>
                </a:tc>
                <a:tc>
                  <a:txBody>
                    <a:bodyPr/>
                    <a:lstStyle/>
                    <a:p>
                      <a:pPr>
                        <a:defRPr sz="1000">
                          <a:solidFill>
                            <a:srgbClr val="333333"/>
                          </a:solidFill>
                          <a:latin typeface="Aptos"/>
                        </a:defRPr>
                      </a:pPr>
                      <a:r>
                        <a:t>Deep domain expertise per agent</a:t>
                      </a:r>
                    </a:p>
                  </a:txBody>
                  <a:tcPr>
                    <a:solidFill>
                      <a:srgbClr val="F2F7FA"/>
                    </a:solidFill>
                  </a:tcPr>
                </a:tc>
              </a:tr>
              <a:tr h="438912">
                <a:tc>
                  <a:txBody>
                    <a:bodyPr/>
                    <a:lstStyle/>
                    <a:p>
                      <a:pPr>
                        <a:defRPr sz="1000">
                          <a:solidFill>
                            <a:srgbClr val="333333"/>
                          </a:solidFill>
                          <a:latin typeface="Aptos"/>
                        </a:defRPr>
                      </a:pPr>
                      <a:r>
                        <a:t>Reusability</a:t>
                      </a:r>
                    </a:p>
                  </a:txBody>
                  <a:tcPr>
                    <a:solidFill>
                      <a:srgbClr val="FFFFFF"/>
                    </a:solidFill>
                  </a:tcPr>
                </a:tc>
                <a:tc>
                  <a:txBody>
                    <a:bodyPr/>
                    <a:lstStyle/>
                    <a:p>
                      <a:pPr>
                        <a:defRPr sz="1000">
                          <a:solidFill>
                            <a:srgbClr val="333333"/>
                          </a:solidFill>
                          <a:latin typeface="Aptos"/>
                        </a:defRPr>
                      </a:pPr>
                      <a:r>
                        <a:t>Copy-paste between projects</a:t>
                      </a:r>
                    </a:p>
                  </a:txBody>
                  <a:tcPr>
                    <a:solidFill>
                      <a:srgbClr val="FFFFFF"/>
                    </a:solidFill>
                  </a:tcPr>
                </a:tc>
                <a:tc>
                  <a:txBody>
                    <a:bodyPr/>
                    <a:lstStyle/>
                    <a:p>
                      <a:pPr>
                        <a:defRPr sz="1000">
                          <a:solidFill>
                            <a:srgbClr val="333333"/>
                          </a:solidFill>
                          <a:latin typeface="Aptos"/>
                        </a:defRPr>
                      </a:pPr>
                      <a:r>
                        <a:t>26 composable skills</a:t>
                      </a:r>
                    </a:p>
                  </a:txBody>
                  <a:tcPr>
                    <a:solidFill>
                      <a:srgbClr val="FFFFFF"/>
                    </a:solidFill>
                  </a:tcPr>
                </a:tc>
              </a:tr>
              <a:tr h="438912">
                <a:tc>
                  <a:txBody>
                    <a:bodyPr/>
                    <a:lstStyle/>
                    <a:p>
                      <a:pPr>
                        <a:defRPr sz="1000">
                          <a:solidFill>
                            <a:srgbClr val="333333"/>
                          </a:solidFill>
                          <a:latin typeface="Aptos"/>
                        </a:defRPr>
                      </a:pPr>
                      <a:r>
                        <a:t>Quality Gates</a:t>
                      </a:r>
                    </a:p>
                  </a:txBody>
                  <a:tcPr>
                    <a:solidFill>
                      <a:srgbClr val="F2F7FA"/>
                    </a:solidFill>
                  </a:tcPr>
                </a:tc>
                <a:tc>
                  <a:txBody>
                    <a:bodyPr/>
                    <a:lstStyle/>
                    <a:p>
                      <a:pPr>
                        <a:defRPr sz="1000">
                          <a:solidFill>
                            <a:srgbClr val="333333"/>
                          </a:solidFill>
                          <a:latin typeface="Aptos"/>
                        </a:defRPr>
                      </a:pPr>
                      <a:r>
                        <a:t>Manual review only</a:t>
                      </a:r>
                    </a:p>
                  </a:txBody>
                  <a:tcPr>
                    <a:solidFill>
                      <a:srgbClr val="F2F7FA"/>
                    </a:solidFill>
                  </a:tcPr>
                </a:tc>
                <a:tc>
                  <a:txBody>
                    <a:bodyPr/>
                    <a:lstStyle/>
                    <a:p>
                      <a:pPr>
                        <a:defRPr sz="1000">
                          <a:solidFill>
                            <a:srgbClr val="333333"/>
                          </a:solidFill>
                          <a:latin typeface="Aptos"/>
                        </a:defRPr>
                      </a:pPr>
                      <a:r>
                        <a:t>Automated hooks + agent handoffs</a:t>
                      </a:r>
                    </a:p>
                  </a:txBody>
                  <a:tcPr>
                    <a:solidFill>
                      <a:srgbClr val="F2F7FA"/>
                    </a:solidFill>
                  </a:tcPr>
                </a:tc>
              </a:tr>
              <a:tr h="438912">
                <a:tc>
                  <a:txBody>
                    <a:bodyPr/>
                    <a:lstStyle/>
                    <a:p>
                      <a:pPr>
                        <a:defRPr sz="1000">
                          <a:solidFill>
                            <a:srgbClr val="333333"/>
                          </a:solidFill>
                          <a:latin typeface="Aptos"/>
                        </a:defRPr>
                      </a:pPr>
                      <a:r>
                        <a:t>Parallelism</a:t>
                      </a:r>
                    </a:p>
                  </a:txBody>
                  <a:tcPr>
                    <a:solidFill>
                      <a:srgbClr val="FFFFFF"/>
                    </a:solidFill>
                  </a:tcPr>
                </a:tc>
                <a:tc>
                  <a:txBody>
                    <a:bodyPr/>
                    <a:lstStyle/>
                    <a:p>
                      <a:pPr>
                        <a:defRPr sz="1000">
                          <a:solidFill>
                            <a:srgbClr val="333333"/>
                          </a:solidFill>
                          <a:latin typeface="Aptos"/>
                        </a:defRPr>
                      </a:pPr>
                      <a:r>
                        <a:t>Sequential only</a:t>
                      </a:r>
                    </a:p>
                  </a:txBody>
                  <a:tcPr>
                    <a:solidFill>
                      <a:srgbClr val="FFFFFF"/>
                    </a:solidFill>
                  </a:tcPr>
                </a:tc>
                <a:tc>
                  <a:txBody>
                    <a:bodyPr/>
                    <a:lstStyle/>
                    <a:p>
                      <a:pPr>
                        <a:defRPr sz="1000">
                          <a:solidFill>
                            <a:srgbClr val="333333"/>
                          </a:solidFill>
                          <a:latin typeface="Aptos"/>
                        </a:defRPr>
                      </a:pPr>
                      <a:r>
                        <a:t>Fan-out to multiple agents</a:t>
                      </a:r>
                    </a:p>
                  </a:txBody>
                  <a:tcPr>
                    <a:solidFill>
                      <a:srgbClr val="FFFFFF"/>
                    </a:solidFill>
                  </a:tcPr>
                </a:tc>
              </a:tr>
              <a:tr h="438912">
                <a:tc>
                  <a:txBody>
                    <a:bodyPr/>
                    <a:lstStyle/>
                    <a:p>
                      <a:pPr>
                        <a:defRPr sz="1000">
                          <a:solidFill>
                            <a:srgbClr val="333333"/>
                          </a:solidFill>
                          <a:latin typeface="Aptos"/>
                        </a:defRPr>
                      </a:pPr>
                      <a:r>
                        <a:t>Memory</a:t>
                      </a:r>
                    </a:p>
                  </a:txBody>
                  <a:tcPr>
                    <a:solidFill>
                      <a:srgbClr val="F2F7FA"/>
                    </a:solidFill>
                  </a:tcPr>
                </a:tc>
                <a:tc>
                  <a:txBody>
                    <a:bodyPr/>
                    <a:lstStyle/>
                    <a:p>
                      <a:pPr>
                        <a:defRPr sz="1000">
                          <a:solidFill>
                            <a:srgbClr val="333333"/>
                          </a:solidFill>
                          <a:latin typeface="Aptos"/>
                        </a:defRPr>
                      </a:pPr>
                      <a:r>
                        <a:t>Stateless per session</a:t>
                      </a:r>
                    </a:p>
                  </a:txBody>
                  <a:tcPr>
                    <a:solidFill>
                      <a:srgbClr val="F2F7FA"/>
                    </a:solidFill>
                  </a:tcPr>
                </a:tc>
                <a:tc>
                  <a:txBody>
                    <a:bodyPr/>
                    <a:lstStyle/>
                    <a:p>
                      <a:pPr>
                        <a:defRPr sz="1000">
                          <a:solidFill>
                            <a:srgbClr val="333333"/>
                          </a:solidFill>
                          <a:latin typeface="Aptos"/>
                        </a:defRPr>
                      </a:pPr>
                      <a:r>
                        <a:t>Shared decisions + journal</a:t>
                      </a:r>
                    </a:p>
                  </a:txBody>
                  <a:tcPr>
                    <a:solidFill>
                      <a:srgbClr val="F2F7FA"/>
                    </a:solidFill>
                  </a:tcPr>
                </a:tc>
              </a:tr>
              <a:tr h="438912">
                <a:tc>
                  <a:txBody>
                    <a:bodyPr/>
                    <a:lstStyle/>
                    <a:p>
                      <a:pPr>
                        <a:defRPr sz="1000">
                          <a:solidFill>
                            <a:srgbClr val="333333"/>
                          </a:solidFill>
                          <a:latin typeface="Aptos"/>
                        </a:defRPr>
                      </a:pPr>
                      <a:r>
                        <a:t>Onboarding</a:t>
                      </a:r>
                    </a:p>
                  </a:txBody>
                  <a:tcPr>
                    <a:solidFill>
                      <a:srgbClr val="FFFFFF"/>
                    </a:solidFill>
                  </a:tcPr>
                </a:tc>
                <a:tc>
                  <a:txBody>
                    <a:bodyPr/>
                    <a:lstStyle/>
                    <a:p>
                      <a:pPr>
                        <a:defRPr sz="1000">
                          <a:solidFill>
                            <a:srgbClr val="333333"/>
                          </a:solidFill>
                          <a:latin typeface="Aptos"/>
                        </a:defRPr>
                      </a:pPr>
                      <a:r>
                        <a:t>Read the whole prompt</a:t>
                      </a:r>
                    </a:p>
                  </a:txBody>
                  <a:tcPr>
                    <a:solidFill>
                      <a:srgbClr val="FFFFFF"/>
                    </a:solidFill>
                  </a:tcPr>
                </a:tc>
                <a:tc>
                  <a:txBody>
                    <a:bodyPr/>
                    <a:lstStyle/>
                    <a:p>
                      <a:pPr>
                        <a:defRPr sz="1000">
                          <a:solidFill>
                            <a:srgbClr val="333333"/>
                          </a:solidFill>
                          <a:latin typeface="Aptos"/>
                        </a:defRPr>
                      </a:pPr>
                      <a:r>
                        <a:t>Role-based training paths</a:t>
                      </a:r>
                    </a:p>
                  </a:txBody>
                  <a:tcPr>
                    <a:solidFill>
                      <a:srgbClr val="FFFFFF"/>
                    </a:solidFill>
                  </a:tcPr>
                </a:tc>
              </a:tr>
              <a:tr h="438912">
                <a:tc>
                  <a:txBody>
                    <a:bodyPr/>
                    <a:lstStyle/>
                    <a:p>
                      <a:pPr>
                        <a:defRPr sz="1000">
                          <a:solidFill>
                            <a:srgbClr val="333333"/>
                          </a:solidFill>
                          <a:latin typeface="Aptos"/>
                        </a:defRPr>
                      </a:pPr>
                      <a:r>
                        <a:t>Scalability</a:t>
                      </a:r>
                    </a:p>
                  </a:txBody>
                  <a:tcPr>
                    <a:solidFill>
                      <a:srgbClr val="F2F7FA"/>
                    </a:solidFill>
                  </a:tcPr>
                </a:tc>
                <a:tc>
                  <a:txBody>
                    <a:bodyPr/>
                    <a:lstStyle/>
                    <a:p>
                      <a:pPr>
                        <a:defRPr sz="1000">
                          <a:solidFill>
                            <a:srgbClr val="333333"/>
                          </a:solidFill>
                          <a:latin typeface="Aptos"/>
                        </a:defRPr>
                      </a:pPr>
                      <a:r>
                        <a:t>Breaks at complexity</a:t>
                      </a:r>
                    </a:p>
                  </a:txBody>
                  <a:tcPr>
                    <a:solidFill>
                      <a:srgbClr val="F2F7FA"/>
                    </a:solidFill>
                  </a:tcPr>
                </a:tc>
                <a:tc>
                  <a:txBody>
                    <a:bodyPr/>
                    <a:lstStyle/>
                    <a:p>
                      <a:pPr>
                        <a:defRPr sz="1000">
                          <a:solidFill>
                            <a:srgbClr val="333333"/>
                          </a:solidFill>
                          <a:latin typeface="Aptos"/>
                        </a:defRPr>
                      </a:pPr>
                      <a:r>
                        <a:t>Scales with team size</a:t>
                      </a:r>
                    </a:p>
                  </a:txBody>
                  <a:tcPr>
                    <a:solidFill>
                      <a:srgbClr val="F2F7FA"/>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91440"/>
            <a:ext cx="12192000" cy="594360"/>
          </a:xfrm>
          <a:prstGeom prst="rect">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800" b="1">
                <a:solidFill>
                  <a:srgbClr val="FFFFFF"/>
                </a:solidFill>
                <a:latin typeface="Aptos Display"/>
              </a:defRPr>
            </a:pPr>
            <a:r>
              <a:t>The 5-Layer Architecture</a:t>
            </a:r>
          </a:p>
        </p:txBody>
      </p:sp>
      <p:sp>
        <p:nvSpPr>
          <p:cNvPr id="3" name="TextBox 2"/>
          <p:cNvSpPr txBox="1"/>
          <p:nvPr/>
        </p:nvSpPr>
        <p:spPr>
          <a:xfrm>
            <a:off x="10515600" y="6263640"/>
            <a:ext cx="1371600" cy="274320"/>
          </a:xfrm>
          <a:prstGeom prst="rect">
            <a:avLst/>
          </a:prstGeom>
          <a:noFill/>
        </p:spPr>
        <p:txBody>
          <a:bodyPr wrap="square">
            <a:spAutoFit/>
          </a:bodyPr>
          <a:lstStyle/>
          <a:p>
            <a:pPr algn="r">
              <a:defRPr sz="800" b="0">
                <a:solidFill>
                  <a:srgbClr val="666666"/>
                </a:solidFill>
                <a:latin typeface="Aptos"/>
              </a:defRPr>
            </a:pPr>
            <a:r>
              <a:t>6 / 17</a:t>
            </a:r>
          </a:p>
        </p:txBody>
      </p:sp>
      <p:sp>
        <p:nvSpPr>
          <p:cNvPr id="4" name="Rounded Rectangle 3"/>
          <p:cNvSpPr/>
          <p:nvPr/>
        </p:nvSpPr>
        <p:spPr>
          <a:xfrm>
            <a:off x="1097280" y="1828800"/>
            <a:ext cx="9875520" cy="530352"/>
          </a:xfrm>
          <a:prstGeom prst="roundRect">
            <a:avLst/>
          </a:prstGeom>
          <a:solidFill>
            <a:srgbClr val="D83B0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Aptos"/>
              </a:defRPr>
            </a:pPr>
            <a:r>
              <a:t>Orchestration Layer — Routing, hooks, quality gates</a:t>
            </a:r>
          </a:p>
        </p:txBody>
      </p:sp>
      <p:sp>
        <p:nvSpPr>
          <p:cNvPr id="5" name="Oval 4"/>
          <p:cNvSpPr/>
          <p:nvPr/>
        </p:nvSpPr>
        <p:spPr>
          <a:xfrm>
            <a:off x="411480" y="1883664"/>
            <a:ext cx="402336" cy="402336"/>
          </a:xfrm>
          <a:prstGeom prst="ellipse">
            <a:avLst/>
          </a:prstGeom>
          <a:solidFill>
            <a:srgbClr val="D83B0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Aptos"/>
              </a:defRPr>
            </a:pPr>
            <a:r>
              <a:t>1</a:t>
            </a:r>
          </a:p>
        </p:txBody>
      </p:sp>
      <p:sp>
        <p:nvSpPr>
          <p:cNvPr id="6" name="Rounded Rectangle 5"/>
          <p:cNvSpPr/>
          <p:nvPr/>
        </p:nvSpPr>
        <p:spPr>
          <a:xfrm>
            <a:off x="1097280" y="2514600"/>
            <a:ext cx="9875520" cy="530352"/>
          </a:xfrm>
          <a:prstGeom prst="roundRect">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Aptos"/>
              </a:defRPr>
            </a:pPr>
            <a:r>
              <a:t>Chatmode Layer — 7 conversation modes</a:t>
            </a:r>
          </a:p>
        </p:txBody>
      </p:sp>
      <p:sp>
        <p:nvSpPr>
          <p:cNvPr id="7" name="Oval 6"/>
          <p:cNvSpPr/>
          <p:nvPr/>
        </p:nvSpPr>
        <p:spPr>
          <a:xfrm>
            <a:off x="411480" y="2569464"/>
            <a:ext cx="402336" cy="402336"/>
          </a:xfrm>
          <a:prstGeom prst="ellipse">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Aptos"/>
              </a:defRPr>
            </a:pPr>
            <a:r>
              <a:t>2</a:t>
            </a:r>
          </a:p>
        </p:txBody>
      </p:sp>
      <p:sp>
        <p:nvSpPr>
          <p:cNvPr id="8" name="Rounded Rectangle 7"/>
          <p:cNvSpPr/>
          <p:nvPr/>
        </p:nvSpPr>
        <p:spPr>
          <a:xfrm>
            <a:off x="1097280" y="3200400"/>
            <a:ext cx="9875520" cy="530352"/>
          </a:xfrm>
          <a:prstGeom prst="roundRect">
            <a:avLst/>
          </a:prstGeom>
          <a:solidFill>
            <a:srgbClr val="FE8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Aptos"/>
              </a:defRPr>
            </a:pPr>
            <a:r>
              <a:t>Prompt Layer — 21 prompts + Interactive Interview</a:t>
            </a:r>
          </a:p>
        </p:txBody>
      </p:sp>
      <p:sp>
        <p:nvSpPr>
          <p:cNvPr id="9" name="Oval 8"/>
          <p:cNvSpPr/>
          <p:nvPr/>
        </p:nvSpPr>
        <p:spPr>
          <a:xfrm>
            <a:off x="411480" y="3255264"/>
            <a:ext cx="402336" cy="402336"/>
          </a:xfrm>
          <a:prstGeom prst="ellipse">
            <a:avLst/>
          </a:prstGeom>
          <a:solidFill>
            <a:srgbClr val="FE8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Aptos"/>
              </a:defRPr>
            </a:pPr>
            <a:r>
              <a:t>3</a:t>
            </a:r>
          </a:p>
        </p:txBody>
      </p:sp>
      <p:sp>
        <p:nvSpPr>
          <p:cNvPr id="10" name="Rounded Rectangle 9"/>
          <p:cNvSpPr/>
          <p:nvPr/>
        </p:nvSpPr>
        <p:spPr>
          <a:xfrm>
            <a:off x="1097280" y="3886200"/>
            <a:ext cx="9875520" cy="530352"/>
          </a:xfrm>
          <a:prstGeom prst="roundRect">
            <a:avLst/>
          </a:prstGeom>
          <a:solidFill>
            <a:srgbClr val="4636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Aptos"/>
              </a:defRPr>
            </a:pPr>
            <a:r>
              <a:t>Agent Layer — 12 specialized squad members with charters</a:t>
            </a:r>
          </a:p>
        </p:txBody>
      </p:sp>
      <p:sp>
        <p:nvSpPr>
          <p:cNvPr id="11" name="Oval 10"/>
          <p:cNvSpPr/>
          <p:nvPr/>
        </p:nvSpPr>
        <p:spPr>
          <a:xfrm>
            <a:off x="411480" y="3941064"/>
            <a:ext cx="402336" cy="402336"/>
          </a:xfrm>
          <a:prstGeom prst="ellipse">
            <a:avLst/>
          </a:prstGeom>
          <a:solidFill>
            <a:srgbClr val="4636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Aptos"/>
              </a:defRPr>
            </a:pPr>
            <a:r>
              <a:t>4</a:t>
            </a:r>
          </a:p>
        </p:txBody>
      </p:sp>
      <p:sp>
        <p:nvSpPr>
          <p:cNvPr id="12" name="Rounded Rectangle 11"/>
          <p:cNvSpPr/>
          <p:nvPr/>
        </p:nvSpPr>
        <p:spPr>
          <a:xfrm>
            <a:off x="1097280" y="4572000"/>
            <a:ext cx="9875520" cy="530352"/>
          </a:xfrm>
          <a:prstGeom prst="roundRect">
            <a:avLst/>
          </a:prstGeom>
          <a:solidFill>
            <a:srgbClr val="225B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Aptos"/>
              </a:defRPr>
            </a:pPr>
            <a:r>
              <a:t>Skills Layer — 26 reusable knowledge modules</a:t>
            </a:r>
          </a:p>
        </p:txBody>
      </p:sp>
      <p:sp>
        <p:nvSpPr>
          <p:cNvPr id="13" name="Oval 12"/>
          <p:cNvSpPr/>
          <p:nvPr/>
        </p:nvSpPr>
        <p:spPr>
          <a:xfrm>
            <a:off x="411480" y="4626864"/>
            <a:ext cx="402336" cy="402336"/>
          </a:xfrm>
          <a:prstGeom prst="ellipse">
            <a:avLst/>
          </a:prstGeom>
          <a:solidFill>
            <a:srgbClr val="225B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Aptos"/>
              </a:defRPr>
            </a:pPr>
            <a:r>
              <a:t>5</a:t>
            </a:r>
          </a:p>
        </p:txBody>
      </p:sp>
      <p:sp>
        <p:nvSpPr>
          <p:cNvPr id="14" name="TextBox 13"/>
          <p:cNvSpPr txBox="1"/>
          <p:nvPr/>
        </p:nvSpPr>
        <p:spPr>
          <a:xfrm>
            <a:off x="1051560" y="5394960"/>
            <a:ext cx="9966960" cy="320040"/>
          </a:xfrm>
          <a:prstGeom prst="rect">
            <a:avLst/>
          </a:prstGeom>
          <a:noFill/>
        </p:spPr>
        <p:txBody>
          <a:bodyPr wrap="square">
            <a:spAutoFit/>
          </a:bodyPr>
          <a:lstStyle/>
          <a:p>
            <a:pPr algn="ctr">
              <a:defRPr sz="1400" b="0">
                <a:solidFill>
                  <a:srgbClr val="666666"/>
                </a:solidFill>
                <a:latin typeface="Aptos"/>
              </a:defRPr>
            </a:pPr>
            <a:r>
              <a:t>Bottom layers are reusable assets. Top layers enforce flow, ownership, and quality.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91440"/>
            <a:ext cx="12192000" cy="594360"/>
          </a:xfrm>
          <a:prstGeom prst="rect">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800" b="1">
                <a:solidFill>
                  <a:srgbClr val="FFFFFF"/>
                </a:solidFill>
                <a:latin typeface="Aptos Display"/>
              </a:defRPr>
            </a:pPr>
            <a:r>
              <a:t>Meet the Crew 🎬</a:t>
            </a:r>
          </a:p>
        </p:txBody>
      </p:sp>
      <p:sp>
        <p:nvSpPr>
          <p:cNvPr id="3" name="TextBox 2"/>
          <p:cNvSpPr txBox="1"/>
          <p:nvPr/>
        </p:nvSpPr>
        <p:spPr>
          <a:xfrm>
            <a:off x="10515600" y="6263640"/>
            <a:ext cx="1371600" cy="274320"/>
          </a:xfrm>
          <a:prstGeom prst="rect">
            <a:avLst/>
          </a:prstGeom>
          <a:noFill/>
        </p:spPr>
        <p:txBody>
          <a:bodyPr wrap="square">
            <a:spAutoFit/>
          </a:bodyPr>
          <a:lstStyle/>
          <a:p>
            <a:pPr algn="r">
              <a:defRPr sz="800" b="0">
                <a:solidFill>
                  <a:srgbClr val="666666"/>
                </a:solidFill>
                <a:latin typeface="Aptos"/>
              </a:defRPr>
            </a:pPr>
            <a:r>
              <a:t>7 / 17</a:t>
            </a:r>
          </a:p>
        </p:txBody>
      </p:sp>
      <p:graphicFrame>
        <p:nvGraphicFramePr>
          <p:cNvPr id="4" name="Table 3"/>
          <p:cNvGraphicFramePr>
            <a:graphicFrameLocks noGrp="1"/>
          </p:cNvGraphicFramePr>
          <p:nvPr/>
        </p:nvGraphicFramePr>
        <p:xfrm>
          <a:off x="502920" y="1170432"/>
          <a:ext cx="11064240" cy="4160520"/>
        </p:xfrm>
        <a:graphic>
          <a:graphicData uri="http://schemas.openxmlformats.org/drawingml/2006/table">
            <a:tbl>
              <a:tblPr firstRow="1" bandRow="1">
                <a:tableStyleId>{5C22544A-7EE6-4342-B048-85BDC9FD1C3A}</a:tableStyleId>
              </a:tblPr>
              <a:tblGrid>
                <a:gridCol w="502920"/>
                <a:gridCol w="2743200"/>
                <a:gridCol w="2880360"/>
                <a:gridCol w="4937760"/>
              </a:tblGrid>
              <a:tr h="320040">
                <a:tc>
                  <a:txBody>
                    <a:bodyPr/>
                    <a:lstStyle/>
                    <a:p>
                      <a:pPr>
                        <a:defRPr sz="1000" b="1">
                          <a:solidFill>
                            <a:srgbClr val="FFFFFF"/>
                          </a:solidFill>
                          <a:latin typeface="Aptos"/>
                        </a:defRPr>
                      </a:pPr>
                      <a:r>
                        <a:t>#</a:t>
                      </a:r>
                    </a:p>
                  </a:txBody>
                  <a:tcPr>
                    <a:solidFill>
                      <a:srgbClr val="0178D4"/>
                    </a:solidFill>
                  </a:tcPr>
                </a:tc>
                <a:tc>
                  <a:txBody>
                    <a:bodyPr/>
                    <a:lstStyle/>
                    <a:p>
                      <a:pPr>
                        <a:defRPr sz="1000" b="1">
                          <a:solidFill>
                            <a:srgbClr val="FFFFFF"/>
                          </a:solidFill>
                          <a:latin typeface="Aptos"/>
                        </a:defRPr>
                      </a:pPr>
                      <a:r>
                        <a:t>Agent</a:t>
                      </a:r>
                    </a:p>
                  </a:txBody>
                  <a:tcPr>
                    <a:solidFill>
                      <a:srgbClr val="0178D4"/>
                    </a:solidFill>
                  </a:tcPr>
                </a:tc>
                <a:tc>
                  <a:txBody>
                    <a:bodyPr/>
                    <a:lstStyle/>
                    <a:p>
                      <a:pPr>
                        <a:defRPr sz="1000" b="1">
                          <a:solidFill>
                            <a:srgbClr val="FFFFFF"/>
                          </a:solidFill>
                          <a:latin typeface="Aptos"/>
                        </a:defRPr>
                      </a:pPr>
                      <a:r>
                        <a:t>Alias</a:t>
                      </a:r>
                    </a:p>
                  </a:txBody>
                  <a:tcPr>
                    <a:solidFill>
                      <a:srgbClr val="0178D4"/>
                    </a:solidFill>
                  </a:tcPr>
                </a:tc>
                <a:tc>
                  <a:txBody>
                    <a:bodyPr/>
                    <a:lstStyle/>
                    <a:p>
                      <a:pPr>
                        <a:defRPr sz="1000" b="1">
                          <a:solidFill>
                            <a:srgbClr val="FFFFFF"/>
                          </a:solidFill>
                          <a:latin typeface="Aptos"/>
                        </a:defRPr>
                      </a:pPr>
                      <a:r>
                        <a:t>Domain</a:t>
                      </a:r>
                    </a:p>
                  </a:txBody>
                  <a:tcPr>
                    <a:solidFill>
                      <a:srgbClr val="0178D4"/>
                    </a:solidFill>
                  </a:tcPr>
                </a:tc>
              </a:tr>
              <a:tr h="320040">
                <a:tc>
                  <a:txBody>
                    <a:bodyPr/>
                    <a:lstStyle/>
                    <a:p>
                      <a:pPr>
                        <a:defRPr sz="1000">
                          <a:solidFill>
                            <a:srgbClr val="333333"/>
                          </a:solidFill>
                          <a:latin typeface="Aptos"/>
                        </a:defRPr>
                      </a:pPr>
                      <a:r>
                        <a:t>1</a:t>
                      </a:r>
                    </a:p>
                  </a:txBody>
                  <a:tcPr>
                    <a:solidFill>
                      <a:srgbClr val="FFFFFF"/>
                    </a:solidFill>
                  </a:tcPr>
                </a:tc>
                <a:tc>
                  <a:txBody>
                    <a:bodyPr/>
                    <a:lstStyle/>
                    <a:p>
                      <a:pPr>
                        <a:defRPr sz="1000">
                          <a:solidFill>
                            <a:srgbClr val="333333"/>
                          </a:solidFill>
                          <a:latin typeface="Aptos"/>
                        </a:defRPr>
                      </a:pPr>
                      <a:r>
                        <a:t>Architect</a:t>
                      </a:r>
                    </a:p>
                  </a:txBody>
                  <a:tcPr>
                    <a:solidFill>
                      <a:srgbClr val="FFFFFF"/>
                    </a:solidFill>
                  </a:tcPr>
                </a:tc>
                <a:tc>
                  <a:txBody>
                    <a:bodyPr/>
                    <a:lstStyle/>
                    <a:p>
                      <a:pPr>
                        <a:defRPr sz="1000">
                          <a:solidFill>
                            <a:srgbClr val="333333"/>
                          </a:solidFill>
                          <a:latin typeface="Aptos"/>
                        </a:defRPr>
                      </a:pPr>
                      <a:r>
                        <a:t>Danny Ocean</a:t>
                      </a:r>
                    </a:p>
                  </a:txBody>
                  <a:tcPr>
                    <a:solidFill>
                      <a:srgbClr val="FFFFFF"/>
                    </a:solidFill>
                  </a:tcPr>
                </a:tc>
                <a:tc>
                  <a:txBody>
                    <a:bodyPr/>
                    <a:lstStyle/>
                    <a:p>
                      <a:pPr>
                        <a:defRPr sz="1000">
                          <a:solidFill>
                            <a:srgbClr val="333333"/>
                          </a:solidFill>
                          <a:latin typeface="Aptos"/>
                        </a:defRPr>
                      </a:pPr>
                      <a:r>
                        <a:t>Lead strategist</a:t>
                      </a:r>
                    </a:p>
                  </a:txBody>
                  <a:tcPr>
                    <a:solidFill>
                      <a:srgbClr val="FFFFFF"/>
                    </a:solidFill>
                  </a:tcPr>
                </a:tc>
              </a:tr>
              <a:tr h="320040">
                <a:tc>
                  <a:txBody>
                    <a:bodyPr/>
                    <a:lstStyle/>
                    <a:p>
                      <a:pPr>
                        <a:defRPr sz="1000">
                          <a:solidFill>
                            <a:srgbClr val="333333"/>
                          </a:solidFill>
                          <a:latin typeface="Aptos"/>
                        </a:defRPr>
                      </a:pPr>
                      <a:r>
                        <a:t>2</a:t>
                      </a:r>
                    </a:p>
                  </a:txBody>
                  <a:tcPr>
                    <a:solidFill>
                      <a:srgbClr val="F2F7FA"/>
                    </a:solidFill>
                  </a:tcPr>
                </a:tc>
                <a:tc>
                  <a:txBody>
                    <a:bodyPr/>
                    <a:lstStyle/>
                    <a:p>
                      <a:pPr>
                        <a:defRPr sz="1000">
                          <a:solidFill>
                            <a:srgbClr val="333333"/>
                          </a:solidFill>
                          <a:latin typeface="Aptos"/>
                        </a:defRPr>
                      </a:pPr>
                      <a:r>
                        <a:t>Coder</a:t>
                      </a:r>
                    </a:p>
                  </a:txBody>
                  <a:tcPr>
                    <a:solidFill>
                      <a:srgbClr val="F2F7FA"/>
                    </a:solidFill>
                  </a:tcPr>
                </a:tc>
                <a:tc>
                  <a:txBody>
                    <a:bodyPr/>
                    <a:lstStyle/>
                    <a:p>
                      <a:pPr>
                        <a:defRPr sz="1000">
                          <a:solidFill>
                            <a:srgbClr val="333333"/>
                          </a:solidFill>
                          <a:latin typeface="Aptos"/>
                        </a:defRPr>
                      </a:pPr>
                      <a:r>
                        <a:t>Rusty Ryan</a:t>
                      </a:r>
                    </a:p>
                  </a:txBody>
                  <a:tcPr>
                    <a:solidFill>
                      <a:srgbClr val="F2F7FA"/>
                    </a:solidFill>
                  </a:tcPr>
                </a:tc>
                <a:tc>
                  <a:txBody>
                    <a:bodyPr/>
                    <a:lstStyle/>
                    <a:p>
                      <a:pPr>
                        <a:defRPr sz="1000">
                          <a:solidFill>
                            <a:srgbClr val="333333"/>
                          </a:solidFill>
                          <a:latin typeface="Aptos"/>
                        </a:defRPr>
                      </a:pPr>
                      <a:r>
                        <a:t>Full-stack dev</a:t>
                      </a:r>
                    </a:p>
                  </a:txBody>
                  <a:tcPr>
                    <a:solidFill>
                      <a:srgbClr val="F2F7FA"/>
                    </a:solidFill>
                  </a:tcPr>
                </a:tc>
              </a:tr>
              <a:tr h="320040">
                <a:tc>
                  <a:txBody>
                    <a:bodyPr/>
                    <a:lstStyle/>
                    <a:p>
                      <a:pPr>
                        <a:defRPr sz="1000">
                          <a:solidFill>
                            <a:srgbClr val="333333"/>
                          </a:solidFill>
                          <a:latin typeface="Aptos"/>
                        </a:defRPr>
                      </a:pPr>
                      <a:r>
                        <a:t>3</a:t>
                      </a:r>
                    </a:p>
                  </a:txBody>
                  <a:tcPr>
                    <a:solidFill>
                      <a:srgbClr val="FFFFFF"/>
                    </a:solidFill>
                  </a:tcPr>
                </a:tc>
                <a:tc>
                  <a:txBody>
                    <a:bodyPr/>
                    <a:lstStyle/>
                    <a:p>
                      <a:pPr>
                        <a:defRPr sz="1000">
                          <a:solidFill>
                            <a:srgbClr val="333333"/>
                          </a:solidFill>
                          <a:latin typeface="Aptos"/>
                        </a:defRPr>
                      </a:pPr>
                      <a:r>
                        <a:t>Tester</a:t>
                      </a:r>
                    </a:p>
                  </a:txBody>
                  <a:tcPr>
                    <a:solidFill>
                      <a:srgbClr val="FFFFFF"/>
                    </a:solidFill>
                  </a:tcPr>
                </a:tc>
                <a:tc>
                  <a:txBody>
                    <a:bodyPr/>
                    <a:lstStyle/>
                    <a:p>
                      <a:pPr>
                        <a:defRPr sz="1000">
                          <a:solidFill>
                            <a:srgbClr val="333333"/>
                          </a:solidFill>
                          <a:latin typeface="Aptos"/>
                        </a:defRPr>
                      </a:pPr>
                      <a:r>
                        <a:t>Linus Caldwell</a:t>
                      </a:r>
                    </a:p>
                  </a:txBody>
                  <a:tcPr>
                    <a:solidFill>
                      <a:srgbClr val="FFFFFF"/>
                    </a:solidFill>
                  </a:tcPr>
                </a:tc>
                <a:tc>
                  <a:txBody>
                    <a:bodyPr/>
                    <a:lstStyle/>
                    <a:p>
                      <a:pPr>
                        <a:defRPr sz="1000">
                          <a:solidFill>
                            <a:srgbClr val="333333"/>
                          </a:solidFill>
                          <a:latin typeface="Aptos"/>
                        </a:defRPr>
                      </a:pPr>
                      <a:r>
                        <a:t>QA + DevRel</a:t>
                      </a:r>
                    </a:p>
                  </a:txBody>
                  <a:tcPr>
                    <a:solidFill>
                      <a:srgbClr val="FFFFFF"/>
                    </a:solidFill>
                  </a:tcPr>
                </a:tc>
              </a:tr>
              <a:tr h="320040">
                <a:tc>
                  <a:txBody>
                    <a:bodyPr/>
                    <a:lstStyle/>
                    <a:p>
                      <a:pPr>
                        <a:defRPr sz="1000">
                          <a:solidFill>
                            <a:srgbClr val="333333"/>
                          </a:solidFill>
                          <a:latin typeface="Aptos"/>
                        </a:defRPr>
                      </a:pPr>
                      <a:r>
                        <a:t>4</a:t>
                      </a:r>
                    </a:p>
                  </a:txBody>
                  <a:tcPr>
                    <a:solidFill>
                      <a:srgbClr val="F2F7FA"/>
                    </a:solidFill>
                  </a:tcPr>
                </a:tc>
                <a:tc>
                  <a:txBody>
                    <a:bodyPr/>
                    <a:lstStyle/>
                    <a:p>
                      <a:pPr>
                        <a:defRPr sz="1000">
                          <a:solidFill>
                            <a:srgbClr val="333333"/>
                          </a:solidFill>
                          <a:latin typeface="Aptos"/>
                        </a:defRPr>
                      </a:pPr>
                      <a:r>
                        <a:t>Azure Specialist</a:t>
                      </a:r>
                    </a:p>
                  </a:txBody>
                  <a:tcPr>
                    <a:solidFill>
                      <a:srgbClr val="F2F7FA"/>
                    </a:solidFill>
                  </a:tcPr>
                </a:tc>
                <a:tc>
                  <a:txBody>
                    <a:bodyPr/>
                    <a:lstStyle/>
                    <a:p>
                      <a:pPr>
                        <a:defRPr sz="1000">
                          <a:solidFill>
                            <a:srgbClr val="333333"/>
                          </a:solidFill>
                          <a:latin typeface="Aptos"/>
                        </a:defRPr>
                      </a:pPr>
                      <a:r>
                        <a:t>Basher Tarr</a:t>
                      </a:r>
                    </a:p>
                  </a:txBody>
                  <a:tcPr>
                    <a:solidFill>
                      <a:srgbClr val="F2F7FA"/>
                    </a:solidFill>
                  </a:tcPr>
                </a:tc>
                <a:tc>
                  <a:txBody>
                    <a:bodyPr/>
                    <a:lstStyle/>
                    <a:p>
                      <a:pPr>
                        <a:defRPr sz="1000">
                          <a:solidFill>
                            <a:srgbClr val="333333"/>
                          </a:solidFill>
                          <a:latin typeface="Aptos"/>
                        </a:defRPr>
                      </a:pPr>
                      <a:r>
                        <a:t>Cloud platform</a:t>
                      </a:r>
                    </a:p>
                  </a:txBody>
                  <a:tcPr>
                    <a:solidFill>
                      <a:srgbClr val="F2F7FA"/>
                    </a:solidFill>
                  </a:tcPr>
                </a:tc>
              </a:tr>
              <a:tr h="320040">
                <a:tc>
                  <a:txBody>
                    <a:bodyPr/>
                    <a:lstStyle/>
                    <a:p>
                      <a:pPr>
                        <a:defRPr sz="1000">
                          <a:solidFill>
                            <a:srgbClr val="333333"/>
                          </a:solidFill>
                          <a:latin typeface="Aptos"/>
                        </a:defRPr>
                      </a:pPr>
                      <a:r>
                        <a:t>5</a:t>
                      </a:r>
                    </a:p>
                  </a:txBody>
                  <a:tcPr>
                    <a:solidFill>
                      <a:srgbClr val="FFFFFF"/>
                    </a:solidFill>
                  </a:tcPr>
                </a:tc>
                <a:tc>
                  <a:txBody>
                    <a:bodyPr/>
                    <a:lstStyle/>
                    <a:p>
                      <a:pPr>
                        <a:defRPr sz="1000">
                          <a:solidFill>
                            <a:srgbClr val="333333"/>
                          </a:solidFill>
                          <a:latin typeface="Aptos"/>
                        </a:defRPr>
                      </a:pPr>
                      <a:r>
                        <a:t>DevOps Engineer</a:t>
                      </a:r>
                    </a:p>
                  </a:txBody>
                  <a:tcPr>
                    <a:solidFill>
                      <a:srgbClr val="FFFFFF"/>
                    </a:solidFill>
                  </a:tcPr>
                </a:tc>
                <a:tc>
                  <a:txBody>
                    <a:bodyPr/>
                    <a:lstStyle/>
                    <a:p>
                      <a:pPr>
                        <a:defRPr sz="1000">
                          <a:solidFill>
                            <a:srgbClr val="333333"/>
                          </a:solidFill>
                          <a:latin typeface="Aptos"/>
                        </a:defRPr>
                      </a:pPr>
                      <a:r>
                        <a:t>Turk Malloy</a:t>
                      </a:r>
                    </a:p>
                  </a:txBody>
                  <a:tcPr>
                    <a:solidFill>
                      <a:srgbClr val="FFFFFF"/>
                    </a:solidFill>
                  </a:tcPr>
                </a:tc>
                <a:tc>
                  <a:txBody>
                    <a:bodyPr/>
                    <a:lstStyle/>
                    <a:p>
                      <a:pPr>
                        <a:defRPr sz="1000">
                          <a:solidFill>
                            <a:srgbClr val="333333"/>
                          </a:solidFill>
                          <a:latin typeface="Aptos"/>
                        </a:defRPr>
                      </a:pPr>
                      <a:r>
                        <a:t>CI/CD pipelines</a:t>
                      </a:r>
                    </a:p>
                  </a:txBody>
                  <a:tcPr>
                    <a:solidFill>
                      <a:srgbClr val="FFFFFF"/>
                    </a:solidFill>
                  </a:tcPr>
                </a:tc>
              </a:tr>
              <a:tr h="320040">
                <a:tc>
                  <a:txBody>
                    <a:bodyPr/>
                    <a:lstStyle/>
                    <a:p>
                      <a:pPr>
                        <a:defRPr sz="1000">
                          <a:solidFill>
                            <a:srgbClr val="333333"/>
                          </a:solidFill>
                          <a:latin typeface="Aptos"/>
                        </a:defRPr>
                      </a:pPr>
                      <a:r>
                        <a:t>6</a:t>
                      </a:r>
                    </a:p>
                  </a:txBody>
                  <a:tcPr>
                    <a:solidFill>
                      <a:srgbClr val="F2F7FA"/>
                    </a:solidFill>
                  </a:tcPr>
                </a:tc>
                <a:tc>
                  <a:txBody>
                    <a:bodyPr/>
                    <a:lstStyle/>
                    <a:p>
                      <a:pPr>
                        <a:defRPr sz="1000">
                          <a:solidFill>
                            <a:srgbClr val="333333"/>
                          </a:solidFill>
                          <a:latin typeface="Aptos"/>
                        </a:defRPr>
                      </a:pPr>
                      <a:r>
                        <a:t>Observability</a:t>
                      </a:r>
                    </a:p>
                  </a:txBody>
                  <a:tcPr>
                    <a:solidFill>
                      <a:srgbClr val="F2F7FA"/>
                    </a:solidFill>
                  </a:tcPr>
                </a:tc>
                <a:tc>
                  <a:txBody>
                    <a:bodyPr/>
                    <a:lstStyle/>
                    <a:p>
                      <a:pPr>
                        <a:defRPr sz="1000">
                          <a:solidFill>
                            <a:srgbClr val="333333"/>
                          </a:solidFill>
                          <a:latin typeface="Aptos"/>
                        </a:defRPr>
                      </a:pPr>
                      <a:r>
                        <a:t>Livingston Dell</a:t>
                      </a:r>
                    </a:p>
                  </a:txBody>
                  <a:tcPr>
                    <a:solidFill>
                      <a:srgbClr val="F2F7FA"/>
                    </a:solidFill>
                  </a:tcPr>
                </a:tc>
                <a:tc>
                  <a:txBody>
                    <a:bodyPr/>
                    <a:lstStyle/>
                    <a:p>
                      <a:pPr>
                        <a:defRPr sz="1000">
                          <a:solidFill>
                            <a:srgbClr val="333333"/>
                          </a:solidFill>
                          <a:latin typeface="Aptos"/>
                        </a:defRPr>
                      </a:pPr>
                      <a:r>
                        <a:t>Monitoring</a:t>
                      </a:r>
                    </a:p>
                  </a:txBody>
                  <a:tcPr>
                    <a:solidFill>
                      <a:srgbClr val="F2F7FA"/>
                    </a:solidFill>
                  </a:tcPr>
                </a:tc>
              </a:tr>
              <a:tr h="320040">
                <a:tc>
                  <a:txBody>
                    <a:bodyPr/>
                    <a:lstStyle/>
                    <a:p>
                      <a:pPr>
                        <a:defRPr sz="1000">
                          <a:solidFill>
                            <a:srgbClr val="333333"/>
                          </a:solidFill>
                          <a:latin typeface="Aptos"/>
                        </a:defRPr>
                      </a:pPr>
                      <a:r>
                        <a:t>7</a:t>
                      </a:r>
                    </a:p>
                  </a:txBody>
                  <a:tcPr>
                    <a:solidFill>
                      <a:srgbClr val="FFFFFF"/>
                    </a:solidFill>
                  </a:tcPr>
                </a:tc>
                <a:tc>
                  <a:txBody>
                    <a:bodyPr/>
                    <a:lstStyle/>
                    <a:p>
                      <a:pPr>
                        <a:defRPr sz="1000">
                          <a:solidFill>
                            <a:srgbClr val="333333"/>
                          </a:solidFill>
                          <a:latin typeface="Aptos"/>
                        </a:defRPr>
                      </a:pPr>
                      <a:r>
                        <a:t>Database</a:t>
                      </a:r>
                    </a:p>
                  </a:txBody>
                  <a:tcPr>
                    <a:solidFill>
                      <a:srgbClr val="FFFFFF"/>
                    </a:solidFill>
                  </a:tcPr>
                </a:tc>
                <a:tc>
                  <a:txBody>
                    <a:bodyPr/>
                    <a:lstStyle/>
                    <a:p>
                      <a:pPr>
                        <a:defRPr sz="1000">
                          <a:solidFill>
                            <a:srgbClr val="333333"/>
                          </a:solidFill>
                          <a:latin typeface="Aptos"/>
                        </a:defRPr>
                      </a:pPr>
                      <a:r>
                        <a:t>The Amazing Yen</a:t>
                      </a:r>
                    </a:p>
                  </a:txBody>
                  <a:tcPr>
                    <a:solidFill>
                      <a:srgbClr val="FFFFFF"/>
                    </a:solidFill>
                  </a:tcPr>
                </a:tc>
                <a:tc>
                  <a:txBody>
                    <a:bodyPr/>
                    <a:lstStyle/>
                    <a:p>
                      <a:pPr>
                        <a:defRPr sz="1000">
                          <a:solidFill>
                            <a:srgbClr val="333333"/>
                          </a:solidFill>
                          <a:latin typeface="Aptos"/>
                        </a:defRPr>
                      </a:pPr>
                      <a:r>
                        <a:t>Data migration</a:t>
                      </a:r>
                    </a:p>
                  </a:txBody>
                  <a:tcPr>
                    <a:solidFill>
                      <a:srgbClr val="FFFFFF"/>
                    </a:solidFill>
                  </a:tcPr>
                </a:tc>
              </a:tr>
              <a:tr h="320040">
                <a:tc>
                  <a:txBody>
                    <a:bodyPr/>
                    <a:lstStyle/>
                    <a:p>
                      <a:pPr>
                        <a:defRPr sz="1000">
                          <a:solidFill>
                            <a:srgbClr val="333333"/>
                          </a:solidFill>
                          <a:latin typeface="Aptos"/>
                        </a:defRPr>
                      </a:pPr>
                      <a:r>
                        <a:t>8</a:t>
                      </a:r>
                    </a:p>
                  </a:txBody>
                  <a:tcPr>
                    <a:solidFill>
                      <a:srgbClr val="F2F7FA"/>
                    </a:solidFill>
                  </a:tcPr>
                </a:tc>
                <a:tc>
                  <a:txBody>
                    <a:bodyPr/>
                    <a:lstStyle/>
                    <a:p>
                      <a:pPr>
                        <a:defRPr sz="1000">
                          <a:solidFill>
                            <a:srgbClr val="333333"/>
                          </a:solidFill>
                          <a:latin typeface="Aptos"/>
                        </a:defRPr>
                      </a:pPr>
                      <a:r>
                        <a:t>Performance</a:t>
                      </a:r>
                    </a:p>
                  </a:txBody>
                  <a:tcPr>
                    <a:solidFill>
                      <a:srgbClr val="F2F7FA"/>
                    </a:solidFill>
                  </a:tcPr>
                </a:tc>
                <a:tc>
                  <a:txBody>
                    <a:bodyPr/>
                    <a:lstStyle/>
                    <a:p>
                      <a:pPr>
                        <a:defRPr sz="1000">
                          <a:solidFill>
                            <a:srgbClr val="333333"/>
                          </a:solidFill>
                          <a:latin typeface="Aptos"/>
                        </a:defRPr>
                      </a:pPr>
                      <a:r>
                        <a:t>Virgil Malloy</a:t>
                      </a:r>
                    </a:p>
                  </a:txBody>
                  <a:tcPr>
                    <a:solidFill>
                      <a:srgbClr val="F2F7FA"/>
                    </a:solidFill>
                  </a:tcPr>
                </a:tc>
                <a:tc>
                  <a:txBody>
                    <a:bodyPr/>
                    <a:lstStyle/>
                    <a:p>
                      <a:pPr>
                        <a:defRPr sz="1000">
                          <a:solidFill>
                            <a:srgbClr val="333333"/>
                          </a:solidFill>
                          <a:latin typeface="Aptos"/>
                        </a:defRPr>
                      </a:pPr>
                      <a:r>
                        <a:t>Benchmarks</a:t>
                      </a:r>
                    </a:p>
                  </a:txBody>
                  <a:tcPr>
                    <a:solidFill>
                      <a:srgbClr val="F2F7FA"/>
                    </a:solidFill>
                  </a:tcPr>
                </a:tc>
              </a:tr>
              <a:tr h="320040">
                <a:tc>
                  <a:txBody>
                    <a:bodyPr/>
                    <a:lstStyle/>
                    <a:p>
                      <a:pPr>
                        <a:defRPr sz="1000">
                          <a:solidFill>
                            <a:srgbClr val="333333"/>
                          </a:solidFill>
                          <a:latin typeface="Aptos"/>
                        </a:defRPr>
                      </a:pPr>
                      <a:r>
                        <a:t>9</a:t>
                      </a:r>
                    </a:p>
                  </a:txBody>
                  <a:tcPr>
                    <a:solidFill>
                      <a:srgbClr val="FFFFFF"/>
                    </a:solidFill>
                  </a:tcPr>
                </a:tc>
                <a:tc>
                  <a:txBody>
                    <a:bodyPr/>
                    <a:lstStyle/>
                    <a:p>
                      <a:pPr>
                        <a:defRPr sz="1000">
                          <a:solidFill>
                            <a:srgbClr val="333333"/>
                          </a:solidFill>
                          <a:latin typeface="Aptos"/>
                        </a:defRPr>
                      </a:pPr>
                      <a:r>
                        <a:t>Security Auditor</a:t>
                      </a:r>
                    </a:p>
                  </a:txBody>
                  <a:tcPr>
                    <a:solidFill>
                      <a:srgbClr val="FFFFFF"/>
                    </a:solidFill>
                  </a:tcPr>
                </a:tc>
                <a:tc>
                  <a:txBody>
                    <a:bodyPr/>
                    <a:lstStyle/>
                    <a:p>
                      <a:pPr>
                        <a:defRPr sz="1000">
                          <a:solidFill>
                            <a:srgbClr val="333333"/>
                          </a:solidFill>
                          <a:latin typeface="Aptos"/>
                        </a:defRPr>
                      </a:pPr>
                      <a:r>
                        <a:t>Frank Catton</a:t>
                      </a:r>
                    </a:p>
                  </a:txBody>
                  <a:tcPr>
                    <a:solidFill>
                      <a:srgbClr val="FFFFFF"/>
                    </a:solidFill>
                  </a:tcPr>
                </a:tc>
                <a:tc>
                  <a:txBody>
                    <a:bodyPr/>
                    <a:lstStyle/>
                    <a:p>
                      <a:pPr>
                        <a:defRPr sz="1000">
                          <a:solidFill>
                            <a:srgbClr val="333333"/>
                          </a:solidFill>
                          <a:latin typeface="Aptos"/>
                        </a:defRPr>
                      </a:pPr>
                      <a:r>
                        <a:t>Vuln scanning</a:t>
                      </a:r>
                    </a:p>
                  </a:txBody>
                  <a:tcPr>
                    <a:solidFill>
                      <a:srgbClr val="FFFFFF"/>
                    </a:solidFill>
                  </a:tcPr>
                </a:tc>
              </a:tr>
              <a:tr h="320040">
                <a:tc>
                  <a:txBody>
                    <a:bodyPr/>
                    <a:lstStyle/>
                    <a:p>
                      <a:pPr>
                        <a:defRPr sz="1000">
                          <a:solidFill>
                            <a:srgbClr val="333333"/>
                          </a:solidFill>
                          <a:latin typeface="Aptos"/>
                        </a:defRPr>
                      </a:pPr>
                      <a:r>
                        <a:t>10</a:t>
                      </a:r>
                    </a:p>
                  </a:txBody>
                  <a:tcPr>
                    <a:solidFill>
                      <a:srgbClr val="F2F7FA"/>
                    </a:solidFill>
                  </a:tcPr>
                </a:tc>
                <a:tc>
                  <a:txBody>
                    <a:bodyPr/>
                    <a:lstStyle/>
                    <a:p>
                      <a:pPr>
                        <a:defRPr sz="1000">
                          <a:solidFill>
                            <a:srgbClr val="333333"/>
                          </a:solidFill>
                          <a:latin typeface="Aptos"/>
                        </a:defRPr>
                      </a:pPr>
                      <a:r>
                        <a:t>Evaluator</a:t>
                      </a:r>
                    </a:p>
                  </a:txBody>
                  <a:tcPr>
                    <a:solidFill>
                      <a:srgbClr val="F2F7FA"/>
                    </a:solidFill>
                  </a:tcPr>
                </a:tc>
                <a:tc>
                  <a:txBody>
                    <a:bodyPr/>
                    <a:lstStyle/>
                    <a:p>
                      <a:pPr>
                        <a:defRPr sz="1000">
                          <a:solidFill>
                            <a:srgbClr val="333333"/>
                          </a:solidFill>
                          <a:latin typeface="Aptos"/>
                        </a:defRPr>
                      </a:pPr>
                      <a:r>
                        <a:t>Saul Bloom</a:t>
                      </a:r>
                    </a:p>
                  </a:txBody>
                  <a:tcPr>
                    <a:solidFill>
                      <a:srgbClr val="F2F7FA"/>
                    </a:solidFill>
                  </a:tcPr>
                </a:tc>
                <a:tc>
                  <a:txBody>
                    <a:bodyPr/>
                    <a:lstStyle/>
                    <a:p>
                      <a:pPr>
                        <a:defRPr sz="1000">
                          <a:solidFill>
                            <a:srgbClr val="333333"/>
                          </a:solidFill>
                          <a:latin typeface="Aptos"/>
                        </a:defRPr>
                      </a:pPr>
                      <a:r>
                        <a:t>Prompt quality</a:t>
                      </a:r>
                    </a:p>
                  </a:txBody>
                  <a:tcPr>
                    <a:solidFill>
                      <a:srgbClr val="F2F7FA"/>
                    </a:solidFill>
                  </a:tcPr>
                </a:tc>
              </a:tr>
              <a:tr h="320040">
                <a:tc>
                  <a:txBody>
                    <a:bodyPr/>
                    <a:lstStyle/>
                    <a:p>
                      <a:pPr>
                        <a:defRPr sz="1000">
                          <a:solidFill>
                            <a:srgbClr val="333333"/>
                          </a:solidFill>
                          <a:latin typeface="Aptos"/>
                        </a:defRPr>
                      </a:pPr>
                      <a:r>
                        <a:t>11</a:t>
                      </a:r>
                    </a:p>
                  </a:txBody>
                  <a:tcPr>
                    <a:solidFill>
                      <a:srgbClr val="FFFFFF"/>
                    </a:solidFill>
                  </a:tcPr>
                </a:tc>
                <a:tc>
                  <a:txBody>
                    <a:bodyPr/>
                    <a:lstStyle/>
                    <a:p>
                      <a:pPr>
                        <a:defRPr sz="1000">
                          <a:solidFill>
                            <a:srgbClr val="333333"/>
                          </a:solidFill>
                          <a:latin typeface="Aptos"/>
                        </a:defRPr>
                      </a:pPr>
                      <a:r>
                        <a:t>Cutover Commander</a:t>
                      </a:r>
                    </a:p>
                  </a:txBody>
                  <a:tcPr>
                    <a:solidFill>
                      <a:srgbClr val="FFFFFF"/>
                    </a:solidFill>
                  </a:tcPr>
                </a:tc>
                <a:tc>
                  <a:txBody>
                    <a:bodyPr/>
                    <a:lstStyle/>
                    <a:p>
                      <a:pPr>
                        <a:defRPr sz="1000">
                          <a:solidFill>
                            <a:srgbClr val="333333"/>
                          </a:solidFill>
                          <a:latin typeface="Aptos"/>
                        </a:defRPr>
                      </a:pPr>
                      <a:r>
                        <a:t>Reuben Tishkoff</a:t>
                      </a:r>
                    </a:p>
                  </a:txBody>
                  <a:tcPr>
                    <a:solidFill>
                      <a:srgbClr val="FFFFFF"/>
                    </a:solidFill>
                  </a:tcPr>
                </a:tc>
                <a:tc>
                  <a:txBody>
                    <a:bodyPr/>
                    <a:lstStyle/>
                    <a:p>
                      <a:pPr>
                        <a:defRPr sz="1000">
                          <a:solidFill>
                            <a:srgbClr val="333333"/>
                          </a:solidFill>
                          <a:latin typeface="Aptos"/>
                        </a:defRPr>
                      </a:pPr>
                      <a:r>
                        <a:t>Go-live</a:t>
                      </a:r>
                    </a:p>
                  </a:txBody>
                  <a:tcPr>
                    <a:solidFill>
                      <a:srgbClr val="FFFFFF"/>
                    </a:solidFill>
                  </a:tcPr>
                </a:tc>
              </a:tr>
              <a:tr h="320040">
                <a:tc>
                  <a:txBody>
                    <a:bodyPr/>
                    <a:lstStyle/>
                    <a:p>
                      <a:pPr>
                        <a:defRPr sz="1000">
                          <a:solidFill>
                            <a:srgbClr val="333333"/>
                          </a:solidFill>
                          <a:latin typeface="Aptos"/>
                        </a:defRPr>
                      </a:pPr>
                      <a:r>
                        <a:t>12</a:t>
                      </a:r>
                    </a:p>
                  </a:txBody>
                  <a:tcPr>
                    <a:solidFill>
                      <a:srgbClr val="F2F7FA"/>
                    </a:solidFill>
                  </a:tcPr>
                </a:tc>
                <a:tc>
                  <a:txBody>
                    <a:bodyPr/>
                    <a:lstStyle/>
                    <a:p>
                      <a:pPr>
                        <a:defRPr sz="1000">
                          <a:solidFill>
                            <a:srgbClr val="333333"/>
                          </a:solidFill>
                          <a:latin typeface="Aptos"/>
                        </a:defRPr>
                      </a:pPr>
                      <a:r>
                        <a:t>Scribe</a:t>
                      </a:r>
                    </a:p>
                  </a:txBody>
                  <a:tcPr>
                    <a:solidFill>
                      <a:srgbClr val="F2F7FA"/>
                    </a:solidFill>
                  </a:tcPr>
                </a:tc>
                <a:tc>
                  <a:txBody>
                    <a:bodyPr/>
                    <a:lstStyle/>
                    <a:p>
                      <a:pPr>
                        <a:defRPr sz="1000">
                          <a:solidFill>
                            <a:srgbClr val="333333"/>
                          </a:solidFill>
                          <a:latin typeface="Aptos"/>
                        </a:defRPr>
                      </a:pPr>
                      <a:r>
                        <a:t>Roman Nagel</a:t>
                      </a:r>
                    </a:p>
                  </a:txBody>
                  <a:tcPr>
                    <a:solidFill>
                      <a:srgbClr val="F2F7FA"/>
                    </a:solidFill>
                  </a:tcPr>
                </a:tc>
                <a:tc>
                  <a:txBody>
                    <a:bodyPr/>
                    <a:lstStyle/>
                    <a:p>
                      <a:pPr>
                        <a:defRPr sz="1000">
                          <a:solidFill>
                            <a:srgbClr val="333333"/>
                          </a:solidFill>
                          <a:latin typeface="Aptos"/>
                        </a:defRPr>
                      </a:pPr>
                      <a:r>
                        <a:t>Documentation</a:t>
                      </a:r>
                    </a:p>
                  </a:txBody>
                  <a:tcPr>
                    <a:solidFill>
                      <a:srgbClr val="F2F7FA"/>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91440"/>
            <a:ext cx="12192000" cy="594360"/>
          </a:xfrm>
          <a:prstGeom prst="rect">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800" b="1">
                <a:solidFill>
                  <a:srgbClr val="FFFFFF"/>
                </a:solidFill>
                <a:latin typeface="Aptos Display"/>
              </a:defRPr>
            </a:pPr>
            <a:r>
              <a:t>Composable Skills: Build Once, Use Everywhere</a:t>
            </a:r>
          </a:p>
        </p:txBody>
      </p:sp>
      <p:sp>
        <p:nvSpPr>
          <p:cNvPr id="3" name="TextBox 2"/>
          <p:cNvSpPr txBox="1"/>
          <p:nvPr/>
        </p:nvSpPr>
        <p:spPr>
          <a:xfrm>
            <a:off x="10515600" y="6263640"/>
            <a:ext cx="1371600" cy="274320"/>
          </a:xfrm>
          <a:prstGeom prst="rect">
            <a:avLst/>
          </a:prstGeom>
          <a:noFill/>
        </p:spPr>
        <p:txBody>
          <a:bodyPr wrap="square">
            <a:spAutoFit/>
          </a:bodyPr>
          <a:lstStyle/>
          <a:p>
            <a:pPr algn="r">
              <a:defRPr sz="800" b="0">
                <a:solidFill>
                  <a:srgbClr val="666666"/>
                </a:solidFill>
                <a:latin typeface="Aptos"/>
              </a:defRPr>
            </a:pPr>
            <a:r>
              <a:t>8 / 17</a:t>
            </a:r>
          </a:p>
        </p:txBody>
      </p:sp>
      <p:sp>
        <p:nvSpPr>
          <p:cNvPr id="4" name="Rounded Rectangle 3"/>
          <p:cNvSpPr/>
          <p:nvPr/>
        </p:nvSpPr>
        <p:spPr>
          <a:xfrm>
            <a:off x="548640" y="1417320"/>
            <a:ext cx="3611880" cy="3063240"/>
          </a:xfrm>
          <a:prstGeom prst="roundRect">
            <a:avLst>
              <a:gd name="adj" fmla="val 6000"/>
            </a:avLst>
          </a:prstGeom>
          <a:solidFill>
            <a:srgbClr val="FFFFFF"/>
          </a:solidFill>
          <a:ln w="12700">
            <a:solidFill>
              <a:srgbClr val="D0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21792" y="1490472"/>
            <a:ext cx="3465576" cy="45720"/>
          </a:xfrm>
          <a:prstGeom prst="rect">
            <a:avLst/>
          </a:prstGeom>
          <a:solidFill>
            <a:srgbClr val="01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618488"/>
            <a:ext cx="3282696" cy="365760"/>
          </a:xfrm>
          <a:prstGeom prst="rect">
            <a:avLst/>
          </a:prstGeom>
          <a:noFill/>
        </p:spPr>
        <p:txBody>
          <a:bodyPr wrap="square">
            <a:spAutoFit/>
          </a:bodyPr>
          <a:lstStyle/>
          <a:p>
            <a:pPr algn="ctr">
              <a:defRPr sz="1600" b="1">
                <a:solidFill>
                  <a:srgbClr val="0178D4"/>
                </a:solidFill>
                <a:latin typeface="Aptos Display"/>
              </a:defRPr>
            </a:pPr>
            <a:r>
              <a:t>Phase 1 — Assessment</a:t>
            </a:r>
          </a:p>
        </p:txBody>
      </p:sp>
      <p:sp>
        <p:nvSpPr>
          <p:cNvPr id="7" name="TextBox 6"/>
          <p:cNvSpPr txBox="1"/>
          <p:nvPr/>
        </p:nvSpPr>
        <p:spPr>
          <a:xfrm>
            <a:off x="749808" y="2148840"/>
            <a:ext cx="3209544" cy="2148840"/>
          </a:xfrm>
          <a:prstGeom prst="rect">
            <a:avLst/>
          </a:prstGeom>
          <a:noFill/>
        </p:spPr>
        <p:txBody>
          <a:bodyPr wrap="square">
            <a:spAutoFit/>
          </a:bodyPr>
          <a:lstStyle/>
          <a:p>
            <a:pPr>
              <a:spcAft>
                <a:spcPts val="400"/>
              </a:spcAft>
              <a:defRPr sz="1300" b="0">
                <a:solidFill>
                  <a:srgbClr val="333333"/>
                </a:solidFill>
                <a:latin typeface="Aptos"/>
              </a:defRPr>
            </a:pPr>
            <a:r>
              <a:t>•  dotnet-upgrade-paths</a:t>
            </a:r>
          </a:p>
          <a:p>
            <a:pPr>
              <a:spcAft>
                <a:spcPts val="400"/>
              </a:spcAft>
              <a:defRPr sz="1300" b="0">
                <a:solidFill>
                  <a:srgbClr val="333333"/>
                </a:solidFill>
                <a:latin typeface="Aptos"/>
              </a:defRPr>
            </a:pPr>
            <a:r>
              <a:t>•  azure-app-service</a:t>
            </a:r>
          </a:p>
          <a:p>
            <a:pPr>
              <a:spcAft>
                <a:spcPts val="400"/>
              </a:spcAft>
              <a:defRPr sz="1300" b="0">
                <a:solidFill>
                  <a:srgbClr val="333333"/>
                </a:solidFill>
                <a:latin typeface="Aptos"/>
              </a:defRPr>
            </a:pPr>
            <a:r>
              <a:t>•  code-analysis-patterns</a:t>
            </a:r>
          </a:p>
          <a:p>
            <a:pPr>
              <a:spcAft>
                <a:spcPts val="400"/>
              </a:spcAft>
              <a:defRPr sz="1300" b="0">
                <a:solidFill>
                  <a:srgbClr val="333333"/>
                </a:solidFill>
                <a:latin typeface="Aptos"/>
              </a:defRPr>
            </a:pPr>
            <a:r>
              <a:t>•  Fast intake without rewriting guidance</a:t>
            </a:r>
          </a:p>
        </p:txBody>
      </p:sp>
      <p:sp>
        <p:nvSpPr>
          <p:cNvPr id="8" name="Rounded Rectangle 7"/>
          <p:cNvSpPr/>
          <p:nvPr/>
        </p:nvSpPr>
        <p:spPr>
          <a:xfrm>
            <a:off x="4279392" y="1417320"/>
            <a:ext cx="3611880" cy="3063240"/>
          </a:xfrm>
          <a:prstGeom prst="roundRect">
            <a:avLst>
              <a:gd name="adj" fmla="val 6000"/>
            </a:avLst>
          </a:prstGeom>
          <a:solidFill>
            <a:srgbClr val="FFFFFF"/>
          </a:solidFill>
          <a:ln w="12700">
            <a:solidFill>
              <a:srgbClr val="D0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52544" y="1490472"/>
            <a:ext cx="3465576" cy="45720"/>
          </a:xfrm>
          <a:prstGeom prst="rect">
            <a:avLst/>
          </a:prstGeom>
          <a:solidFill>
            <a:srgbClr val="00B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43984" y="1618488"/>
            <a:ext cx="3282696" cy="365760"/>
          </a:xfrm>
          <a:prstGeom prst="rect">
            <a:avLst/>
          </a:prstGeom>
          <a:noFill/>
        </p:spPr>
        <p:txBody>
          <a:bodyPr wrap="square">
            <a:spAutoFit/>
          </a:bodyPr>
          <a:lstStyle/>
          <a:p>
            <a:pPr algn="ctr">
              <a:defRPr sz="1600" b="1">
                <a:solidFill>
                  <a:srgbClr val="00B050"/>
                </a:solidFill>
                <a:latin typeface="Aptos Display"/>
              </a:defRPr>
            </a:pPr>
            <a:r>
              <a:t>Security Hardening</a:t>
            </a:r>
          </a:p>
        </p:txBody>
      </p:sp>
      <p:sp>
        <p:nvSpPr>
          <p:cNvPr id="11" name="TextBox 10"/>
          <p:cNvSpPr txBox="1"/>
          <p:nvPr/>
        </p:nvSpPr>
        <p:spPr>
          <a:xfrm>
            <a:off x="4480560" y="2148840"/>
            <a:ext cx="3209544" cy="2148840"/>
          </a:xfrm>
          <a:prstGeom prst="rect">
            <a:avLst/>
          </a:prstGeom>
          <a:noFill/>
        </p:spPr>
        <p:txBody>
          <a:bodyPr wrap="square">
            <a:spAutoFit/>
          </a:bodyPr>
          <a:lstStyle/>
          <a:p>
            <a:pPr>
              <a:spcAft>
                <a:spcPts val="400"/>
              </a:spcAft>
              <a:defRPr sz="1300" b="0">
                <a:solidFill>
                  <a:srgbClr val="333333"/>
                </a:solidFill>
                <a:latin typeface="Aptos"/>
              </a:defRPr>
            </a:pPr>
            <a:r>
              <a:t>•  owasp-top-10</a:t>
            </a:r>
          </a:p>
          <a:p>
            <a:pPr>
              <a:spcAft>
                <a:spcPts val="400"/>
              </a:spcAft>
              <a:defRPr sz="1300" b="0">
                <a:solidFill>
                  <a:srgbClr val="333333"/>
                </a:solidFill>
                <a:latin typeface="Aptos"/>
              </a:defRPr>
            </a:pPr>
            <a:r>
              <a:t>•  azure-key-vault</a:t>
            </a:r>
          </a:p>
          <a:p>
            <a:pPr>
              <a:spcAft>
                <a:spcPts val="400"/>
              </a:spcAft>
              <a:defRPr sz="1300" b="0">
                <a:solidFill>
                  <a:srgbClr val="333333"/>
                </a:solidFill>
                <a:latin typeface="Aptos"/>
              </a:defRPr>
            </a:pPr>
            <a:r>
              <a:t>•  identity-auth-patterns</a:t>
            </a:r>
          </a:p>
          <a:p>
            <a:pPr>
              <a:spcAft>
                <a:spcPts val="400"/>
              </a:spcAft>
              <a:defRPr sz="1300" b="0">
                <a:solidFill>
                  <a:srgbClr val="333333"/>
                </a:solidFill>
                <a:latin typeface="Aptos"/>
              </a:defRPr>
            </a:pPr>
            <a:r>
              <a:t>•  Reuse the same security blocks across apps</a:t>
            </a:r>
          </a:p>
        </p:txBody>
      </p:sp>
      <p:sp>
        <p:nvSpPr>
          <p:cNvPr id="12" name="Rounded Rectangle 11"/>
          <p:cNvSpPr/>
          <p:nvPr/>
        </p:nvSpPr>
        <p:spPr>
          <a:xfrm>
            <a:off x="8010144" y="1417320"/>
            <a:ext cx="3611880" cy="3063240"/>
          </a:xfrm>
          <a:prstGeom prst="roundRect">
            <a:avLst>
              <a:gd name="adj" fmla="val 6000"/>
            </a:avLst>
          </a:prstGeom>
          <a:solidFill>
            <a:srgbClr val="FFFFFF"/>
          </a:solidFill>
          <a:ln w="12700">
            <a:solidFill>
              <a:srgbClr val="D0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83296" y="1490472"/>
            <a:ext cx="3465576" cy="45720"/>
          </a:xfrm>
          <a:prstGeom prst="rect">
            <a:avLst/>
          </a:prstGeom>
          <a:solidFill>
            <a:srgbClr val="FE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74736" y="1618488"/>
            <a:ext cx="3282696" cy="365760"/>
          </a:xfrm>
          <a:prstGeom prst="rect">
            <a:avLst/>
          </a:prstGeom>
          <a:noFill/>
        </p:spPr>
        <p:txBody>
          <a:bodyPr wrap="square">
            <a:spAutoFit/>
          </a:bodyPr>
          <a:lstStyle/>
          <a:p>
            <a:pPr algn="ctr">
              <a:defRPr sz="1600" b="1">
                <a:solidFill>
                  <a:srgbClr val="FE8B00"/>
                </a:solidFill>
                <a:latin typeface="Aptos Display"/>
              </a:defRPr>
            </a:pPr>
            <a:r>
              <a:t>Database Migration</a:t>
            </a:r>
          </a:p>
        </p:txBody>
      </p:sp>
      <p:sp>
        <p:nvSpPr>
          <p:cNvPr id="15" name="TextBox 14"/>
          <p:cNvSpPr txBox="1"/>
          <p:nvPr/>
        </p:nvSpPr>
        <p:spPr>
          <a:xfrm>
            <a:off x="8211312" y="2148840"/>
            <a:ext cx="3209544" cy="2148840"/>
          </a:xfrm>
          <a:prstGeom prst="rect">
            <a:avLst/>
          </a:prstGeom>
          <a:noFill/>
        </p:spPr>
        <p:txBody>
          <a:bodyPr wrap="square">
            <a:spAutoFit/>
          </a:bodyPr>
          <a:lstStyle/>
          <a:p>
            <a:pPr>
              <a:spcAft>
                <a:spcPts val="400"/>
              </a:spcAft>
              <a:defRPr sz="1300" b="0">
                <a:solidFill>
                  <a:srgbClr val="333333"/>
                </a:solidFill>
                <a:latin typeface="Aptos"/>
              </a:defRPr>
            </a:pPr>
            <a:r>
              <a:t>•  ef-core-migration</a:t>
            </a:r>
          </a:p>
          <a:p>
            <a:pPr>
              <a:spcAft>
                <a:spcPts val="400"/>
              </a:spcAft>
              <a:defRPr sz="1300" b="0">
                <a:solidFill>
                  <a:srgbClr val="333333"/>
                </a:solidFill>
                <a:latin typeface="Aptos"/>
              </a:defRPr>
            </a:pPr>
            <a:r>
              <a:t>•  azure-sql-patterns</a:t>
            </a:r>
          </a:p>
          <a:p>
            <a:pPr>
              <a:spcAft>
                <a:spcPts val="400"/>
              </a:spcAft>
              <a:defRPr sz="1300" b="0">
                <a:solidFill>
                  <a:srgbClr val="333333"/>
                </a:solidFill>
                <a:latin typeface="Aptos"/>
              </a:defRPr>
            </a:pPr>
            <a:r>
              <a:t>•  data-validation</a:t>
            </a:r>
          </a:p>
          <a:p>
            <a:pPr>
              <a:spcAft>
                <a:spcPts val="400"/>
              </a:spcAft>
              <a:defRPr sz="1300" b="0">
                <a:solidFill>
                  <a:srgbClr val="333333"/>
                </a:solidFill>
                <a:latin typeface="Aptos"/>
              </a:defRPr>
            </a:pPr>
            <a:r>
              <a:t>•  Swap data strategy without duplicating prompts</a:t>
            </a:r>
          </a:p>
        </p:txBody>
      </p:sp>
      <p:sp>
        <p:nvSpPr>
          <p:cNvPr id="16" name="TextBox 15"/>
          <p:cNvSpPr txBox="1"/>
          <p:nvPr/>
        </p:nvSpPr>
        <p:spPr>
          <a:xfrm>
            <a:off x="1143000" y="4983480"/>
            <a:ext cx="9784080" cy="411480"/>
          </a:xfrm>
          <a:prstGeom prst="rect">
            <a:avLst/>
          </a:prstGeom>
          <a:noFill/>
        </p:spPr>
        <p:txBody>
          <a:bodyPr wrap="square">
            <a:spAutoFit/>
          </a:bodyPr>
          <a:lstStyle/>
          <a:p>
            <a:pPr algn="ctr">
              <a:defRPr sz="2000" b="1">
                <a:solidFill>
                  <a:srgbClr val="333333"/>
                </a:solidFill>
                <a:latin typeface="Aptos Display"/>
              </a:defRPr>
            </a:pPr>
            <a:r>
              <a:t>26 skills × 20 prompts = Infinite combinations without duplication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91440"/>
            <a:ext cx="12192000" cy="594360"/>
          </a:xfrm>
          <a:prstGeom prst="rect">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800" b="1">
                <a:solidFill>
                  <a:srgbClr val="FFFFFF"/>
                </a:solidFill>
                <a:latin typeface="Aptos Display"/>
              </a:defRPr>
            </a:pPr>
            <a:r>
              <a:t>How a Migration Actually Runs</a:t>
            </a:r>
          </a:p>
        </p:txBody>
      </p:sp>
      <p:sp>
        <p:nvSpPr>
          <p:cNvPr id="3" name="TextBox 2"/>
          <p:cNvSpPr txBox="1"/>
          <p:nvPr/>
        </p:nvSpPr>
        <p:spPr>
          <a:xfrm>
            <a:off x="10515600" y="6263640"/>
            <a:ext cx="1371600" cy="274320"/>
          </a:xfrm>
          <a:prstGeom prst="rect">
            <a:avLst/>
          </a:prstGeom>
          <a:noFill/>
        </p:spPr>
        <p:txBody>
          <a:bodyPr wrap="square">
            <a:spAutoFit/>
          </a:bodyPr>
          <a:lstStyle/>
          <a:p>
            <a:pPr algn="r">
              <a:defRPr sz="800" b="0">
                <a:solidFill>
                  <a:srgbClr val="666666"/>
                </a:solidFill>
                <a:latin typeface="Aptos"/>
              </a:defRPr>
            </a:pPr>
            <a:r>
              <a:t>9 / 17</a:t>
            </a:r>
          </a:p>
        </p:txBody>
      </p:sp>
      <p:sp>
        <p:nvSpPr>
          <p:cNvPr id="4" name="Rounded Rectangle 3"/>
          <p:cNvSpPr/>
          <p:nvPr/>
        </p:nvSpPr>
        <p:spPr>
          <a:xfrm>
            <a:off x="411480" y="2423160"/>
            <a:ext cx="1627632" cy="822960"/>
          </a:xfrm>
          <a:prstGeom prst="roundRect">
            <a:avLst/>
          </a:prstGeom>
          <a:solidFill>
            <a:srgbClr val="4A4E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Aptos"/>
              </a:defRPr>
            </a:pPr>
            <a:r>
              <a:t>1. User selects</a:t>
            </a:r>
            <a:br/>
            <a:r>
              <a:t>chatmode</a:t>
            </a:r>
          </a:p>
        </p:txBody>
      </p:sp>
      <p:sp>
        <p:nvSpPr>
          <p:cNvPr id="5" name="Right Arrow 4"/>
          <p:cNvSpPr/>
          <p:nvPr/>
        </p:nvSpPr>
        <p:spPr>
          <a:xfrm>
            <a:off x="2112264" y="2724912"/>
            <a:ext cx="219456" cy="228600"/>
          </a:xfrm>
          <a:prstGeom prst="rightArrow">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240280" y="2423160"/>
            <a:ext cx="1627632" cy="822960"/>
          </a:xfrm>
          <a:prstGeom prst="roundRect">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Aptos"/>
              </a:defRPr>
            </a:pPr>
            <a:r>
              <a:t>2. Orchestrator</a:t>
            </a:r>
            <a:br/>
            <a:r>
              <a:t>routes to prompt</a:t>
            </a:r>
          </a:p>
        </p:txBody>
      </p:sp>
      <p:sp>
        <p:nvSpPr>
          <p:cNvPr id="7" name="Right Arrow 6"/>
          <p:cNvSpPr/>
          <p:nvPr/>
        </p:nvSpPr>
        <p:spPr>
          <a:xfrm>
            <a:off x="3941064" y="2724912"/>
            <a:ext cx="219456" cy="228600"/>
          </a:xfrm>
          <a:prstGeom prst="rightArrow">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069080" y="2423160"/>
            <a:ext cx="1627632" cy="822960"/>
          </a:xfrm>
          <a:prstGeom prst="roundRect">
            <a:avLst/>
          </a:prstGeom>
          <a:solidFill>
            <a:srgbClr val="225B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Aptos"/>
              </a:defRPr>
            </a:pPr>
            <a:r>
              <a:t>3. Prompt</a:t>
            </a:r>
            <a:br/>
            <a:r>
              <a:t>loads skills</a:t>
            </a:r>
          </a:p>
        </p:txBody>
      </p:sp>
      <p:sp>
        <p:nvSpPr>
          <p:cNvPr id="9" name="Right Arrow 8"/>
          <p:cNvSpPr/>
          <p:nvPr/>
        </p:nvSpPr>
        <p:spPr>
          <a:xfrm>
            <a:off x="5769864" y="2724912"/>
            <a:ext cx="219456" cy="228600"/>
          </a:xfrm>
          <a:prstGeom prst="rightArrow">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897880" y="2423160"/>
            <a:ext cx="1627632" cy="822960"/>
          </a:xfrm>
          <a:prstGeom prst="roundRect">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Aptos"/>
              </a:defRPr>
            </a:pPr>
            <a:r>
              <a:t>4. Agent executes</a:t>
            </a:r>
            <a:br/>
            <a:r>
              <a:t>with charter</a:t>
            </a:r>
          </a:p>
        </p:txBody>
      </p:sp>
      <p:sp>
        <p:nvSpPr>
          <p:cNvPr id="11" name="Right Arrow 10"/>
          <p:cNvSpPr/>
          <p:nvPr/>
        </p:nvSpPr>
        <p:spPr>
          <a:xfrm>
            <a:off x="7598664" y="2724912"/>
            <a:ext cx="219456" cy="228600"/>
          </a:xfrm>
          <a:prstGeom prst="rightArrow">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726679" y="2423160"/>
            <a:ext cx="1627632" cy="822960"/>
          </a:xfrm>
          <a:prstGeom prst="roundRect">
            <a:avLst/>
          </a:prstGeom>
          <a:solidFill>
            <a:srgbClr val="FE8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Aptos"/>
              </a:defRPr>
            </a:pPr>
            <a:r>
              <a:t>5. Hooks validate</a:t>
            </a:r>
            <a:br/>
            <a:r>
              <a:t>output</a:t>
            </a:r>
          </a:p>
        </p:txBody>
      </p:sp>
      <p:sp>
        <p:nvSpPr>
          <p:cNvPr id="13" name="Right Arrow 12"/>
          <p:cNvSpPr/>
          <p:nvPr/>
        </p:nvSpPr>
        <p:spPr>
          <a:xfrm>
            <a:off x="9427463" y="2724912"/>
            <a:ext cx="219456" cy="228600"/>
          </a:xfrm>
          <a:prstGeom prst="rightArrow">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555480" y="2423160"/>
            <a:ext cx="1627632" cy="822960"/>
          </a:xfrm>
          <a:prstGeom prst="roundRect">
            <a:avLst/>
          </a:prstGeom>
          <a:solidFill>
            <a:srgbClr val="4636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Aptos"/>
              </a:defRPr>
            </a:pPr>
            <a:r>
              <a:t>6. Handoff to</a:t>
            </a:r>
            <a:br/>
            <a:r>
              <a:t>next agent</a:t>
            </a:r>
          </a:p>
        </p:txBody>
      </p:sp>
      <p:sp>
        <p:nvSpPr>
          <p:cNvPr id="15" name="TextBox 14"/>
          <p:cNvSpPr txBox="1"/>
          <p:nvPr/>
        </p:nvSpPr>
        <p:spPr>
          <a:xfrm>
            <a:off x="4434840" y="4800600"/>
            <a:ext cx="3291840" cy="228600"/>
          </a:xfrm>
          <a:prstGeom prst="rect">
            <a:avLst/>
          </a:prstGeom>
          <a:noFill/>
        </p:spPr>
        <p:txBody>
          <a:bodyPr wrap="square">
            <a:spAutoFit/>
          </a:bodyPr>
          <a:lstStyle/>
          <a:p>
            <a:pPr algn="ctr">
              <a:defRPr sz="1100" b="0">
                <a:solidFill>
                  <a:srgbClr val="666666"/>
                </a:solidFill>
                <a:latin typeface="Aptos"/>
              </a:defRPr>
            </a:pPr>
            <a:r>
              <a:t>Feedback loop</a:t>
            </a:r>
          </a:p>
        </p:txBody>
      </p:sp>
      <p:sp>
        <p:nvSpPr>
          <p:cNvPr id="16" name="Rectangle 15"/>
          <p:cNvSpPr/>
          <p:nvPr/>
        </p:nvSpPr>
        <p:spPr>
          <a:xfrm>
            <a:off x="10259568" y="3273552"/>
            <a:ext cx="36576" cy="1051560"/>
          </a:xfrm>
          <a:prstGeom prst="rect">
            <a:avLst/>
          </a:prstGeom>
          <a:solidFill>
            <a:srgbClr val="01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697480" y="4160520"/>
            <a:ext cx="7580375" cy="36576"/>
          </a:xfrm>
          <a:prstGeom prst="rect">
            <a:avLst/>
          </a:prstGeom>
          <a:solidFill>
            <a:srgbClr val="01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Up Arrow 17"/>
          <p:cNvSpPr/>
          <p:nvPr/>
        </p:nvSpPr>
        <p:spPr>
          <a:xfrm>
            <a:off x="2697480" y="3712463"/>
            <a:ext cx="237744" cy="676656"/>
          </a:xfrm>
          <a:prstGeom prst="upArrow">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91440"/>
            <a:ext cx="12192000" cy="594360"/>
          </a:xfrm>
          <a:prstGeom prst="rect">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800" b="1">
                <a:solidFill>
                  <a:srgbClr val="FFFFFF"/>
                </a:solidFill>
                <a:latin typeface="Aptos Display"/>
              </a:defRPr>
            </a:pPr>
            <a:r>
              <a:t>7 Targets, 1 Playbook</a:t>
            </a:r>
          </a:p>
        </p:txBody>
      </p:sp>
      <p:sp>
        <p:nvSpPr>
          <p:cNvPr id="3" name="TextBox 2"/>
          <p:cNvSpPr txBox="1"/>
          <p:nvPr/>
        </p:nvSpPr>
        <p:spPr>
          <a:xfrm>
            <a:off x="10515600" y="6263640"/>
            <a:ext cx="1371600" cy="274320"/>
          </a:xfrm>
          <a:prstGeom prst="rect">
            <a:avLst/>
          </a:prstGeom>
          <a:noFill/>
        </p:spPr>
        <p:txBody>
          <a:bodyPr wrap="square">
            <a:spAutoFit/>
          </a:bodyPr>
          <a:lstStyle/>
          <a:p>
            <a:pPr algn="r">
              <a:defRPr sz="800" b="0">
                <a:solidFill>
                  <a:srgbClr val="666666"/>
                </a:solidFill>
                <a:latin typeface="Aptos"/>
              </a:defRPr>
            </a:pPr>
            <a:r>
              <a:t>10 / 17</a:t>
            </a:r>
          </a:p>
        </p:txBody>
      </p:sp>
      <p:graphicFrame>
        <p:nvGraphicFramePr>
          <p:cNvPr id="4" name="Table 3"/>
          <p:cNvGraphicFramePr>
            <a:graphicFrameLocks noGrp="1"/>
          </p:cNvGraphicFramePr>
          <p:nvPr/>
        </p:nvGraphicFramePr>
        <p:xfrm>
          <a:off x="502920" y="1298448"/>
          <a:ext cx="11064239" cy="3364992"/>
        </p:xfrm>
        <a:graphic>
          <a:graphicData uri="http://schemas.openxmlformats.org/drawingml/2006/table">
            <a:tbl>
              <a:tblPr firstRow="1" bandRow="1">
                <a:tableStyleId>{5C22544A-7EE6-4342-B048-85BDC9FD1C3A}</a:tableStyleId>
              </a:tblPr>
              <a:tblGrid>
                <a:gridCol w="1874519"/>
                <a:gridCol w="1920240"/>
                <a:gridCol w="2926080"/>
                <a:gridCol w="4343400"/>
              </a:tblGrid>
              <a:tr h="420624">
                <a:tc>
                  <a:txBody>
                    <a:bodyPr/>
                    <a:lstStyle/>
                    <a:p>
                      <a:pPr>
                        <a:defRPr sz="1000" b="1">
                          <a:solidFill>
                            <a:srgbClr val="FFFFFF"/>
                          </a:solidFill>
                          <a:latin typeface="Aptos"/>
                        </a:defRPr>
                      </a:pPr>
                      <a:r>
                        <a:t>Target</a:t>
                      </a:r>
                    </a:p>
                  </a:txBody>
                  <a:tcPr>
                    <a:solidFill>
                      <a:srgbClr val="0178D4"/>
                    </a:solidFill>
                  </a:tcPr>
                </a:tc>
                <a:tc>
                  <a:txBody>
                    <a:bodyPr/>
                    <a:lstStyle/>
                    <a:p>
                      <a:pPr>
                        <a:defRPr sz="1000" b="1">
                          <a:solidFill>
                            <a:srgbClr val="FFFFFF"/>
                          </a:solidFill>
                          <a:latin typeface="Aptos"/>
                        </a:defRPr>
                      </a:pPr>
                      <a:r>
                        <a:t>Codename</a:t>
                      </a:r>
                    </a:p>
                  </a:txBody>
                  <a:tcPr>
                    <a:solidFill>
                      <a:srgbClr val="0178D4"/>
                    </a:solidFill>
                  </a:tcPr>
                </a:tc>
                <a:tc>
                  <a:txBody>
                    <a:bodyPr/>
                    <a:lstStyle/>
                    <a:p>
                      <a:pPr>
                        <a:defRPr sz="1000" b="1">
                          <a:solidFill>
                            <a:srgbClr val="FFFFFF"/>
                          </a:solidFill>
                          <a:latin typeface="Aptos"/>
                        </a:defRPr>
                      </a:pPr>
                      <a:r>
                        <a:t>Stack</a:t>
                      </a:r>
                    </a:p>
                  </a:txBody>
                  <a:tcPr>
                    <a:solidFill>
                      <a:srgbClr val="0178D4"/>
                    </a:solidFill>
                  </a:tcPr>
                </a:tc>
                <a:tc>
                  <a:txBody>
                    <a:bodyPr/>
                    <a:lstStyle/>
                    <a:p>
                      <a:pPr>
                        <a:defRPr sz="1000" b="1">
                          <a:solidFill>
                            <a:srgbClr val="FFFFFF"/>
                          </a:solidFill>
                          <a:latin typeface="Aptos"/>
                        </a:defRPr>
                      </a:pPr>
                      <a:r>
                        <a:t>Key Agents</a:t>
                      </a:r>
                    </a:p>
                  </a:txBody>
                  <a:tcPr>
                    <a:solidFill>
                      <a:srgbClr val="0178D4"/>
                    </a:solidFill>
                  </a:tcPr>
                </a:tc>
              </a:tr>
              <a:tr h="420624">
                <a:tc>
                  <a:txBody>
                    <a:bodyPr/>
                    <a:lstStyle/>
                    <a:p>
                      <a:pPr>
                        <a:defRPr sz="1000">
                          <a:solidFill>
                            <a:srgbClr val="333333"/>
                          </a:solidFill>
                          <a:latin typeface="Aptos"/>
                        </a:defRPr>
                      </a:pPr>
                      <a:r>
                        <a:t>ASP Classic</a:t>
                      </a:r>
                    </a:p>
                  </a:txBody>
                  <a:tcPr>
                    <a:solidFill>
                      <a:srgbClr val="FFFFFF"/>
                    </a:solidFill>
                  </a:tcPr>
                </a:tc>
                <a:tc>
                  <a:txBody>
                    <a:bodyPr/>
                    <a:lstStyle/>
                    <a:p>
                      <a:pPr>
                        <a:defRPr sz="1000">
                          <a:solidFill>
                            <a:srgbClr val="333333"/>
                          </a:solidFill>
                          <a:latin typeface="Aptos"/>
                        </a:defRPr>
                      </a:pPr>
                      <a:r>
                        <a:t>The Antique</a:t>
                      </a:r>
                    </a:p>
                  </a:txBody>
                  <a:tcPr>
                    <a:solidFill>
                      <a:srgbClr val="FFFFFF"/>
                    </a:solidFill>
                  </a:tcPr>
                </a:tc>
                <a:tc>
                  <a:txBody>
                    <a:bodyPr/>
                    <a:lstStyle/>
                    <a:p>
                      <a:pPr>
                        <a:defRPr sz="1000">
                          <a:solidFill>
                            <a:srgbClr val="333333"/>
                          </a:solidFill>
                          <a:latin typeface="Aptos"/>
                        </a:defRPr>
                      </a:pPr>
                      <a:r>
                        <a:t>VBScript → .NET 8</a:t>
                      </a:r>
                    </a:p>
                  </a:txBody>
                  <a:tcPr>
                    <a:solidFill>
                      <a:srgbClr val="FFFFFF"/>
                    </a:solidFill>
                  </a:tcPr>
                </a:tc>
                <a:tc>
                  <a:txBody>
                    <a:bodyPr/>
                    <a:lstStyle/>
                    <a:p>
                      <a:pPr>
                        <a:defRPr sz="1000">
                          <a:solidFill>
                            <a:srgbClr val="333333"/>
                          </a:solidFill>
                          <a:latin typeface="Aptos"/>
                        </a:defRPr>
                      </a:pPr>
                      <a:r>
                        <a:t>Architect, Coder, DB</a:t>
                      </a:r>
                    </a:p>
                  </a:txBody>
                  <a:tcPr>
                    <a:solidFill>
                      <a:srgbClr val="FFFFFF"/>
                    </a:solidFill>
                  </a:tcPr>
                </a:tc>
              </a:tr>
              <a:tr h="420624">
                <a:tc>
                  <a:txBody>
                    <a:bodyPr/>
                    <a:lstStyle/>
                    <a:p>
                      <a:pPr>
                        <a:defRPr sz="1000">
                          <a:solidFill>
                            <a:srgbClr val="333333"/>
                          </a:solidFill>
                          <a:latin typeface="Aptos"/>
                        </a:defRPr>
                      </a:pPr>
                      <a:r>
                        <a:t>.NET 3.0</a:t>
                      </a:r>
                    </a:p>
                  </a:txBody>
                  <a:tcPr>
                    <a:solidFill>
                      <a:srgbClr val="F2F7FA"/>
                    </a:solidFill>
                  </a:tcPr>
                </a:tc>
                <a:tc>
                  <a:txBody>
                    <a:bodyPr/>
                    <a:lstStyle/>
                    <a:p>
                      <a:pPr>
                        <a:defRPr sz="1000">
                          <a:solidFill>
                            <a:srgbClr val="333333"/>
                          </a:solidFill>
                          <a:latin typeface="Aptos"/>
                        </a:defRPr>
                      </a:pPr>
                      <a:r>
                        <a:t>The Fossil</a:t>
                      </a:r>
                    </a:p>
                  </a:txBody>
                  <a:tcPr>
                    <a:solidFill>
                      <a:srgbClr val="F2F7FA"/>
                    </a:solidFill>
                  </a:tcPr>
                </a:tc>
                <a:tc>
                  <a:txBody>
                    <a:bodyPr/>
                    <a:lstStyle/>
                    <a:p>
                      <a:pPr>
                        <a:defRPr sz="1000">
                          <a:solidFill>
                            <a:srgbClr val="333333"/>
                          </a:solidFill>
                          <a:latin typeface="Aptos"/>
                        </a:defRPr>
                      </a:pPr>
                      <a:r>
                        <a:t>WebForms → Razor</a:t>
                      </a:r>
                    </a:p>
                  </a:txBody>
                  <a:tcPr>
                    <a:solidFill>
                      <a:srgbClr val="F2F7FA"/>
                    </a:solidFill>
                  </a:tcPr>
                </a:tc>
                <a:tc>
                  <a:txBody>
                    <a:bodyPr/>
                    <a:lstStyle/>
                    <a:p>
                      <a:pPr>
                        <a:defRPr sz="1000">
                          <a:solidFill>
                            <a:srgbClr val="333333"/>
                          </a:solidFill>
                          <a:latin typeface="Aptos"/>
                        </a:defRPr>
                      </a:pPr>
                      <a:r>
                        <a:t>Coder, Azure, DevOps</a:t>
                      </a:r>
                    </a:p>
                  </a:txBody>
                  <a:tcPr>
                    <a:solidFill>
                      <a:srgbClr val="F2F7FA"/>
                    </a:solidFill>
                  </a:tcPr>
                </a:tc>
              </a:tr>
              <a:tr h="420624">
                <a:tc>
                  <a:txBody>
                    <a:bodyPr/>
                    <a:lstStyle/>
                    <a:p>
                      <a:pPr>
                        <a:defRPr sz="1000">
                          <a:solidFill>
                            <a:srgbClr val="333333"/>
                          </a:solidFill>
                          <a:latin typeface="Aptos"/>
                        </a:defRPr>
                      </a:pPr>
                      <a:r>
                        <a:t>WCF 3.5</a:t>
                      </a:r>
                    </a:p>
                  </a:txBody>
                  <a:tcPr>
                    <a:solidFill>
                      <a:srgbClr val="FFFFFF"/>
                    </a:solidFill>
                  </a:tcPr>
                </a:tc>
                <a:tc>
                  <a:txBody>
                    <a:bodyPr/>
                    <a:lstStyle/>
                    <a:p>
                      <a:pPr>
                        <a:defRPr sz="1000">
                          <a:solidFill>
                            <a:srgbClr val="333333"/>
                          </a:solidFill>
                          <a:latin typeface="Aptos"/>
                        </a:defRPr>
                      </a:pPr>
                      <a:r>
                        <a:t>The Wire</a:t>
                      </a:r>
                    </a:p>
                  </a:txBody>
                  <a:tcPr>
                    <a:solidFill>
                      <a:srgbClr val="FFFFFF"/>
                    </a:solidFill>
                  </a:tcPr>
                </a:tc>
                <a:tc>
                  <a:txBody>
                    <a:bodyPr/>
                    <a:lstStyle/>
                    <a:p>
                      <a:pPr>
                        <a:defRPr sz="1000">
                          <a:solidFill>
                            <a:srgbClr val="333333"/>
                          </a:solidFill>
                          <a:latin typeface="Aptos"/>
                        </a:defRPr>
                      </a:pPr>
                      <a:r>
                        <a:t>SOAP → REST</a:t>
                      </a:r>
                    </a:p>
                  </a:txBody>
                  <a:tcPr>
                    <a:solidFill>
                      <a:srgbClr val="FFFFFF"/>
                    </a:solidFill>
                  </a:tcPr>
                </a:tc>
                <a:tc>
                  <a:txBody>
                    <a:bodyPr/>
                    <a:lstStyle/>
                    <a:p>
                      <a:pPr>
                        <a:defRPr sz="1000">
                          <a:solidFill>
                            <a:srgbClr val="333333"/>
                          </a:solidFill>
                          <a:latin typeface="Aptos"/>
                        </a:defRPr>
                      </a:pPr>
                      <a:r>
                        <a:t>Architect, Security</a:t>
                      </a:r>
                    </a:p>
                  </a:txBody>
                  <a:tcPr>
                    <a:solidFill>
                      <a:srgbClr val="FFFFFF"/>
                    </a:solidFill>
                  </a:tcPr>
                </a:tc>
              </a:tr>
              <a:tr h="420624">
                <a:tc>
                  <a:txBody>
                    <a:bodyPr/>
                    <a:lstStyle/>
                    <a:p>
                      <a:pPr>
                        <a:defRPr sz="1000">
                          <a:solidFill>
                            <a:srgbClr val="333333"/>
                          </a:solidFill>
                          <a:latin typeface="Aptos"/>
                        </a:defRPr>
                      </a:pPr>
                      <a:r>
                        <a:t>Contoso U</a:t>
                      </a:r>
                    </a:p>
                  </a:txBody>
                  <a:tcPr>
                    <a:solidFill>
                      <a:srgbClr val="F2F7FA"/>
                    </a:solidFill>
                  </a:tcPr>
                </a:tc>
                <a:tc>
                  <a:txBody>
                    <a:bodyPr/>
                    <a:lstStyle/>
                    <a:p>
                      <a:pPr>
                        <a:defRPr sz="1000">
                          <a:solidFill>
                            <a:srgbClr val="333333"/>
                          </a:solidFill>
                          <a:latin typeface="Aptos"/>
                        </a:defRPr>
                      </a:pPr>
                      <a:r>
                        <a:t>The Campus</a:t>
                      </a:r>
                    </a:p>
                  </a:txBody>
                  <a:tcPr>
                    <a:solidFill>
                      <a:srgbClr val="F2F7FA"/>
                    </a:solidFill>
                  </a:tcPr>
                </a:tc>
                <a:tc>
                  <a:txBody>
                    <a:bodyPr/>
                    <a:lstStyle/>
                    <a:p>
                      <a:pPr>
                        <a:defRPr sz="1000">
                          <a:solidFill>
                            <a:srgbClr val="333333"/>
                          </a:solidFill>
                          <a:latin typeface="Aptos"/>
                        </a:defRPr>
                      </a:pPr>
                      <a:r>
                        <a:t>MVC → Modern</a:t>
                      </a:r>
                    </a:p>
                  </a:txBody>
                  <a:tcPr>
                    <a:solidFill>
                      <a:srgbClr val="F2F7FA"/>
                    </a:solidFill>
                  </a:tcPr>
                </a:tc>
                <a:tc>
                  <a:txBody>
                    <a:bodyPr/>
                    <a:lstStyle/>
                    <a:p>
                      <a:pPr>
                        <a:defRPr sz="1000">
                          <a:solidFill>
                            <a:srgbClr val="333333"/>
                          </a:solidFill>
                          <a:latin typeface="Aptos"/>
                        </a:defRPr>
                      </a:pPr>
                      <a:r>
                        <a:t>Coder, Tester, DB</a:t>
                      </a:r>
                    </a:p>
                  </a:txBody>
                  <a:tcPr>
                    <a:solidFill>
                      <a:srgbClr val="F2F7FA"/>
                    </a:solidFill>
                  </a:tcPr>
                </a:tc>
              </a:tr>
              <a:tr h="420624">
                <a:tc>
                  <a:txBody>
                    <a:bodyPr/>
                    <a:lstStyle/>
                    <a:p>
                      <a:pPr>
                        <a:defRPr sz="1000">
                          <a:solidFill>
                            <a:srgbClr val="333333"/>
                          </a:solidFill>
                          <a:latin typeface="Aptos"/>
                        </a:defRPr>
                      </a:pPr>
                      <a:r>
                        <a:t>BookShop</a:t>
                      </a:r>
                    </a:p>
                  </a:txBody>
                  <a:tcPr>
                    <a:solidFill>
                      <a:srgbClr val="FFFFFF"/>
                    </a:solidFill>
                  </a:tcPr>
                </a:tc>
                <a:tc>
                  <a:txBody>
                    <a:bodyPr/>
                    <a:lstStyle/>
                    <a:p>
                      <a:pPr>
                        <a:defRPr sz="1000">
                          <a:solidFill>
                            <a:srgbClr val="333333"/>
                          </a:solidFill>
                          <a:latin typeface="Aptos"/>
                        </a:defRPr>
                      </a:pPr>
                      <a:r>
                        <a:t>The Vault</a:t>
                      </a:r>
                    </a:p>
                  </a:txBody>
                  <a:tcPr>
                    <a:solidFill>
                      <a:srgbClr val="FFFFFF"/>
                    </a:solidFill>
                  </a:tcPr>
                </a:tc>
                <a:tc>
                  <a:txBody>
                    <a:bodyPr/>
                    <a:lstStyle/>
                    <a:p>
                      <a:pPr>
                        <a:defRPr sz="1000">
                          <a:solidFill>
                            <a:srgbClr val="333333"/>
                          </a:solidFill>
                          <a:latin typeface="Aptos"/>
                        </a:defRPr>
                      </a:pPr>
                      <a:r>
                        <a:t>WebForms → Containers</a:t>
                      </a:r>
                    </a:p>
                  </a:txBody>
                  <a:tcPr>
                    <a:solidFill>
                      <a:srgbClr val="FFFFFF"/>
                    </a:solidFill>
                  </a:tcPr>
                </a:tc>
                <a:tc>
                  <a:txBody>
                    <a:bodyPr/>
                    <a:lstStyle/>
                    <a:p>
                      <a:pPr>
                        <a:defRPr sz="1000">
                          <a:solidFill>
                            <a:srgbClr val="333333"/>
                          </a:solidFill>
                          <a:latin typeface="Aptos"/>
                        </a:defRPr>
                      </a:pPr>
                      <a:r>
                        <a:t>All 12 agents</a:t>
                      </a:r>
                    </a:p>
                  </a:txBody>
                  <a:tcPr>
                    <a:solidFill>
                      <a:srgbClr val="FFFFFF"/>
                    </a:solidFill>
                  </a:tcPr>
                </a:tc>
              </a:tr>
              <a:tr h="420624">
                <a:tc>
                  <a:txBody>
                    <a:bodyPr/>
                    <a:lstStyle/>
                    <a:p>
                      <a:pPr>
                        <a:defRPr sz="1000">
                          <a:solidFill>
                            <a:srgbClr val="333333"/>
                          </a:solidFill>
                          <a:latin typeface="Aptos"/>
                        </a:defRPr>
                      </a:pPr>
                      <a:r>
                        <a:t>Java 8</a:t>
                      </a:r>
                    </a:p>
                  </a:txBody>
                  <a:tcPr>
                    <a:solidFill>
                      <a:srgbClr val="F2F7FA"/>
                    </a:solidFill>
                  </a:tcPr>
                </a:tc>
                <a:tc>
                  <a:txBody>
                    <a:bodyPr/>
                    <a:lstStyle/>
                    <a:p>
                      <a:pPr>
                        <a:defRPr sz="1000">
                          <a:solidFill>
                            <a:srgbClr val="333333"/>
                          </a:solidFill>
                          <a:latin typeface="Aptos"/>
                        </a:defRPr>
                      </a:pPr>
                      <a:r>
                        <a:t>The Express</a:t>
                      </a:r>
                    </a:p>
                  </a:txBody>
                  <a:tcPr>
                    <a:solidFill>
                      <a:srgbClr val="F2F7FA"/>
                    </a:solidFill>
                  </a:tcPr>
                </a:tc>
                <a:tc>
                  <a:txBody>
                    <a:bodyPr/>
                    <a:lstStyle/>
                    <a:p>
                      <a:pPr>
                        <a:defRPr sz="1000">
                          <a:solidFill>
                            <a:srgbClr val="333333"/>
                          </a:solidFill>
                          <a:latin typeface="Aptos"/>
                        </a:defRPr>
                      </a:pPr>
                      <a:r>
                        <a:t>Maven → Container Apps</a:t>
                      </a:r>
                    </a:p>
                  </a:txBody>
                  <a:tcPr>
                    <a:solidFill>
                      <a:srgbClr val="F2F7FA"/>
                    </a:solidFill>
                  </a:tcPr>
                </a:tc>
                <a:tc>
                  <a:txBody>
                    <a:bodyPr/>
                    <a:lstStyle/>
                    <a:p>
                      <a:pPr>
                        <a:defRPr sz="1000">
                          <a:solidFill>
                            <a:srgbClr val="333333"/>
                          </a:solidFill>
                          <a:latin typeface="Aptos"/>
                        </a:defRPr>
                      </a:pPr>
                      <a:r>
                        <a:t>Coder, Azure, DevOps</a:t>
                      </a:r>
                    </a:p>
                  </a:txBody>
                  <a:tcPr>
                    <a:solidFill>
                      <a:srgbClr val="F2F7FA"/>
                    </a:solidFill>
                  </a:tcPr>
                </a:tc>
              </a:tr>
              <a:tr h="420624">
                <a:tc>
                  <a:txBody>
                    <a:bodyPr/>
                    <a:lstStyle/>
                    <a:p>
                      <a:pPr>
                        <a:defRPr sz="1000">
                          <a:solidFill>
                            <a:srgbClr val="333333"/>
                          </a:solidFill>
                          <a:latin typeface="Aptos"/>
                        </a:defRPr>
                      </a:pPr>
                      <a:r>
                        <a:t>Parts Unlimited</a:t>
                      </a:r>
                    </a:p>
                  </a:txBody>
                  <a:tcPr>
                    <a:solidFill>
                      <a:srgbClr val="FFFFFF"/>
                    </a:solidFill>
                  </a:tcPr>
                </a:tc>
                <a:tc>
                  <a:txBody>
                    <a:bodyPr/>
                    <a:lstStyle/>
                    <a:p>
                      <a:pPr>
                        <a:defRPr sz="1000">
                          <a:solidFill>
                            <a:srgbClr val="333333"/>
                          </a:solidFill>
                          <a:latin typeface="Aptos"/>
                        </a:defRPr>
                      </a:pPr>
                      <a:r>
                        <a:t>The Machine</a:t>
                      </a:r>
                    </a:p>
                  </a:txBody>
                  <a:tcPr>
                    <a:solidFill>
                      <a:srgbClr val="FFFFFF"/>
                    </a:solidFill>
                  </a:tcPr>
                </a:tc>
                <a:tc>
                  <a:txBody>
                    <a:bodyPr/>
                    <a:lstStyle/>
                    <a:p>
                      <a:pPr>
                        <a:defRPr sz="1000">
                          <a:solidFill>
                            <a:srgbClr val="333333"/>
                          </a:solidFill>
                          <a:latin typeface="Aptos"/>
                        </a:defRPr>
                      </a:pPr>
                      <a:r>
                        <a:t>ASP.NET 4.5 → Modern</a:t>
                      </a:r>
                    </a:p>
                  </a:txBody>
                  <a:tcPr>
                    <a:solidFill>
                      <a:srgbClr val="FFFFFF"/>
                    </a:solidFill>
                  </a:tcPr>
                </a:tc>
                <a:tc>
                  <a:txBody>
                    <a:bodyPr/>
                    <a:lstStyle/>
                    <a:p>
                      <a:pPr>
                        <a:defRPr sz="1000">
                          <a:solidFill>
                            <a:srgbClr val="333333"/>
                          </a:solidFill>
                          <a:latin typeface="Aptos"/>
                        </a:defRPr>
                      </a:pPr>
                      <a:r>
                        <a:t>Coder, Perf, DevOps</a:t>
                      </a:r>
                    </a:p>
                  </a:txBody>
                  <a:tcPr>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91440"/>
            <a:ext cx="12192000" cy="594360"/>
          </a:xfrm>
          <a:prstGeom prst="rect">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800" b="1">
                <a:solidFill>
                  <a:srgbClr val="FFFFFF"/>
                </a:solidFill>
                <a:latin typeface="Aptos Display"/>
              </a:defRPr>
            </a:pPr>
            <a:r>
              <a:t>Built-In Quality: No More 'Hope It Works'</a:t>
            </a:r>
          </a:p>
        </p:txBody>
      </p:sp>
      <p:sp>
        <p:nvSpPr>
          <p:cNvPr id="3" name="TextBox 2"/>
          <p:cNvSpPr txBox="1"/>
          <p:nvPr/>
        </p:nvSpPr>
        <p:spPr>
          <a:xfrm>
            <a:off x="10515600" y="6263640"/>
            <a:ext cx="1371600" cy="274320"/>
          </a:xfrm>
          <a:prstGeom prst="rect">
            <a:avLst/>
          </a:prstGeom>
          <a:noFill/>
        </p:spPr>
        <p:txBody>
          <a:bodyPr wrap="square">
            <a:spAutoFit/>
          </a:bodyPr>
          <a:lstStyle/>
          <a:p>
            <a:pPr algn="r">
              <a:defRPr sz="800" b="0">
                <a:solidFill>
                  <a:srgbClr val="666666"/>
                </a:solidFill>
                <a:latin typeface="Aptos"/>
              </a:defRPr>
            </a:pPr>
            <a:r>
              <a:t>11 / 17</a:t>
            </a:r>
          </a:p>
        </p:txBody>
      </p:sp>
      <p:sp>
        <p:nvSpPr>
          <p:cNvPr id="4" name="Rounded Rectangle 3"/>
          <p:cNvSpPr/>
          <p:nvPr/>
        </p:nvSpPr>
        <p:spPr>
          <a:xfrm>
            <a:off x="548640" y="1417320"/>
            <a:ext cx="3611880" cy="3566160"/>
          </a:xfrm>
          <a:prstGeom prst="roundRect">
            <a:avLst>
              <a:gd name="adj" fmla="val 6000"/>
            </a:avLst>
          </a:prstGeom>
          <a:solidFill>
            <a:srgbClr val="FFFFFF"/>
          </a:solidFill>
          <a:ln w="12700">
            <a:solidFill>
              <a:srgbClr val="D0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21792" y="1490472"/>
            <a:ext cx="3465576" cy="45720"/>
          </a:xfrm>
          <a:prstGeom prst="rect">
            <a:avLst/>
          </a:prstGeom>
          <a:solidFill>
            <a:srgbClr val="00B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618488"/>
            <a:ext cx="3282696" cy="365760"/>
          </a:xfrm>
          <a:prstGeom prst="rect">
            <a:avLst/>
          </a:prstGeom>
          <a:noFill/>
        </p:spPr>
        <p:txBody>
          <a:bodyPr wrap="square">
            <a:spAutoFit/>
          </a:bodyPr>
          <a:lstStyle/>
          <a:p>
            <a:pPr algn="ctr">
              <a:defRPr sz="1600" b="1">
                <a:solidFill>
                  <a:srgbClr val="00B050"/>
                </a:solidFill>
                <a:latin typeface="Aptos Display"/>
              </a:defRPr>
            </a:pPr>
            <a:r>
              <a:t>Pre-Migration</a:t>
            </a:r>
          </a:p>
        </p:txBody>
      </p:sp>
      <p:sp>
        <p:nvSpPr>
          <p:cNvPr id="7" name="TextBox 6"/>
          <p:cNvSpPr txBox="1"/>
          <p:nvPr/>
        </p:nvSpPr>
        <p:spPr>
          <a:xfrm>
            <a:off x="749808" y="2148840"/>
            <a:ext cx="3209544" cy="2651760"/>
          </a:xfrm>
          <a:prstGeom prst="rect">
            <a:avLst/>
          </a:prstGeom>
          <a:noFill/>
        </p:spPr>
        <p:txBody>
          <a:bodyPr wrap="square">
            <a:spAutoFit/>
          </a:bodyPr>
          <a:lstStyle/>
          <a:p>
            <a:pPr>
              <a:spcAft>
                <a:spcPts val="400"/>
              </a:spcAft>
              <a:defRPr sz="1300" b="0">
                <a:solidFill>
                  <a:srgbClr val="333333"/>
                </a:solidFill>
                <a:latin typeface="Aptos"/>
              </a:defRPr>
            </a:pPr>
            <a:r>
              <a:t>•  Assessment validation</a:t>
            </a:r>
          </a:p>
          <a:p>
            <a:pPr>
              <a:spcAft>
                <a:spcPts val="400"/>
              </a:spcAft>
              <a:defRPr sz="1300" b="0">
                <a:solidFill>
                  <a:srgbClr val="333333"/>
                </a:solidFill>
                <a:latin typeface="Aptos"/>
              </a:defRPr>
            </a:pPr>
            <a:r>
              <a:t>•  Dependency scan</a:t>
            </a:r>
          </a:p>
          <a:p>
            <a:pPr>
              <a:spcAft>
                <a:spcPts val="400"/>
              </a:spcAft>
              <a:defRPr sz="1300" b="0">
                <a:solidFill>
                  <a:srgbClr val="333333"/>
                </a:solidFill>
                <a:latin typeface="Aptos"/>
              </a:defRPr>
            </a:pPr>
            <a:r>
              <a:t>•  Risk scoring</a:t>
            </a:r>
          </a:p>
          <a:p>
            <a:pPr>
              <a:spcAft>
                <a:spcPts val="400"/>
              </a:spcAft>
              <a:defRPr sz="1300" b="0">
                <a:solidFill>
                  <a:srgbClr val="333333"/>
                </a:solidFill>
                <a:latin typeface="Aptos"/>
              </a:defRPr>
            </a:pPr>
            <a:r>
              <a:t>•  Go / no-go clarity before work starts</a:t>
            </a:r>
          </a:p>
        </p:txBody>
      </p:sp>
      <p:sp>
        <p:nvSpPr>
          <p:cNvPr id="8" name="Rounded Rectangle 7"/>
          <p:cNvSpPr/>
          <p:nvPr/>
        </p:nvSpPr>
        <p:spPr>
          <a:xfrm>
            <a:off x="4279392" y="1417320"/>
            <a:ext cx="3611880" cy="3566160"/>
          </a:xfrm>
          <a:prstGeom prst="roundRect">
            <a:avLst>
              <a:gd name="adj" fmla="val 6000"/>
            </a:avLst>
          </a:prstGeom>
          <a:solidFill>
            <a:srgbClr val="FFFFFF"/>
          </a:solidFill>
          <a:ln w="12700">
            <a:solidFill>
              <a:srgbClr val="D0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52544" y="1490472"/>
            <a:ext cx="3465576" cy="45720"/>
          </a:xfrm>
          <a:prstGeom prst="rect">
            <a:avLst/>
          </a:prstGeom>
          <a:solidFill>
            <a:srgbClr val="01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43984" y="1618488"/>
            <a:ext cx="3282696" cy="365760"/>
          </a:xfrm>
          <a:prstGeom prst="rect">
            <a:avLst/>
          </a:prstGeom>
          <a:noFill/>
        </p:spPr>
        <p:txBody>
          <a:bodyPr wrap="square">
            <a:spAutoFit/>
          </a:bodyPr>
          <a:lstStyle/>
          <a:p>
            <a:pPr algn="ctr">
              <a:defRPr sz="1600" b="1">
                <a:solidFill>
                  <a:srgbClr val="0178D4"/>
                </a:solidFill>
                <a:latin typeface="Aptos Display"/>
              </a:defRPr>
            </a:pPr>
            <a:r>
              <a:t>During Migration</a:t>
            </a:r>
          </a:p>
        </p:txBody>
      </p:sp>
      <p:sp>
        <p:nvSpPr>
          <p:cNvPr id="11" name="TextBox 10"/>
          <p:cNvSpPr txBox="1"/>
          <p:nvPr/>
        </p:nvSpPr>
        <p:spPr>
          <a:xfrm>
            <a:off x="4480560" y="2148840"/>
            <a:ext cx="3209544" cy="2651760"/>
          </a:xfrm>
          <a:prstGeom prst="rect">
            <a:avLst/>
          </a:prstGeom>
          <a:noFill/>
        </p:spPr>
        <p:txBody>
          <a:bodyPr wrap="square">
            <a:spAutoFit/>
          </a:bodyPr>
          <a:lstStyle/>
          <a:p>
            <a:pPr>
              <a:spcAft>
                <a:spcPts val="400"/>
              </a:spcAft>
              <a:defRPr sz="1300" b="0">
                <a:solidFill>
                  <a:srgbClr val="333333"/>
                </a:solidFill>
                <a:latin typeface="Aptos"/>
              </a:defRPr>
            </a:pPr>
            <a:r>
              <a:t>•  Agent handoff verification</a:t>
            </a:r>
          </a:p>
          <a:p>
            <a:pPr>
              <a:spcAft>
                <a:spcPts val="400"/>
              </a:spcAft>
              <a:defRPr sz="1300" b="0">
                <a:solidFill>
                  <a:srgbClr val="333333"/>
                </a:solidFill>
                <a:latin typeface="Aptos"/>
              </a:defRPr>
            </a:pPr>
            <a:r>
              <a:t>•  Automated testing</a:t>
            </a:r>
          </a:p>
          <a:p>
            <a:pPr>
              <a:spcAft>
                <a:spcPts val="400"/>
              </a:spcAft>
              <a:defRPr sz="1300" b="0">
                <a:solidFill>
                  <a:srgbClr val="333333"/>
                </a:solidFill>
                <a:latin typeface="Aptos"/>
              </a:defRPr>
            </a:pPr>
            <a:r>
              <a:t>•  Security scan</a:t>
            </a:r>
          </a:p>
          <a:p>
            <a:pPr>
              <a:spcAft>
                <a:spcPts val="400"/>
              </a:spcAft>
              <a:defRPr sz="1300" b="0">
                <a:solidFill>
                  <a:srgbClr val="333333"/>
                </a:solidFill>
                <a:latin typeface="Aptos"/>
              </a:defRPr>
            </a:pPr>
            <a:r>
              <a:t>•  Issues surface before the next phase</a:t>
            </a:r>
          </a:p>
        </p:txBody>
      </p:sp>
      <p:sp>
        <p:nvSpPr>
          <p:cNvPr id="12" name="Rounded Rectangle 11"/>
          <p:cNvSpPr/>
          <p:nvPr/>
        </p:nvSpPr>
        <p:spPr>
          <a:xfrm>
            <a:off x="8010144" y="1417320"/>
            <a:ext cx="3611880" cy="3566160"/>
          </a:xfrm>
          <a:prstGeom prst="roundRect">
            <a:avLst>
              <a:gd name="adj" fmla="val 6000"/>
            </a:avLst>
          </a:prstGeom>
          <a:solidFill>
            <a:srgbClr val="FFFFFF"/>
          </a:solidFill>
          <a:ln w="12700">
            <a:solidFill>
              <a:srgbClr val="D0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83296" y="1490472"/>
            <a:ext cx="3465576" cy="45720"/>
          </a:xfrm>
          <a:prstGeom prst="rect">
            <a:avLst/>
          </a:prstGeom>
          <a:solidFill>
            <a:srgbClr val="D83B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74736" y="1618488"/>
            <a:ext cx="3282696" cy="365760"/>
          </a:xfrm>
          <a:prstGeom prst="rect">
            <a:avLst/>
          </a:prstGeom>
          <a:noFill/>
        </p:spPr>
        <p:txBody>
          <a:bodyPr wrap="square">
            <a:spAutoFit/>
          </a:bodyPr>
          <a:lstStyle/>
          <a:p>
            <a:pPr algn="ctr">
              <a:defRPr sz="1600" b="1">
                <a:solidFill>
                  <a:srgbClr val="D83B02"/>
                </a:solidFill>
                <a:latin typeface="Aptos Display"/>
              </a:defRPr>
            </a:pPr>
            <a:r>
              <a:t>Post-Migration</a:t>
            </a:r>
          </a:p>
        </p:txBody>
      </p:sp>
      <p:sp>
        <p:nvSpPr>
          <p:cNvPr id="15" name="TextBox 14"/>
          <p:cNvSpPr txBox="1"/>
          <p:nvPr/>
        </p:nvSpPr>
        <p:spPr>
          <a:xfrm>
            <a:off x="8211312" y="2148840"/>
            <a:ext cx="3209544" cy="2651760"/>
          </a:xfrm>
          <a:prstGeom prst="rect">
            <a:avLst/>
          </a:prstGeom>
          <a:noFill/>
        </p:spPr>
        <p:txBody>
          <a:bodyPr wrap="square">
            <a:spAutoFit/>
          </a:bodyPr>
          <a:lstStyle/>
          <a:p>
            <a:pPr>
              <a:spcAft>
                <a:spcPts val="400"/>
              </a:spcAft>
              <a:defRPr sz="1300" b="0">
                <a:solidFill>
                  <a:srgbClr val="333333"/>
                </a:solidFill>
                <a:latin typeface="Aptos"/>
              </a:defRPr>
            </a:pPr>
            <a:r>
              <a:t>•  Performance benchmarks</a:t>
            </a:r>
          </a:p>
          <a:p>
            <a:pPr>
              <a:spcAft>
                <a:spcPts val="400"/>
              </a:spcAft>
              <a:defRPr sz="1300" b="0">
                <a:solidFill>
                  <a:srgbClr val="333333"/>
                </a:solidFill>
                <a:latin typeface="Aptos"/>
              </a:defRPr>
            </a:pPr>
            <a:r>
              <a:t>•  Smoke tests</a:t>
            </a:r>
          </a:p>
          <a:p>
            <a:pPr>
              <a:spcAft>
                <a:spcPts val="400"/>
              </a:spcAft>
              <a:defRPr sz="1300" b="0">
                <a:solidFill>
                  <a:srgbClr val="333333"/>
                </a:solidFill>
                <a:latin typeface="Aptos"/>
              </a:defRPr>
            </a:pPr>
            <a:r>
              <a:t>•  Cost analysis</a:t>
            </a:r>
          </a:p>
          <a:p>
            <a:pPr>
              <a:spcAft>
                <a:spcPts val="400"/>
              </a:spcAft>
              <a:defRPr sz="1300" b="0">
                <a:solidFill>
                  <a:srgbClr val="333333"/>
                </a:solidFill>
                <a:latin typeface="Aptos"/>
              </a:defRPr>
            </a:pPr>
            <a:r>
              <a:t>•  Operational confidence after cutover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91440"/>
            <a:ext cx="12192000" cy="594360"/>
          </a:xfrm>
          <a:prstGeom prst="rect">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800" b="1">
                <a:solidFill>
                  <a:srgbClr val="FFFFFF"/>
                </a:solidFill>
                <a:latin typeface="Aptos Display"/>
              </a:defRPr>
            </a:pPr>
            <a:r>
              <a:t>Measurable Impact</a:t>
            </a:r>
          </a:p>
        </p:txBody>
      </p:sp>
      <p:sp>
        <p:nvSpPr>
          <p:cNvPr id="3" name="TextBox 2"/>
          <p:cNvSpPr txBox="1"/>
          <p:nvPr/>
        </p:nvSpPr>
        <p:spPr>
          <a:xfrm>
            <a:off x="10515600" y="6263640"/>
            <a:ext cx="1371600" cy="274320"/>
          </a:xfrm>
          <a:prstGeom prst="rect">
            <a:avLst/>
          </a:prstGeom>
          <a:noFill/>
        </p:spPr>
        <p:txBody>
          <a:bodyPr wrap="square">
            <a:spAutoFit/>
          </a:bodyPr>
          <a:lstStyle/>
          <a:p>
            <a:pPr algn="r">
              <a:defRPr sz="800" b="0">
                <a:solidFill>
                  <a:srgbClr val="666666"/>
                </a:solidFill>
                <a:latin typeface="Aptos"/>
              </a:defRPr>
            </a:pPr>
            <a:r>
              <a:t>12 / 17</a:t>
            </a:r>
          </a:p>
        </p:txBody>
      </p:sp>
      <p:sp>
        <p:nvSpPr>
          <p:cNvPr id="4" name="Rounded Rectangle 3"/>
          <p:cNvSpPr/>
          <p:nvPr/>
        </p:nvSpPr>
        <p:spPr>
          <a:xfrm>
            <a:off x="548640" y="1645920"/>
            <a:ext cx="2651760" cy="2011680"/>
          </a:xfrm>
          <a:prstGeom prst="roundRect">
            <a:avLst>
              <a:gd name="adj" fmla="val 6000"/>
            </a:avLst>
          </a:prstGeom>
          <a:solidFill>
            <a:srgbClr val="FFFFFF"/>
          </a:solidFill>
          <a:ln w="12700">
            <a:solidFill>
              <a:srgbClr val="D0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21792" y="1719072"/>
            <a:ext cx="2505456" cy="45720"/>
          </a:xfrm>
          <a:prstGeom prst="rect">
            <a:avLst/>
          </a:prstGeom>
          <a:solidFill>
            <a:srgbClr val="01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901952"/>
            <a:ext cx="2322576" cy="731520"/>
          </a:xfrm>
          <a:prstGeom prst="rect">
            <a:avLst/>
          </a:prstGeom>
          <a:noFill/>
        </p:spPr>
        <p:txBody>
          <a:bodyPr wrap="square">
            <a:spAutoFit/>
          </a:bodyPr>
          <a:lstStyle/>
          <a:p>
            <a:pPr algn="ctr">
              <a:defRPr sz="3000" b="1">
                <a:solidFill>
                  <a:srgbClr val="0178D4"/>
                </a:solidFill>
                <a:latin typeface="Aptos Display"/>
              </a:defRPr>
            </a:pPr>
            <a:r>
              <a:t>12</a:t>
            </a:r>
          </a:p>
        </p:txBody>
      </p:sp>
      <p:sp>
        <p:nvSpPr>
          <p:cNvPr id="7" name="TextBox 6"/>
          <p:cNvSpPr txBox="1"/>
          <p:nvPr/>
        </p:nvSpPr>
        <p:spPr>
          <a:xfrm>
            <a:off x="713232" y="2606040"/>
            <a:ext cx="2322576" cy="384048"/>
          </a:xfrm>
          <a:prstGeom prst="rect">
            <a:avLst/>
          </a:prstGeom>
          <a:noFill/>
        </p:spPr>
        <p:txBody>
          <a:bodyPr wrap="square">
            <a:spAutoFit/>
          </a:bodyPr>
          <a:lstStyle/>
          <a:p>
            <a:pPr algn="ctr">
              <a:defRPr sz="1400" b="1">
                <a:solidFill>
                  <a:srgbClr val="333333"/>
                </a:solidFill>
                <a:latin typeface="Aptos"/>
              </a:defRPr>
            </a:pPr>
            <a:r>
              <a:t>Specialized agents</a:t>
            </a:r>
          </a:p>
        </p:txBody>
      </p:sp>
      <p:sp>
        <p:nvSpPr>
          <p:cNvPr id="8" name="TextBox 7"/>
          <p:cNvSpPr txBox="1"/>
          <p:nvPr/>
        </p:nvSpPr>
        <p:spPr>
          <a:xfrm>
            <a:off x="713232" y="2999232"/>
            <a:ext cx="2322576" cy="502920"/>
          </a:xfrm>
          <a:prstGeom prst="rect">
            <a:avLst/>
          </a:prstGeom>
          <a:noFill/>
        </p:spPr>
        <p:txBody>
          <a:bodyPr wrap="square">
            <a:spAutoFit/>
          </a:bodyPr>
          <a:lstStyle/>
          <a:p>
            <a:pPr algn="ctr">
              <a:defRPr sz="1000" b="0">
                <a:solidFill>
                  <a:srgbClr val="666666"/>
                </a:solidFill>
                <a:latin typeface="Aptos"/>
              </a:defRPr>
            </a:pPr>
            <a:r>
              <a:t>vs 1 generic prompt</a:t>
            </a:r>
          </a:p>
        </p:txBody>
      </p:sp>
      <p:sp>
        <p:nvSpPr>
          <p:cNvPr id="9" name="Rounded Rectangle 8"/>
          <p:cNvSpPr/>
          <p:nvPr/>
        </p:nvSpPr>
        <p:spPr>
          <a:xfrm>
            <a:off x="3429000" y="1645920"/>
            <a:ext cx="2651760" cy="2011680"/>
          </a:xfrm>
          <a:prstGeom prst="roundRect">
            <a:avLst>
              <a:gd name="adj" fmla="val 6000"/>
            </a:avLst>
          </a:prstGeom>
          <a:solidFill>
            <a:srgbClr val="FFFFFF"/>
          </a:solidFill>
          <a:ln w="12700">
            <a:solidFill>
              <a:srgbClr val="D0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502152" y="1719072"/>
            <a:ext cx="2505456" cy="45720"/>
          </a:xfrm>
          <a:prstGeom prst="rect">
            <a:avLst/>
          </a:prstGeom>
          <a:solidFill>
            <a:srgbClr val="00B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93592" y="1901952"/>
            <a:ext cx="2322576" cy="731520"/>
          </a:xfrm>
          <a:prstGeom prst="rect">
            <a:avLst/>
          </a:prstGeom>
          <a:noFill/>
        </p:spPr>
        <p:txBody>
          <a:bodyPr wrap="square">
            <a:spAutoFit/>
          </a:bodyPr>
          <a:lstStyle/>
          <a:p>
            <a:pPr algn="ctr">
              <a:defRPr sz="3000" b="1">
                <a:solidFill>
                  <a:srgbClr val="00B050"/>
                </a:solidFill>
                <a:latin typeface="Aptos Display"/>
              </a:defRPr>
            </a:pPr>
            <a:r>
              <a:t>26</a:t>
            </a:r>
          </a:p>
        </p:txBody>
      </p:sp>
      <p:sp>
        <p:nvSpPr>
          <p:cNvPr id="12" name="TextBox 11"/>
          <p:cNvSpPr txBox="1"/>
          <p:nvPr/>
        </p:nvSpPr>
        <p:spPr>
          <a:xfrm>
            <a:off x="3593592" y="2606040"/>
            <a:ext cx="2322576" cy="384048"/>
          </a:xfrm>
          <a:prstGeom prst="rect">
            <a:avLst/>
          </a:prstGeom>
          <a:noFill/>
        </p:spPr>
        <p:txBody>
          <a:bodyPr wrap="square">
            <a:spAutoFit/>
          </a:bodyPr>
          <a:lstStyle/>
          <a:p>
            <a:pPr algn="ctr">
              <a:defRPr sz="1400" b="1">
                <a:solidFill>
                  <a:srgbClr val="333333"/>
                </a:solidFill>
                <a:latin typeface="Aptos"/>
              </a:defRPr>
            </a:pPr>
            <a:r>
              <a:t>Reusable skills</a:t>
            </a:r>
          </a:p>
        </p:txBody>
      </p:sp>
      <p:sp>
        <p:nvSpPr>
          <p:cNvPr id="13" name="TextBox 12"/>
          <p:cNvSpPr txBox="1"/>
          <p:nvPr/>
        </p:nvSpPr>
        <p:spPr>
          <a:xfrm>
            <a:off x="3593592" y="2999232"/>
            <a:ext cx="2322576" cy="502920"/>
          </a:xfrm>
          <a:prstGeom prst="rect">
            <a:avLst/>
          </a:prstGeom>
          <a:noFill/>
        </p:spPr>
        <p:txBody>
          <a:bodyPr wrap="square">
            <a:spAutoFit/>
          </a:bodyPr>
          <a:lstStyle/>
          <a:p>
            <a:pPr algn="ctr">
              <a:defRPr sz="1000" b="0">
                <a:solidFill>
                  <a:srgbClr val="666666"/>
                </a:solidFill>
                <a:latin typeface="Aptos"/>
              </a:defRPr>
            </a:pPr>
            <a:r>
              <a:t>vs copy-paste</a:t>
            </a:r>
          </a:p>
        </p:txBody>
      </p:sp>
      <p:sp>
        <p:nvSpPr>
          <p:cNvPr id="14" name="Rounded Rectangle 13"/>
          <p:cNvSpPr/>
          <p:nvPr/>
        </p:nvSpPr>
        <p:spPr>
          <a:xfrm>
            <a:off x="6309360" y="1645920"/>
            <a:ext cx="2651760" cy="2011680"/>
          </a:xfrm>
          <a:prstGeom prst="roundRect">
            <a:avLst>
              <a:gd name="adj" fmla="val 6000"/>
            </a:avLst>
          </a:prstGeom>
          <a:solidFill>
            <a:srgbClr val="FFFFFF"/>
          </a:solidFill>
          <a:ln w="12700">
            <a:solidFill>
              <a:srgbClr val="D0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82512" y="1719072"/>
            <a:ext cx="2505456" cy="45720"/>
          </a:xfrm>
          <a:prstGeom prst="rect">
            <a:avLst/>
          </a:prstGeom>
          <a:solidFill>
            <a:srgbClr val="FE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73952" y="1901952"/>
            <a:ext cx="2322576" cy="731520"/>
          </a:xfrm>
          <a:prstGeom prst="rect">
            <a:avLst/>
          </a:prstGeom>
          <a:noFill/>
        </p:spPr>
        <p:txBody>
          <a:bodyPr wrap="square">
            <a:spAutoFit/>
          </a:bodyPr>
          <a:lstStyle/>
          <a:p>
            <a:pPr algn="ctr">
              <a:defRPr sz="3000" b="1">
                <a:solidFill>
                  <a:srgbClr val="FE8B00"/>
                </a:solidFill>
                <a:latin typeface="Aptos Display"/>
              </a:defRPr>
            </a:pPr>
            <a:r>
              <a:t>7</a:t>
            </a:r>
          </a:p>
        </p:txBody>
      </p:sp>
      <p:sp>
        <p:nvSpPr>
          <p:cNvPr id="17" name="TextBox 16"/>
          <p:cNvSpPr txBox="1"/>
          <p:nvPr/>
        </p:nvSpPr>
        <p:spPr>
          <a:xfrm>
            <a:off x="6473952" y="2606040"/>
            <a:ext cx="2322576" cy="384048"/>
          </a:xfrm>
          <a:prstGeom prst="rect">
            <a:avLst/>
          </a:prstGeom>
          <a:noFill/>
        </p:spPr>
        <p:txBody>
          <a:bodyPr wrap="square">
            <a:spAutoFit/>
          </a:bodyPr>
          <a:lstStyle/>
          <a:p>
            <a:pPr algn="ctr">
              <a:defRPr sz="1400" b="1">
                <a:solidFill>
                  <a:srgbClr val="333333"/>
                </a:solidFill>
                <a:latin typeface="Aptos"/>
              </a:defRPr>
            </a:pPr>
            <a:r>
              <a:t>Chatmodes</a:t>
            </a:r>
          </a:p>
        </p:txBody>
      </p:sp>
      <p:sp>
        <p:nvSpPr>
          <p:cNvPr id="18" name="TextBox 17"/>
          <p:cNvSpPr txBox="1"/>
          <p:nvPr/>
        </p:nvSpPr>
        <p:spPr>
          <a:xfrm>
            <a:off x="6473952" y="2999232"/>
            <a:ext cx="2322576" cy="502920"/>
          </a:xfrm>
          <a:prstGeom prst="rect">
            <a:avLst/>
          </a:prstGeom>
          <a:noFill/>
        </p:spPr>
        <p:txBody>
          <a:bodyPr wrap="square">
            <a:spAutoFit/>
          </a:bodyPr>
          <a:lstStyle/>
          <a:p>
            <a:pPr algn="ctr">
              <a:defRPr sz="1000" b="0">
                <a:solidFill>
                  <a:srgbClr val="666666"/>
                </a:solidFill>
                <a:latin typeface="Aptos"/>
              </a:defRPr>
            </a:pPr>
            <a:r>
              <a:t>vs 1 monolithic mode</a:t>
            </a:r>
          </a:p>
        </p:txBody>
      </p:sp>
      <p:sp>
        <p:nvSpPr>
          <p:cNvPr id="19" name="Rounded Rectangle 18"/>
          <p:cNvSpPr/>
          <p:nvPr/>
        </p:nvSpPr>
        <p:spPr>
          <a:xfrm>
            <a:off x="9189720" y="1645920"/>
            <a:ext cx="2651760" cy="2011680"/>
          </a:xfrm>
          <a:prstGeom prst="roundRect">
            <a:avLst>
              <a:gd name="adj" fmla="val 6000"/>
            </a:avLst>
          </a:prstGeom>
          <a:solidFill>
            <a:srgbClr val="FFFFFF"/>
          </a:solidFill>
          <a:ln w="12700">
            <a:solidFill>
              <a:srgbClr val="D0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262872" y="1719072"/>
            <a:ext cx="2505456" cy="45720"/>
          </a:xfrm>
          <a:prstGeom prst="rect">
            <a:avLst/>
          </a:prstGeom>
          <a:solidFill>
            <a:srgbClr val="4636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54312" y="1901952"/>
            <a:ext cx="2322576" cy="731520"/>
          </a:xfrm>
          <a:prstGeom prst="rect">
            <a:avLst/>
          </a:prstGeom>
          <a:noFill/>
        </p:spPr>
        <p:txBody>
          <a:bodyPr wrap="square">
            <a:spAutoFit/>
          </a:bodyPr>
          <a:lstStyle/>
          <a:p>
            <a:pPr algn="ctr">
              <a:defRPr sz="3000" b="1">
                <a:solidFill>
                  <a:srgbClr val="463668"/>
                </a:solidFill>
                <a:latin typeface="Aptos Display"/>
              </a:defRPr>
            </a:pPr>
            <a:r>
              <a:t>21</a:t>
            </a:r>
          </a:p>
        </p:txBody>
      </p:sp>
      <p:sp>
        <p:nvSpPr>
          <p:cNvPr id="22" name="TextBox 21"/>
          <p:cNvSpPr txBox="1"/>
          <p:nvPr/>
        </p:nvSpPr>
        <p:spPr>
          <a:xfrm>
            <a:off x="9354312" y="2606040"/>
            <a:ext cx="2322576" cy="384048"/>
          </a:xfrm>
          <a:prstGeom prst="rect">
            <a:avLst/>
          </a:prstGeom>
          <a:noFill/>
        </p:spPr>
        <p:txBody>
          <a:bodyPr wrap="square">
            <a:spAutoFit/>
          </a:bodyPr>
          <a:lstStyle/>
          <a:p>
            <a:pPr algn="ctr">
              <a:defRPr sz="1400" b="1">
                <a:solidFill>
                  <a:srgbClr val="333333"/>
                </a:solidFill>
                <a:latin typeface="Aptos"/>
              </a:defRPr>
            </a:pPr>
            <a:r>
              <a:t>Targeted prompts</a:t>
            </a:r>
          </a:p>
        </p:txBody>
      </p:sp>
      <p:sp>
        <p:nvSpPr>
          <p:cNvPr id="23" name="TextBox 22"/>
          <p:cNvSpPr txBox="1"/>
          <p:nvPr/>
        </p:nvSpPr>
        <p:spPr>
          <a:xfrm>
            <a:off x="9354312" y="2999232"/>
            <a:ext cx="2322576" cy="502920"/>
          </a:xfrm>
          <a:prstGeom prst="rect">
            <a:avLst/>
          </a:prstGeom>
          <a:noFill/>
        </p:spPr>
        <p:txBody>
          <a:bodyPr wrap="square">
            <a:spAutoFit/>
          </a:bodyPr>
          <a:lstStyle/>
          <a:p>
            <a:pPr algn="ctr">
              <a:defRPr sz="1000" b="0">
                <a:solidFill>
                  <a:srgbClr val="666666"/>
                </a:solidFill>
                <a:latin typeface="Aptos"/>
              </a:defRPr>
            </a:pPr>
            <a:r>
              <a:t>vs 1 mega-prompt</a:t>
            </a:r>
          </a:p>
        </p:txBody>
      </p:sp>
      <p:sp>
        <p:nvSpPr>
          <p:cNvPr id="24" name="TextBox 23"/>
          <p:cNvSpPr txBox="1"/>
          <p:nvPr/>
        </p:nvSpPr>
        <p:spPr>
          <a:xfrm>
            <a:off x="1097280" y="4434840"/>
            <a:ext cx="9966960" cy="502920"/>
          </a:xfrm>
          <a:prstGeom prst="rect">
            <a:avLst/>
          </a:prstGeom>
          <a:noFill/>
        </p:spPr>
        <p:txBody>
          <a:bodyPr wrap="square">
            <a:spAutoFit/>
          </a:bodyPr>
          <a:lstStyle/>
          <a:p>
            <a:pPr algn="ctr">
              <a:defRPr sz="1800" b="1">
                <a:solidFill>
                  <a:srgbClr val="333333"/>
                </a:solidFill>
                <a:latin typeface="Aptos Display"/>
              </a:defRPr>
            </a:pPr>
            <a:r>
              <a:t>Each component is independently testable, version-controlled, and team-assignable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91440"/>
            <a:ext cx="12192000" cy="594360"/>
          </a:xfrm>
          <a:prstGeom prst="rect">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800" b="1">
                <a:solidFill>
                  <a:srgbClr val="FFFFFF"/>
                </a:solidFill>
                <a:latin typeface="Aptos Display"/>
              </a:defRPr>
            </a:pPr>
            <a:r>
              <a:t>Why Architects Should Care</a:t>
            </a:r>
          </a:p>
        </p:txBody>
      </p:sp>
      <p:sp>
        <p:nvSpPr>
          <p:cNvPr id="3" name="TextBox 2"/>
          <p:cNvSpPr txBox="1"/>
          <p:nvPr/>
        </p:nvSpPr>
        <p:spPr>
          <a:xfrm>
            <a:off x="10515600" y="6263640"/>
            <a:ext cx="1371600" cy="274320"/>
          </a:xfrm>
          <a:prstGeom prst="rect">
            <a:avLst/>
          </a:prstGeom>
          <a:noFill/>
        </p:spPr>
        <p:txBody>
          <a:bodyPr wrap="square">
            <a:spAutoFit/>
          </a:bodyPr>
          <a:lstStyle/>
          <a:p>
            <a:pPr algn="r">
              <a:defRPr sz="800" b="0">
                <a:solidFill>
                  <a:srgbClr val="666666"/>
                </a:solidFill>
                <a:latin typeface="Aptos"/>
              </a:defRPr>
            </a:pPr>
            <a:r>
              <a:t>13 / 17</a:t>
            </a:r>
          </a:p>
        </p:txBody>
      </p:sp>
      <p:sp>
        <p:nvSpPr>
          <p:cNvPr id="4" name="Rounded Rectangle 3"/>
          <p:cNvSpPr/>
          <p:nvPr/>
        </p:nvSpPr>
        <p:spPr>
          <a:xfrm>
            <a:off x="548640" y="1554480"/>
            <a:ext cx="3611880" cy="3291840"/>
          </a:xfrm>
          <a:prstGeom prst="roundRect">
            <a:avLst>
              <a:gd name="adj" fmla="val 6000"/>
            </a:avLst>
          </a:prstGeom>
          <a:solidFill>
            <a:srgbClr val="FFFFFF"/>
          </a:solidFill>
          <a:ln w="12700">
            <a:solidFill>
              <a:srgbClr val="D0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21792" y="1627632"/>
            <a:ext cx="3465576" cy="45720"/>
          </a:xfrm>
          <a:prstGeom prst="rect">
            <a:avLst/>
          </a:prstGeom>
          <a:solidFill>
            <a:srgbClr val="01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965960" y="1828800"/>
            <a:ext cx="566928" cy="566928"/>
          </a:xfrm>
          <a:prstGeom prst="ellipse">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Aptos"/>
              </a:defRPr>
            </a:pPr>
            <a:r>
              <a:t>SOC</a:t>
            </a:r>
          </a:p>
        </p:txBody>
      </p:sp>
      <p:sp>
        <p:nvSpPr>
          <p:cNvPr id="7" name="TextBox 6"/>
          <p:cNvSpPr txBox="1"/>
          <p:nvPr/>
        </p:nvSpPr>
        <p:spPr>
          <a:xfrm>
            <a:off x="713232" y="2560320"/>
            <a:ext cx="3291840" cy="411480"/>
          </a:xfrm>
          <a:prstGeom prst="rect">
            <a:avLst/>
          </a:prstGeom>
          <a:noFill/>
        </p:spPr>
        <p:txBody>
          <a:bodyPr wrap="square">
            <a:spAutoFit/>
          </a:bodyPr>
          <a:lstStyle/>
          <a:p>
            <a:pPr algn="ctr">
              <a:defRPr sz="1600" b="1">
                <a:solidFill>
                  <a:srgbClr val="0178D4"/>
                </a:solidFill>
                <a:latin typeface="Aptos Display"/>
              </a:defRPr>
            </a:pPr>
            <a:r>
              <a:t>Separation of Concerns</a:t>
            </a:r>
          </a:p>
        </p:txBody>
      </p:sp>
      <p:sp>
        <p:nvSpPr>
          <p:cNvPr id="8" name="TextBox 7"/>
          <p:cNvSpPr txBox="1"/>
          <p:nvPr/>
        </p:nvSpPr>
        <p:spPr>
          <a:xfrm>
            <a:off x="749808" y="3063240"/>
            <a:ext cx="3200400" cy="1097280"/>
          </a:xfrm>
          <a:prstGeom prst="rect">
            <a:avLst/>
          </a:prstGeom>
          <a:noFill/>
        </p:spPr>
        <p:txBody>
          <a:bodyPr wrap="square">
            <a:spAutoFit/>
          </a:bodyPr>
          <a:lstStyle/>
          <a:p>
            <a:pPr algn="ctr">
              <a:defRPr sz="1200" b="0">
                <a:solidFill>
                  <a:srgbClr val="333333"/>
                </a:solidFill>
                <a:latin typeface="Aptos"/>
              </a:defRPr>
            </a:pPr>
            <a:r>
              <a:t>Each agent owns ONE domain. No god-objects, no god-prompts.</a:t>
            </a:r>
          </a:p>
        </p:txBody>
      </p:sp>
      <p:sp>
        <p:nvSpPr>
          <p:cNvPr id="9" name="Rounded Rectangle 8"/>
          <p:cNvSpPr/>
          <p:nvPr/>
        </p:nvSpPr>
        <p:spPr>
          <a:xfrm>
            <a:off x="4279392" y="1554480"/>
            <a:ext cx="3611880" cy="3291840"/>
          </a:xfrm>
          <a:prstGeom prst="roundRect">
            <a:avLst>
              <a:gd name="adj" fmla="val 6000"/>
            </a:avLst>
          </a:prstGeom>
          <a:solidFill>
            <a:srgbClr val="FFFFFF"/>
          </a:solidFill>
          <a:ln w="12700">
            <a:solidFill>
              <a:srgbClr val="D0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52544" y="1627632"/>
            <a:ext cx="3465576" cy="45720"/>
          </a:xfrm>
          <a:prstGeom prst="rect">
            <a:avLst/>
          </a:prstGeom>
          <a:solidFill>
            <a:srgbClr val="00B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696712" y="1828800"/>
            <a:ext cx="566928" cy="566928"/>
          </a:xfrm>
          <a:prstGeom prst="ellipse">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Aptos"/>
              </a:defRPr>
            </a:pPr>
            <a:r>
              <a:t>LGO</a:t>
            </a:r>
          </a:p>
        </p:txBody>
      </p:sp>
      <p:sp>
        <p:nvSpPr>
          <p:cNvPr id="12" name="TextBox 11"/>
          <p:cNvSpPr txBox="1"/>
          <p:nvPr/>
        </p:nvSpPr>
        <p:spPr>
          <a:xfrm>
            <a:off x="4443984" y="2560320"/>
            <a:ext cx="3291840" cy="411480"/>
          </a:xfrm>
          <a:prstGeom prst="rect">
            <a:avLst/>
          </a:prstGeom>
          <a:noFill/>
        </p:spPr>
        <p:txBody>
          <a:bodyPr wrap="square">
            <a:spAutoFit/>
          </a:bodyPr>
          <a:lstStyle/>
          <a:p>
            <a:pPr algn="ctr">
              <a:defRPr sz="1600" b="1">
                <a:solidFill>
                  <a:srgbClr val="00B050"/>
                </a:solidFill>
                <a:latin typeface="Aptos Display"/>
              </a:defRPr>
            </a:pPr>
            <a:r>
              <a:t>Composability</a:t>
            </a:r>
          </a:p>
        </p:txBody>
      </p:sp>
      <p:sp>
        <p:nvSpPr>
          <p:cNvPr id="13" name="TextBox 12"/>
          <p:cNvSpPr txBox="1"/>
          <p:nvPr/>
        </p:nvSpPr>
        <p:spPr>
          <a:xfrm>
            <a:off x="4480560" y="3063240"/>
            <a:ext cx="3200400" cy="1097280"/>
          </a:xfrm>
          <a:prstGeom prst="rect">
            <a:avLst/>
          </a:prstGeom>
          <a:noFill/>
        </p:spPr>
        <p:txBody>
          <a:bodyPr wrap="square">
            <a:spAutoFit/>
          </a:bodyPr>
          <a:lstStyle/>
          <a:p>
            <a:pPr algn="ctr">
              <a:defRPr sz="1200" b="0">
                <a:solidFill>
                  <a:srgbClr val="333333"/>
                </a:solidFill>
                <a:latin typeface="Aptos"/>
              </a:defRPr>
            </a:pPr>
            <a:r>
              <a:t>Skills snap together like LEGO. Prompts reference skills. Agents execute prompts.</a:t>
            </a:r>
          </a:p>
        </p:txBody>
      </p:sp>
      <p:sp>
        <p:nvSpPr>
          <p:cNvPr id="14" name="Rounded Rectangle 13"/>
          <p:cNvSpPr/>
          <p:nvPr/>
        </p:nvSpPr>
        <p:spPr>
          <a:xfrm>
            <a:off x="8010144" y="1554480"/>
            <a:ext cx="3611880" cy="3291840"/>
          </a:xfrm>
          <a:prstGeom prst="roundRect">
            <a:avLst>
              <a:gd name="adj" fmla="val 6000"/>
            </a:avLst>
          </a:prstGeom>
          <a:solidFill>
            <a:srgbClr val="FFFFFF"/>
          </a:solidFill>
          <a:ln w="12700">
            <a:solidFill>
              <a:srgbClr val="D0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83296" y="1627632"/>
            <a:ext cx="3465576" cy="45720"/>
          </a:xfrm>
          <a:prstGeom prst="rect">
            <a:avLst/>
          </a:prstGeom>
          <a:solidFill>
            <a:srgbClr val="4636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427464" y="1828800"/>
            <a:ext cx="566928" cy="566928"/>
          </a:xfrm>
          <a:prstGeom prst="ellipse">
            <a:avLst/>
          </a:prstGeom>
          <a:solidFill>
            <a:srgbClr val="4636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Aptos"/>
              </a:defRPr>
            </a:pPr>
            <a:r>
              <a:t>GOV</a:t>
            </a:r>
          </a:p>
        </p:txBody>
      </p:sp>
      <p:sp>
        <p:nvSpPr>
          <p:cNvPr id="17" name="TextBox 16"/>
          <p:cNvSpPr txBox="1"/>
          <p:nvPr/>
        </p:nvSpPr>
        <p:spPr>
          <a:xfrm>
            <a:off x="8174736" y="2560320"/>
            <a:ext cx="3291840" cy="411480"/>
          </a:xfrm>
          <a:prstGeom prst="rect">
            <a:avLst/>
          </a:prstGeom>
          <a:noFill/>
        </p:spPr>
        <p:txBody>
          <a:bodyPr wrap="square">
            <a:spAutoFit/>
          </a:bodyPr>
          <a:lstStyle/>
          <a:p>
            <a:pPr algn="ctr">
              <a:defRPr sz="1600" b="1">
                <a:solidFill>
                  <a:srgbClr val="463668"/>
                </a:solidFill>
                <a:latin typeface="Aptos Display"/>
              </a:defRPr>
            </a:pPr>
            <a:r>
              <a:t>Governance</a:t>
            </a:r>
          </a:p>
        </p:txBody>
      </p:sp>
      <p:sp>
        <p:nvSpPr>
          <p:cNvPr id="18" name="TextBox 17"/>
          <p:cNvSpPr txBox="1"/>
          <p:nvPr/>
        </p:nvSpPr>
        <p:spPr>
          <a:xfrm>
            <a:off x="8211312" y="3063240"/>
            <a:ext cx="3200400" cy="1097280"/>
          </a:xfrm>
          <a:prstGeom prst="rect">
            <a:avLst/>
          </a:prstGeom>
          <a:noFill/>
        </p:spPr>
        <p:txBody>
          <a:bodyPr wrap="square">
            <a:spAutoFit/>
          </a:bodyPr>
          <a:lstStyle/>
          <a:p>
            <a:pPr algn="ctr">
              <a:defRPr sz="1200" b="0">
                <a:solidFill>
                  <a:srgbClr val="333333"/>
                </a:solidFill>
                <a:latin typeface="Aptos"/>
              </a:defRPr>
            </a:pPr>
            <a:r>
              <a:t>Every decision logged. Every handoff tracked. Every output validated.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91440"/>
            <a:ext cx="12192000" cy="594360"/>
          </a:xfrm>
          <a:prstGeom prst="rect">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800" b="1">
                <a:solidFill>
                  <a:srgbClr val="FFFFFF"/>
                </a:solidFill>
                <a:latin typeface="Aptos Display"/>
              </a:defRPr>
            </a:pPr>
            <a:r>
              <a:t>CLI-First: The Interactive Interview</a:t>
            </a:r>
          </a:p>
        </p:txBody>
      </p:sp>
      <p:sp>
        <p:nvSpPr>
          <p:cNvPr id="3" name="TextBox 2"/>
          <p:cNvSpPr txBox="1"/>
          <p:nvPr/>
        </p:nvSpPr>
        <p:spPr>
          <a:xfrm>
            <a:off x="10515600" y="6263640"/>
            <a:ext cx="1371600" cy="274320"/>
          </a:xfrm>
          <a:prstGeom prst="rect">
            <a:avLst/>
          </a:prstGeom>
          <a:noFill/>
        </p:spPr>
        <p:txBody>
          <a:bodyPr wrap="square">
            <a:spAutoFit/>
          </a:bodyPr>
          <a:lstStyle/>
          <a:p>
            <a:pPr algn="r">
              <a:defRPr sz="800" b="0">
                <a:solidFill>
                  <a:srgbClr val="666666"/>
                </a:solidFill>
                <a:latin typeface="Aptos"/>
              </a:defRPr>
            </a:pPr>
            <a:r>
              <a:t>14 / 17</a:t>
            </a:r>
          </a:p>
        </p:txBody>
      </p:sp>
      <p:sp>
        <p:nvSpPr>
          <p:cNvPr id="4" name="Rectangle 3"/>
          <p:cNvSpPr/>
          <p:nvPr/>
        </p:nvSpPr>
        <p:spPr>
          <a:xfrm>
            <a:off x="594360" y="914400"/>
            <a:ext cx="914400" cy="274320"/>
          </a:xfrm>
          <a:prstGeom prst="rect">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6200" rIns="76200"/>
          <a:lstStyle/>
          <a:p>
            <a:pPr algn="ctr">
              <a:defRPr sz="1100" b="1">
                <a:solidFill>
                  <a:srgbClr val="FFFFFF"/>
                </a:solidFill>
                <a:latin typeface="Aptos"/>
              </a:defRPr>
            </a:pPr>
            <a:r>
              <a:t>New</a:t>
            </a:r>
          </a:p>
        </p:txBody>
      </p:sp>
      <p:sp>
        <p:nvSpPr>
          <p:cNvPr id="5" name="Rounded Rectangle 4"/>
          <p:cNvSpPr/>
          <p:nvPr/>
        </p:nvSpPr>
        <p:spPr>
          <a:xfrm>
            <a:off x="548640" y="1417320"/>
            <a:ext cx="10972800" cy="594360"/>
          </a:xfrm>
          <a:prstGeom prst="roundRect">
            <a:avLst>
              <a:gd name="adj" fmla="val 6000"/>
            </a:avLst>
          </a:prstGeom>
          <a:solidFill>
            <a:srgbClr val="F0F7FF"/>
          </a:solidFill>
          <a:ln w="12700">
            <a:solidFill>
              <a:srgbClr val="01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481328"/>
            <a:ext cx="10515600" cy="457200"/>
          </a:xfrm>
          <a:prstGeom prst="rect">
            <a:avLst/>
          </a:prstGeom>
          <a:noFill/>
        </p:spPr>
        <p:txBody>
          <a:bodyPr wrap="square">
            <a:spAutoFit/>
          </a:bodyPr>
          <a:lstStyle/>
          <a:p>
            <a:pPr algn="ctr">
              <a:defRPr sz="1800" b="1">
                <a:solidFill>
                  <a:srgbClr val="0178D4"/>
                </a:solidFill>
                <a:latin typeface="Aptos Display"/>
              </a:defRPr>
            </a:pPr>
            <a:r>
              <a:t>@squad I have a legacy app to migrate. Let's plan it.</a:t>
            </a:r>
          </a:p>
        </p:txBody>
      </p:sp>
      <p:sp>
        <p:nvSpPr>
          <p:cNvPr id="7" name="Rounded Rectangle 6"/>
          <p:cNvSpPr/>
          <p:nvPr/>
        </p:nvSpPr>
        <p:spPr>
          <a:xfrm>
            <a:off x="548640" y="2468880"/>
            <a:ext cx="2286000" cy="822960"/>
          </a:xfrm>
          <a:prstGeom prst="roundRect">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latin typeface="Aptos"/>
              </a:defRPr>
            </a:pPr>
            <a:r>
              <a:t>Squad</a:t>
            </a:r>
            <a:br/>
            <a:r>
              <a:t>Interviews</a:t>
            </a:r>
          </a:p>
        </p:txBody>
      </p:sp>
      <p:sp>
        <p:nvSpPr>
          <p:cNvPr id="8" name="Oval 7"/>
          <p:cNvSpPr/>
          <p:nvPr/>
        </p:nvSpPr>
        <p:spPr>
          <a:xfrm>
            <a:off x="1463040" y="2240280"/>
            <a:ext cx="347472" cy="347472"/>
          </a:xfrm>
          <a:prstGeom prst="ellipse">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Aptos"/>
              </a:defRPr>
            </a:pPr>
            <a:r>
              <a:t>1</a:t>
            </a:r>
          </a:p>
        </p:txBody>
      </p:sp>
      <p:sp>
        <p:nvSpPr>
          <p:cNvPr id="9" name="Rounded Rectangle 8"/>
          <p:cNvSpPr/>
          <p:nvPr/>
        </p:nvSpPr>
        <p:spPr>
          <a:xfrm>
            <a:off x="3108960" y="2468880"/>
            <a:ext cx="2286000" cy="822960"/>
          </a:xfrm>
          <a:prstGeom prst="roundRect">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latin typeface="Aptos"/>
              </a:defRPr>
            </a:pPr>
            <a:r>
              <a:t>Codebase</a:t>
            </a:r>
            <a:br/>
            <a:r>
              <a:t>Scan</a:t>
            </a:r>
          </a:p>
        </p:txBody>
      </p:sp>
      <p:sp>
        <p:nvSpPr>
          <p:cNvPr id="10" name="Oval 9"/>
          <p:cNvSpPr/>
          <p:nvPr/>
        </p:nvSpPr>
        <p:spPr>
          <a:xfrm>
            <a:off x="4023360" y="2240280"/>
            <a:ext cx="347472" cy="347472"/>
          </a:xfrm>
          <a:prstGeom prst="ellipse">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Aptos"/>
              </a:defRPr>
            </a:pPr>
            <a:r>
              <a:t>2</a:t>
            </a:r>
          </a:p>
        </p:txBody>
      </p:sp>
      <p:sp>
        <p:nvSpPr>
          <p:cNvPr id="11" name="Rounded Rectangle 10"/>
          <p:cNvSpPr/>
          <p:nvPr/>
        </p:nvSpPr>
        <p:spPr>
          <a:xfrm>
            <a:off x="5669280" y="2468880"/>
            <a:ext cx="2286000" cy="822960"/>
          </a:xfrm>
          <a:prstGeom prst="roundRect">
            <a:avLst/>
          </a:prstGeom>
          <a:solidFill>
            <a:srgbClr val="FE8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latin typeface="Aptos"/>
              </a:defRPr>
            </a:pPr>
            <a:r>
              <a:t>Plan</a:t>
            </a:r>
            <a:br/>
            <a:r>
              <a:t>Generated</a:t>
            </a:r>
          </a:p>
        </p:txBody>
      </p:sp>
      <p:sp>
        <p:nvSpPr>
          <p:cNvPr id="12" name="Oval 11"/>
          <p:cNvSpPr/>
          <p:nvPr/>
        </p:nvSpPr>
        <p:spPr>
          <a:xfrm>
            <a:off x="6583680" y="2240280"/>
            <a:ext cx="347472" cy="347472"/>
          </a:xfrm>
          <a:prstGeom prst="ellipse">
            <a:avLst/>
          </a:prstGeom>
          <a:solidFill>
            <a:srgbClr val="FE8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Aptos"/>
              </a:defRPr>
            </a:pPr>
            <a:r>
              <a:t>3</a:t>
            </a:r>
          </a:p>
        </p:txBody>
      </p:sp>
      <p:sp>
        <p:nvSpPr>
          <p:cNvPr id="13" name="Rounded Rectangle 12"/>
          <p:cNvSpPr/>
          <p:nvPr/>
        </p:nvSpPr>
        <p:spPr>
          <a:xfrm>
            <a:off x="8229600" y="2468880"/>
            <a:ext cx="2286000" cy="822960"/>
          </a:xfrm>
          <a:prstGeom prst="roundRect">
            <a:avLst/>
          </a:prstGeom>
          <a:solidFill>
            <a:srgbClr val="4636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latin typeface="Aptos"/>
              </a:defRPr>
            </a:pPr>
            <a:r>
              <a:t>Phase</a:t>
            </a:r>
            <a:br/>
            <a:r>
              <a:t>Navigation</a:t>
            </a:r>
          </a:p>
        </p:txBody>
      </p:sp>
      <p:sp>
        <p:nvSpPr>
          <p:cNvPr id="14" name="Oval 13"/>
          <p:cNvSpPr/>
          <p:nvPr/>
        </p:nvSpPr>
        <p:spPr>
          <a:xfrm>
            <a:off x="9144000" y="2240280"/>
            <a:ext cx="347472" cy="347472"/>
          </a:xfrm>
          <a:prstGeom prst="ellipse">
            <a:avLst/>
          </a:prstGeom>
          <a:solidFill>
            <a:srgbClr val="4636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Aptos"/>
              </a:defRPr>
            </a:pPr>
            <a:r>
              <a:t>4</a:t>
            </a:r>
          </a:p>
        </p:txBody>
      </p:sp>
      <p:sp>
        <p:nvSpPr>
          <p:cNvPr id="15" name="Right Arrow 14"/>
          <p:cNvSpPr/>
          <p:nvPr/>
        </p:nvSpPr>
        <p:spPr>
          <a:xfrm>
            <a:off x="2834640" y="2816352"/>
            <a:ext cx="274320" cy="228600"/>
          </a:xfrm>
          <a:prstGeom prst="rightArrow">
            <a:avLst/>
          </a:prstGeom>
          <a:solidFill>
            <a:srgbClr val="4A4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ight Arrow 15"/>
          <p:cNvSpPr/>
          <p:nvPr/>
        </p:nvSpPr>
        <p:spPr>
          <a:xfrm>
            <a:off x="5394960" y="2816352"/>
            <a:ext cx="274320" cy="228600"/>
          </a:xfrm>
          <a:prstGeom prst="rightArrow">
            <a:avLst/>
          </a:prstGeom>
          <a:solidFill>
            <a:srgbClr val="4A4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ight Arrow 16"/>
          <p:cNvSpPr/>
          <p:nvPr/>
        </p:nvSpPr>
        <p:spPr>
          <a:xfrm>
            <a:off x="7955279" y="2816352"/>
            <a:ext cx="274320" cy="228600"/>
          </a:xfrm>
          <a:prstGeom prst="rightArrow">
            <a:avLst/>
          </a:prstGeom>
          <a:solidFill>
            <a:srgbClr val="4A4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48640" y="3794760"/>
            <a:ext cx="5212080" cy="1920240"/>
          </a:xfrm>
          <a:prstGeom prst="roundRect">
            <a:avLst>
              <a:gd name="adj" fmla="val 6000"/>
            </a:avLst>
          </a:prstGeom>
          <a:solidFill>
            <a:srgbClr val="FFFFFF"/>
          </a:solidFill>
          <a:ln w="12700">
            <a:solidFill>
              <a:srgbClr val="F0C5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 y="3867912"/>
            <a:ext cx="5065776" cy="45720"/>
          </a:xfrm>
          <a:prstGeom prst="rect">
            <a:avLst/>
          </a:prstGeom>
          <a:solidFill>
            <a:srgbClr val="D83B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3977639"/>
            <a:ext cx="4846320" cy="292608"/>
          </a:xfrm>
          <a:prstGeom prst="rect">
            <a:avLst/>
          </a:prstGeom>
          <a:noFill/>
        </p:spPr>
        <p:txBody>
          <a:bodyPr wrap="square">
            <a:spAutoFit/>
          </a:bodyPr>
          <a:lstStyle/>
          <a:p>
            <a:pPr algn="l">
              <a:defRPr sz="1400" b="1">
                <a:solidFill>
                  <a:srgbClr val="D83B02"/>
                </a:solidFill>
                <a:latin typeface="Aptos Display"/>
              </a:defRPr>
            </a:pPr>
            <a:r>
              <a:t>Old Way</a:t>
            </a:r>
          </a:p>
        </p:txBody>
      </p:sp>
      <p:sp>
        <p:nvSpPr>
          <p:cNvPr id="21" name="TextBox 20"/>
          <p:cNvSpPr txBox="1"/>
          <p:nvPr/>
        </p:nvSpPr>
        <p:spPr>
          <a:xfrm>
            <a:off x="777240" y="4315968"/>
            <a:ext cx="4754880" cy="1188720"/>
          </a:xfrm>
          <a:prstGeom prst="rect">
            <a:avLst/>
          </a:prstGeom>
          <a:noFill/>
        </p:spPr>
        <p:txBody>
          <a:bodyPr wrap="square">
            <a:spAutoFit/>
          </a:bodyPr>
          <a:lstStyle/>
          <a:p>
            <a:pPr>
              <a:spcAft>
                <a:spcPts val="400"/>
              </a:spcAft>
              <a:defRPr sz="1100" b="0">
                <a:solidFill>
                  <a:srgbClr val="333333"/>
                </a:solidFill>
                <a:latin typeface="Aptos"/>
              </a:defRPr>
            </a:pPr>
            <a:r>
              <a:t>❌ Copy 1,000+ lines of app-specific prompts</a:t>
            </a:r>
          </a:p>
          <a:p>
            <a:pPr>
              <a:spcAft>
                <a:spcPts val="400"/>
              </a:spcAft>
              <a:defRPr sz="1100" b="0">
                <a:solidFill>
                  <a:srgbClr val="333333"/>
                </a:solidFill>
                <a:latin typeface="Aptos"/>
              </a:defRPr>
            </a:pPr>
            <a:r>
              <a:t>❌ Edit every prompt with your app name</a:t>
            </a:r>
          </a:p>
          <a:p>
            <a:pPr>
              <a:spcAft>
                <a:spcPts val="400"/>
              </a:spcAft>
              <a:defRPr sz="1100" b="0">
                <a:solidFill>
                  <a:srgbClr val="333333"/>
                </a:solidFill>
                <a:latin typeface="Aptos"/>
              </a:defRPr>
            </a:pPr>
            <a:r>
              <a:t>❌ Must know which phase to run next</a:t>
            </a:r>
          </a:p>
        </p:txBody>
      </p:sp>
      <p:sp>
        <p:nvSpPr>
          <p:cNvPr id="22" name="Rounded Rectangle 21"/>
          <p:cNvSpPr/>
          <p:nvPr/>
        </p:nvSpPr>
        <p:spPr>
          <a:xfrm>
            <a:off x="6035040" y="3794760"/>
            <a:ext cx="5212080" cy="1920240"/>
          </a:xfrm>
          <a:prstGeom prst="roundRect">
            <a:avLst>
              <a:gd name="adj" fmla="val 6000"/>
            </a:avLst>
          </a:prstGeom>
          <a:solidFill>
            <a:srgbClr val="FFFFFF"/>
          </a:solidFill>
          <a:ln w="12700">
            <a:solidFill>
              <a:srgbClr val="C0E8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08192" y="3867912"/>
            <a:ext cx="5065776" cy="45720"/>
          </a:xfrm>
          <a:prstGeom prst="rect">
            <a:avLst/>
          </a:prstGeom>
          <a:solidFill>
            <a:srgbClr val="00B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17920" y="3977639"/>
            <a:ext cx="4846320" cy="292608"/>
          </a:xfrm>
          <a:prstGeom prst="rect">
            <a:avLst/>
          </a:prstGeom>
          <a:noFill/>
        </p:spPr>
        <p:txBody>
          <a:bodyPr wrap="square">
            <a:spAutoFit/>
          </a:bodyPr>
          <a:lstStyle/>
          <a:p>
            <a:pPr algn="l">
              <a:defRPr sz="1400" b="1">
                <a:solidFill>
                  <a:srgbClr val="00B050"/>
                </a:solidFill>
                <a:latin typeface="Aptos Display"/>
              </a:defRPr>
            </a:pPr>
            <a:r>
              <a:t>New Way</a:t>
            </a:r>
          </a:p>
        </p:txBody>
      </p:sp>
      <p:sp>
        <p:nvSpPr>
          <p:cNvPr id="25" name="TextBox 24"/>
          <p:cNvSpPr txBox="1"/>
          <p:nvPr/>
        </p:nvSpPr>
        <p:spPr>
          <a:xfrm>
            <a:off x="6263640" y="4315968"/>
            <a:ext cx="4754880" cy="1188720"/>
          </a:xfrm>
          <a:prstGeom prst="rect">
            <a:avLst/>
          </a:prstGeom>
          <a:noFill/>
        </p:spPr>
        <p:txBody>
          <a:bodyPr wrap="square">
            <a:spAutoFit/>
          </a:bodyPr>
          <a:lstStyle/>
          <a:p>
            <a:pPr>
              <a:spcAft>
                <a:spcPts val="400"/>
              </a:spcAft>
              <a:defRPr sz="1100" b="0">
                <a:solidFill>
                  <a:srgbClr val="333333"/>
                </a:solidFill>
                <a:latin typeface="Aptos"/>
              </a:defRPr>
            </a:pPr>
            <a:r>
              <a:t>✅ One prompt — squad scans and builds the plan</a:t>
            </a:r>
          </a:p>
          <a:p>
            <a:pPr>
              <a:spcAft>
                <a:spcPts val="400"/>
              </a:spcAft>
              <a:defRPr sz="1100" b="0">
                <a:solidFill>
                  <a:srgbClr val="333333"/>
                </a:solidFill>
                <a:latin typeface="Aptos"/>
              </a:defRPr>
            </a:pPr>
            <a:r>
              <a:t>✅ Squad asks clarifying questions automatically</a:t>
            </a:r>
          </a:p>
          <a:p>
            <a:pPr>
              <a:spcAft>
                <a:spcPts val="400"/>
              </a:spcAft>
              <a:defRPr sz="1100" b="0">
                <a:solidFill>
                  <a:srgbClr val="333333"/>
                </a:solidFill>
                <a:latin typeface="Aptos"/>
              </a:defRPr>
            </a:pPr>
            <a:r>
              <a:t>✅ Phase table with status — just say 'run phase 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91440"/>
            <a:ext cx="12192000" cy="594360"/>
          </a:xfrm>
          <a:prstGeom prst="rect">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800" b="1">
                <a:solidFill>
                  <a:srgbClr val="FFFFFF"/>
                </a:solidFill>
                <a:latin typeface="Aptos Display"/>
              </a:defRPr>
            </a:pPr>
            <a:r>
              <a:t>Team Quick Reference: Just Paste &amp; Go</a:t>
            </a:r>
          </a:p>
        </p:txBody>
      </p:sp>
      <p:sp>
        <p:nvSpPr>
          <p:cNvPr id="3" name="TextBox 2"/>
          <p:cNvSpPr txBox="1"/>
          <p:nvPr/>
        </p:nvSpPr>
        <p:spPr>
          <a:xfrm>
            <a:off x="10515600" y="6263640"/>
            <a:ext cx="1371600" cy="274320"/>
          </a:xfrm>
          <a:prstGeom prst="rect">
            <a:avLst/>
          </a:prstGeom>
          <a:noFill/>
        </p:spPr>
        <p:txBody>
          <a:bodyPr wrap="square">
            <a:spAutoFit/>
          </a:bodyPr>
          <a:lstStyle/>
          <a:p>
            <a:pPr algn="r">
              <a:defRPr sz="800" b="0">
                <a:solidFill>
                  <a:srgbClr val="666666"/>
                </a:solidFill>
                <a:latin typeface="Aptos"/>
              </a:defRPr>
            </a:pPr>
            <a:r>
              <a:t>15 / 17</a:t>
            </a:r>
          </a:p>
        </p:txBody>
      </p:sp>
      <p:graphicFrame>
        <p:nvGraphicFramePr>
          <p:cNvPr id="4" name="Table 3"/>
          <p:cNvGraphicFramePr>
            <a:graphicFrameLocks noGrp="1"/>
          </p:cNvGraphicFramePr>
          <p:nvPr/>
        </p:nvGraphicFramePr>
        <p:xfrm>
          <a:off x="502920" y="1234440"/>
          <a:ext cx="11064240" cy="3291840"/>
        </p:xfrm>
        <a:graphic>
          <a:graphicData uri="http://schemas.openxmlformats.org/drawingml/2006/table">
            <a:tbl>
              <a:tblPr firstRow="1" bandRow="1">
                <a:tableStyleId>{5C22544A-7EE6-4342-B048-85BDC9FD1C3A}</a:tableStyleId>
              </a:tblPr>
              <a:tblGrid>
                <a:gridCol w="2926080"/>
                <a:gridCol w="8138160"/>
              </a:tblGrid>
              <a:tr h="411480">
                <a:tc>
                  <a:txBody>
                    <a:bodyPr/>
                    <a:lstStyle/>
                    <a:p>
                      <a:pPr>
                        <a:defRPr sz="1000" b="1">
                          <a:solidFill>
                            <a:srgbClr val="FFFFFF"/>
                          </a:solidFill>
                          <a:latin typeface="Aptos"/>
                        </a:defRPr>
                      </a:pPr>
                      <a:r>
                        <a:t>What you want</a:t>
                      </a:r>
                    </a:p>
                  </a:txBody>
                  <a:tcPr>
                    <a:solidFill>
                      <a:srgbClr val="0178D4"/>
                    </a:solidFill>
                  </a:tcPr>
                </a:tc>
                <a:tc>
                  <a:txBody>
                    <a:bodyPr/>
                    <a:lstStyle/>
                    <a:p>
                      <a:pPr>
                        <a:defRPr sz="1000" b="1">
                          <a:solidFill>
                            <a:srgbClr val="FFFFFF"/>
                          </a:solidFill>
                          <a:latin typeface="Aptos"/>
                        </a:defRPr>
                      </a:pPr>
                      <a:r>
                        <a:t>Paste this prompt</a:t>
                      </a:r>
                    </a:p>
                  </a:txBody>
                  <a:tcPr>
                    <a:solidFill>
                      <a:srgbClr val="0178D4"/>
                    </a:solidFill>
                  </a:tcPr>
                </a:tc>
              </a:tr>
              <a:tr h="411480">
                <a:tc>
                  <a:txBody>
                    <a:bodyPr/>
                    <a:lstStyle/>
                    <a:p>
                      <a:pPr>
                        <a:defRPr sz="1000">
                          <a:solidFill>
                            <a:srgbClr val="333333"/>
                          </a:solidFill>
                          <a:latin typeface="Aptos"/>
                        </a:defRPr>
                      </a:pPr>
                      <a:r>
                        <a:t>Meet the squad</a:t>
                      </a:r>
                    </a:p>
                  </a:txBody>
                  <a:tcPr>
                    <a:solidFill>
                      <a:srgbClr val="FFFFFF"/>
                    </a:solidFill>
                  </a:tcPr>
                </a:tc>
                <a:tc>
                  <a:txBody>
                    <a:bodyPr/>
                    <a:lstStyle/>
                    <a:p>
                      <a:pPr>
                        <a:defRPr sz="1000">
                          <a:solidFill>
                            <a:srgbClr val="333333"/>
                          </a:solidFill>
                          <a:latin typeface="Aptos"/>
                        </a:defRPr>
                      </a:pPr>
                      <a:r>
                        <a:t>@squad who are you?</a:t>
                      </a:r>
                    </a:p>
                  </a:txBody>
                  <a:tcPr>
                    <a:solidFill>
                      <a:srgbClr val="FFFFFF"/>
                    </a:solidFill>
                  </a:tcPr>
                </a:tc>
              </a:tr>
              <a:tr h="411480">
                <a:tc>
                  <a:txBody>
                    <a:bodyPr/>
                    <a:lstStyle/>
                    <a:p>
                      <a:pPr>
                        <a:defRPr sz="1000">
                          <a:solidFill>
                            <a:srgbClr val="333333"/>
                          </a:solidFill>
                          <a:latin typeface="Aptos"/>
                        </a:defRPr>
                      </a:pPr>
                      <a:r>
                        <a:t>Start a migration</a:t>
                      </a:r>
                    </a:p>
                  </a:txBody>
                  <a:tcPr>
                    <a:solidFill>
                      <a:srgbClr val="F2F7FA"/>
                    </a:solidFill>
                  </a:tcPr>
                </a:tc>
                <a:tc>
                  <a:txBody>
                    <a:bodyPr/>
                    <a:lstStyle/>
                    <a:p>
                      <a:pPr>
                        <a:defRPr sz="1000">
                          <a:solidFill>
                            <a:srgbClr val="333333"/>
                          </a:solidFill>
                          <a:latin typeface="Aptos"/>
                        </a:defRPr>
                      </a:pPr>
                      <a:r>
                        <a:t>@squad I have a legacy app to migrate</a:t>
                      </a:r>
                    </a:p>
                  </a:txBody>
                  <a:tcPr>
                    <a:solidFill>
                      <a:srgbClr val="F2F7FA"/>
                    </a:solidFill>
                  </a:tcPr>
                </a:tc>
              </a:tr>
              <a:tr h="411480">
                <a:tc>
                  <a:txBody>
                    <a:bodyPr/>
                    <a:lstStyle/>
                    <a:p>
                      <a:pPr>
                        <a:defRPr sz="1000">
                          <a:solidFill>
                            <a:srgbClr val="333333"/>
                          </a:solidFill>
                          <a:latin typeface="Aptos"/>
                        </a:defRPr>
                      </a:pPr>
                      <a:r>
                        <a:t>Assess an app</a:t>
                      </a:r>
                    </a:p>
                  </a:txBody>
                  <a:tcPr>
                    <a:solidFill>
                      <a:srgbClr val="FFFFFF"/>
                    </a:solidFill>
                  </a:tcPr>
                </a:tc>
                <a:tc>
                  <a:txBody>
                    <a:bodyPr/>
                    <a:lstStyle/>
                    <a:p>
                      <a:pPr>
                        <a:defRPr sz="1000">
                          <a:solidFill>
                            <a:srgbClr val="333333"/>
                          </a:solidFill>
                          <a:latin typeface="Aptos"/>
                        </a:defRPr>
                      </a:pPr>
                      <a:r>
                        <a:t>@squad assess Use-cases/05-BookShop</a:t>
                      </a:r>
                    </a:p>
                  </a:txBody>
                  <a:tcPr>
                    <a:solidFill>
                      <a:srgbClr val="FFFFFF"/>
                    </a:solidFill>
                  </a:tcPr>
                </a:tc>
              </a:tr>
              <a:tr h="411480">
                <a:tc>
                  <a:txBody>
                    <a:bodyPr/>
                    <a:lstStyle/>
                    <a:p>
                      <a:pPr>
                        <a:defRPr sz="1000">
                          <a:solidFill>
                            <a:srgbClr val="333333"/>
                          </a:solidFill>
                          <a:latin typeface="Aptos"/>
                        </a:defRPr>
                      </a:pPr>
                      <a:r>
                        <a:t>See pending phases</a:t>
                      </a:r>
                    </a:p>
                  </a:txBody>
                  <a:tcPr>
                    <a:solidFill>
                      <a:srgbClr val="F2F7FA"/>
                    </a:solidFill>
                  </a:tcPr>
                </a:tc>
                <a:tc>
                  <a:txBody>
                    <a:bodyPr/>
                    <a:lstStyle/>
                    <a:p>
                      <a:pPr>
                        <a:defRPr sz="1000">
                          <a:solidFill>
                            <a:srgbClr val="333333"/>
                          </a:solidFill>
                          <a:latin typeface="Aptos"/>
                        </a:defRPr>
                      </a:pPr>
                      <a:r>
                        <a:t>@squad show me pending phases</a:t>
                      </a:r>
                    </a:p>
                  </a:txBody>
                  <a:tcPr>
                    <a:solidFill>
                      <a:srgbClr val="F2F7FA"/>
                    </a:solidFill>
                  </a:tcPr>
                </a:tc>
              </a:tr>
              <a:tr h="411480">
                <a:tc>
                  <a:txBody>
                    <a:bodyPr/>
                    <a:lstStyle/>
                    <a:p>
                      <a:pPr>
                        <a:defRPr sz="1000">
                          <a:solidFill>
                            <a:srgbClr val="333333"/>
                          </a:solidFill>
                          <a:latin typeface="Aptos"/>
                        </a:defRPr>
                      </a:pPr>
                      <a:r>
                        <a:t>Run phases in parallel</a:t>
                      </a:r>
                    </a:p>
                  </a:txBody>
                  <a:tcPr>
                    <a:solidFill>
                      <a:srgbClr val="FFFFFF"/>
                    </a:solidFill>
                  </a:tcPr>
                </a:tc>
                <a:tc>
                  <a:txBody>
                    <a:bodyPr/>
                    <a:lstStyle/>
                    <a:p>
                      <a:pPr>
                        <a:defRPr sz="1000">
                          <a:solidFill>
                            <a:srgbClr val="333333"/>
                          </a:solidFill>
                          <a:latin typeface="Aptos"/>
                        </a:defRPr>
                      </a:pPr>
                      <a:r>
                        <a:t>@squad run phase 0 and 1, fan out</a:t>
                      </a:r>
                    </a:p>
                  </a:txBody>
                  <a:tcPr>
                    <a:solidFill>
                      <a:srgbClr val="FFFFFF"/>
                    </a:solidFill>
                  </a:tcPr>
                </a:tc>
              </a:tr>
              <a:tr h="411480">
                <a:tc>
                  <a:txBody>
                    <a:bodyPr/>
                    <a:lstStyle/>
                    <a:p>
                      <a:pPr>
                        <a:defRPr sz="1000">
                          <a:solidFill>
                            <a:srgbClr val="333333"/>
                          </a:solidFill>
                          <a:latin typeface="Aptos"/>
                        </a:defRPr>
                      </a:pPr>
                      <a:r>
                        <a:t>Security review</a:t>
                      </a:r>
                    </a:p>
                  </a:txBody>
                  <a:tcPr>
                    <a:solidFill>
                      <a:srgbClr val="F2F7FA"/>
                    </a:solidFill>
                  </a:tcPr>
                </a:tc>
                <a:tc>
                  <a:txBody>
                    <a:bodyPr/>
                    <a:lstStyle/>
                    <a:p>
                      <a:pPr>
                        <a:defRPr sz="1000">
                          <a:solidFill>
                            <a:srgbClr val="333333"/>
                          </a:solidFill>
                          <a:latin typeface="Aptos"/>
                        </a:defRPr>
                      </a:pPr>
                      <a:r>
                        <a:t>@squad run a security hardening review</a:t>
                      </a:r>
                    </a:p>
                  </a:txBody>
                  <a:tcPr>
                    <a:solidFill>
                      <a:srgbClr val="F2F7FA"/>
                    </a:solidFill>
                  </a:tcPr>
                </a:tc>
              </a:tr>
              <a:tr h="411480">
                <a:tc>
                  <a:txBody>
                    <a:bodyPr/>
                    <a:lstStyle/>
                    <a:p>
                      <a:pPr>
                        <a:defRPr sz="1000">
                          <a:solidFill>
                            <a:srgbClr val="333333"/>
                          </a:solidFill>
                          <a:latin typeface="Aptos"/>
                        </a:defRPr>
                      </a:pPr>
                      <a:r>
                        <a:t>Check progress</a:t>
                      </a:r>
                    </a:p>
                  </a:txBody>
                  <a:tcPr>
                    <a:solidFill>
                      <a:srgbClr val="FFFFFF"/>
                    </a:solidFill>
                  </a:tcPr>
                </a:tc>
                <a:tc>
                  <a:txBody>
                    <a:bodyPr/>
                    <a:lstStyle/>
                    <a:p>
                      <a:pPr>
                        <a:defRPr sz="1000">
                          <a:solidFill>
                            <a:srgbClr val="333333"/>
                          </a:solidFill>
                          <a:latin typeface="Aptos"/>
                        </a:defRPr>
                      </a:pPr>
                      <a:r>
                        <a:t>@squad status</a:t>
                      </a:r>
                    </a:p>
                  </a:txBody>
                  <a:tcPr>
                    <a:solidFill>
                      <a:srgbClr val="FFFFFF"/>
                    </a:solidFill>
                  </a:tcPr>
                </a:tc>
              </a:tr>
            </a:tbl>
          </a:graphicData>
        </a:graphic>
      </p:graphicFrame>
      <p:sp>
        <p:nvSpPr>
          <p:cNvPr id="5" name="TextBox 4"/>
          <p:cNvSpPr txBox="1"/>
          <p:nvPr/>
        </p:nvSpPr>
        <p:spPr>
          <a:xfrm>
            <a:off x="914400" y="4754880"/>
            <a:ext cx="10241280" cy="411480"/>
          </a:xfrm>
          <a:prstGeom prst="rect">
            <a:avLst/>
          </a:prstGeom>
          <a:noFill/>
        </p:spPr>
        <p:txBody>
          <a:bodyPr wrap="square">
            <a:spAutoFit/>
          </a:bodyPr>
          <a:lstStyle/>
          <a:p>
            <a:pPr algn="ctr">
              <a:defRPr sz="1400" b="1">
                <a:solidFill>
                  <a:srgbClr val="0070C0"/>
                </a:solidFill>
                <a:latin typeface="Aptos"/>
              </a:defRPr>
            </a:pPr>
            <a:r>
              <a:t>Full prompt list: docs/team-onboarding-prompts.md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91440"/>
            <a:ext cx="12192000" cy="594360"/>
          </a:xfrm>
          <a:prstGeom prst="rect">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800" b="1">
                <a:solidFill>
                  <a:srgbClr val="FFFFFF"/>
                </a:solidFill>
                <a:latin typeface="Aptos Display"/>
              </a:defRPr>
            </a:pPr>
            <a:r>
              <a:t>Start Your Own Heist</a:t>
            </a:r>
          </a:p>
        </p:txBody>
      </p:sp>
      <p:sp>
        <p:nvSpPr>
          <p:cNvPr id="3" name="TextBox 2"/>
          <p:cNvSpPr txBox="1"/>
          <p:nvPr/>
        </p:nvSpPr>
        <p:spPr>
          <a:xfrm>
            <a:off x="10515600" y="6263640"/>
            <a:ext cx="1371600" cy="274320"/>
          </a:xfrm>
          <a:prstGeom prst="rect">
            <a:avLst/>
          </a:prstGeom>
          <a:noFill/>
        </p:spPr>
        <p:txBody>
          <a:bodyPr wrap="square">
            <a:spAutoFit/>
          </a:bodyPr>
          <a:lstStyle/>
          <a:p>
            <a:pPr algn="r">
              <a:defRPr sz="800" b="0">
                <a:solidFill>
                  <a:srgbClr val="666666"/>
                </a:solidFill>
                <a:latin typeface="Aptos"/>
              </a:defRPr>
            </a:pPr>
            <a:r>
              <a:t>16 / 17</a:t>
            </a:r>
          </a:p>
        </p:txBody>
      </p:sp>
      <p:sp>
        <p:nvSpPr>
          <p:cNvPr id="4" name="Oval 3"/>
          <p:cNvSpPr/>
          <p:nvPr/>
        </p:nvSpPr>
        <p:spPr>
          <a:xfrm>
            <a:off x="685800" y="1234440"/>
            <a:ext cx="310896" cy="310896"/>
          </a:xfrm>
          <a:prstGeom prst="ellipse">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Aptos"/>
              </a:defRPr>
            </a:pPr>
            <a:r>
              <a:t>1</a:t>
            </a:r>
          </a:p>
        </p:txBody>
      </p:sp>
      <p:sp>
        <p:nvSpPr>
          <p:cNvPr id="5" name="TextBox 4"/>
          <p:cNvSpPr txBox="1"/>
          <p:nvPr/>
        </p:nvSpPr>
        <p:spPr>
          <a:xfrm>
            <a:off x="1097280" y="1225296"/>
            <a:ext cx="9875520" cy="292608"/>
          </a:xfrm>
          <a:prstGeom prst="rect">
            <a:avLst/>
          </a:prstGeom>
          <a:noFill/>
        </p:spPr>
        <p:txBody>
          <a:bodyPr wrap="square">
            <a:spAutoFit/>
          </a:bodyPr>
          <a:lstStyle/>
          <a:p>
            <a:pPr algn="l">
              <a:defRPr sz="1500" b="0">
                <a:solidFill>
                  <a:srgbClr val="333333"/>
                </a:solidFill>
                <a:latin typeface="Aptos"/>
              </a:defRPr>
            </a:pPr>
            <a:r>
              <a:t>Clone the repo and open in VS Code</a:t>
            </a:r>
          </a:p>
        </p:txBody>
      </p:sp>
      <p:sp>
        <p:nvSpPr>
          <p:cNvPr id="6" name="Oval 5"/>
          <p:cNvSpPr/>
          <p:nvPr/>
        </p:nvSpPr>
        <p:spPr>
          <a:xfrm>
            <a:off x="685800" y="1737360"/>
            <a:ext cx="310896" cy="310896"/>
          </a:xfrm>
          <a:prstGeom prst="ellipse">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Aptos"/>
              </a:defRPr>
            </a:pPr>
            <a:r>
              <a:t>2</a:t>
            </a:r>
          </a:p>
        </p:txBody>
      </p:sp>
      <p:sp>
        <p:nvSpPr>
          <p:cNvPr id="7" name="TextBox 6"/>
          <p:cNvSpPr txBox="1"/>
          <p:nvPr/>
        </p:nvSpPr>
        <p:spPr>
          <a:xfrm>
            <a:off x="1097280" y="1728216"/>
            <a:ext cx="9875520" cy="292608"/>
          </a:xfrm>
          <a:prstGeom prst="rect">
            <a:avLst/>
          </a:prstGeom>
          <a:noFill/>
        </p:spPr>
        <p:txBody>
          <a:bodyPr wrap="square">
            <a:spAutoFit/>
          </a:bodyPr>
          <a:lstStyle/>
          <a:p>
            <a:pPr algn="l">
              <a:defRPr sz="1500" b="0">
                <a:solidFill>
                  <a:srgbClr val="333333"/>
                </a:solidFill>
                <a:latin typeface="Aptos"/>
              </a:defRPr>
            </a:pPr>
            <a:r>
              <a:t>Launch Copilot CLI: type ghcs in the terminal</a:t>
            </a:r>
          </a:p>
        </p:txBody>
      </p:sp>
      <p:sp>
        <p:nvSpPr>
          <p:cNvPr id="8" name="Oval 7"/>
          <p:cNvSpPr/>
          <p:nvPr/>
        </p:nvSpPr>
        <p:spPr>
          <a:xfrm>
            <a:off x="685800" y="2240280"/>
            <a:ext cx="310896" cy="310896"/>
          </a:xfrm>
          <a:prstGeom prst="ellipse">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Aptos"/>
              </a:defRPr>
            </a:pPr>
            <a:r>
              <a:t>3</a:t>
            </a:r>
          </a:p>
        </p:txBody>
      </p:sp>
      <p:sp>
        <p:nvSpPr>
          <p:cNvPr id="9" name="TextBox 8"/>
          <p:cNvSpPr txBox="1"/>
          <p:nvPr/>
        </p:nvSpPr>
        <p:spPr>
          <a:xfrm>
            <a:off x="1097280" y="2231136"/>
            <a:ext cx="9875520" cy="292608"/>
          </a:xfrm>
          <a:prstGeom prst="rect">
            <a:avLst/>
          </a:prstGeom>
          <a:noFill/>
        </p:spPr>
        <p:txBody>
          <a:bodyPr wrap="square">
            <a:spAutoFit/>
          </a:bodyPr>
          <a:lstStyle/>
          <a:p>
            <a:pPr algn="l">
              <a:defRPr sz="1500" b="0">
                <a:solidFill>
                  <a:srgbClr val="333333"/>
                </a:solidFill>
                <a:latin typeface="Aptos"/>
              </a:defRPr>
            </a:pPr>
            <a:r>
              <a:t>@squad who are you? — meet the crew</a:t>
            </a:r>
          </a:p>
        </p:txBody>
      </p:sp>
      <p:sp>
        <p:nvSpPr>
          <p:cNvPr id="10" name="Oval 9"/>
          <p:cNvSpPr/>
          <p:nvPr/>
        </p:nvSpPr>
        <p:spPr>
          <a:xfrm>
            <a:off x="685800" y="2743200"/>
            <a:ext cx="310896" cy="310896"/>
          </a:xfrm>
          <a:prstGeom prst="ellipse">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Aptos"/>
              </a:defRPr>
            </a:pPr>
            <a:r>
              <a:t>4</a:t>
            </a:r>
          </a:p>
        </p:txBody>
      </p:sp>
      <p:sp>
        <p:nvSpPr>
          <p:cNvPr id="11" name="TextBox 10"/>
          <p:cNvSpPr txBox="1"/>
          <p:nvPr/>
        </p:nvSpPr>
        <p:spPr>
          <a:xfrm>
            <a:off x="1097280" y="2734056"/>
            <a:ext cx="9875520" cy="292608"/>
          </a:xfrm>
          <a:prstGeom prst="rect">
            <a:avLst/>
          </a:prstGeom>
          <a:noFill/>
        </p:spPr>
        <p:txBody>
          <a:bodyPr wrap="square">
            <a:spAutoFit/>
          </a:bodyPr>
          <a:lstStyle/>
          <a:p>
            <a:pPr algn="l">
              <a:defRPr sz="1500" b="0">
                <a:solidFill>
                  <a:srgbClr val="333333"/>
                </a:solidFill>
                <a:latin typeface="Aptos"/>
              </a:defRPr>
            </a:pPr>
            <a:r>
              <a:t>@squad I have a legacy app to migrate — start interview</a:t>
            </a:r>
          </a:p>
        </p:txBody>
      </p:sp>
      <p:sp>
        <p:nvSpPr>
          <p:cNvPr id="12" name="Oval 11"/>
          <p:cNvSpPr/>
          <p:nvPr/>
        </p:nvSpPr>
        <p:spPr>
          <a:xfrm>
            <a:off x="685800" y="3246120"/>
            <a:ext cx="310896" cy="310896"/>
          </a:xfrm>
          <a:prstGeom prst="ellipse">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Aptos"/>
              </a:defRPr>
            </a:pPr>
            <a:r>
              <a:t>5</a:t>
            </a:r>
          </a:p>
        </p:txBody>
      </p:sp>
      <p:sp>
        <p:nvSpPr>
          <p:cNvPr id="13" name="TextBox 12"/>
          <p:cNvSpPr txBox="1"/>
          <p:nvPr/>
        </p:nvSpPr>
        <p:spPr>
          <a:xfrm>
            <a:off x="1097280" y="3236976"/>
            <a:ext cx="9875520" cy="292608"/>
          </a:xfrm>
          <a:prstGeom prst="rect">
            <a:avLst/>
          </a:prstGeom>
          <a:noFill/>
        </p:spPr>
        <p:txBody>
          <a:bodyPr wrap="square">
            <a:spAutoFit/>
          </a:bodyPr>
          <a:lstStyle/>
          <a:p>
            <a:pPr algn="l">
              <a:defRPr sz="1500" b="0">
                <a:solidFill>
                  <a:srgbClr val="333333"/>
                </a:solidFill>
                <a:latin typeface="Aptos"/>
              </a:defRPr>
            </a:pPr>
            <a:r>
              <a:t>Squad scans, interviews, generates phase plan</a:t>
            </a:r>
          </a:p>
        </p:txBody>
      </p:sp>
      <p:sp>
        <p:nvSpPr>
          <p:cNvPr id="14" name="Oval 13"/>
          <p:cNvSpPr/>
          <p:nvPr/>
        </p:nvSpPr>
        <p:spPr>
          <a:xfrm>
            <a:off x="685800" y="3749040"/>
            <a:ext cx="310896" cy="310896"/>
          </a:xfrm>
          <a:prstGeom prst="ellipse">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Aptos"/>
              </a:defRPr>
            </a:pPr>
            <a:r>
              <a:t>6</a:t>
            </a:r>
          </a:p>
        </p:txBody>
      </p:sp>
      <p:sp>
        <p:nvSpPr>
          <p:cNvPr id="15" name="TextBox 14"/>
          <p:cNvSpPr txBox="1"/>
          <p:nvPr/>
        </p:nvSpPr>
        <p:spPr>
          <a:xfrm>
            <a:off x="1097280" y="3739896"/>
            <a:ext cx="9875520" cy="292608"/>
          </a:xfrm>
          <a:prstGeom prst="rect">
            <a:avLst/>
          </a:prstGeom>
          <a:noFill/>
        </p:spPr>
        <p:txBody>
          <a:bodyPr wrap="square">
            <a:spAutoFit/>
          </a:bodyPr>
          <a:lstStyle/>
          <a:p>
            <a:pPr algn="l">
              <a:defRPr sz="1500" b="0">
                <a:solidFill>
                  <a:srgbClr val="333333"/>
                </a:solidFill>
                <a:latin typeface="Aptos"/>
              </a:defRPr>
            </a:pPr>
            <a:r>
              <a:t>Say 'run phase N' or 'run all, fan out'</a:t>
            </a:r>
          </a:p>
        </p:txBody>
      </p:sp>
      <p:sp>
        <p:nvSpPr>
          <p:cNvPr id="16" name="Oval 15"/>
          <p:cNvSpPr/>
          <p:nvPr/>
        </p:nvSpPr>
        <p:spPr>
          <a:xfrm>
            <a:off x="685800" y="4251960"/>
            <a:ext cx="310896" cy="310896"/>
          </a:xfrm>
          <a:prstGeom prst="ellipse">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Aptos"/>
              </a:defRPr>
            </a:pPr>
            <a:r>
              <a:t>7</a:t>
            </a:r>
          </a:p>
        </p:txBody>
      </p:sp>
      <p:sp>
        <p:nvSpPr>
          <p:cNvPr id="17" name="TextBox 16"/>
          <p:cNvSpPr txBox="1"/>
          <p:nvPr/>
        </p:nvSpPr>
        <p:spPr>
          <a:xfrm>
            <a:off x="1097280" y="4242816"/>
            <a:ext cx="9875520" cy="292608"/>
          </a:xfrm>
          <a:prstGeom prst="rect">
            <a:avLst/>
          </a:prstGeom>
          <a:noFill/>
        </p:spPr>
        <p:txBody>
          <a:bodyPr wrap="square">
            <a:spAutoFit/>
          </a:bodyPr>
          <a:lstStyle/>
          <a:p>
            <a:pPr algn="l">
              <a:defRPr sz="1500" b="0">
                <a:solidFill>
                  <a:srgbClr val="333333"/>
                </a:solidFill>
                <a:latin typeface="Aptos"/>
              </a:defRPr>
            </a:pPr>
            <a:r>
              <a:t>Review artifacts, ask follow-ups, ship to Azure</a:t>
            </a:r>
          </a:p>
        </p:txBody>
      </p:sp>
      <p:sp>
        <p:nvSpPr>
          <p:cNvPr id="18" name="Rectangle 17"/>
          <p:cNvSpPr/>
          <p:nvPr/>
        </p:nvSpPr>
        <p:spPr>
          <a:xfrm>
            <a:off x="832104" y="1536192"/>
            <a:ext cx="27432" cy="3063240"/>
          </a:xfrm>
          <a:prstGeom prst="rect">
            <a:avLst/>
          </a:prstGeom>
          <a:solidFill>
            <a:srgbClr val="01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5074920"/>
            <a:ext cx="5943600" cy="320040"/>
          </a:xfrm>
          <a:prstGeom prst="rect">
            <a:avLst/>
          </a:prstGeom>
          <a:noFill/>
        </p:spPr>
        <p:txBody>
          <a:bodyPr wrap="square">
            <a:spAutoFit/>
          </a:bodyPr>
          <a:lstStyle/>
          <a:p>
            <a:pPr algn="l">
              <a:defRPr sz="1400" b="1">
                <a:solidFill>
                  <a:srgbClr val="0070C0"/>
                </a:solidFill>
                <a:latin typeface="Aptos"/>
              </a:defRPr>
            </a:pPr>
            <a:r>
              <a:t>github.com/v-dguncet_microsoft/GHCP-PromptMigration</a:t>
            </a:r>
          </a:p>
        </p:txBody>
      </p:sp>
      <p:sp>
        <p:nvSpPr>
          <p:cNvPr id="20" name="TextBox 19"/>
          <p:cNvSpPr txBox="1"/>
          <p:nvPr/>
        </p:nvSpPr>
        <p:spPr>
          <a:xfrm>
            <a:off x="6583680" y="5029200"/>
            <a:ext cx="4572000" cy="502920"/>
          </a:xfrm>
          <a:prstGeom prst="rect">
            <a:avLst/>
          </a:prstGeom>
          <a:noFill/>
        </p:spPr>
        <p:txBody>
          <a:bodyPr wrap="square">
            <a:spAutoFit/>
          </a:bodyPr>
          <a:lstStyle/>
          <a:p>
            <a:pPr algn="r">
              <a:defRPr sz="1200" b="0">
                <a:solidFill>
                  <a:srgbClr val="666666"/>
                </a:solidFill>
                <a:latin typeface="Aptos"/>
              </a:defRPr>
            </a:pPr>
            <a:r>
              <a:t>Start small: one orchestrator, a few specialists, and reusable skills. Then scale.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515600" y="6263640"/>
            <a:ext cx="1371600" cy="274320"/>
          </a:xfrm>
          <a:prstGeom prst="rect">
            <a:avLst/>
          </a:prstGeom>
          <a:noFill/>
        </p:spPr>
        <p:txBody>
          <a:bodyPr wrap="square">
            <a:spAutoFit/>
          </a:bodyPr>
          <a:lstStyle/>
          <a:p>
            <a:pPr algn="r">
              <a:defRPr sz="800" b="0">
                <a:solidFill>
                  <a:srgbClr val="666666"/>
                </a:solidFill>
                <a:latin typeface="Aptos"/>
              </a:defRPr>
            </a:pPr>
            <a:r>
              <a:t>17 / 17</a:t>
            </a:r>
          </a:p>
        </p:txBody>
      </p:sp>
      <p:sp>
        <p:nvSpPr>
          <p:cNvPr id="3" name="TextBox 2"/>
          <p:cNvSpPr txBox="1"/>
          <p:nvPr/>
        </p:nvSpPr>
        <p:spPr>
          <a:xfrm>
            <a:off x="731520" y="1508760"/>
            <a:ext cx="10515600" cy="822960"/>
          </a:xfrm>
          <a:prstGeom prst="rect">
            <a:avLst/>
          </a:prstGeom>
          <a:noFill/>
        </p:spPr>
        <p:txBody>
          <a:bodyPr wrap="square">
            <a:spAutoFit/>
          </a:bodyPr>
          <a:lstStyle/>
          <a:p>
            <a:pPr algn="ctr">
              <a:defRPr sz="3000" b="1">
                <a:solidFill>
                  <a:srgbClr val="FFFFFF"/>
                </a:solidFill>
                <a:latin typeface="Aptos Display"/>
              </a:defRPr>
            </a:pPr>
            <a:r>
              <a:t>Don't Prompt. Orchestrate. 🎰</a:t>
            </a:r>
          </a:p>
        </p:txBody>
      </p:sp>
      <p:sp>
        <p:nvSpPr>
          <p:cNvPr id="4" name="TextBox 3"/>
          <p:cNvSpPr txBox="1"/>
          <p:nvPr/>
        </p:nvSpPr>
        <p:spPr>
          <a:xfrm>
            <a:off x="1828800" y="2468880"/>
            <a:ext cx="8503920" cy="411480"/>
          </a:xfrm>
          <a:prstGeom prst="rect">
            <a:avLst/>
          </a:prstGeom>
          <a:noFill/>
        </p:spPr>
        <p:txBody>
          <a:bodyPr wrap="square">
            <a:spAutoFit/>
          </a:bodyPr>
          <a:lstStyle/>
          <a:p>
            <a:pPr algn="ctr">
              <a:defRPr sz="1800" b="0">
                <a:solidFill>
                  <a:srgbClr val="C7E3FF"/>
                </a:solidFill>
                <a:latin typeface="Aptos Display"/>
              </a:defRPr>
            </a:pPr>
            <a:r>
              <a:t>Ocean's Twelve — The Azure Heist</a:t>
            </a:r>
          </a:p>
        </p:txBody>
      </p:sp>
      <p:sp>
        <p:nvSpPr>
          <p:cNvPr id="5" name="Rounded Rectangle 4"/>
          <p:cNvSpPr/>
          <p:nvPr/>
        </p:nvSpPr>
        <p:spPr>
          <a:xfrm>
            <a:off x="1463040" y="3154680"/>
            <a:ext cx="9235440" cy="1234440"/>
          </a:xfrm>
          <a:prstGeom prst="roundRect">
            <a:avLst>
              <a:gd name="adj" fmla="val 6000"/>
            </a:avLst>
          </a:prstGeom>
          <a:solidFill>
            <a:srgbClr val="005AA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83080" y="3493008"/>
            <a:ext cx="8595360" cy="502920"/>
          </a:xfrm>
          <a:prstGeom prst="rect">
            <a:avLst/>
          </a:prstGeom>
          <a:noFill/>
        </p:spPr>
        <p:txBody>
          <a:bodyPr wrap="square">
            <a:spAutoFit/>
          </a:bodyPr>
          <a:lstStyle/>
          <a:p>
            <a:pPr algn="ctr">
              <a:defRPr sz="1800" b="1">
                <a:solidFill>
                  <a:srgbClr val="FFFFFF"/>
                </a:solidFill>
                <a:latin typeface="Aptos Display"/>
              </a:defRPr>
            </a:pPr>
            <a:r>
              <a:t>"Twelve specialists. Seven targets. One mission: migrate everything to Azure."</a:t>
            </a:r>
          </a:p>
        </p:txBody>
      </p:sp>
      <p:sp>
        <p:nvSpPr>
          <p:cNvPr id="7" name="TextBox 6"/>
          <p:cNvSpPr txBox="1"/>
          <p:nvPr/>
        </p:nvSpPr>
        <p:spPr>
          <a:xfrm>
            <a:off x="731520" y="5623560"/>
            <a:ext cx="4572000" cy="274320"/>
          </a:xfrm>
          <a:prstGeom prst="rect">
            <a:avLst/>
          </a:prstGeom>
          <a:noFill/>
        </p:spPr>
        <p:txBody>
          <a:bodyPr wrap="square">
            <a:spAutoFit/>
          </a:bodyPr>
          <a:lstStyle/>
          <a:p>
            <a:pPr algn="l">
              <a:defRPr sz="1200" b="0">
                <a:solidFill>
                  <a:srgbClr val="B7C5D8"/>
                </a:solidFill>
                <a:latin typeface="Aptos"/>
              </a:defRPr>
            </a:pPr>
            <a:r>
              <a:t>Roberto Borges | Microsoft | 2026</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FY24 Global Customer Success">
  <a:themeElements>
    <a:clrScheme name="GCS">
      <a:dk1>
        <a:srgbClr val="1A1A1A"/>
      </a:dk1>
      <a:lt1>
        <a:srgbClr val="FFFFFF"/>
      </a:lt1>
      <a:dk2>
        <a:srgbClr val="2A446F"/>
      </a:dk2>
      <a:lt2>
        <a:srgbClr val="F2F2F2"/>
      </a:lt2>
      <a:accent1>
        <a:srgbClr val="D83B02"/>
      </a:accent1>
      <a:accent2>
        <a:srgbClr val="0178D4"/>
      </a:accent2>
      <a:accent3>
        <a:srgbClr val="FE8B00"/>
      </a:accent3>
      <a:accent4>
        <a:srgbClr val="00BCF2"/>
      </a:accent4>
      <a:accent5>
        <a:srgbClr val="463668"/>
      </a:accent5>
      <a:accent6>
        <a:srgbClr val="225B62"/>
      </a:accent6>
      <a:hlink>
        <a:srgbClr val="00BCF2"/>
      </a:hlink>
      <a:folHlink>
        <a:srgbClr val="274B47"/>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Presentation1" id="{E3795941-59EF-4171-B17A-5159030DBA48}" vid="{3A2A1809-9A9C-4605-B72D-992B45BBB6BE}"/>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3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31d963b9-1180-4647-93d7-d11aa08e2421" xsi:nil="true"/>
    <lcf76f155ced4ddcb4097134ff3c332f xmlns="f3541473-4e72-4c17-b1a6-32770bb766bd">
      <Terms xmlns="http://schemas.microsoft.com/office/infopath/2007/PartnerControls"/>
    </lcf76f155ced4ddcb4097134ff3c332f>
    <PrimeCorrectedByUser xmlns="31d963b9-1180-4647-93d7-d11aa08e2421" xsi:nil="true"/>
    <PrimeClassificationStatus xmlns="31d963b9-1180-4647-93d7-d11aa08e2421" xsi:nil="true"/>
    <Buckets xmlns="f3541473-4e72-4c17-b1a6-32770bb766bd" xsi:nil="true"/>
    <PrimeClassificationStatusDetails xmlns="31d963b9-1180-4647-93d7-d11aa08e2421" xsi:nil="true"/>
    <PrimeLastClassified xmlns="31d963b9-1180-4647-93d7-d11aa08e2421" xsi:nil="true"/>
    <Comments xmlns="f3541473-4e72-4c17-b1a6-32770bb766bd" xsi:nil="true"/>
    <ApprovedBy xmlns="f3541473-4e72-4c17-b1a6-32770bb766bd" xsi:nil="true"/>
    <ToBeMigrated_x003f_0 xmlns="f3541473-4e72-4c17-b1a6-32770bb766bd">true</ToBeMigrated_x003f_0>
    <ContentCategory xmlns="f3541473-4e72-4c17-b1a6-32770bb766bd" xsi:nil="true"/>
    <ToBeMigrated_x003f_ xmlns="f3541473-4e72-4c17-b1a6-32770bb766bd">true</ToBeMigrated_x003f_>
    <MigrationStatus xmlns="f3541473-4e72-4c17-b1a6-32770bb766bd" xsi:nil="true"/>
    <MigrationApproved xmlns="f3541473-4e72-4c17-b1a6-32770bb766bd">true</MigrationApproved>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C4F5606B695A84A87B74917185224FA" ma:contentTypeVersion="35" ma:contentTypeDescription="Create a new document." ma:contentTypeScope="" ma:versionID="780f07036e1844f54aa521de4e75515b">
  <xsd:schema xmlns:xsd="http://www.w3.org/2001/XMLSchema" xmlns:xs="http://www.w3.org/2001/XMLSchema" xmlns:p="http://schemas.microsoft.com/office/2006/metadata/properties" xmlns:ns1="http://schemas.microsoft.com/sharepoint/v3" xmlns:ns2="f3541473-4e72-4c17-b1a6-32770bb766bd" xmlns:ns3="31d963b9-1180-4647-93d7-d11aa08e2421" targetNamespace="http://schemas.microsoft.com/office/2006/metadata/properties" ma:root="true" ma:fieldsID="5f4092ba07087a62a5026b82b14c4bf7" ns1:_="" ns2:_="" ns3:_="">
    <xsd:import namespace="http://schemas.microsoft.com/sharepoint/v3"/>
    <xsd:import namespace="f3541473-4e72-4c17-b1a6-32770bb766bd"/>
    <xsd:import namespace="31d963b9-1180-4647-93d7-d11aa08e242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GenerationTime" minOccurs="0"/>
                <xsd:element ref="ns2:MediaServiceEventHashCode" minOccurs="0"/>
                <xsd:element ref="ns3:SharedWithUsers" minOccurs="0"/>
                <xsd:element ref="ns3:SharedWithDetails" minOccurs="0"/>
                <xsd:element ref="ns1:_ip_UnifiedCompliancePolicyProperties" minOccurs="0"/>
                <xsd:element ref="ns1:_ip_UnifiedCompliancePolicyUIAction" minOccurs="0"/>
                <xsd:element ref="ns2:MediaServiceSearchProperties" minOccurs="0"/>
                <xsd:element ref="ns2:MediaServiceDateTaken" minOccurs="0"/>
                <xsd:element ref="ns2:MediaLengthInSeconds" minOccurs="0"/>
                <xsd:element ref="ns2:MediaServiceDocTags" minOccurs="0"/>
                <xsd:element ref="ns2:lcf76f155ced4ddcb4097134ff3c332f" minOccurs="0"/>
                <xsd:element ref="ns3:TaxCatchAll" minOccurs="0"/>
                <xsd:element ref="ns2:MediaServiceObjectDetectorVersions" minOccurs="0"/>
                <xsd:element ref="ns2:TranslatedLang" minOccurs="0"/>
                <xsd:element ref="ns2:MediaServiceBillingMetadata" minOccurs="0"/>
                <xsd:element ref="ns3:PrimeClassificationStatus" minOccurs="0"/>
                <xsd:element ref="ns3:PrimeClassificationStatusDetails" minOccurs="0"/>
                <xsd:element ref="ns3:PrimeLastClassified" minOccurs="0"/>
                <xsd:element ref="ns3:PrimeCorrectedByUser" minOccurs="0"/>
                <xsd:element ref="ns2:Buckets" minOccurs="0"/>
                <xsd:element ref="ns2:MediaServiceLocation" minOccurs="0"/>
                <xsd:element ref="ns2:Comments" minOccurs="0"/>
                <xsd:element ref="ns2:ToBeMigrated_x003f_" minOccurs="0"/>
                <xsd:element ref="ns2:ToBeMigrated_x003f_0" minOccurs="0"/>
                <xsd:element ref="ns2:ApprovedBy" minOccurs="0"/>
                <xsd:element ref="ns2:MigrationApproved" minOccurs="0"/>
                <xsd:element ref="ns2:MigrationStatus" minOccurs="0"/>
                <xsd:element ref="ns2:ContentCategor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5" nillable="true" ma:displayName="Unified Compliance Policy Properties" ma:hidden="true" ma:internalName="_ip_UnifiedCompliancePolicyProperties">
      <xsd:simpleType>
        <xsd:restriction base="dms:Note"/>
      </xsd:simpleType>
    </xsd:element>
    <xsd:element name="_ip_UnifiedCompliancePolicyUIAction" ma:index="16"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3541473-4e72-4c17-b1a6-32770bb766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Extracted Text" ma:internalName="MediaServiceOCR" ma:readOnly="true">
      <xsd:simpleType>
        <xsd:restriction base="dms:Note">
          <xsd:maxLength value="255"/>
        </xsd:restriction>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DocTags" ma:index="20" nillable="true" ma:displayName="MediaServiceDocTags" ma:hidden="true" ma:internalName="MediaServiceDocTags" ma:readOnly="true">
      <xsd:simpleType>
        <xsd:restriction base="dms:Note"/>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TranslatedLang" ma:index="25" nillable="true" ma:displayName="TranslatedLang" ma:hidden="true" ma:internalName="TranslatedLang" ma:readOnly="true">
      <xsd:simpleType>
        <xsd:restriction base="dms:Text"/>
      </xsd:simpleType>
    </xsd:element>
    <xsd:element name="MediaServiceBillingMetadata" ma:index="26" nillable="true" ma:displayName="MediaServiceBillingMetadata" ma:hidden="true" ma:internalName="MediaServiceBillingMetadata" ma:readOnly="true">
      <xsd:simpleType>
        <xsd:restriction base="dms:Text"/>
      </xsd:simpleType>
    </xsd:element>
    <xsd:element name="Buckets" ma:index="31" nillable="true" ma:displayName="Buckets" ma:description="Describes the content and where it sits within Seismic" ma:format="Dropdown" ma:internalName="Buckets">
      <xsd:complexType>
        <xsd:complexContent>
          <xsd:extension base="dms:MultiChoice">
            <xsd:sequence>
              <xsd:element name="Value" maxOccurs="unbounded" minOccurs="0" nillable="true">
                <xsd:simpleType>
                  <xsd:restriction base="dms:Choice">
                    <xsd:enumeration value="Customer"/>
                    <xsd:enumeration value="Field"/>
                    <xsd:enumeration value="Partner"/>
                    <xsd:enumeration value="Intake Nomination"/>
                    <xsd:enumeration value="RACI"/>
                  </xsd:restriction>
                </xsd:simpleType>
              </xsd:element>
            </xsd:sequence>
          </xsd:extension>
        </xsd:complexContent>
      </xsd:complexType>
    </xsd:element>
    <xsd:element name="MediaServiceLocation" ma:index="32" nillable="true" ma:displayName="Location" ma:description="" ma:indexed="true" ma:internalName="MediaServiceLocation" ma:readOnly="true">
      <xsd:simpleType>
        <xsd:restriction base="dms:Text"/>
      </xsd:simpleType>
    </xsd:element>
    <xsd:element name="Comments" ma:index="33" nillable="true" ma:displayName="Comments" ma:format="Dropdown" ma:internalName="Comments">
      <xsd:simpleType>
        <xsd:restriction base="dms:Text">
          <xsd:maxLength value="255"/>
        </xsd:restriction>
      </xsd:simpleType>
    </xsd:element>
    <xsd:element name="ToBeMigrated_x003f_" ma:index="34" nillable="true" ma:displayName="To Be Migrated?" ma:default="1" ma:description="Indicates whether this folder or content is intended to be migrated to the new SharePoint location. Set to Yes only after reviewing relevance, ownership, and usefulness." ma:format="Dropdown" ma:internalName="ToBeMigrated_x003f_">
      <xsd:simpleType>
        <xsd:restriction base="dms:Boolean"/>
      </xsd:simpleType>
    </xsd:element>
    <xsd:element name="ToBeMigrated_x003f_0" ma:index="35" nillable="true" ma:displayName="To Be Migrated?" ma:default="1" ma:description="Indicates whether this folder or content is intended to be migrated to the new SharePoint location. Set to Yes only after reviewing relevance, ownership, and usefulness." ma:format="Dropdown" ma:internalName="ToBeMigrated_x003f_0">
      <xsd:simpleType>
        <xsd:restriction base="dms:Boolean"/>
      </xsd:simpleType>
    </xsd:element>
    <xsd:element name="ApprovedBy" ma:index="36" nillable="true" ma:displayName="Approved By" ma:description="Identifies the individual who approved the migration of this content to the new SharePoint location. Used for audit and accountability purposes." ma:format="Dropdown" ma:internalName="ApprovedBy">
      <xsd:simpleType>
        <xsd:restriction base="dms:Text">
          <xsd:maxLength value="255"/>
        </xsd:restriction>
      </xsd:simpleType>
    </xsd:element>
    <xsd:element name="MigrationApproved" ma:index="37" nillable="true" ma:displayName="Migration Approved" ma:default="1" ma:description="Shows the approval decision for migrating this content. Content should be migrated only when the status is set to Approved." ma:format="Dropdown" ma:internalName="MigrationApproved">
      <xsd:simpleType>
        <xsd:restriction base="dms:Boolean"/>
      </xsd:simpleType>
    </xsd:element>
    <xsd:element name="MigrationStatus" ma:index="38" nillable="true" ma:displayName="Migration Status" ma:description="Tracks the current state of the migration activity for this content, from planning through completion or exception handling." ma:format="Dropdown" ma:internalName="MigrationStatus">
      <xsd:simpleType>
        <xsd:restriction base="dms:Text">
          <xsd:maxLength value="255"/>
        </xsd:restriction>
      </xsd:simpleType>
    </xsd:element>
    <xsd:element name="ContentCategory" ma:index="39" nillable="true" ma:displayName="Content Category" ma:description="Classifies the business nature of the content to support migration decisions, prioritization, and future governance." ma:format="Dropdown" ma:internalName="ContentCategory">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1d963b9-1180-4647-93d7-d11aa08e2421"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c200b8a8-7722-4866-9ef1-0499ba3ec9e1}" ma:internalName="TaxCatchAll" ma:showField="CatchAllData" ma:web="31d963b9-1180-4647-93d7-d11aa08e2421">
      <xsd:complexType>
        <xsd:complexContent>
          <xsd:extension base="dms:MultiChoiceLookup">
            <xsd:sequence>
              <xsd:element name="Value" type="dms:Lookup" maxOccurs="unbounded" minOccurs="0" nillable="true"/>
            </xsd:sequence>
          </xsd:extension>
        </xsd:complexContent>
      </xsd:complexType>
    </xsd:element>
    <xsd:element name="PrimeClassificationStatus" ma:index="27" nillable="true" ma:displayName="Processing status" ma:internalName="PrimeClassificationStatus">
      <xsd:simpleType>
        <xsd:restriction base="dms:Text"/>
      </xsd:simpleType>
    </xsd:element>
    <xsd:element name="PrimeClassificationStatusDetails" ma:index="28" nillable="true" ma:displayName="Processing details" ma:internalName="PrimeClassificationStatusDetails">
      <xsd:simpleType>
        <xsd:restriction base="dms:Note">
          <xsd:maxLength value="255"/>
        </xsd:restriction>
      </xsd:simpleType>
    </xsd:element>
    <xsd:element name="PrimeLastClassified" ma:index="29" nillable="true" ma:displayName="Processed" ma:internalName="PrimeLastClassified">
      <xsd:simpleType>
        <xsd:restriction base="dms:DateTime"/>
      </xsd:simpleType>
    </xsd:element>
    <xsd:element name="PrimeCorrectedByUser" ma:index="30" nillable="true" ma:displayName="Corrected" ma:internalName="PrimeCorrectedByUser">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C55CB52-33A3-4B47-8C1D-0EE24875E3DC}">
  <ds:schemaRefs>
    <ds:schemaRef ds:uri="http://schemas.microsoft.com/sharepoint/v3"/>
    <ds:schemaRef ds:uri="http://purl.org/dc/dcmitype/"/>
    <ds:schemaRef ds:uri="http://purl.org/dc/terms/"/>
    <ds:schemaRef ds:uri="http://purl.org/dc/elements/1.1/"/>
    <ds:schemaRef ds:uri="http://schemas.microsoft.com/office/infopath/2007/PartnerControls"/>
    <ds:schemaRef ds:uri="http://schemas.microsoft.com/office/2006/documentManagement/types"/>
    <ds:schemaRef ds:uri="http://schemas.openxmlformats.org/package/2006/metadata/core-properties"/>
    <ds:schemaRef ds:uri="31d963b9-1180-4647-93d7-d11aa08e2421"/>
    <ds:schemaRef ds:uri="f3541473-4e72-4c17-b1a6-32770bb766bd"/>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3998B09E-68DE-4B62-A34E-BB5B738ECC36}">
  <ds:schemaRefs>
    <ds:schemaRef ds:uri="http://schemas.microsoft.com/sharepoint/v3/contenttype/forms"/>
  </ds:schemaRefs>
</ds:datastoreItem>
</file>

<file path=customXml/itemProps3.xml><?xml version="1.0" encoding="utf-8"?>
<ds:datastoreItem xmlns:ds="http://schemas.openxmlformats.org/officeDocument/2006/customXml" ds:itemID="{3D7418BF-5125-468A-8024-F23D251B58C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3541473-4e72-4c17-b1a6-32770bb766bd"/>
    <ds:schemaRef ds:uri="31d963b9-1180-4647-93d7-d11aa08e242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
  <TotalTime>6953</TotalTime>
  <Words>15713</Words>
  <Application>Microsoft Office PowerPoint</Application>
  <PresentationFormat>Widescreen</PresentationFormat>
  <Paragraphs>4452</Paragraphs>
  <Slides>56</Slides>
  <Notes>48</Notes>
  <HiddenSlides>0</HiddenSlides>
  <MMClips>0</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56</vt:i4>
      </vt:variant>
    </vt:vector>
  </HeadingPairs>
  <TitlesOfParts>
    <vt:vector size="70" baseType="lpstr">
      <vt:lpstr>Aptos</vt:lpstr>
      <vt:lpstr>Aptos Display</vt:lpstr>
      <vt:lpstr>Aptos Narrow</vt:lpstr>
      <vt:lpstr>Arial</vt:lpstr>
      <vt:lpstr>Arial,Sans-Serif</vt:lpstr>
      <vt:lpstr>Calibri</vt:lpstr>
      <vt:lpstr>Segoe Sans Display Semibold</vt:lpstr>
      <vt:lpstr>Segoe Sans Text</vt:lpstr>
      <vt:lpstr>Segoe UI</vt:lpstr>
      <vt:lpstr>Segoe UI Semibold</vt:lpstr>
      <vt:lpstr>Wingdings</vt:lpstr>
      <vt:lpstr>FY24 Global Customer Success</vt:lpstr>
      <vt:lpstr>1_Office Theme</vt:lpstr>
      <vt:lpstr>3_office theme</vt:lpstr>
      <vt:lpstr>Accounts Status – Area LATAM (MCSA)  Reporting Period – 04/03/2026 – 04/09/2026    Date : April 10, 2026 Generated By: Mani Kunda</vt:lpstr>
      <vt:lpstr>PowerPoint Presentation</vt:lpstr>
      <vt:lpstr>LATAM (MCSA) Nominations – Help required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Appendix</vt:lpstr>
      <vt:lpstr>LATAM (MCSA) Nominations – Stage 2 (1/2)</vt:lpstr>
      <vt:lpstr>LATAM (MCSA) Nominations – Stage 2 (2/2)</vt:lpstr>
      <vt:lpstr>LATAM (MCSA) Nominations – Stage 3</vt:lpstr>
      <vt:lpstr>LATAM (MCSA) Nominations – Stage 4 (1/2)</vt:lpstr>
      <vt:lpstr>LATAM (MCSA) Nominations – Stage 4 (2/2)</vt:lpstr>
      <vt:lpstr>LATAM (MCSA) Nominations – Stage 1</vt:lpstr>
      <vt:lpstr>LATAM (MCSA) Nominations – Deferred</vt:lpstr>
      <vt:lpstr>LATAM (MCSA) Nominations – Deferred</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Scope Sign off</dc:title>
  <dc:creator>Ancy Alexander (International Supplier)</dc:creator>
  <cp:keywords>CMF;</cp:keywords>
  <cp:lastModifiedBy>Misa Breton (International Supplier)</cp:lastModifiedBy>
  <cp:revision>45</cp:revision>
  <dcterms:created xsi:type="dcterms:W3CDTF">2024-07-26T14:11:23Z</dcterms:created>
  <dcterms:modified xsi:type="dcterms:W3CDTF">2026-04-10T13:35:33Z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0x010100CC4F5606B695A84A87B74917185224FA</vt:lpwstr>
  </property>
  <property fmtid="{D5CDD505-2E9C-101B-9397-08002B2CF9AE}" pid="3" name="_dlc_DocIdItemGuid">
    <vt:lpwstr>36da67c7-b504-4aea-865b-0e87cedc899d</vt:lpwstr>
  </property>
  <property fmtid="{D5CDD505-2E9C-101B-9397-08002B2CF9AE}" pid="4" name="MediaServiceImageTags">
    <vt:lpwstr/>
  </property>
</Properties>
</file>