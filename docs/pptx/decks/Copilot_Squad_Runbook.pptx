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0" r:id="rId4"/>
    <p:sldMasterId id="2147483893" r:id="rId5"/>
    <p:sldMasterId id="2147483931" r:id="rId6"/>
  </p:sldMasterIdLst>
  <p:notesMasterIdLst>
    <p:notesMasterId r:id="rId63"/>
  </p:notesMasterIdLst>
  <p:handoutMasterIdLst>
    <p:handoutMasterId r:id="rId64"/>
  </p:handoutMasterIdLst>
  <p:sldIdLst>
    <p:sldId id="256" r:id="rId15"/>
    <p:sldId id="257" r:id="rId16"/>
    <p:sldId id="258" r:id="rId17"/>
    <p:sldId id="259" r:id="rId18"/>
    <p:sldId id="260" r:id="rId19"/>
    <p:sldId id="261" r:id="rId20"/>
    <p:sldId id="262" r:id="rId21"/>
    <p:sldId id="263" r:id="rId22"/>
    <p:sldId id="264" r:id="rId23"/>
    <p:sldId id="265" r:id="rId24"/>
    <p:sldId id="266" r:id="rId25"/>
    <p:sldId id="267" r:id="rId26"/>
    <p:sldId id="268" r:id="rId27"/>
    <p:sldId id="269" r:id="rId28"/>
    <p:sldId id="270" r:id="rId29"/>
    <p:sldId id="271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B45EA2D-1AF0-34E0-A8D1-7DC498B324C6}" name="Leonardo Miller (International Supplier)" initials="LS" userId="S::v-lemiller@microsoft.com::b0ce1011-fe8a-48ce-b2f3-38c535a7b86f" providerId="AD"/>
  <p188:author id="{FC373C85-ECD1-2EBC-3625-F268C6A7DD7A}" name="Rajesh Doddapaneni (International Supplier)" initials="RD" userId="S::v-rajeshdo@microsoft.com::ee900ee1-8550-492f-8251-d7fc83307c82" providerId="AD"/>
  <p188:author id="{7C0DA9EE-7FEB-4CFD-0381-2DB8493D0D32}" name="Sunil Babu A V (International Supplier)" initials="SA" userId="S::v-veammi@microsoft.com::440459d4-1f85-4015-ac68-7529db05610b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B050"/>
    <a:srgbClr val="FFDF7D"/>
    <a:srgbClr val="FE8B00"/>
    <a:srgbClr val="F2F7FA"/>
    <a:srgbClr val="6C7E9C"/>
    <a:srgbClr val="C71C0F"/>
    <a:srgbClr val="66FF99"/>
    <a:srgbClr val="DEF6DF"/>
    <a:srgbClr val="66B3E4"/>
    <a:srgbClr val="7FA3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3110926-E7D1-4FF0-AB29-7A94F8F28BDE}" v="159" dt="2026-04-10T07:32:52.55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22" autoAdjust="0"/>
    <p:restoredTop sz="89212" autoAdjust="0"/>
  </p:normalViewPr>
  <p:slideViewPr>
    <p:cSldViewPr snapToGrid="0">
      <p:cViewPr varScale="1">
        <p:scale>
          <a:sx n="98" d="100"/>
          <a:sy n="98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15" Type="http://schemas.openxmlformats.org/officeDocument/2006/relationships/slide" Target="slides/slide1.xml"/><Relationship Id="rId16" Type="http://schemas.openxmlformats.org/officeDocument/2006/relationships/slide" Target="slides/slide2.xml"/><Relationship Id="rId17" Type="http://schemas.openxmlformats.org/officeDocument/2006/relationships/slide" Target="slides/slide3.xml"/><Relationship Id="rId18" Type="http://schemas.openxmlformats.org/officeDocument/2006/relationships/slide" Target="slides/slide4.xml"/><Relationship Id="rId19" Type="http://schemas.openxmlformats.org/officeDocument/2006/relationships/slide" Target="slides/slide5.xml"/><Relationship Id="rId20" Type="http://schemas.openxmlformats.org/officeDocument/2006/relationships/slide" Target="slides/slide6.xml"/><Relationship Id="rId21" Type="http://schemas.openxmlformats.org/officeDocument/2006/relationships/slide" Target="slides/slide7.xml"/><Relationship Id="rId22" Type="http://schemas.openxmlformats.org/officeDocument/2006/relationships/slide" Target="slides/slide8.xml"/><Relationship Id="rId23" Type="http://schemas.openxmlformats.org/officeDocument/2006/relationships/slide" Target="slides/slide9.xml"/><Relationship Id="rId24" Type="http://schemas.openxmlformats.org/officeDocument/2006/relationships/slide" Target="slides/slide10.xml"/><Relationship Id="rId25" Type="http://schemas.openxmlformats.org/officeDocument/2006/relationships/slide" Target="slides/slide11.xml"/><Relationship Id="rId26" Type="http://schemas.openxmlformats.org/officeDocument/2006/relationships/slide" Target="slides/slide12.xml"/><Relationship Id="rId27" Type="http://schemas.openxmlformats.org/officeDocument/2006/relationships/slide" Target="slides/slide13.xml"/><Relationship Id="rId28" Type="http://schemas.openxmlformats.org/officeDocument/2006/relationships/slide" Target="slides/slide14.xml"/><Relationship Id="rId29" Type="http://schemas.openxmlformats.org/officeDocument/2006/relationships/slide" Target="slides/slide15.xml"/><Relationship Id="rId30" Type="http://schemas.openxmlformats.org/officeDocument/2006/relationships/slide" Target="slides/slide16.xml"/><Relationship Id="rId63" Type="http://schemas.openxmlformats.org/officeDocument/2006/relationships/notesMaster" Target="notesMasters/notesMaster1.xml"/><Relationship Id="rId64" Type="http://schemas.openxmlformats.org/officeDocument/2006/relationships/handoutMaster" Target="handoutMasters/handoutMaster1.xml"/><Relationship Id="rId65" Type="http://schemas.openxmlformats.org/officeDocument/2006/relationships/presProps" Target="presProps.xml"/><Relationship Id="rId66" Type="http://schemas.openxmlformats.org/officeDocument/2006/relationships/viewProps" Target="viewProps.xml"/><Relationship Id="rId67" Type="http://schemas.openxmlformats.org/officeDocument/2006/relationships/theme" Target="theme/theme1.xml"/><Relationship Id="rId68" Type="http://schemas.openxmlformats.org/officeDocument/2006/relationships/tableStyles" Target="tableStyles.xml"/><Relationship Id="rId69" Type="http://schemas.microsoft.com/office/2015/10/relationships/revisionInfo" Target="revisionInfo.xml"/><Relationship Id="rId70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C412D67-2B4E-9F55-6EDC-F2256BD0218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5668C3D-E520-C942-CFB7-27E263C06F0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5296E7-6EEA-4CEF-8F27-97AAB1939405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5EDE418-482A-7A43-F10A-2705951C158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3D5FD8-B708-FF93-D8FD-7A2F3AD6180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78EA95-EEDE-466E-B94C-8B572EEF9C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899486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B36652-5418-49D0-B2AF-7B23846B1C09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6800DA-E989-494E-83A7-D0E1522673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22551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emf"/><Relationship Id="rId3" Type="http://schemas.openxmlformats.org/officeDocument/2006/relationships/image" Target="../media/image4.png"/><Relationship Id="rId4" Type="http://schemas.microsoft.com/office/2007/relationships/hdphoto" Target="../media/hdphoto1.wdp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slideMaster" Target="../slideMasters/slideMaster1.xml"/><Relationship Id="rId3" Type="http://schemas.openxmlformats.org/officeDocument/2006/relationships/image" Target="../media/image5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tags" Target="../tags/tag3.xml"/><Relationship Id="rId2" Type="http://schemas.openxmlformats.org/officeDocument/2006/relationships/slideMaster" Target="../slideMasters/slideMaster1.xml"/><Relationship Id="rId3" Type="http://schemas.openxmlformats.org/officeDocument/2006/relationships/image" Target="../media/image6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tags" Target="../tags/tag4.xml"/><Relationship Id="rId2" Type="http://schemas.openxmlformats.org/officeDocument/2006/relationships/slideMaster" Target="../slideMasters/slideMaster1.xml"/><Relationship Id="rId3" Type="http://schemas.openxmlformats.org/officeDocument/2006/relationships/image" Target="../media/image7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tags" Target="../tags/tag5.xml"/><Relationship Id="rId2" Type="http://schemas.openxmlformats.org/officeDocument/2006/relationships/slideMaster" Target="../slideMasters/slideMaster1.xml"/><Relationship Id="rId3" Type="http://schemas.openxmlformats.org/officeDocument/2006/relationships/image" Target="../media/image8.emf"/><Relationship Id="rId4" Type="http://schemas.openxmlformats.org/officeDocument/2006/relationships/image" Target="../media/image9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tags" Target="../tags/tag6.xml"/><Relationship Id="rId2" Type="http://schemas.openxmlformats.org/officeDocument/2006/relationships/slideMaster" Target="../slideMasters/slideMaster1.xml"/><Relationship Id="rId3" Type="http://schemas.openxmlformats.org/officeDocument/2006/relationships/image" Target="../media/image6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tags" Target="../tags/tag7.xml"/><Relationship Id="rId2" Type="http://schemas.openxmlformats.org/officeDocument/2006/relationships/slideMaster" Target="../slideMasters/slideMaster3.xml"/><Relationship Id="rId3" Type="http://schemas.openxmlformats.org/officeDocument/2006/relationships/image" Target="../media/image6.pn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 blue gradient">
    <p:bg>
      <p:bgPr>
        <a:gradFill>
          <a:gsLst>
            <a:gs pos="0">
              <a:schemeClr val="accent4"/>
            </a:gs>
            <a:gs pos="68000">
              <a:schemeClr val="accent2"/>
            </a:gs>
          </a:gsLst>
          <a:path path="circle">
            <a:fillToRect l="100000" t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584200" y="2979778"/>
            <a:ext cx="9144000" cy="553998"/>
          </a:xfrm>
          <a:noFill/>
        </p:spPr>
        <p:txBody>
          <a:bodyPr lIns="0" tIns="0" rIns="0" bIns="0" anchor="b" anchorCtr="0">
            <a:spAutoFit/>
          </a:bodyPr>
          <a:lstStyle>
            <a:lvl1pPr>
              <a:defRPr sz="3600" spc="-50" baseline="0">
                <a:solidFill>
                  <a:schemeClr val="bg1"/>
                </a:solidFill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4200" y="3962400"/>
            <a:ext cx="9144000" cy="338554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2200" spc="0" baseline="0">
                <a:solidFill>
                  <a:schemeClr val="bg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Speaker name or subtitle text</a:t>
            </a:r>
          </a:p>
        </p:txBody>
      </p:sp>
      <p:pic>
        <p:nvPicPr>
          <p:cNvPr id="8" name="MS logo white - EMF" descr="Microsoft logo white text version">
            <a:extLst>
              <a:ext uri="{FF2B5EF4-FFF2-40B4-BE49-F238E27FC236}">
                <a16:creationId xmlns:a16="http://schemas.microsoft.com/office/drawing/2014/main" id="{B07EA41A-052C-9A8D-BC7D-FCDF9A324B6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584200" y="585788"/>
            <a:ext cx="1366245" cy="292608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3817E97-DBEB-FDDB-1B4E-61CD77C94EAF}"/>
              </a:ext>
            </a:extLst>
          </p:cNvPr>
          <p:cNvSpPr/>
          <p:nvPr userDrawn="1"/>
        </p:nvSpPr>
        <p:spPr>
          <a:xfrm>
            <a:off x="584200" y="6496253"/>
            <a:ext cx="2727670" cy="200055"/>
          </a:xfrm>
          <a:prstGeom prst="rect">
            <a:avLst/>
          </a:prstGeom>
        </p:spPr>
        <p:txBody>
          <a:bodyPr wrap="none" lIns="0">
            <a:spAutoFit/>
          </a:bodyPr>
          <a:lstStyle/>
          <a:p>
            <a:r>
              <a:rPr lang="en-US" sz="700" b="0" i="0" spc="80" baseline="0">
                <a:solidFill>
                  <a:schemeClr val="bg1"/>
                </a:solidFill>
                <a:latin typeface="+mn-lt"/>
              </a:rPr>
              <a:t>MICROSOFT CONFIDENTIAL. FOR INTERNAL USE ONLY</a:t>
            </a:r>
          </a:p>
        </p:txBody>
      </p:sp>
      <p:pic>
        <p:nvPicPr>
          <p:cNvPr id="3" name="Picture 2" descr="Grey dots in a spiral">
            <a:extLst>
              <a:ext uri="{FF2B5EF4-FFF2-40B4-BE49-F238E27FC236}">
                <a16:creationId xmlns:a16="http://schemas.microsoft.com/office/drawing/2014/main" id="{69B9EDB1-0B22-7101-DC5D-3EBD7B31689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5300"/>
                    </a14:imgEffect>
                    <a14:imgEffect>
                      <a14:saturation sat="0"/>
                    </a14:imgEffect>
                    <a14:imgEffect>
                      <a14:brightnessContrast bright="3000" contrast="-12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435"/>
          <a:stretch>
            <a:fillRect/>
          </a:stretch>
        </p:blipFill>
        <p:spPr>
          <a:xfrm rot="17129996">
            <a:off x="5184478" y="-817591"/>
            <a:ext cx="9805678" cy="8054623"/>
          </a:xfrm>
          <a:custGeom>
            <a:avLst/>
            <a:gdLst>
              <a:gd name="connsiteX0" fmla="*/ 9805678 w 9805678"/>
              <a:gd name="connsiteY0" fmla="*/ 1 h 8054623"/>
              <a:gd name="connsiteX1" fmla="*/ 9805678 w 9805678"/>
              <a:gd name="connsiteY1" fmla="*/ 8054623 h 8054623"/>
              <a:gd name="connsiteX2" fmla="*/ 9350567 w 9805678"/>
              <a:gd name="connsiteY2" fmla="*/ 8054622 h 8054623"/>
              <a:gd name="connsiteX3" fmla="*/ 8558274 w 9805678"/>
              <a:gd name="connsiteY3" fmla="*/ 5197692 h 8054623"/>
              <a:gd name="connsiteX4" fmla="*/ 1949695 w 9805678"/>
              <a:gd name="connsiteY4" fmla="*/ 7030405 h 8054623"/>
              <a:gd name="connsiteX5" fmla="*/ 0 w 9805678"/>
              <a:gd name="connsiteY5" fmla="*/ 0 h 80546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05678" h="8054623">
                <a:moveTo>
                  <a:pt x="9805678" y="1"/>
                </a:moveTo>
                <a:lnTo>
                  <a:pt x="9805678" y="8054623"/>
                </a:lnTo>
                <a:lnTo>
                  <a:pt x="9350567" y="8054622"/>
                </a:lnTo>
                <a:lnTo>
                  <a:pt x="8558274" y="5197692"/>
                </a:lnTo>
                <a:lnTo>
                  <a:pt x="1949695" y="7030405"/>
                </a:lnTo>
                <a:lnTo>
                  <a:pt x="0" y="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2043495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228">
          <p15:clr>
            <a:srgbClr val="5ACBF0"/>
          </p15:clr>
        </p15:guide>
        <p15:guide id="2" orient="horz" pos="2496">
          <p15:clr>
            <a:srgbClr val="5ACBF0"/>
          </p15:clr>
        </p15:guide>
        <p15:guide id="3" pos="6132">
          <p15:clr>
            <a:srgbClr val="5ACBF0"/>
          </p15:clr>
        </p15:guide>
        <p15:guide id="4" orient="horz" pos="216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2754DF-CB0E-46F9-AA3C-00BC673EBDF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457200"/>
            <a:ext cx="11018520" cy="553998"/>
          </a:xfrm>
        </p:spPr>
        <p:txBody>
          <a:bodyPr/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Agenda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AF0C0C6-8E74-F1C6-CB02-B90E834ABF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1433554" y="1734160"/>
            <a:ext cx="8825" cy="4367213"/>
          </a:xfrm>
          <a:prstGeom prst="line">
            <a:avLst/>
          </a:prstGeom>
          <a:ln w="12700" cap="rnd">
            <a:gradFill>
              <a:gsLst>
                <a:gs pos="0">
                  <a:schemeClr val="accent3"/>
                </a:gs>
                <a:gs pos="100000">
                  <a:schemeClr val="accent1"/>
                </a:gs>
              </a:gsLst>
              <a:lin ang="5400000" scaled="1"/>
            </a:gra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76A6B21-0BB3-8590-D0F6-797F169E185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8263" y="1947764"/>
            <a:ext cx="480733" cy="492443"/>
          </a:xfrm>
        </p:spPr>
        <p:txBody>
          <a:bodyPr/>
          <a:lstStyle>
            <a:lvl1pPr marL="0" indent="0">
              <a:buNone/>
              <a:defRPr lang="en-US" sz="3200" b="1" kern="1200" dirty="0">
                <a:gradFill>
                  <a:gsLst>
                    <a:gs pos="11000">
                      <a:schemeClr val="accent3"/>
                    </a:gs>
                    <a:gs pos="100000">
                      <a:schemeClr val="accent1"/>
                    </a:gs>
                  </a:gsLst>
                  <a:path path="circle">
                    <a:fillToRect r="100000" b="100000"/>
                  </a:path>
                </a:gra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C1770E4A-D94C-1440-96DB-11ED8235076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06938" y="1947764"/>
            <a:ext cx="9813562" cy="492443"/>
          </a:xfrm>
        </p:spPr>
        <p:txBody>
          <a:bodyPr>
            <a:noAutofit/>
          </a:bodyPr>
          <a:lstStyle>
            <a:lvl1pPr marL="0" indent="0">
              <a:buNone/>
              <a:defRPr lang="en-US" sz="1600" dirty="0" smtClean="0">
                <a:solidFill>
                  <a:schemeClr val="tx1"/>
                </a:solidFill>
                <a:latin typeface="+mn-lt"/>
              </a:defRPr>
            </a:lvl1pPr>
            <a:lvl2pPr marL="228556" indent="0">
              <a:buNone/>
              <a:defRPr lang="en-US" sz="1600" dirty="0">
                <a:solidFill>
                  <a:schemeClr val="tx1"/>
                </a:solidFill>
                <a:latin typeface="+mn-lt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93773F22-97EC-FB3E-4D5B-9A9A1ED5EE8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88263" y="3096951"/>
            <a:ext cx="480733" cy="492443"/>
          </a:xfrm>
        </p:spPr>
        <p:txBody>
          <a:bodyPr/>
          <a:lstStyle>
            <a:lvl1pPr marL="0" indent="0">
              <a:buNone/>
              <a:defRPr lang="en-US" sz="3200" b="1" kern="1200" spc="0" baseline="0" dirty="0">
                <a:gradFill>
                  <a:gsLst>
                    <a:gs pos="11000">
                      <a:schemeClr val="accent3"/>
                    </a:gs>
                    <a:gs pos="100000">
                      <a:schemeClr val="accent1"/>
                    </a:gs>
                  </a:gsLst>
                  <a:path path="circle">
                    <a:fillToRect r="100000" b="100000"/>
                  </a:path>
                </a:gra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02</a:t>
            </a:r>
          </a:p>
        </p:txBody>
      </p:sp>
      <p:sp>
        <p:nvSpPr>
          <p:cNvPr id="5" name="Text Placeholder 21">
            <a:extLst>
              <a:ext uri="{FF2B5EF4-FFF2-40B4-BE49-F238E27FC236}">
                <a16:creationId xmlns:a16="http://schemas.microsoft.com/office/drawing/2014/main" id="{918F8579-3664-D735-7F75-FD9D1C7D64CC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1806938" y="3096951"/>
            <a:ext cx="9813562" cy="492443"/>
          </a:xfrm>
        </p:spPr>
        <p:txBody>
          <a:bodyPr>
            <a:noAutofit/>
          </a:bodyPr>
          <a:lstStyle>
            <a:lvl1pPr marL="0" indent="0">
              <a:buNone/>
              <a:defRPr lang="en-US" sz="1600" dirty="0" smtClean="0">
                <a:solidFill>
                  <a:schemeClr val="tx1"/>
                </a:solidFill>
                <a:latin typeface="+mn-lt"/>
              </a:defRPr>
            </a:lvl1pPr>
            <a:lvl2pPr marL="228556" indent="0">
              <a:buNone/>
              <a:defRPr lang="en-US" sz="1600" dirty="0">
                <a:solidFill>
                  <a:schemeClr val="tx1"/>
                </a:solidFill>
                <a:latin typeface="+mn-lt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BD37564D-5CD2-62A4-1803-B42D963333A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88263" y="4246138"/>
            <a:ext cx="480733" cy="492443"/>
          </a:xfrm>
        </p:spPr>
        <p:txBody>
          <a:bodyPr/>
          <a:lstStyle>
            <a:lvl1pPr marL="0" indent="0">
              <a:buNone/>
              <a:defRPr lang="en-US" sz="3200" b="1" kern="1200" spc="0" baseline="0" dirty="0">
                <a:gradFill>
                  <a:gsLst>
                    <a:gs pos="11000">
                      <a:schemeClr val="accent3"/>
                    </a:gs>
                    <a:gs pos="100000">
                      <a:schemeClr val="accent1"/>
                    </a:gs>
                  </a:gsLst>
                  <a:path path="circle">
                    <a:fillToRect r="100000" b="100000"/>
                  </a:path>
                </a:gra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03</a:t>
            </a:r>
          </a:p>
        </p:txBody>
      </p:sp>
      <p:sp>
        <p:nvSpPr>
          <p:cNvPr id="7" name="Text Placeholder 21">
            <a:extLst>
              <a:ext uri="{FF2B5EF4-FFF2-40B4-BE49-F238E27FC236}">
                <a16:creationId xmlns:a16="http://schemas.microsoft.com/office/drawing/2014/main" id="{04ECCB71-C833-E3E7-D4C2-2794E3F2F2DB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938" y="4246138"/>
            <a:ext cx="9813562" cy="492443"/>
          </a:xfrm>
        </p:spPr>
        <p:txBody>
          <a:bodyPr>
            <a:noAutofit/>
          </a:bodyPr>
          <a:lstStyle>
            <a:lvl1pPr marL="0" indent="0">
              <a:buNone/>
              <a:defRPr lang="en-US" sz="1600" dirty="0" smtClean="0">
                <a:solidFill>
                  <a:schemeClr val="tx1"/>
                </a:solidFill>
                <a:latin typeface="+mn-lt"/>
              </a:defRPr>
            </a:lvl1pPr>
            <a:lvl2pPr marL="228556" indent="0">
              <a:buNone/>
              <a:defRPr lang="en-US" sz="1600" dirty="0">
                <a:solidFill>
                  <a:schemeClr val="tx1"/>
                </a:solidFill>
                <a:latin typeface="+mn-lt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8" name="Text Placeholder 37">
            <a:extLst>
              <a:ext uri="{FF2B5EF4-FFF2-40B4-BE49-F238E27FC236}">
                <a16:creationId xmlns:a16="http://schemas.microsoft.com/office/drawing/2014/main" id="{C13684C1-E303-03EA-424F-F44C5796D98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88263" y="5395325"/>
            <a:ext cx="480733" cy="492443"/>
          </a:xfrm>
        </p:spPr>
        <p:txBody>
          <a:bodyPr/>
          <a:lstStyle>
            <a:lvl1pPr marL="0" indent="0">
              <a:buNone/>
              <a:defRPr lang="en-US" sz="3200" b="1" kern="1200" spc="0" baseline="0" dirty="0">
                <a:gradFill>
                  <a:gsLst>
                    <a:gs pos="11000">
                      <a:schemeClr val="accent3"/>
                    </a:gs>
                    <a:gs pos="100000">
                      <a:schemeClr val="accent1"/>
                    </a:gs>
                  </a:gsLst>
                  <a:path path="circle">
                    <a:fillToRect r="100000" b="100000"/>
                  </a:path>
                </a:gra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04</a:t>
            </a:r>
          </a:p>
        </p:txBody>
      </p:sp>
      <p:sp>
        <p:nvSpPr>
          <p:cNvPr id="10" name="Text Placeholder 21">
            <a:extLst>
              <a:ext uri="{FF2B5EF4-FFF2-40B4-BE49-F238E27FC236}">
                <a16:creationId xmlns:a16="http://schemas.microsoft.com/office/drawing/2014/main" id="{82B21244-77F4-25F3-DAEE-DD3164EE2CDD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806938" y="5395325"/>
            <a:ext cx="9813562" cy="492443"/>
          </a:xfrm>
        </p:spPr>
        <p:txBody>
          <a:bodyPr>
            <a:noAutofit/>
          </a:bodyPr>
          <a:lstStyle>
            <a:lvl1pPr marL="0" indent="0">
              <a:buNone/>
              <a:defRPr lang="en-US" sz="1600" dirty="0" smtClean="0">
                <a:solidFill>
                  <a:schemeClr val="tx1"/>
                </a:solidFill>
                <a:latin typeface="+mn-lt"/>
              </a:defRPr>
            </a:lvl1pPr>
            <a:lvl2pPr marL="228556" indent="0">
              <a:buNone/>
              <a:defRPr lang="en-US" sz="1600" dirty="0">
                <a:solidFill>
                  <a:schemeClr val="tx1"/>
                </a:solidFill>
                <a:latin typeface="+mn-lt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pic>
        <p:nvPicPr>
          <p:cNvPr id="6" name="Picture 5" descr="Colorful blue and orange dots in a spiral">
            <a:extLst>
              <a:ext uri="{FF2B5EF4-FFF2-40B4-BE49-F238E27FC236}">
                <a16:creationId xmlns:a16="http://schemas.microsoft.com/office/drawing/2014/main" id="{11D5C2FF-9643-2529-88FD-6CE111F8732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871" t="11117" r="16871"/>
          <a:stretch/>
        </p:blipFill>
        <p:spPr>
          <a:xfrm rot="18368998">
            <a:off x="11067826" y="-163464"/>
            <a:ext cx="1453231" cy="1530253"/>
          </a:xfrm>
          <a:custGeom>
            <a:avLst/>
            <a:gdLst>
              <a:gd name="connsiteX0" fmla="*/ 1453231 w 1453231"/>
              <a:gd name="connsiteY0" fmla="*/ 0 h 1530253"/>
              <a:gd name="connsiteX1" fmla="*/ 1453231 w 1453231"/>
              <a:gd name="connsiteY1" fmla="*/ 726645 h 1530253"/>
              <a:gd name="connsiteX2" fmla="*/ 353226 w 1453231"/>
              <a:gd name="connsiteY2" fmla="*/ 1530253 h 1530253"/>
              <a:gd name="connsiteX3" fmla="*/ 0 w 1453231"/>
              <a:gd name="connsiteY3" fmla="*/ 1530253 h 1530253"/>
              <a:gd name="connsiteX4" fmla="*/ 0 w 1453231"/>
              <a:gd name="connsiteY4" fmla="*/ 0 h 15302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53231" h="1530253">
                <a:moveTo>
                  <a:pt x="1453231" y="0"/>
                </a:moveTo>
                <a:lnTo>
                  <a:pt x="1453231" y="726645"/>
                </a:lnTo>
                <a:lnTo>
                  <a:pt x="353226" y="1530253"/>
                </a:lnTo>
                <a:lnTo>
                  <a:pt x="0" y="1530253"/>
                </a:lnTo>
                <a:lnTo>
                  <a:pt x="0" y="0"/>
                </a:lnTo>
                <a:close/>
              </a:path>
            </a:pathLst>
          </a:cu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67389980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900">
          <p15:clr>
            <a:srgbClr val="5ACBF0"/>
          </p15:clr>
        </p15:guide>
        <p15:guide id="4" orient="horz" pos="1276">
          <p15:clr>
            <a:srgbClr val="5ACBF0"/>
          </p15:clr>
        </p15:guide>
        <p15:guide id="5" orient="horz" pos="283">
          <p15:clr>
            <a:srgbClr val="5ACBF0"/>
          </p15:clr>
        </p15:guide>
        <p15:guide id="6" pos="3917">
          <p15:clr>
            <a:srgbClr val="FBAE40"/>
          </p15:clr>
        </p15:guide>
        <p15:guide id="7" orient="horz" pos="2203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2754DF-CB0E-46F9-AA3C-00BC673EBDF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457200"/>
            <a:ext cx="9653392" cy="553998"/>
          </a:xfrm>
        </p:spPr>
        <p:txBody>
          <a:bodyPr/>
          <a:lstStyle>
            <a:lvl1pPr marL="0" algn="l" defTabSz="932384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600" b="0" kern="1200" cap="none" spc="-50" baseline="0" dirty="0">
                <a:ln w="3175"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/>
              <a:t>Title only</a:t>
            </a:r>
          </a:p>
        </p:txBody>
      </p:sp>
      <p:pic>
        <p:nvPicPr>
          <p:cNvPr id="13" name="Picture 12" descr="Grey dots in a decorative spiral">
            <a:extLst>
              <a:ext uri="{FF2B5EF4-FFF2-40B4-BE49-F238E27FC236}">
                <a16:creationId xmlns:a16="http://schemas.microsoft.com/office/drawing/2014/main" id="{129FA58B-F4C2-FEF2-22E5-FAC33CC0DA5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alphaModFix amt="48000"/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639" t="18675" r="11937" b="17894"/>
          <a:stretch/>
        </p:blipFill>
        <p:spPr>
          <a:xfrm flipH="1">
            <a:off x="10728642" y="0"/>
            <a:ext cx="1463358" cy="1206500"/>
          </a:xfrm>
          <a:custGeom>
            <a:avLst/>
            <a:gdLst>
              <a:gd name="connsiteX0" fmla="*/ 1684338 w 1684338"/>
              <a:gd name="connsiteY0" fmla="*/ 0 h 1562100"/>
              <a:gd name="connsiteX1" fmla="*/ 0 w 1684338"/>
              <a:gd name="connsiteY1" fmla="*/ 0 h 1562100"/>
              <a:gd name="connsiteX2" fmla="*/ 0 w 1684338"/>
              <a:gd name="connsiteY2" fmla="*/ 1562100 h 1562100"/>
              <a:gd name="connsiteX3" fmla="*/ 1684338 w 1684338"/>
              <a:gd name="connsiteY3" fmla="*/ 1562100 h 1562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84338" h="1562100">
                <a:moveTo>
                  <a:pt x="1684338" y="0"/>
                </a:moveTo>
                <a:lnTo>
                  <a:pt x="0" y="0"/>
                </a:lnTo>
                <a:lnTo>
                  <a:pt x="0" y="1562100"/>
                </a:lnTo>
                <a:lnTo>
                  <a:pt x="1684338" y="1562100"/>
                </a:lnTo>
                <a:close/>
              </a:path>
            </a:pathLst>
          </a:cu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66176852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900">
          <p15:clr>
            <a:srgbClr val="5ACBF0"/>
          </p15:clr>
        </p15:guide>
        <p15:guide id="4" orient="horz" pos="1272">
          <p15:clr>
            <a:srgbClr val="5ACBF0"/>
          </p15:clr>
        </p15:guide>
        <p15:guide id="5" orient="horz" pos="283">
          <p15:clr>
            <a:srgbClr val="5ACBF0"/>
          </p15:clr>
        </p15:guide>
        <p15:guide id="6" pos="3917">
          <p15:clr>
            <a:srgbClr val="FBAE40"/>
          </p15:clr>
        </p15:guide>
        <p15:guide id="7" orient="horz" pos="2203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with imag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26D04CCF-14FA-CEB5-E030-6D6A6B1637A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216" y="3152001"/>
            <a:ext cx="4634484" cy="553998"/>
          </a:xfrm>
          <a:noFill/>
        </p:spPr>
        <p:txBody>
          <a:bodyPr wrap="square" lIns="0" tIns="0" rIns="0" bIns="0" anchor="b" anchorCtr="0">
            <a:spAutoFit/>
          </a:bodyPr>
          <a:lstStyle>
            <a:lvl1pPr marL="0" algn="l" defTabSz="932563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600" b="0" kern="1200" cap="none" spc="-50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/>
              <a:t>Section Divider</a:t>
            </a:r>
          </a:p>
        </p:txBody>
      </p:sp>
      <p:pic>
        <p:nvPicPr>
          <p:cNvPr id="16" name="Picture 15" descr="A colorful dots in a spiral">
            <a:extLst>
              <a:ext uri="{FF2B5EF4-FFF2-40B4-BE49-F238E27FC236}">
                <a16:creationId xmlns:a16="http://schemas.microsoft.com/office/drawing/2014/main" id="{F74F4322-8497-A551-1633-B7D13287D75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637" b="7924"/>
          <a:stretch>
            <a:fillRect/>
          </a:stretch>
        </p:blipFill>
        <p:spPr>
          <a:xfrm rot="240096" flipH="1">
            <a:off x="3825454" y="-881094"/>
            <a:ext cx="8615855" cy="804953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31788203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35">
          <p15:clr>
            <a:srgbClr val="5ACBF0"/>
          </p15:clr>
        </p15:guide>
        <p15:guide id="3" orient="horz" pos="1910">
          <p15:clr>
            <a:srgbClr val="5ACBF0"/>
          </p15:clr>
        </p15:guide>
        <p15:guide id="4" orient="horz" pos="2505">
          <p15:clr>
            <a:srgbClr val="5ACBF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hank You Slide 2"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Rectangle: Top Corners Rounded 264">
            <a:extLst>
              <a:ext uri="{FF2B5EF4-FFF2-40B4-BE49-F238E27FC236}">
                <a16:creationId xmlns:a16="http://schemas.microsoft.com/office/drawing/2014/main" id="{F115F110-E677-8F61-1011-C854F8F410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 rot="16200000" flipH="1">
            <a:off x="5047344" y="-2667000"/>
            <a:ext cx="2097312" cy="12192001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IN" sz="20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2400F2C9-4D27-4A70-96EB-94073B1211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216" y="2875002"/>
            <a:ext cx="5510783" cy="1107996"/>
          </a:xfrm>
          <a:noFill/>
        </p:spPr>
        <p:txBody>
          <a:bodyPr wrap="square" lIns="0" tIns="0" rIns="0" bIns="0" anchor="b" anchorCtr="0">
            <a:spAutoFit/>
          </a:bodyPr>
          <a:lstStyle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8000" b="1" kern="1200" cap="none" spc="-100" baseline="0" dirty="0">
                <a:ln w="3175">
                  <a:noFill/>
                </a:ln>
                <a:solidFill>
                  <a:srgbClr val="1B87D8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Thank You</a:t>
            </a:r>
          </a:p>
        </p:txBody>
      </p:sp>
      <p:pic>
        <p:nvPicPr>
          <p:cNvPr id="272" name="MS logo gray - EMF" descr="Microsoft logo, gray text version">
            <a:extLst>
              <a:ext uri="{FF2B5EF4-FFF2-40B4-BE49-F238E27FC236}">
                <a16:creationId xmlns:a16="http://schemas.microsoft.com/office/drawing/2014/main" id="{2D2BFFA1-4E63-D173-568F-8EFA7A75979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 bwMode="black">
          <a:xfrm>
            <a:off x="668662" y="1180148"/>
            <a:ext cx="1366440" cy="292608"/>
          </a:xfrm>
          <a:prstGeom prst="rect">
            <a:avLst/>
          </a:prstGeom>
        </p:spPr>
      </p:pic>
      <p:pic>
        <p:nvPicPr>
          <p:cNvPr id="4" name="Picture 3" descr="Grey dots in a spiral">
            <a:extLst>
              <a:ext uri="{FF2B5EF4-FFF2-40B4-BE49-F238E27FC236}">
                <a16:creationId xmlns:a16="http://schemas.microsoft.com/office/drawing/2014/main" id="{DD8E2EE1-B219-7AD0-95E9-3B9AB4E38744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duotone>
              <a:schemeClr val="bg2">
                <a:shade val="45000"/>
                <a:satMod val="135000"/>
              </a:schemeClr>
              <a:prstClr val="white"/>
            </a:duotone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0205" y="-1383478"/>
            <a:ext cx="10849756" cy="8516960"/>
          </a:xfrm>
          <a:prstGeom prst="rect">
            <a:avLst/>
          </a:prstGeom>
        </p:spPr>
      </p:pic>
      <p:pic>
        <p:nvPicPr>
          <p:cNvPr id="11" name="Picture 10" descr="Colorful blue and orange dots in a spiral">
            <a:extLst>
              <a:ext uri="{FF2B5EF4-FFF2-40B4-BE49-F238E27FC236}">
                <a16:creationId xmlns:a16="http://schemas.microsoft.com/office/drawing/2014/main" id="{4AAEA3C1-2FB5-2778-F403-804889B29359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4192" r="25143" b="31183"/>
          <a:stretch>
            <a:fillRect/>
          </a:stretch>
        </p:blipFill>
        <p:spPr>
          <a:xfrm>
            <a:off x="4070206" y="2380346"/>
            <a:ext cx="8121795" cy="2097312"/>
          </a:xfrm>
          <a:custGeom>
            <a:avLst/>
            <a:gdLst>
              <a:gd name="connsiteX0" fmla="*/ 0 w 8121795"/>
              <a:gd name="connsiteY0" fmla="*/ 0 h 2097312"/>
              <a:gd name="connsiteX1" fmla="*/ 8121795 w 8121795"/>
              <a:gd name="connsiteY1" fmla="*/ 0 h 2097312"/>
              <a:gd name="connsiteX2" fmla="*/ 8121795 w 8121795"/>
              <a:gd name="connsiteY2" fmla="*/ 2097312 h 2097312"/>
              <a:gd name="connsiteX3" fmla="*/ 0 w 8121795"/>
              <a:gd name="connsiteY3" fmla="*/ 2097312 h 20973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121795" h="2097312">
                <a:moveTo>
                  <a:pt x="0" y="0"/>
                </a:moveTo>
                <a:lnTo>
                  <a:pt x="8121795" y="0"/>
                </a:lnTo>
                <a:lnTo>
                  <a:pt x="8121795" y="2097312"/>
                </a:lnTo>
                <a:lnTo>
                  <a:pt x="0" y="2097312"/>
                </a:lnTo>
                <a:close/>
              </a:path>
            </a:pathLst>
          </a:cu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50424424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ly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5A43683-6DA3-CAB4-0B24-22FD85FE89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 flipH="1">
            <a:off x="0" y="0"/>
            <a:ext cx="12192000" cy="1188720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75000"/>
                </a:schemeClr>
              </a:gs>
              <a:gs pos="26000">
                <a:schemeClr val="accent2">
                  <a:lumMod val="50000"/>
                  <a:alpha val="92000"/>
                </a:schemeClr>
              </a:gs>
            </a:gsLst>
            <a:lin ang="0" scaled="1"/>
            <a:tileRect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 defTabSz="932472" fontAlgn="base">
              <a:spcBef>
                <a:spcPct val="0"/>
              </a:spcBef>
              <a:spcAft>
                <a:spcPct val="0"/>
              </a:spcAft>
            </a:pPr>
            <a:endParaRPr lang="en-IN" sz="20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cs typeface="Segoe UI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62754DF-CB0E-46F9-AA3C-00BC673EBDF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457200"/>
            <a:ext cx="10083922" cy="553998"/>
          </a:xfrm>
        </p:spPr>
        <p:txBody>
          <a:bodyPr/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Title only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C1C0608-93BD-AA99-99FE-CE8B5C5414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0" y="1188720"/>
            <a:ext cx="12192000" cy="45719"/>
          </a:xfrm>
          <a:prstGeom prst="rect">
            <a:avLst/>
          </a:prstGeom>
          <a:solidFill>
            <a:srgbClr val="0178D4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7" name="Picture 6" descr="Grey dots in a decorative spiral">
            <a:extLst>
              <a:ext uri="{FF2B5EF4-FFF2-40B4-BE49-F238E27FC236}">
                <a16:creationId xmlns:a16="http://schemas.microsoft.com/office/drawing/2014/main" id="{233A85F5-7EA5-D2AC-23E2-52EDBB1A088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alphaModFix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639" t="18675" r="11937" b="17894"/>
          <a:stretch/>
        </p:blipFill>
        <p:spPr>
          <a:xfrm flipH="1">
            <a:off x="10728642" y="0"/>
            <a:ext cx="1463358" cy="1206500"/>
          </a:xfrm>
          <a:custGeom>
            <a:avLst/>
            <a:gdLst>
              <a:gd name="connsiteX0" fmla="*/ 1684338 w 1684338"/>
              <a:gd name="connsiteY0" fmla="*/ 0 h 1562100"/>
              <a:gd name="connsiteX1" fmla="*/ 0 w 1684338"/>
              <a:gd name="connsiteY1" fmla="*/ 0 h 1562100"/>
              <a:gd name="connsiteX2" fmla="*/ 0 w 1684338"/>
              <a:gd name="connsiteY2" fmla="*/ 1562100 h 1562100"/>
              <a:gd name="connsiteX3" fmla="*/ 1684338 w 1684338"/>
              <a:gd name="connsiteY3" fmla="*/ 1562100 h 1562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84338" h="1562100">
                <a:moveTo>
                  <a:pt x="1684338" y="0"/>
                </a:moveTo>
                <a:lnTo>
                  <a:pt x="0" y="0"/>
                </a:lnTo>
                <a:lnTo>
                  <a:pt x="0" y="1562100"/>
                </a:lnTo>
                <a:lnTo>
                  <a:pt x="1684338" y="1562100"/>
                </a:lnTo>
                <a:close/>
              </a:path>
            </a:pathLst>
          </a:cu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95392282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900">
          <p15:clr>
            <a:srgbClr val="5ACBF0"/>
          </p15:clr>
        </p15:guide>
        <p15:guide id="4" orient="horz" pos="1276">
          <p15:clr>
            <a:srgbClr val="5ACBF0"/>
          </p15:clr>
        </p15:guide>
        <p15:guide id="5" orient="horz" pos="283">
          <p15:clr>
            <a:srgbClr val="5ACBF0"/>
          </p15:clr>
        </p15:guide>
        <p15:guide id="6" pos="3917">
          <p15:clr>
            <a:srgbClr val="FBAE40"/>
          </p15:clr>
        </p15:guide>
        <p15:guide id="7" orient="horz" pos="2203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CFEFD-88E5-4869-B5C3-1611B0B50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A212C2-8B30-4835-8711-AA981B6CFBE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84200" y="1435100"/>
            <a:ext cx="11018838" cy="48339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6127785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  <p15:guide id="5" orient="horz" pos="904">
          <p15:clr>
            <a:srgbClr val="5ACBF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28907-B34B-EA5C-1932-0E6A411429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D3A667-77F1-832C-B8F7-7508A647BE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2852E7-C8FB-4DA2-CDCB-A34BDD83C1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28125-7331-418B-970D-A88E73B1885B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4B5BC0-4891-5505-4859-7947BCDF71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2FBA88-B499-1118-EC80-C7206D444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A5850-4711-418D-B090-9E8809BBEA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65466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ED39EF-DFFF-D68B-DF06-AAD3667348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A2FD69-B14C-18E8-09A4-E45F4D3720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F16C19-7361-3743-5500-35D026249C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28125-7331-418B-970D-A88E73B1885B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FE6084-AAAE-03BD-7178-EDBF83A1E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3F7631-28B2-86FF-F99C-9FBCA4EA38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A5850-4711-418D-B090-9E8809BBEA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62812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330A0A-BE0C-B252-F913-577A75F3D0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5C9C56-EA9C-B39E-F4F1-EB9220FAB8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1A2A18-4EEA-91F5-50C8-6551A4E748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28125-7331-418B-970D-A88E73B1885B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C28416-A8CD-4A77-47D0-2A4BA7BB3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B8A763-0B34-E0D9-338A-0BCA0E47E4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A5850-4711-418D-B090-9E8809BBEA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21364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CFA275-CC8E-AC00-E560-38823DCCD4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8A719D-0A05-6E51-2289-57CE6A23F1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33CB6F-3885-C41F-6FCF-1A8E944838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CFCE16-863E-C47B-BD5E-7E08220475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28125-7331-418B-970D-A88E73B1885B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740710-77AC-587D-9345-24988AACBF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F9A66C-64CC-F6A4-1EAB-FB436D9BE1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A5850-4711-418D-B090-9E8809BBEA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5777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1F4146-955C-B96D-FB84-663421F295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5C63DC-2B98-47CA-5A29-E78AE5B1F4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FF2291-4F15-F94E-DCE3-2B05B1B57B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511724-D3AF-8984-BDF1-EDE643CE82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9CEAC95-B7F0-5CAA-278A-BE82792952B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C229BD1-D504-8F66-71A7-B27708E02B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28125-7331-418B-970D-A88E73B1885B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F1A86E0-AEA2-2A5B-816F-D0F0F2F996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D54A726-CDA9-CE16-656D-FE6DA0925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A5850-4711-418D-B090-9E8809BBEA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35728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46953B-6D9C-6F4D-A79F-6C42DD5E97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9743C4E-2952-D239-054A-A530A862B6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28125-7331-418B-970D-A88E73B1885B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EC98637-EE1F-4E91-F9E7-C09266D1D8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9CE189-AC99-E8F8-FEF0-2E2CF518BF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A5850-4711-418D-B090-9E8809BBEA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108520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1BBA6C5-065A-D2AF-A291-BAA7647BCC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28125-7331-418B-970D-A88E73B1885B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C667236-3677-B639-D8BD-BCDC8477AC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0025FF-25C8-5AE8-E5C0-075DA858AC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A5850-4711-418D-B090-9E8809BBEA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641663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C5FFCF-BCA4-6422-EF55-4187404405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A5162D-91AC-3CD0-063C-E0BBBE4F78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301E6C-93B7-DB7B-2FF8-18E2CA47A7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07B2EB-4B9F-4971-20DE-E2A0FC45D6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28125-7331-418B-970D-A88E73B1885B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312A8C-4192-A960-0924-32DB65E413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10DA8B-C4F6-F6C3-4CE3-6687BB6DE5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A5850-4711-418D-B090-9E8809BBEA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602349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C5A505-4EF4-4344-50A8-5C3F9D6C83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E6236DB-2AB7-8010-B7C4-9587733F86C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32FC49-51D0-FAE6-AE4F-593E30C1D0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4D7ED5-3E99-EF65-A264-1FA60E019A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28125-7331-418B-970D-A88E73B1885B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F4447A-20DA-776F-D992-D4C4F8FED4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786DC0-2143-6FF7-D633-AEB90F1701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A5850-4711-418D-B090-9E8809BBEA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009745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2C8807-8EA1-1E3F-C93C-53DC149571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0E4496-F8E6-C5F2-080D-95D9D738D3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5A14D9-F8C6-8C40-2D38-4D31095540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28125-7331-418B-970D-A88E73B1885B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8B8470-3C92-A110-4A16-6471243BBF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3E333C-EE8B-4C6C-740C-83DD53D29A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A5850-4711-418D-B090-9E8809BBEA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2180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EEF8295-38FF-2EE2-BA5A-10F55BEC751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A9746B-4BB9-92CC-BE72-BDD91738C9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E74B6F-9D5B-00D5-BC52-BFD90E7DF4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28125-7331-418B-970D-A88E73B1885B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45D54D-8851-7681-87FF-AD0C685D50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9E94E6-BFED-206F-8DBE-C80EB6527F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A5850-4711-418D-B090-9E8809BBEA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863001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Only_Custom Background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AD849-7CFE-4AF7-A7C5-6BBD50C88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7555195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521895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608237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623428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146694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166209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156034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738062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299931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001986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997046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290133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2754DF-CB0E-46F9-AA3C-00BC673EBDF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457200"/>
            <a:ext cx="9653392" cy="553998"/>
          </a:xfrm>
        </p:spPr>
        <p:txBody>
          <a:bodyPr/>
          <a:lstStyle>
            <a:lvl1pPr marL="0" algn="l" defTabSz="932384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600" b="0" kern="1200" cap="none" spc="-50" baseline="0" dirty="0">
                <a:ln w="3175"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/>
              <a:t>Title only</a:t>
            </a:r>
          </a:p>
        </p:txBody>
      </p:sp>
      <p:pic>
        <p:nvPicPr>
          <p:cNvPr id="13" name="Picture 12" descr="Grey dots in a decorative spiral">
            <a:extLst>
              <a:ext uri="{FF2B5EF4-FFF2-40B4-BE49-F238E27FC236}">
                <a16:creationId xmlns:a16="http://schemas.microsoft.com/office/drawing/2014/main" id="{129FA58B-F4C2-FEF2-22E5-FAC33CC0DA5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alphaModFix amt="48000"/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639" t="18675" r="11937" b="17894"/>
          <a:stretch/>
        </p:blipFill>
        <p:spPr>
          <a:xfrm flipH="1">
            <a:off x="10728642" y="0"/>
            <a:ext cx="1463358" cy="1206500"/>
          </a:xfrm>
          <a:custGeom>
            <a:avLst/>
            <a:gdLst>
              <a:gd name="connsiteX0" fmla="*/ 1684338 w 1684338"/>
              <a:gd name="connsiteY0" fmla="*/ 0 h 1562100"/>
              <a:gd name="connsiteX1" fmla="*/ 0 w 1684338"/>
              <a:gd name="connsiteY1" fmla="*/ 0 h 1562100"/>
              <a:gd name="connsiteX2" fmla="*/ 0 w 1684338"/>
              <a:gd name="connsiteY2" fmla="*/ 1562100 h 1562100"/>
              <a:gd name="connsiteX3" fmla="*/ 1684338 w 1684338"/>
              <a:gd name="connsiteY3" fmla="*/ 1562100 h 1562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84338" h="1562100">
                <a:moveTo>
                  <a:pt x="1684338" y="0"/>
                </a:moveTo>
                <a:lnTo>
                  <a:pt x="0" y="0"/>
                </a:lnTo>
                <a:lnTo>
                  <a:pt x="0" y="1562100"/>
                </a:lnTo>
                <a:lnTo>
                  <a:pt x="1684338" y="1562100"/>
                </a:lnTo>
                <a:close/>
              </a:path>
            </a:pathLst>
          </a:cu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0090694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900">
          <p15:clr>
            <a:srgbClr val="5ACBF0"/>
          </p15:clr>
        </p15:guide>
        <p15:guide id="4" orient="horz" pos="1272">
          <p15:clr>
            <a:srgbClr val="5ACBF0"/>
          </p15:clr>
        </p15:guide>
        <p15:guide id="5" orient="horz" pos="283">
          <p15:clr>
            <a:srgbClr val="5ACBF0"/>
          </p15:clr>
        </p15:guide>
        <p15:guide id="6" pos="3917">
          <p15:clr>
            <a:srgbClr val="FBAE40"/>
          </p15:clr>
        </p15:guide>
        <p15:guide id="7" orient="horz" pos="2203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Only_Custom Background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AD849-7CFE-4AF7-A7C5-6BBD50C88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35943918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9" Type="http://schemas.openxmlformats.org/officeDocument/2006/relationships/tags" Target="../tags/tag1.xml"/><Relationship Id="rId10" Type="http://schemas.openxmlformats.org/officeDocument/2006/relationships/image" Target="../media/image1.emf"/><Relationship Id="rId11" Type="http://schemas.openxmlformats.org/officeDocument/2006/relationships/image" Target="../media/image2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Relationship Id="rId9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19.xml"/><Relationship Id="rId13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1.xml"/><Relationship Id="rId3" Type="http://schemas.openxmlformats.org/officeDocument/2006/relationships/slideLayout" Target="../slideLayouts/slideLayout22.xml"/><Relationship Id="rId4" Type="http://schemas.openxmlformats.org/officeDocument/2006/relationships/slideLayout" Target="../slideLayouts/slideLayout23.xml"/><Relationship Id="rId5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6.xml"/><Relationship Id="rId8" Type="http://schemas.openxmlformats.org/officeDocument/2006/relationships/slideLayout" Target="../slideLayouts/slideLayout27.xml"/><Relationship Id="rId9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0.xml"/><Relationship Id="rId12" Type="http://schemas.openxmlformats.org/officeDocument/2006/relationships/slideLayout" Target="../slideLayouts/slideLayout31.xml"/><Relationship Id="rId13" Type="http://schemas.openxmlformats.org/officeDocument/2006/relationships/slideLayout" Target="../slideLayouts/slideLayout32.xml"/><Relationship Id="rId14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 userDrawn="1">
            <p:ph type="title"/>
          </p:nvPr>
        </p:nvSpPr>
        <p:spPr>
          <a:xfrm>
            <a:off x="588263" y="457200"/>
            <a:ext cx="11018520" cy="5539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 userDrawn="1">
            <p:ph type="body" idx="1"/>
          </p:nvPr>
        </p:nvSpPr>
        <p:spPr>
          <a:xfrm>
            <a:off x="584200" y="1435503"/>
            <a:ext cx="11018520" cy="14605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4F863F8-3190-109C-7161-40345FE412FF}"/>
              </a:ext>
            </a:extLst>
          </p:cNvPr>
          <p:cNvSpPr/>
          <p:nvPr userDrawn="1"/>
        </p:nvSpPr>
        <p:spPr>
          <a:xfrm>
            <a:off x="584200" y="6496253"/>
            <a:ext cx="2727670" cy="200055"/>
          </a:xfrm>
          <a:prstGeom prst="rect">
            <a:avLst/>
          </a:prstGeom>
        </p:spPr>
        <p:txBody>
          <a:bodyPr wrap="none" lIns="0">
            <a:spAutoFit/>
          </a:bodyPr>
          <a:lstStyle/>
          <a:p>
            <a:r>
              <a:rPr lang="en-US" sz="700" b="0" i="0" spc="8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rPr>
              <a:t>MICROSOFT CONFIDENTIAL. FOR INTERNAL USE ONLY</a:t>
            </a:r>
          </a:p>
        </p:txBody>
      </p:sp>
      <p:pic>
        <p:nvPicPr>
          <p:cNvPr id="64" name="NEW Brand Colors 2018">
            <a:extLst>
              <a:ext uri="{FF2B5EF4-FFF2-40B4-BE49-F238E27FC236}">
                <a16:creationId xmlns:a16="http://schemas.microsoft.com/office/drawing/2014/main" id="{A8BA6B64-5E5E-4B2E-8DF2-17DC5A1D39B7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9353628" y="2942644"/>
            <a:ext cx="6858000" cy="972712"/>
          </a:xfrm>
          <a:prstGeom prst="rect">
            <a:avLst/>
          </a:prstGeom>
        </p:spPr>
      </p:pic>
      <p:pic>
        <p:nvPicPr>
          <p:cNvPr id="94" name="Picture 93">
            <a:extLst>
              <a:ext uri="{FF2B5EF4-FFF2-40B4-BE49-F238E27FC236}">
                <a16:creationId xmlns:a16="http://schemas.microsoft.com/office/drawing/2014/main" id="{6A88F09E-5CD6-2540-F778-A9F2267C63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13373253" y="12841"/>
            <a:ext cx="340671" cy="6832318"/>
          </a:xfrm>
          <a:prstGeom prst="rect">
            <a:avLst/>
          </a:prstGeom>
        </p:spPr>
      </p:pic>
    </p:spTree>
    <p:custDataLst>
      <p:tags r:id="rId9"/>
    </p:custDataLst>
    <p:extLst>
      <p:ext uri="{BB962C8B-B14F-4D97-AF65-F5344CB8AC3E}">
        <p14:creationId xmlns:p14="http://schemas.microsoft.com/office/powerpoint/2010/main" val="29278402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9" r:id="rId2"/>
    <p:sldLayoutId id="2147483693" r:id="rId3"/>
    <p:sldLayoutId id="2147483723" r:id="rId4"/>
    <p:sldLayoutId id="2147483730" r:id="rId5"/>
    <p:sldLayoutId id="2147483800" r:id="rId6"/>
    <p:sldLayoutId id="2147483801" r:id="rId7"/>
  </p:sldLayoutIdLst>
  <p:transition>
    <p:fade/>
  </p:transition>
  <p:hf sldNum="0" hdr="0" ftr="0" dt="0"/>
  <p:txStyles>
    <p:titleStyle>
      <a:lvl1pPr algn="l" defTabSz="932563" rtl="0" eaLnBrk="1" latinLnBrk="0" hangingPunct="1">
        <a:lnSpc>
          <a:spcPct val="100000"/>
        </a:lnSpc>
        <a:spcBef>
          <a:spcPct val="0"/>
        </a:spcBef>
        <a:buNone/>
        <a:defRPr lang="en-US" sz="3529" b="0" kern="1200" cap="none" spc="-50" baseline="0" dirty="0" smtClean="0">
          <a:ln w="3175">
            <a:noFill/>
          </a:ln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effectLst/>
          <a:latin typeface="+mj-lt"/>
          <a:ea typeface="+mn-ea"/>
          <a:cs typeface="Segoe UI" pitchFamily="34" charset="0"/>
        </a:defRPr>
      </a:lvl1pPr>
    </p:titleStyle>
    <p:bodyStyle>
      <a:lvl1pPr marL="228556" marR="0" indent="-228556" algn="l" defTabSz="932563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961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j-lt"/>
          <a:ea typeface="+mn-ea"/>
          <a:cs typeface="Segoe UI Semilight" panose="020B0402040204020203" pitchFamily="34" charset="0"/>
        </a:defRPr>
      </a:lvl1pPr>
      <a:lvl2pPr marL="457112" marR="0" indent="-228556" algn="l" defTabSz="932563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961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2pPr>
      <a:lvl3pPr marL="657099" marR="0" indent="-199986" algn="l" defTabSz="932563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372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3pPr>
      <a:lvl4pPr marL="842801" marR="0" indent="-180940" algn="l" defTabSz="932563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372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4pPr>
      <a:lvl5pPr marL="1023741" marR="0" indent="-168243" algn="l" defTabSz="932563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372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5pPr>
      <a:lvl6pPr marL="2564547" indent="-233141" algn="l" defTabSz="932563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30830" indent="-233141" algn="l" defTabSz="932563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97111" indent="-233141" algn="l" defTabSz="932563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63394" indent="-233141" algn="l" defTabSz="932563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325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6282" algn="l" defTabSz="9325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32563" algn="l" defTabSz="9325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98844" algn="l" defTabSz="9325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65126" algn="l" defTabSz="9325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31408" algn="l" defTabSz="9325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97689" algn="l" defTabSz="9325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63970" algn="l" defTabSz="9325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30252" algn="l" defTabSz="9325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6" pos="365">
          <p15:clr>
            <a:srgbClr val="C35EA4"/>
          </p15:clr>
        </p15:guide>
        <p15:guide id="17" pos="7661">
          <p15:clr>
            <a:srgbClr val="A4A3A4"/>
          </p15:clr>
        </p15:guide>
        <p15:guide id="25" orient="horz" pos="379">
          <p15:clr>
            <a:srgbClr val="C35EA4"/>
          </p15:clr>
        </p15:guide>
        <p15:guide id="26" orient="horz" pos="4027">
          <p15:clr>
            <a:srgbClr val="C35EA4"/>
          </p15:clr>
        </p15:guide>
        <p15:guide id="27" orient="horz" pos="187">
          <p15:clr>
            <a:srgbClr val="A4A3A4"/>
          </p15:clr>
        </p15:guide>
        <p15:guide id="28" pos="173">
          <p15:clr>
            <a:srgbClr val="A4A3A4"/>
          </p15:clr>
        </p15:guide>
        <p15:guide id="29" orient="horz" pos="2347">
          <p15:clr>
            <a:srgbClr val="A4A3A4"/>
          </p15:clr>
        </p15:guide>
        <p15:guide id="30" pos="7320">
          <p15:clr>
            <a:srgbClr val="C35EA4"/>
          </p15:clr>
        </p15:guide>
        <p15:guide id="31" pos="3917">
          <p15:clr>
            <a:srgbClr val="C35EA4"/>
          </p15:clr>
        </p15:guide>
        <p15:guide id="32" orient="horz" pos="2203">
          <p15:clr>
            <a:srgbClr val="F26B43"/>
          </p15:clr>
        </p15:guide>
        <p15:guide id="33" orient="horz" pos="4219">
          <p15:clr>
            <a:srgbClr val="A4A3A4"/>
          </p15:clr>
        </p15:guide>
        <p15:guide id="34" orient="horz" pos="2059">
          <p15:clr>
            <a:srgbClr val="A4A3A4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38FFDEB-E59B-898A-0919-D2FCE42638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773C94-ED43-8244-6B02-E7234CAF92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4D8F9E-0E0A-9154-6906-F2228259F9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E128125-7331-418B-970D-A88E73B1885B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99CEC8-4581-4497-9206-B9F450C3E8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03F71B-B2A7-7E82-4132-62F4B834C1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CA5850-4711-418D-B090-9E8809BBEA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3783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4" r:id="rId1"/>
    <p:sldLayoutId id="2147483895" r:id="rId2"/>
    <p:sldLayoutId id="2147483896" r:id="rId3"/>
    <p:sldLayoutId id="2147483897" r:id="rId4"/>
    <p:sldLayoutId id="2147483898" r:id="rId5"/>
    <p:sldLayoutId id="2147483899" r:id="rId6"/>
    <p:sldLayoutId id="2147483900" r:id="rId7"/>
    <p:sldLayoutId id="2147483901" r:id="rId8"/>
    <p:sldLayoutId id="2147483902" r:id="rId9"/>
    <p:sldLayoutId id="2147483903" r:id="rId10"/>
    <p:sldLayoutId id="2147483904" r:id="rId11"/>
    <p:sldLayoutId id="2147483945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04221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2" r:id="rId1"/>
    <p:sldLayoutId id="2147483933" r:id="rId2"/>
    <p:sldLayoutId id="2147483934" r:id="rId3"/>
    <p:sldLayoutId id="2147483935" r:id="rId4"/>
    <p:sldLayoutId id="2147483936" r:id="rId5"/>
    <p:sldLayoutId id="2147483937" r:id="rId6"/>
    <p:sldLayoutId id="2147483938" r:id="rId7"/>
    <p:sldLayoutId id="2147483939" r:id="rId8"/>
    <p:sldLayoutId id="2147483940" r:id="rId9"/>
    <p:sldLayoutId id="2147483941" r:id="rId10"/>
    <p:sldLayoutId id="2147483942" r:id="rId11"/>
    <p:sldLayoutId id="2147483943" r:id="rId12"/>
    <p:sldLayoutId id="2147483944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Segoe Sans Display Semibold"/>
              </a:defRPr>
            </a:pPr>
            <a:r>
              <a:t>Microsoft Accelerated Factory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400" b="1">
                <a:solidFill>
                  <a:srgbClr val="FFFFFF"/>
                </a:solidFill>
                <a:latin typeface="Aptos Display"/>
              </a:defRPr>
            </a:pPr>
            <a:r>
              <a:t>Operations Runbook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CCE5FF"/>
                </a:solidFill>
                <a:latin typeface="Aptos Display"/>
              </a:defRPr>
            </a:pPr>
            <a:r>
              <a:t>Copilot Squad: Central + SubSquad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148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0D0F0"/>
                </a:solidFill>
                <a:latin typeface="Aptos"/>
              </a:defRPr>
            </a:pPr>
            <a:r>
              <a:t>Step-by-step guide for creating, sharing, and reusing agents at scale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0B8E0"/>
                </a:solidFill>
                <a:latin typeface="Aptos"/>
              </a:defRPr>
            </a:pPr>
            <a:r>
              <a:t>Audience: Engineers, Architects, Delivery Leads</a:t>
            </a:r>
            <a:br/>
            <a:r>
              <a:t>Version 1.0  |  May 2026  |  Classification: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2636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Aptos"/>
              </a:defRPr>
            </a:pPr>
            <a:r>
              <a:t>CONFIDENTIAL  |  Microsoft Accelerate Factory  |  Copilot Squad Runbook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2636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  <a:latin typeface="Aptos"/>
              </a:defRPr>
            </a:pPr>
            <a:r>
              <a:t>1 / 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91440"/>
            <a:ext cx="12192000" cy="566928"/>
          </a:xfrm>
          <a:prstGeom prst="rect">
            <a:avLst/>
          </a:prstGeom>
          <a:solidFill>
            <a:srgbClr val="01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600" b="1">
                <a:solidFill>
                  <a:srgbClr val="FFFFFF"/>
                </a:solidFill>
                <a:latin typeface="Aptos Display"/>
              </a:defRPr>
            </a:pPr>
            <a:r>
              <a:t>Runbook Contents</a:t>
            </a:r>
          </a:p>
        </p:txBody>
      </p:sp>
      <p:sp>
        <p:nvSpPr>
          <p:cNvPr id="3" name="Oval 2"/>
          <p:cNvSpPr/>
          <p:nvPr/>
        </p:nvSpPr>
        <p:spPr>
          <a:xfrm>
            <a:off x="457200" y="1051560"/>
            <a:ext cx="365760" cy="365760"/>
          </a:xfrm>
          <a:prstGeom prst="ellipse">
            <a:avLst/>
          </a:prstGeom>
          <a:solidFill>
            <a:srgbClr val="01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058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178D4"/>
                </a:solidFill>
                <a:latin typeface="Aptos"/>
              </a:defRPr>
            </a:pPr>
            <a:r>
              <a:t>Central Squad Setup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2801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Aptos"/>
              </a:defRPr>
            </a:pPr>
            <a:r>
              <a:t>Agent registry, shared memory, naming standards</a:t>
            </a:r>
          </a:p>
        </p:txBody>
      </p:sp>
      <p:sp>
        <p:nvSpPr>
          <p:cNvPr id="6" name="Oval 5"/>
          <p:cNvSpPr/>
          <p:nvPr/>
        </p:nvSpPr>
        <p:spPr>
          <a:xfrm>
            <a:off x="6217920" y="1051560"/>
            <a:ext cx="365760" cy="365760"/>
          </a:xfrm>
          <a:prstGeom prst="ellipse">
            <a:avLst/>
          </a:prstGeom>
          <a:solidFill>
            <a:srgbClr val="4636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0" y="10058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63668"/>
                </a:solidFill>
                <a:latin typeface="Aptos"/>
              </a:defRPr>
            </a:pPr>
            <a:r>
              <a:t>SubSquad Creation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0" y="12801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Aptos"/>
              </a:defRPr>
            </a:pPr>
            <a:r>
              <a:t>Form project teams, pull agents, configure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1856232"/>
            <a:ext cx="365760" cy="365760"/>
          </a:xfrm>
          <a:prstGeom prst="ellipse">
            <a:avLst/>
          </a:prstGeom>
          <a:solidFill>
            <a:srgbClr val="225B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81051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25B62"/>
                </a:solidFill>
                <a:latin typeface="Aptos"/>
              </a:defRPr>
            </a:pPr>
            <a:r>
              <a:t>Creating Agents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08483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Aptos"/>
              </a:defRPr>
            </a:pPr>
            <a:r>
              <a:t>When to reuse vs. create, avoiding client data</a:t>
            </a:r>
          </a:p>
        </p:txBody>
      </p:sp>
      <p:sp>
        <p:nvSpPr>
          <p:cNvPr id="12" name="Oval 11"/>
          <p:cNvSpPr/>
          <p:nvPr/>
        </p:nvSpPr>
        <p:spPr>
          <a:xfrm>
            <a:off x="6217920" y="1856232"/>
            <a:ext cx="365760" cy="365760"/>
          </a:xfrm>
          <a:prstGeom prst="ellipse">
            <a:avLst/>
          </a:prstGeom>
          <a:solidFill>
            <a:srgbClr val="D83B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181051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83B02"/>
                </a:solidFill>
                <a:latin typeface="Aptos"/>
              </a:defRPr>
            </a:pPr>
            <a:r>
              <a:t>Publishing &amp; Sharing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208483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Aptos"/>
              </a:defRPr>
            </a:pPr>
            <a:r>
              <a:t>Submit, version, approve, catalog</a:t>
            </a:r>
          </a:p>
        </p:txBody>
      </p:sp>
      <p:sp>
        <p:nvSpPr>
          <p:cNvPr id="15" name="Oval 14"/>
          <p:cNvSpPr/>
          <p:nvPr/>
        </p:nvSpPr>
        <p:spPr>
          <a:xfrm>
            <a:off x="457200" y="2660904"/>
            <a:ext cx="365760" cy="365760"/>
          </a:xfrm>
          <a:prstGeom prst="ellipse">
            <a:avLst/>
          </a:prstGeom>
          <a:solidFill>
            <a:srgbClr val="FE8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615184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E8B00"/>
                </a:solidFill>
                <a:latin typeface="Aptos"/>
              </a:defRPr>
            </a:pPr>
            <a:r>
              <a:t>Reusing Agents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2889504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Aptos"/>
              </a:defRPr>
            </a:pPr>
            <a:r>
              <a:t>Discover, pull, adapt, contribute back</a:t>
            </a:r>
          </a:p>
        </p:txBody>
      </p:sp>
      <p:sp>
        <p:nvSpPr>
          <p:cNvPr id="18" name="Oval 17"/>
          <p:cNvSpPr/>
          <p:nvPr/>
        </p:nvSpPr>
        <p:spPr>
          <a:xfrm>
            <a:off x="6217920" y="2660904"/>
            <a:ext cx="365760" cy="365760"/>
          </a:xfrm>
          <a:prstGeom prst="ellipse">
            <a:avLst/>
          </a:prstGeom>
          <a:solidFill>
            <a:srgbClr val="00B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2615184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B050"/>
                </a:solidFill>
                <a:latin typeface="Aptos"/>
              </a:defRPr>
            </a:pPr>
            <a:r>
              <a:t>Agents Become Skills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2889504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Aptos"/>
              </a:defRPr>
            </a:pPr>
            <a:r>
              <a:t>Compounding capabilities over time</a:t>
            </a:r>
          </a:p>
        </p:txBody>
      </p:sp>
      <p:sp>
        <p:nvSpPr>
          <p:cNvPr id="21" name="Oval 20"/>
          <p:cNvSpPr/>
          <p:nvPr/>
        </p:nvSpPr>
        <p:spPr>
          <a:xfrm>
            <a:off x="457200" y="3465576"/>
            <a:ext cx="365760" cy="365760"/>
          </a:xfrm>
          <a:prstGeom prst="ellipse">
            <a:avLst/>
          </a:prstGeom>
          <a:solidFill>
            <a:srgbClr val="01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3419856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178D4"/>
                </a:solidFill>
                <a:latin typeface="Aptos"/>
              </a:defRPr>
            </a:pPr>
            <a:r>
              <a:t>Multi-Team Coordination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3694176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Aptos"/>
              </a:defRPr>
            </a:pPr>
            <a:r>
              <a:t>Parallel execution, shared consistency</a:t>
            </a:r>
          </a:p>
        </p:txBody>
      </p:sp>
      <p:sp>
        <p:nvSpPr>
          <p:cNvPr id="24" name="Oval 23"/>
          <p:cNvSpPr/>
          <p:nvPr/>
        </p:nvSpPr>
        <p:spPr>
          <a:xfrm>
            <a:off x="6217920" y="3465576"/>
            <a:ext cx="365760" cy="365760"/>
          </a:xfrm>
          <a:prstGeom prst="ellipse">
            <a:avLst/>
          </a:prstGeom>
          <a:solidFill>
            <a:srgbClr val="4636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3419856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63668"/>
                </a:solidFill>
                <a:latin typeface="Aptos"/>
              </a:defRPr>
            </a:pPr>
            <a:r>
              <a:t>Reduce Meetings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20" y="3694176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Aptos"/>
              </a:defRPr>
            </a:pPr>
            <a:r>
              <a:t>Replace status meetings with automation</a:t>
            </a:r>
          </a:p>
        </p:txBody>
      </p:sp>
      <p:sp>
        <p:nvSpPr>
          <p:cNvPr id="27" name="Oval 26"/>
          <p:cNvSpPr/>
          <p:nvPr/>
        </p:nvSpPr>
        <p:spPr>
          <a:xfrm>
            <a:off x="457200" y="4270248"/>
            <a:ext cx="365760" cy="365760"/>
          </a:xfrm>
          <a:prstGeom prst="ellipse">
            <a:avLst/>
          </a:prstGeom>
          <a:solidFill>
            <a:srgbClr val="225B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422452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25B62"/>
                </a:solidFill>
                <a:latin typeface="Aptos"/>
              </a:defRPr>
            </a:pPr>
            <a:r>
              <a:t>SNAP Model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49884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Aptos"/>
              </a:defRPr>
            </a:pPr>
            <a:r>
              <a:t>Borrow capabilities, not people</a:t>
            </a:r>
          </a:p>
        </p:txBody>
      </p:sp>
      <p:sp>
        <p:nvSpPr>
          <p:cNvPr id="30" name="Oval 29"/>
          <p:cNvSpPr/>
          <p:nvPr/>
        </p:nvSpPr>
        <p:spPr>
          <a:xfrm>
            <a:off x="6217920" y="4270248"/>
            <a:ext cx="365760" cy="365760"/>
          </a:xfrm>
          <a:prstGeom prst="ellipse">
            <a:avLst/>
          </a:prstGeom>
          <a:solidFill>
            <a:srgbClr val="D83B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75120" y="422452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83B02"/>
                </a:solidFill>
                <a:latin typeface="Aptos"/>
              </a:defRPr>
            </a:pPr>
            <a:r>
              <a:t>Factory Phase Execution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75120" y="449884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Aptos"/>
              </a:defRPr>
            </a:pPr>
            <a:r>
              <a:t>Intake through Handover with agents</a:t>
            </a:r>
          </a:p>
        </p:txBody>
      </p:sp>
      <p:sp>
        <p:nvSpPr>
          <p:cNvPr id="33" name="Oval 32"/>
          <p:cNvSpPr/>
          <p:nvPr/>
        </p:nvSpPr>
        <p:spPr>
          <a:xfrm>
            <a:off x="457200" y="5074920"/>
            <a:ext cx="365760" cy="365760"/>
          </a:xfrm>
          <a:prstGeom prst="ellipse">
            <a:avLst/>
          </a:prstGeom>
          <a:solidFill>
            <a:srgbClr val="FE8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" y="50292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E8B00"/>
                </a:solidFill>
                <a:latin typeface="Aptos"/>
              </a:defRPr>
            </a:pPr>
            <a:r>
              <a:t>Continuous Improvement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53035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Aptos"/>
              </a:defRPr>
            </a:pPr>
            <a:r>
              <a:t>Capture, update, grow the skills library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74320" y="62636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Aptos"/>
              </a:defRPr>
            </a:pPr>
            <a:r>
              <a:t>CONFIDENTIAL  |  Microsoft Accelerate Factory  |  Copilot Squad Runbook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0" y="62636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  <a:latin typeface="Aptos"/>
              </a:defRPr>
            </a:pPr>
            <a:r>
              <a:t>2 / 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91440"/>
            <a:ext cx="12192000" cy="566928"/>
          </a:xfrm>
          <a:prstGeom prst="rect">
            <a:avLst/>
          </a:prstGeom>
          <a:solidFill>
            <a:srgbClr val="01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600" b="1">
                <a:solidFill>
                  <a:srgbClr val="FFFFFF"/>
                </a:solidFill>
                <a:latin typeface="Aptos Display"/>
              </a:defRPr>
            </a:pPr>
            <a:r>
              <a:t>Key Principles — Before You Start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914400"/>
            <a:ext cx="10972800" cy="502920"/>
          </a:xfrm>
          <a:prstGeom prst="roundRect">
            <a:avLst/>
          </a:prstGeom>
          <a:solidFill>
            <a:srgbClr val="FFEDED"/>
          </a:solidFill>
          <a:ln w="12700">
            <a:solidFill>
              <a:srgbClr val="EE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E0000"/>
                </a:solidFill>
                <a:latin typeface="Aptos"/>
              </a:defRPr>
            </a:pPr>
            <a:r>
              <a:t>RULE: No client-specific or sensitive data is EVER stored in shared agents. All shared assets must be generic.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00200"/>
            <a:ext cx="10972800" cy="1005840"/>
          </a:xfrm>
          <a:prstGeom prst="roundRect">
            <a:avLst/>
          </a:prstGeom>
          <a:solidFill>
            <a:srgbClr val="F8F8FA"/>
          </a:solidFill>
          <a:ln w="12700">
            <a:solidFill>
              <a:srgbClr val="01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178D4"/>
                </a:solidFill>
                <a:latin typeface="Aptos"/>
              </a:defRPr>
            </a:pPr>
            <a:r>
              <a:t>Reuse First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ptos"/>
              </a:defRPr>
            </a:pPr>
            <a:r>
              <a:t>Always search the Central Squad registry before creating a new agent. Duplicate work is waste.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0" y="1645920"/>
            <a:ext cx="1005840" cy="256032"/>
          </a:xfrm>
          <a:prstGeom prst="rect">
            <a:avLst/>
          </a:prstGeom>
          <a:solidFill>
            <a:srgbClr val="01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1600" rIns="101600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WORKFLOW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0" y="196596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A4E66"/>
                </a:solidFill>
                <a:latin typeface="Aptos"/>
              </a:defRPr>
            </a:pPr>
            <a:r>
              <a:t>Search registry -&gt; Evaluate fit -&gt; Adapt config -&gt; Only then create new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743200"/>
            <a:ext cx="10972800" cy="1005840"/>
          </a:xfrm>
          <a:prstGeom prst="roundRect">
            <a:avLst/>
          </a:prstGeom>
          <a:solidFill>
            <a:srgbClr val="F8F8FA"/>
          </a:solidFill>
          <a:ln w="12700">
            <a:solidFill>
              <a:srgbClr val="4636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78892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63668"/>
                </a:solidFill>
                <a:latin typeface="Aptos"/>
              </a:defRPr>
            </a:pPr>
            <a:r>
              <a:t>Agents Are Assets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0632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ptos"/>
              </a:defRPr>
            </a:pPr>
            <a:r>
              <a:t>Agents belong to the organization, not individuals or projects. They are versioned, documented, and maintained.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0" y="2788920"/>
            <a:ext cx="1005840" cy="256032"/>
          </a:xfrm>
          <a:prstGeom prst="rect">
            <a:avLst/>
          </a:prstGeom>
          <a:solidFill>
            <a:srgbClr val="4636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1600" rIns="101600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WORKFLOW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0" y="310896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A4E66"/>
                </a:solidFill>
                <a:latin typeface="Aptos"/>
              </a:defRPr>
            </a:pPr>
            <a:r>
              <a:t>Named consistently -&gt; Version-controlled -&gt; Documented -&gt; Maintained centrally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886200"/>
            <a:ext cx="10972800" cy="1005840"/>
          </a:xfrm>
          <a:prstGeom prst="roundRect">
            <a:avLst/>
          </a:prstGeom>
          <a:solidFill>
            <a:srgbClr val="F8F8FA"/>
          </a:solidFill>
          <a:ln w="12700">
            <a:solidFill>
              <a:srgbClr val="225B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93192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25B62"/>
                </a:solidFill>
                <a:latin typeface="Aptos"/>
              </a:defRPr>
            </a:pPr>
            <a:r>
              <a:t>Config Over Code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2062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ptos"/>
              </a:defRPr>
            </a:pPr>
            <a:r>
              <a:t>Project-specific needs are handled through configuration, not by modifying shared agent code.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0" y="3931920"/>
            <a:ext cx="1005840" cy="256032"/>
          </a:xfrm>
          <a:prstGeom prst="rect">
            <a:avLst/>
          </a:prstGeom>
          <a:solidFill>
            <a:srgbClr val="225B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1600" rIns="101600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WORKFLOW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0" y="425196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A4E66"/>
                </a:solidFill>
                <a:latin typeface="Aptos"/>
              </a:defRPr>
            </a:pPr>
            <a:r>
              <a:t>Shared logic stays generic -&gt; Project inputs via config files -&gt; Never hardcode client data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5029200"/>
            <a:ext cx="10972800" cy="1005840"/>
          </a:xfrm>
          <a:prstGeom prst="roundRect">
            <a:avLst/>
          </a:prstGeom>
          <a:solidFill>
            <a:srgbClr val="F8F8FA"/>
          </a:solidFill>
          <a:ln w="12700">
            <a:solidFill>
              <a:srgbClr val="00B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507492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B050"/>
                </a:solidFill>
                <a:latin typeface="Aptos"/>
              </a:defRPr>
            </a:pPr>
            <a:r>
              <a:t>Compound, Don't Repeat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3492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ptos"/>
              </a:defRPr>
            </a:pPr>
            <a:r>
              <a:t>Every engagement should make the system smarter. Improvements flow back to Central Squad.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0" y="5074920"/>
            <a:ext cx="1005840" cy="256032"/>
          </a:xfrm>
          <a:prstGeom prst="rect">
            <a:avLst/>
          </a:prstGeom>
          <a:solidFill>
            <a:srgbClr val="00B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1600" rIns="101600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WORKFLOW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0" y="539496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A4E66"/>
                </a:solidFill>
                <a:latin typeface="Aptos"/>
              </a:defRPr>
            </a:pPr>
            <a:r>
              <a:t>Use agent -&gt; Find improvement -&gt; Submit PR -&gt; Central validates -&gt; All teams benefit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" y="62636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Aptos"/>
              </a:defRPr>
            </a:pPr>
            <a:r>
              <a:t>CONFIDENTIAL  |  Microsoft Accelerate Factory  |  Copilot Squad Runbook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0" y="62636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  <a:latin typeface="Aptos"/>
              </a:defRPr>
            </a:pPr>
            <a:r>
              <a:t>3 / 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91440"/>
            <a:ext cx="12192000" cy="566928"/>
          </a:xfrm>
          <a:prstGeom prst="rect">
            <a:avLst/>
          </a:prstGeom>
          <a:solidFill>
            <a:srgbClr val="01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600" b="1">
                <a:solidFill>
                  <a:srgbClr val="FFFFFF"/>
                </a:solidFill>
                <a:latin typeface="Aptos Display"/>
              </a:defRPr>
            </a:pPr>
            <a:r>
              <a:t>01  Central Squad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4E66"/>
                </a:solidFill>
                <a:latin typeface="Aptos"/>
              </a:defRPr>
            </a:pPr>
            <a:r>
              <a:t>The Central Squad is the brain: it stores agents, prompts, patterns, and institutional memory.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417320"/>
            <a:ext cx="2697480" cy="4389120"/>
          </a:xfrm>
          <a:prstGeom prst="roundRect">
            <a:avLst/>
          </a:prstGeom>
          <a:solidFill>
            <a:srgbClr val="F8F8FA"/>
          </a:solidFill>
          <a:ln w="12700">
            <a:solidFill>
              <a:srgbClr val="01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417320"/>
            <a:ext cx="2697480" cy="502920"/>
          </a:xfrm>
          <a:prstGeom prst="rect">
            <a:avLst/>
          </a:prstGeom>
          <a:solidFill>
            <a:srgbClr val="01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490472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ptos"/>
              </a:defRPr>
            </a:pPr>
            <a:r>
              <a:t>Agents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057400"/>
            <a:ext cx="2423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 b="0">
                <a:solidFill>
                  <a:srgbClr val="333333"/>
                </a:solidFill>
                <a:latin typeface="Aptos"/>
              </a:defRPr>
            </a:pPr>
            <a:r>
              <a:t>Reusable agent charters with</a:t>
            </a:r>
          </a:p>
          <a:p>
            <a:pPr>
              <a:spcAft>
                <a:spcPts val="300"/>
              </a:spcAft>
              <a:defRPr sz="1000" b="0">
                <a:solidFill>
                  <a:srgbClr val="333333"/>
                </a:solidFill>
                <a:latin typeface="Aptos"/>
              </a:defRPr>
            </a:pPr>
            <a:r>
              <a:t>identity, role, expertise, and</a:t>
            </a:r>
          </a:p>
          <a:p>
            <a:pPr>
              <a:spcAft>
                <a:spcPts val="300"/>
              </a:spcAft>
              <a:defRPr sz="1000" b="0">
                <a:solidFill>
                  <a:srgbClr val="333333"/>
                </a:solidFill>
                <a:latin typeface="Aptos"/>
              </a:defRPr>
            </a:pPr>
            <a:r>
              <a:t>behavior rules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971800"/>
            <a:ext cx="1005840" cy="256032"/>
          </a:xfrm>
          <a:prstGeom prst="rect">
            <a:avLst/>
          </a:prstGeom>
          <a:solidFill>
            <a:srgbClr val="4A4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1600" rIns="101600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CONTENTS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337560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ptos"/>
              </a:defRPr>
            </a:pPr>
            <a:r>
              <a:t>  .squad/agents/&lt;name&gt;/charter.md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840480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ptos"/>
              </a:defRPr>
            </a:pPr>
            <a:r>
              <a:t>  Each agent has: name, role, expertise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343400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ptos"/>
              </a:defRPr>
            </a:pPr>
            <a:r>
              <a:t>  Style guide and domain boundaries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846320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ptos"/>
              </a:defRPr>
            </a:pPr>
            <a:r>
              <a:t>  Cross-agent handoff rules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46120" y="1417320"/>
            <a:ext cx="2697480" cy="4389120"/>
          </a:xfrm>
          <a:prstGeom prst="roundRect">
            <a:avLst/>
          </a:prstGeom>
          <a:solidFill>
            <a:srgbClr val="F8F8FA"/>
          </a:solidFill>
          <a:ln w="12700">
            <a:solidFill>
              <a:srgbClr val="4636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46120" y="1417320"/>
            <a:ext cx="2697480" cy="502920"/>
          </a:xfrm>
          <a:prstGeom prst="rect">
            <a:avLst/>
          </a:prstGeom>
          <a:solidFill>
            <a:srgbClr val="4636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83280" y="1490472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ptos"/>
              </a:defRPr>
            </a:pPr>
            <a:r>
              <a:t>Prompts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2057400"/>
            <a:ext cx="2423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 b="0">
                <a:solidFill>
                  <a:srgbClr val="333333"/>
                </a:solidFill>
                <a:latin typeface="Aptos"/>
              </a:defRPr>
            </a:pPr>
            <a:r>
              <a:t>System prompts and templates</a:t>
            </a:r>
          </a:p>
          <a:p>
            <a:pPr>
              <a:spcAft>
                <a:spcPts val="300"/>
              </a:spcAft>
              <a:defRPr sz="1000" b="0">
                <a:solidFill>
                  <a:srgbClr val="333333"/>
                </a:solidFill>
                <a:latin typeface="Aptos"/>
              </a:defRPr>
            </a:pPr>
            <a:r>
              <a:t>that encode organizational</a:t>
            </a:r>
          </a:p>
          <a:p>
            <a:pPr>
              <a:spcAft>
                <a:spcPts val="300"/>
              </a:spcAft>
              <a:defRPr sz="1000" b="0">
                <a:solidFill>
                  <a:srgbClr val="333333"/>
                </a:solidFill>
                <a:latin typeface="Aptos"/>
              </a:defRPr>
            </a:pPr>
            <a:r>
              <a:t>thinking patterns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37560" y="2971800"/>
            <a:ext cx="1005840" cy="256032"/>
          </a:xfrm>
          <a:prstGeom prst="rect">
            <a:avLst/>
          </a:prstGeom>
          <a:solidFill>
            <a:srgbClr val="4A4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1600" rIns="101600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CONTENTS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3280" y="3337560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ptos"/>
              </a:defRPr>
            </a:pPr>
            <a:r>
              <a:t>  AGENTS.md (operating instructions)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83280" y="3840480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ptos"/>
              </a:defRPr>
            </a:pPr>
            <a:r>
              <a:t>  CLAUDE.md (session memory)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83280" y="4343400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ptos"/>
              </a:defRPr>
            </a:pPr>
            <a:r>
              <a:t>  Routing rules (.squad/routing.md)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83280" y="4846320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ptos"/>
              </a:defRPr>
            </a:pPr>
            <a:r>
              <a:t>  Response format standards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26480" y="1417320"/>
            <a:ext cx="2697480" cy="4389120"/>
          </a:xfrm>
          <a:prstGeom prst="roundRect">
            <a:avLst/>
          </a:prstGeom>
          <a:solidFill>
            <a:srgbClr val="F8F8FA"/>
          </a:solidFill>
          <a:ln w="12700">
            <a:solidFill>
              <a:srgbClr val="225B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26480" y="1417320"/>
            <a:ext cx="2697480" cy="502920"/>
          </a:xfrm>
          <a:prstGeom prst="rect">
            <a:avLst/>
          </a:prstGeom>
          <a:solidFill>
            <a:srgbClr val="225B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63640" y="1490472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ptos"/>
              </a:defRPr>
            </a:pPr>
            <a:r>
              <a:t>Patterns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640" y="2057400"/>
            <a:ext cx="2423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 b="0">
                <a:solidFill>
                  <a:srgbClr val="333333"/>
                </a:solidFill>
                <a:latin typeface="Aptos"/>
              </a:defRPr>
            </a:pPr>
            <a:r>
              <a:t>Reusable code patterns,</a:t>
            </a:r>
          </a:p>
          <a:p>
            <a:pPr>
              <a:spcAft>
                <a:spcPts val="300"/>
              </a:spcAft>
              <a:defRPr sz="1000" b="0">
                <a:solidFill>
                  <a:srgbClr val="333333"/>
                </a:solidFill>
                <a:latin typeface="Aptos"/>
              </a:defRPr>
            </a:pPr>
            <a:r>
              <a:t>IaC templates, and delivery</a:t>
            </a:r>
          </a:p>
          <a:p>
            <a:pPr>
              <a:spcAft>
                <a:spcPts val="300"/>
              </a:spcAft>
              <a:defRPr sz="1000" b="0">
                <a:solidFill>
                  <a:srgbClr val="333333"/>
                </a:solidFill>
                <a:latin typeface="Aptos"/>
              </a:defRPr>
            </a:pPr>
            <a:r>
              <a:t>playbooks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0" y="2971800"/>
            <a:ext cx="1005840" cy="256032"/>
          </a:xfrm>
          <a:prstGeom prst="rect">
            <a:avLst/>
          </a:prstGeom>
          <a:solidFill>
            <a:srgbClr val="4A4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1600" rIns="101600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CONTENTS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63640" y="3337560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ptos"/>
              </a:defRPr>
            </a:pPr>
            <a:r>
              <a:t>  Bicep/Terraform templates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63640" y="3840480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ptos"/>
              </a:defRPr>
            </a:pPr>
            <a:r>
              <a:t>  CI/CD pipeline templates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63640" y="4343400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ptos"/>
              </a:defRPr>
            </a:pPr>
            <a:r>
              <a:t>  Testing frameworks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63640" y="4846320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ptos"/>
              </a:defRPr>
            </a:pPr>
            <a:r>
              <a:t>  Architecture decision records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006840" y="1417320"/>
            <a:ext cx="2697480" cy="4389120"/>
          </a:xfrm>
          <a:prstGeom prst="roundRect">
            <a:avLst/>
          </a:prstGeom>
          <a:solidFill>
            <a:srgbClr val="F8F8FA"/>
          </a:solidFill>
          <a:ln w="12700">
            <a:solidFill>
              <a:srgbClr val="00B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006840" y="1417320"/>
            <a:ext cx="2697480" cy="502920"/>
          </a:xfrm>
          <a:prstGeom prst="rect">
            <a:avLst/>
          </a:prstGeom>
          <a:solidFill>
            <a:srgbClr val="00B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0" y="1490472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ptos"/>
              </a:defRPr>
            </a:pPr>
            <a:r>
              <a:t>Decisions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0" y="2057400"/>
            <a:ext cx="2423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 b="0">
                <a:solidFill>
                  <a:srgbClr val="333333"/>
                </a:solidFill>
                <a:latin typeface="Aptos"/>
              </a:defRPr>
            </a:pPr>
            <a:r>
              <a:t>Institutional memory that</a:t>
            </a:r>
          </a:p>
          <a:p>
            <a:pPr>
              <a:spcAft>
                <a:spcPts val="300"/>
              </a:spcAft>
              <a:defRPr sz="1000" b="0">
                <a:solidFill>
                  <a:srgbClr val="333333"/>
                </a:solidFill>
                <a:latin typeface="Aptos"/>
              </a:defRPr>
            </a:pPr>
            <a:r>
              <a:t>prevents repeating mistakes</a:t>
            </a:r>
          </a:p>
          <a:p>
            <a:pPr>
              <a:spcAft>
                <a:spcPts val="300"/>
              </a:spcAft>
              <a:defRPr sz="1000" b="0">
                <a:solidFill>
                  <a:srgbClr val="333333"/>
                </a:solidFill>
                <a:latin typeface="Aptos"/>
              </a:defRPr>
            </a:pPr>
            <a:r>
              <a:t>and losing context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098280" y="2971800"/>
            <a:ext cx="1005840" cy="256032"/>
          </a:xfrm>
          <a:prstGeom prst="rect">
            <a:avLst/>
          </a:prstGeom>
          <a:solidFill>
            <a:srgbClr val="4A4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1600" rIns="101600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CONTENTS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3337560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ptos"/>
              </a:defRPr>
            </a:pPr>
            <a:r>
              <a:t>  .squad/decisions.md (active decisions)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0" y="3840480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ptos"/>
              </a:defRPr>
            </a:pPr>
            <a:r>
              <a:t>  JOURNAL.md (build history)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4343400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ptos"/>
              </a:defRPr>
            </a:pPr>
            <a:r>
              <a:t>  Lessons learned per engagement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4846320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ptos"/>
              </a:defRPr>
            </a:pPr>
            <a:r>
              <a:t>  Trade-off documentation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65760" y="5486400"/>
            <a:ext cx="11430000" cy="320040"/>
          </a:xfrm>
          <a:prstGeom prst="round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0080" y="550468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Aptos"/>
              </a:defRPr>
            </a:pPr>
            <a:r>
              <a:t>Naming:  agent-&lt;domain&gt;-&lt;capability&gt;  |  prompt-&lt;context&gt;-&lt;version&gt;  |  pattern-&lt;type&gt;-&lt;stack&gt;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74320" y="62636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Aptos"/>
              </a:defRPr>
            </a:pPr>
            <a:r>
              <a:t>CONFIDENTIAL  |  Microsoft Accelerate Factory  |  Copilot Squad Runbook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515600" y="62636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  <a:latin typeface="Aptos"/>
              </a:defRPr>
            </a:pPr>
            <a:r>
              <a:t>4 / 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91440"/>
            <a:ext cx="12192000" cy="566928"/>
          </a:xfrm>
          <a:prstGeom prst="rect">
            <a:avLst/>
          </a:prstGeom>
          <a:solidFill>
            <a:srgbClr val="01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600" b="1">
                <a:solidFill>
                  <a:srgbClr val="FFFFFF"/>
                </a:solidFill>
                <a:latin typeface="Aptos Display"/>
              </a:defRPr>
            </a:pPr>
            <a:r>
              <a:t>02  SubSquad Creation (Project Teams)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4E66"/>
                </a:solidFill>
                <a:latin typeface="Aptos"/>
              </a:defRPr>
            </a:pPr>
            <a:r>
              <a:t>SubSquads are project execution teams. They pull agents from Central and configure for the engagement.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17320"/>
            <a:ext cx="5394960" cy="1280160"/>
          </a:xfrm>
          <a:prstGeom prst="roundRect">
            <a:avLst/>
          </a:prstGeom>
          <a:solidFill>
            <a:srgbClr val="F8F8FA"/>
          </a:solidFill>
          <a:ln w="12700">
            <a:solidFill>
              <a:srgbClr val="01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85800" y="1691640"/>
            <a:ext cx="457200" cy="457200"/>
          </a:xfrm>
          <a:prstGeom prst="ellipse">
            <a:avLst/>
          </a:prstGeom>
          <a:solidFill>
            <a:srgbClr val="01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50876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178D4"/>
                </a:solidFill>
                <a:latin typeface="Aptos"/>
              </a:defRPr>
            </a:pPr>
            <a:r>
              <a:t>Assess Project Needs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1828800"/>
            <a:ext cx="4297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 b="0">
                <a:solidFill>
                  <a:srgbClr val="333333"/>
                </a:solidFill>
                <a:latin typeface="Aptos"/>
              </a:defRPr>
            </a:pPr>
            <a:r>
              <a:t>Identify required capabilities: backend, IaC, QA, AI, DevOps. Map to Factory phases.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17320"/>
            <a:ext cx="5394960" cy="1280160"/>
          </a:xfrm>
          <a:prstGeom prst="roundRect">
            <a:avLst/>
          </a:prstGeom>
          <a:solidFill>
            <a:srgbClr val="F8F8FA"/>
          </a:solidFill>
          <a:ln w="12700">
            <a:solidFill>
              <a:srgbClr val="4636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46520" y="1691640"/>
            <a:ext cx="457200" cy="457200"/>
          </a:xfrm>
          <a:prstGeom prst="ellipse">
            <a:avLst/>
          </a:prstGeom>
          <a:solidFill>
            <a:srgbClr val="4636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0" y="150876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63668"/>
                </a:solidFill>
                <a:latin typeface="Aptos"/>
              </a:defRPr>
            </a:pPr>
            <a:r>
              <a:t>Search Central Registry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0" y="1828800"/>
            <a:ext cx="4297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 b="0">
                <a:solidFill>
                  <a:srgbClr val="333333"/>
                </a:solidFill>
                <a:latin typeface="Aptos"/>
              </a:defRPr>
            </a:pPr>
            <a:r>
              <a:t>npx snap-squad list   Browse available agents, prompts, and patterns. Check fit.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926080"/>
            <a:ext cx="5394960" cy="1280160"/>
          </a:xfrm>
          <a:prstGeom prst="roundRect">
            <a:avLst/>
          </a:prstGeom>
          <a:solidFill>
            <a:srgbClr val="F8F8FA"/>
          </a:solidFill>
          <a:ln w="12700">
            <a:solidFill>
              <a:srgbClr val="225B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85800" y="3200400"/>
            <a:ext cx="457200" cy="457200"/>
          </a:xfrm>
          <a:prstGeom prst="ellipse">
            <a:avLst/>
          </a:prstGeom>
          <a:solidFill>
            <a:srgbClr val="225B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01752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25B62"/>
                </a:solidFill>
                <a:latin typeface="Aptos"/>
              </a:defRPr>
            </a:pPr>
            <a:r>
              <a:t>Pull Required Agents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3337560"/>
            <a:ext cx="4297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 b="0">
                <a:solidFill>
                  <a:srgbClr val="333333"/>
                </a:solidFill>
                <a:latin typeface="Aptos"/>
              </a:defRPr>
            </a:pPr>
            <a:r>
              <a:t>npx snap-squad init --type &lt;preset&gt;   Clone agents into project workspace.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2926080"/>
            <a:ext cx="5394960" cy="1280160"/>
          </a:xfrm>
          <a:prstGeom prst="roundRect">
            <a:avLst/>
          </a:prstGeom>
          <a:solidFill>
            <a:srgbClr val="F8F8FA"/>
          </a:solidFill>
          <a:ln w="12700">
            <a:solidFill>
              <a:srgbClr val="00B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46520" y="3200400"/>
            <a:ext cx="457200" cy="457200"/>
          </a:xfrm>
          <a:prstGeom prst="ellipse">
            <a:avLst/>
          </a:prstGeom>
          <a:solidFill>
            <a:srgbClr val="00B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0" y="301752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B050"/>
                </a:solidFill>
                <a:latin typeface="Aptos"/>
              </a:defRPr>
            </a:pPr>
            <a:r>
              <a:t>Configure Project Context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0" y="3337560"/>
            <a:ext cx="4297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 b="0">
                <a:solidFill>
                  <a:srgbClr val="333333"/>
                </a:solidFill>
                <a:latin typeface="Aptos"/>
              </a:defRPr>
            </a:pPr>
            <a:r>
              <a:t>Update CLAUDE.md with project owner, stack, and description. Set project-specific inputs only.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4434840"/>
            <a:ext cx="5394960" cy="1280160"/>
          </a:xfrm>
          <a:prstGeom prst="roundRect">
            <a:avLst/>
          </a:prstGeom>
          <a:solidFill>
            <a:srgbClr val="F8F8FA"/>
          </a:solidFill>
          <a:ln w="12700">
            <a:solidFill>
              <a:srgbClr val="D83B0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85800" y="4709160"/>
            <a:ext cx="457200" cy="457200"/>
          </a:xfrm>
          <a:prstGeom prst="ellipse">
            <a:avLst/>
          </a:prstGeom>
          <a:solidFill>
            <a:srgbClr val="D83B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452628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83B02"/>
                </a:solidFill>
                <a:latin typeface="Aptos"/>
              </a:defRPr>
            </a:pPr>
            <a:r>
              <a:t>Set Routing Rules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4846320"/>
            <a:ext cx="4297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 b="0">
                <a:solidFill>
                  <a:srgbClr val="333333"/>
                </a:solidFill>
                <a:latin typeface="Aptos"/>
              </a:defRPr>
            </a:pPr>
            <a:r>
              <a:t>Update .squad/routing.md to map work types to agents. Define handoff rules.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4434840"/>
            <a:ext cx="5394960" cy="1280160"/>
          </a:xfrm>
          <a:prstGeom prst="roundRect">
            <a:avLst/>
          </a:prstGeom>
          <a:solidFill>
            <a:srgbClr val="F8F8FA"/>
          </a:solidFill>
          <a:ln w="12700">
            <a:solidFill>
              <a:srgbClr val="FE8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446520" y="4709160"/>
            <a:ext cx="457200" cy="457200"/>
          </a:xfrm>
          <a:prstGeom prst="ellipse">
            <a:avLst/>
          </a:prstGeom>
          <a:solidFill>
            <a:srgbClr val="FE8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40880" y="452628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E8B00"/>
                </a:solidFill>
                <a:latin typeface="Aptos"/>
              </a:defRPr>
            </a:pPr>
            <a:r>
              <a:t>Start Execution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40880" y="4846320"/>
            <a:ext cx="4297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 b="0">
                <a:solidFill>
                  <a:srgbClr val="333333"/>
                </a:solidFill>
                <a:latin typeface="Aptos"/>
              </a:defRPr>
            </a:pPr>
            <a:r>
              <a:t>SubSquad is ready. Agents handle implementation, testing, docs, and deployment.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5577840"/>
            <a:ext cx="10972800" cy="274320"/>
          </a:xfrm>
          <a:prstGeom prst="roundRect">
            <a:avLst/>
          </a:prstGeom>
          <a:solidFill>
            <a:srgbClr val="F2F7FA"/>
          </a:solidFill>
          <a:ln w="12700">
            <a:solidFill>
              <a:srgbClr val="01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5596128"/>
            <a:ext cx="10424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178D4"/>
                </a:solidFill>
                <a:latin typeface="Aptos"/>
              </a:defRPr>
            </a:pPr>
            <a:r>
              <a:t>Never modify shared agent logic for project needs. Use configuration files for project-specific inputs.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" y="62636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Aptos"/>
              </a:defRPr>
            </a:pPr>
            <a:r>
              <a:t>CONFIDENTIAL  |  Microsoft Accelerate Factory  |  Copilot Squad Runbook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0" y="62636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  <a:latin typeface="Aptos"/>
              </a:defRPr>
            </a:pPr>
            <a:r>
              <a:t>5 / 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91440"/>
            <a:ext cx="12192000" cy="566928"/>
          </a:xfrm>
          <a:prstGeom prst="rect">
            <a:avLst/>
          </a:prstGeom>
          <a:solidFill>
            <a:srgbClr val="01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600" b="1">
                <a:solidFill>
                  <a:srgbClr val="FFFFFF"/>
                </a:solidFill>
                <a:latin typeface="Aptos Display"/>
              </a:defRPr>
            </a:pPr>
            <a:r>
              <a:t>03  Creating Agents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3200400" cy="256032"/>
          </a:xfrm>
          <a:prstGeom prst="rect">
            <a:avLst/>
          </a:prstGeom>
          <a:solidFill>
            <a:srgbClr val="01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1600" rIns="101600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DECISION: REUSE OR CREATE?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5303520" cy="228600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00B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B050"/>
                </a:solidFill>
                <a:latin typeface="Aptos"/>
              </a:defRPr>
            </a:pPr>
            <a:r>
              <a:t>REUSE (Default Path)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8308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ptos"/>
              </a:defRPr>
            </a:pPr>
            <a:r>
              <a:t>  An agent with similar capability exists in Central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4884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ptos"/>
              </a:defRPr>
            </a:pPr>
            <a:r>
              <a:t>  You can achieve the goal with configuration changes only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51460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ptos"/>
              </a:defRPr>
            </a:pPr>
            <a:r>
              <a:t>  The gap is &lt; 20% of the agent's current capability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88036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ptos"/>
              </a:defRPr>
            </a:pPr>
            <a:r>
              <a:t>  Another team has solved a similar problem before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371600"/>
            <a:ext cx="5303520" cy="2286000"/>
          </a:xfrm>
          <a:prstGeom prst="roundRect">
            <a:avLst/>
          </a:prstGeom>
          <a:solidFill>
            <a:srgbClr val="FFF3E0"/>
          </a:solidFill>
          <a:ln w="12700">
            <a:solidFill>
              <a:srgbClr val="FE8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141732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E8B00"/>
                </a:solidFill>
                <a:latin typeface="Aptos"/>
              </a:defRPr>
            </a:pPr>
            <a:r>
              <a:t>CREATE NEW (Exception Path)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78308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ptos"/>
              </a:defRPr>
            </a:pPr>
            <a:r>
              <a:t>  No agent with overlapping capability exists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14884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ptos"/>
              </a:defRPr>
            </a:pPr>
            <a:r>
              <a:t>  The domain is entirely new to the organization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51460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ptos"/>
              </a:defRPr>
            </a:pPr>
            <a:r>
              <a:t>  Configuration cannot bridge the gap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88036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ptos"/>
              </a:defRPr>
            </a:pPr>
            <a:r>
              <a:t>  Approved by Central Squad Architect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931920"/>
            <a:ext cx="3657600" cy="256032"/>
          </a:xfrm>
          <a:prstGeom prst="rect">
            <a:avLst/>
          </a:prstGeom>
          <a:solidFill>
            <a:srgbClr val="4636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1600" rIns="101600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HOW TO CREATE A REUSABLE AGENT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343400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63668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434340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63668"/>
                </a:solidFill>
                <a:latin typeface="Aptos"/>
              </a:defRPr>
            </a:pPr>
            <a:r>
              <a:t>Define Charter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60320" y="4343400"/>
            <a:ext cx="8686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ptos"/>
              </a:defRPr>
            </a:pPr>
            <a:r>
              <a:t>Create .squad/agents/&lt;name&gt;/charter.md with identity, role, expertise, style, and boundaries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690872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63668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4690872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63668"/>
                </a:solidFill>
                <a:latin typeface="Aptos"/>
              </a:defRPr>
            </a:pPr>
            <a:r>
              <a:t>Keep Generic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60320" y="4690872"/>
            <a:ext cx="8686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ptos"/>
              </a:defRPr>
            </a:pPr>
            <a:r>
              <a:t>No client names, project IDs, or sensitive data. Use template variables for project-specific values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5038344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63668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5038344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63668"/>
                </a:solidFill>
                <a:latin typeface="Aptos"/>
              </a:defRPr>
            </a:pPr>
            <a:r>
              <a:t>Add Routing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60320" y="5038344"/>
            <a:ext cx="8686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ptos"/>
              </a:defRPr>
            </a:pPr>
            <a:r>
              <a:t>Update routing.md to map work types to the new agent. Define when it should lead vs. support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5385816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63668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5385816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63668"/>
                </a:solidFill>
                <a:latin typeface="Aptos"/>
              </a:defRPr>
            </a:pPr>
            <a:r>
              <a:t>Test Isolation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60320" y="5385816"/>
            <a:ext cx="8686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ptos"/>
              </a:defRPr>
            </a:pPr>
            <a:r>
              <a:t>Verify the agent works with zero project context. It must be usable by any SubSquad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5733288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63668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" y="5733288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63668"/>
                </a:solidFill>
                <a:latin typeface="Aptos"/>
              </a:defRPr>
            </a:pPr>
            <a:r>
              <a:t>Submit to Central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560320" y="5733288"/>
            <a:ext cx="8686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ptos"/>
              </a:defRPr>
            </a:pPr>
            <a:r>
              <a:t>Open PR to Central Squad repo. Include: charter, test results, usage examples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4320" y="62636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Aptos"/>
              </a:defRPr>
            </a:pPr>
            <a:r>
              <a:t>CONFIDENTIAL  |  Microsoft Accelerate Factory  |  Copilot Squad Runbook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0" y="62636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  <a:latin typeface="Aptos"/>
              </a:defRPr>
            </a:pPr>
            <a:r>
              <a:t>6 / 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91440"/>
            <a:ext cx="12192000" cy="566928"/>
          </a:xfrm>
          <a:prstGeom prst="rect">
            <a:avLst/>
          </a:prstGeom>
          <a:solidFill>
            <a:srgbClr val="01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600" b="1">
                <a:solidFill>
                  <a:srgbClr val="FFFFFF"/>
                </a:solidFill>
                <a:latin typeface="Aptos Display"/>
              </a:defRPr>
            </a:pPr>
            <a:r>
              <a:t>04  Publishing &amp; Sharing Agents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4E66"/>
                </a:solidFill>
                <a:latin typeface="Aptos"/>
              </a:defRPr>
            </a:pPr>
            <a:r>
              <a:t>Every shared agent goes through a structured publish pipeline to ensure quality and security.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417320"/>
            <a:ext cx="2103120" cy="2011680"/>
          </a:xfrm>
          <a:prstGeom prst="roundRect">
            <a:avLst/>
          </a:prstGeom>
          <a:solidFill>
            <a:srgbClr val="F8F8FA"/>
          </a:solidFill>
          <a:ln w="12700">
            <a:solidFill>
              <a:srgbClr val="01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2103120" cy="411480"/>
          </a:xfrm>
          <a:prstGeom prst="rect">
            <a:avLst/>
          </a:prstGeom>
          <a:solidFill>
            <a:srgbClr val="01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46304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DEVELOP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96596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 b="0">
                <a:solidFill>
                  <a:srgbClr val="333333"/>
                </a:solidFill>
                <a:latin typeface="Aptos"/>
              </a:defRPr>
            </a:pPr>
            <a:r>
              <a:t>Build and test</a:t>
            </a:r>
          </a:p>
          <a:p>
            <a:pPr>
              <a:spcAft>
                <a:spcPts val="300"/>
              </a:spcAft>
              <a:defRPr sz="1100" b="0">
                <a:solidFill>
                  <a:srgbClr val="333333"/>
                </a:solidFill>
                <a:latin typeface="Aptos"/>
              </a:defRPr>
            </a:pPr>
            <a:r>
              <a:t>agent locally in</a:t>
            </a:r>
          </a:p>
          <a:p>
            <a:pPr>
              <a:spcAft>
                <a:spcPts val="300"/>
              </a:spcAft>
              <a:defRPr sz="1100" b="0">
                <a:solidFill>
                  <a:srgbClr val="333333"/>
                </a:solidFill>
                <a:latin typeface="Aptos"/>
              </a:defRPr>
            </a:pPr>
            <a:r>
              <a:t>SubSquad context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423160" y="2194560"/>
            <a:ext cx="164592" cy="228600"/>
          </a:xfrm>
          <a:prstGeom prst="rightArrow">
            <a:avLst/>
          </a:prstGeom>
          <a:solidFill>
            <a:srgbClr val="01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606039" y="1417320"/>
            <a:ext cx="2103120" cy="2011680"/>
          </a:xfrm>
          <a:prstGeom prst="roundRect">
            <a:avLst/>
          </a:prstGeom>
          <a:solidFill>
            <a:srgbClr val="F8F8FA"/>
          </a:solidFill>
          <a:ln w="12700">
            <a:solidFill>
              <a:srgbClr val="4636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606039" y="1417320"/>
            <a:ext cx="2103120" cy="411480"/>
          </a:xfrm>
          <a:prstGeom prst="rect">
            <a:avLst/>
          </a:prstGeom>
          <a:solidFill>
            <a:srgbClr val="4636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97479" y="146304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SUBMIT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199" y="196596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 b="0">
                <a:solidFill>
                  <a:srgbClr val="333333"/>
                </a:solidFill>
                <a:latin typeface="Aptos"/>
              </a:defRPr>
            </a:pPr>
            <a:r>
              <a:t>Open PR to</a:t>
            </a:r>
          </a:p>
          <a:p>
            <a:pPr>
              <a:spcAft>
                <a:spcPts val="300"/>
              </a:spcAft>
              <a:defRPr sz="1100" b="0">
                <a:solidFill>
                  <a:srgbClr val="333333"/>
                </a:solidFill>
                <a:latin typeface="Aptos"/>
              </a:defRPr>
            </a:pPr>
            <a:r>
              <a:t>Central Squad</a:t>
            </a:r>
          </a:p>
          <a:p>
            <a:pPr>
              <a:spcAft>
                <a:spcPts val="300"/>
              </a:spcAft>
              <a:defRPr sz="1100" b="0">
                <a:solidFill>
                  <a:srgbClr val="333333"/>
                </a:solidFill>
                <a:latin typeface="Aptos"/>
              </a:defRPr>
            </a:pPr>
            <a:r>
              <a:t>repository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754879" y="2194560"/>
            <a:ext cx="164592" cy="228600"/>
          </a:xfrm>
          <a:prstGeom prst="rightArrow">
            <a:avLst/>
          </a:prstGeom>
          <a:solidFill>
            <a:srgbClr val="4636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937759" y="1417320"/>
            <a:ext cx="2103120" cy="2011680"/>
          </a:xfrm>
          <a:prstGeom prst="roundRect">
            <a:avLst/>
          </a:prstGeom>
          <a:solidFill>
            <a:srgbClr val="F8F8FA"/>
          </a:solidFill>
          <a:ln w="12700">
            <a:solidFill>
              <a:srgbClr val="FE8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937759" y="1417320"/>
            <a:ext cx="2103120" cy="411480"/>
          </a:xfrm>
          <a:prstGeom prst="rect">
            <a:avLst/>
          </a:prstGeom>
          <a:solidFill>
            <a:srgbClr val="FE8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199" y="146304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REVIEW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74919" y="196596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 b="0">
                <a:solidFill>
                  <a:srgbClr val="333333"/>
                </a:solidFill>
                <a:latin typeface="Aptos"/>
              </a:defRPr>
            </a:pPr>
            <a:r>
              <a:t>Peer review +</a:t>
            </a:r>
          </a:p>
          <a:p>
            <a:pPr>
              <a:spcAft>
                <a:spcPts val="300"/>
              </a:spcAft>
              <a:defRPr sz="1100" b="0">
                <a:solidFill>
                  <a:srgbClr val="333333"/>
                </a:solidFill>
                <a:latin typeface="Aptos"/>
              </a:defRPr>
            </a:pPr>
            <a:r>
              <a:t>Architect sign-off</a:t>
            </a:r>
          </a:p>
          <a:p>
            <a:pPr>
              <a:spcAft>
                <a:spcPts val="300"/>
              </a:spcAft>
              <a:defRPr sz="1100" b="0">
                <a:solidFill>
                  <a:srgbClr val="333333"/>
                </a:solidFill>
                <a:latin typeface="Aptos"/>
              </a:defRPr>
            </a:pPr>
            <a:r>
              <a:t>required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7086599" y="2194560"/>
            <a:ext cx="164592" cy="228600"/>
          </a:xfrm>
          <a:prstGeom prst="rightArrow">
            <a:avLst/>
          </a:prstGeom>
          <a:solidFill>
            <a:srgbClr val="FE8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269479" y="1417320"/>
            <a:ext cx="2103120" cy="2011680"/>
          </a:xfrm>
          <a:prstGeom prst="roundRect">
            <a:avLst/>
          </a:prstGeom>
          <a:solidFill>
            <a:srgbClr val="F8F8FA"/>
          </a:solidFill>
          <a:ln w="12700">
            <a:solidFill>
              <a:srgbClr val="00B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269479" y="1417320"/>
            <a:ext cx="2103120" cy="411480"/>
          </a:xfrm>
          <a:prstGeom prst="rect">
            <a:avLst/>
          </a:prstGeom>
          <a:solidFill>
            <a:srgbClr val="00B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60919" y="146304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VALIDATE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06639" y="196596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 b="0">
                <a:solidFill>
                  <a:srgbClr val="333333"/>
                </a:solidFill>
                <a:latin typeface="Aptos"/>
              </a:defRPr>
            </a:pPr>
            <a:r>
              <a:t>Automated checks:</a:t>
            </a:r>
          </a:p>
          <a:p>
            <a:pPr>
              <a:spcAft>
                <a:spcPts val="300"/>
              </a:spcAft>
              <a:defRPr sz="1100" b="0">
                <a:solidFill>
                  <a:srgbClr val="333333"/>
                </a:solidFill>
                <a:latin typeface="Aptos"/>
              </a:defRPr>
            </a:pPr>
            <a:r>
              <a:t>security scan,</a:t>
            </a:r>
          </a:p>
          <a:p>
            <a:pPr>
              <a:spcAft>
                <a:spcPts val="300"/>
              </a:spcAft>
              <a:defRPr sz="1100" b="0">
                <a:solidFill>
                  <a:srgbClr val="333333"/>
                </a:solidFill>
                <a:latin typeface="Aptos"/>
              </a:defRPr>
            </a:pPr>
            <a:r>
              <a:t>isolation test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9418319" y="2194560"/>
            <a:ext cx="164592" cy="228600"/>
          </a:xfrm>
          <a:prstGeom prst="rightArrow">
            <a:avLst/>
          </a:prstGeom>
          <a:solidFill>
            <a:srgbClr val="00B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601200" y="1417320"/>
            <a:ext cx="2103120" cy="2011680"/>
          </a:xfrm>
          <a:prstGeom prst="roundRect">
            <a:avLst/>
          </a:prstGeom>
          <a:solidFill>
            <a:srgbClr val="F8F8FA"/>
          </a:solidFill>
          <a:ln w="12700">
            <a:solidFill>
              <a:srgbClr val="225B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601200" y="1417320"/>
            <a:ext cx="2103120" cy="411480"/>
          </a:xfrm>
          <a:prstGeom prst="rect">
            <a:avLst/>
          </a:prstGeom>
          <a:solidFill>
            <a:srgbClr val="225B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92640" y="146304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PUBLISH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38360" y="196596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 b="0">
                <a:solidFill>
                  <a:srgbClr val="333333"/>
                </a:solidFill>
                <a:latin typeface="Aptos"/>
              </a:defRPr>
            </a:pPr>
            <a:r>
              <a:t>Merge to Central,</a:t>
            </a:r>
          </a:p>
          <a:p>
            <a:pPr>
              <a:spcAft>
                <a:spcPts val="300"/>
              </a:spcAft>
              <a:defRPr sz="1100" b="0">
                <a:solidFill>
                  <a:srgbClr val="333333"/>
                </a:solidFill>
                <a:latin typeface="Aptos"/>
              </a:defRPr>
            </a:pPr>
            <a:r>
              <a:t>assign version,</a:t>
            </a:r>
          </a:p>
          <a:p>
            <a:pPr>
              <a:spcAft>
                <a:spcPts val="300"/>
              </a:spcAft>
              <a:defRPr sz="1100" b="0">
                <a:solidFill>
                  <a:srgbClr val="333333"/>
                </a:solidFill>
                <a:latin typeface="Aptos"/>
              </a:defRPr>
            </a:pPr>
            <a:r>
              <a:t>update catalog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3657600"/>
            <a:ext cx="2011680" cy="256032"/>
          </a:xfrm>
          <a:prstGeom prst="rect">
            <a:avLst/>
          </a:prstGeom>
          <a:solidFill>
            <a:srgbClr val="D83B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1600" rIns="101600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VERSIONING RULES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411480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D83B02"/>
                </a:solidFill>
                <a:latin typeface="Aptos"/>
              </a:defRPr>
            </a:pPr>
            <a:r>
              <a:t>MAJOR (v2.0)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560320" y="411480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ptos"/>
              </a:defRPr>
            </a:pPr>
            <a:r>
              <a:t>Breaking changes to agent charter or behavior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0" y="4114800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4E66"/>
                </a:solidFill>
                <a:latin typeface="Aptos"/>
              </a:defRPr>
            </a:pPr>
            <a:r>
              <a:t>Requires migration guide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470916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D83B02"/>
                </a:solidFill>
                <a:latin typeface="Aptos"/>
              </a:defRPr>
            </a:pPr>
            <a:r>
              <a:t>MINOR (v1.1)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560320" y="470916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ptos"/>
              </a:defRPr>
            </a:pPr>
            <a:r>
              <a:t>New capabilities added, backward compatible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0" y="4709160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4E66"/>
                </a:solidFill>
                <a:latin typeface="Aptos"/>
              </a:defRPr>
            </a:pPr>
            <a:r>
              <a:t>Requires changelog entry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53035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D83B02"/>
                </a:solidFill>
                <a:latin typeface="Aptos"/>
              </a:defRPr>
            </a:pPr>
            <a:r>
              <a:t>PATCH (v1.0.1)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560320" y="53035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ptos"/>
              </a:defRPr>
            </a:pPr>
            <a:r>
              <a:t>Bug fixes, prompt refinements, typo corrections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0" y="5303520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4E66"/>
                </a:solidFill>
                <a:latin typeface="Aptos"/>
              </a:defRPr>
            </a:pPr>
            <a:r>
              <a:t>Auto-approved if tests pass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5394960"/>
            <a:ext cx="2560320" cy="256032"/>
          </a:xfrm>
          <a:prstGeom prst="rect">
            <a:avLst/>
          </a:prstGeom>
          <a:solidFill>
            <a:srgbClr val="225B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1600" rIns="101600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REQUIRED DOCUMENTATION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" y="562356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ptos"/>
              </a:defRPr>
            </a:pPr>
            <a:r>
              <a:t>  Charter (.md)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880360" y="562356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ptos"/>
              </a:defRPr>
            </a:pPr>
            <a:r>
              <a:t>  Usage examples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20640" y="562356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ptos"/>
              </a:defRPr>
            </a:pPr>
            <a:r>
              <a:t>  Test results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60920" y="562356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ptos"/>
              </a:defRPr>
            </a:pPr>
            <a:r>
              <a:t>  Changelog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01200" y="562356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ptos"/>
              </a:defRPr>
            </a:pPr>
            <a:r>
              <a:t>  Migration notes (if major)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74320" y="62636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Aptos"/>
              </a:defRPr>
            </a:pPr>
            <a:r>
              <a:t>CONFIDENTIAL  |  Microsoft Accelerate Factory  |  Copilot Squad Runbook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515600" y="62636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  <a:latin typeface="Aptos"/>
              </a:defRPr>
            </a:pPr>
            <a:r>
              <a:t>7 / 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91440"/>
            <a:ext cx="12192000" cy="566928"/>
          </a:xfrm>
          <a:prstGeom prst="rect">
            <a:avLst/>
          </a:prstGeom>
          <a:solidFill>
            <a:srgbClr val="01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600" b="1">
                <a:solidFill>
                  <a:srgbClr val="FFFFFF"/>
                </a:solidFill>
                <a:latin typeface="Aptos Display"/>
              </a:defRPr>
            </a:pPr>
            <a:r>
              <a:t>05  Reusing Agents (Core Behavior)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914400"/>
            <a:ext cx="10972800" cy="457200"/>
          </a:xfrm>
          <a:prstGeom prst="roundRect">
            <a:avLst/>
          </a:prstGeom>
          <a:solidFill>
            <a:srgbClr val="F2F7FA"/>
          </a:solidFill>
          <a:ln w="12700">
            <a:solidFill>
              <a:srgbClr val="01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10424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178D4"/>
                </a:solidFill>
                <a:latin typeface="Aptos"/>
              </a:defRPr>
            </a:pPr>
            <a:r>
              <a:t>Reuse is the DEFAULT. Creating new agents is the EXCEPTION. Search first, always.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554480"/>
            <a:ext cx="10972800" cy="640080"/>
          </a:xfrm>
          <a:prstGeom prst="roundRect">
            <a:avLst/>
          </a:prstGeom>
          <a:solidFill>
            <a:srgbClr val="F8F8FA"/>
          </a:solidFill>
          <a:ln w="12700">
            <a:solidFill>
              <a:srgbClr val="01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080" y="1627632"/>
            <a:ext cx="347472" cy="347472"/>
          </a:xfrm>
          <a:prstGeom prst="ellipse">
            <a:avLst/>
          </a:prstGeom>
          <a:solidFill>
            <a:srgbClr val="01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572768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178D4"/>
                </a:solidFill>
                <a:latin typeface="Aptos"/>
              </a:defRPr>
            </a:pPr>
            <a:r>
              <a:t>Discover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0" y="1572768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00" b="0">
                <a:solidFill>
                  <a:srgbClr val="333333"/>
                </a:solidFill>
                <a:latin typeface="Aptos"/>
              </a:defRPr>
            </a:pPr>
            <a:r>
              <a:t>Browse Central Squad agent catalog. Search by domain, capability, or keyword.</a:t>
            </a:r>
          </a:p>
          <a:p>
            <a:pPr>
              <a:spcAft>
                <a:spcPts val="300"/>
              </a:spcAft>
              <a:defRPr sz="900" b="0">
                <a:solidFill>
                  <a:srgbClr val="333333"/>
                </a:solidFill>
                <a:latin typeface="Aptos"/>
              </a:defRPr>
            </a:pPr>
            <a:r>
              <a:t>npx snap-squad list  or check .squad/team.md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304288"/>
            <a:ext cx="10972800" cy="640080"/>
          </a:xfrm>
          <a:prstGeom prst="roundRect">
            <a:avLst/>
          </a:prstGeom>
          <a:solidFill>
            <a:srgbClr val="F8F8FA"/>
          </a:solidFill>
          <a:ln w="12700">
            <a:solidFill>
              <a:srgbClr val="4636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40080" y="2377440"/>
            <a:ext cx="347472" cy="347472"/>
          </a:xfrm>
          <a:prstGeom prst="ellipse">
            <a:avLst/>
          </a:prstGeom>
          <a:solidFill>
            <a:srgbClr val="4636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322576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63668"/>
                </a:solidFill>
                <a:latin typeface="Aptos"/>
              </a:defRPr>
            </a:pPr>
            <a:r>
              <a:t>Evaluate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0" y="2322576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00" b="0">
                <a:solidFill>
                  <a:srgbClr val="333333"/>
                </a:solidFill>
                <a:latin typeface="Aptos"/>
              </a:defRPr>
            </a:pPr>
            <a:r>
              <a:t>Review the agent's charter: does its expertise cover &gt;= 80% of your need?</a:t>
            </a:r>
          </a:p>
          <a:p>
            <a:pPr>
              <a:spcAft>
                <a:spcPts val="300"/>
              </a:spcAft>
              <a:defRPr sz="900" b="0">
                <a:solidFill>
                  <a:srgbClr val="333333"/>
                </a:solidFill>
                <a:latin typeface="Aptos"/>
              </a:defRPr>
            </a:pPr>
            <a:r>
              <a:t>Check version history, last updated date, and usage across other SubSquads.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054096"/>
            <a:ext cx="10972800" cy="640080"/>
          </a:xfrm>
          <a:prstGeom prst="roundRect">
            <a:avLst/>
          </a:prstGeom>
          <a:solidFill>
            <a:srgbClr val="F8F8FA"/>
          </a:solidFill>
          <a:ln w="12700">
            <a:solidFill>
              <a:srgbClr val="225B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" y="3127248"/>
            <a:ext cx="347472" cy="347472"/>
          </a:xfrm>
          <a:prstGeom prst="ellipse">
            <a:avLst/>
          </a:prstGeom>
          <a:solidFill>
            <a:srgbClr val="225B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072384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25B62"/>
                </a:solidFill>
                <a:latin typeface="Aptos"/>
              </a:defRPr>
            </a:pPr>
            <a:r>
              <a:t>Pull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60320" y="3072384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00" b="0">
                <a:solidFill>
                  <a:srgbClr val="333333"/>
                </a:solidFill>
                <a:latin typeface="Aptos"/>
              </a:defRPr>
            </a:pPr>
            <a:r>
              <a:t>Clone the agent into your SubSquad workspace.</a:t>
            </a:r>
          </a:p>
          <a:p>
            <a:pPr>
              <a:spcAft>
                <a:spcPts val="300"/>
              </a:spcAft>
              <a:defRPr sz="900" b="0">
                <a:solidFill>
                  <a:srgbClr val="333333"/>
                </a:solidFill>
                <a:latin typeface="Aptos"/>
              </a:defRPr>
            </a:pPr>
            <a:r>
              <a:t>npx snap-squad init --type &lt;preset&gt;  preserves Central linkage for updates.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803904"/>
            <a:ext cx="10972800" cy="640080"/>
          </a:xfrm>
          <a:prstGeom prst="roundRect">
            <a:avLst/>
          </a:prstGeom>
          <a:solidFill>
            <a:srgbClr val="F8F8FA"/>
          </a:solidFill>
          <a:ln w="12700">
            <a:solidFill>
              <a:srgbClr val="00B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0080" y="3877056"/>
            <a:ext cx="347472" cy="347472"/>
          </a:xfrm>
          <a:prstGeom prst="ellipse">
            <a:avLst/>
          </a:prstGeom>
          <a:solidFill>
            <a:srgbClr val="00B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3822192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B050"/>
                </a:solidFill>
                <a:latin typeface="Aptos"/>
              </a:defRPr>
            </a:pPr>
            <a:r>
              <a:t>Configure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60320" y="3822192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00" b="0">
                <a:solidFill>
                  <a:srgbClr val="333333"/>
                </a:solidFill>
                <a:latin typeface="Aptos"/>
              </a:defRPr>
            </a:pPr>
            <a:r>
              <a:t>Adapt using project-specific configuration ONLY. Update CLAUDE.md and routing.md.</a:t>
            </a:r>
          </a:p>
          <a:p>
            <a:pPr>
              <a:spcAft>
                <a:spcPts val="300"/>
              </a:spcAft>
              <a:defRPr sz="900" b="0">
                <a:solidFill>
                  <a:srgbClr val="333333"/>
                </a:solidFill>
                <a:latin typeface="Aptos"/>
              </a:defRPr>
            </a:pPr>
            <a:r>
              <a:t>Never modify the agent charter or shared logic. Use environment variables for secrets.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553712"/>
            <a:ext cx="10972800" cy="640080"/>
          </a:xfrm>
          <a:prstGeom prst="roundRect">
            <a:avLst/>
          </a:prstGeom>
          <a:solidFill>
            <a:srgbClr val="F8F8FA"/>
          </a:solidFill>
          <a:ln w="12700">
            <a:solidFill>
              <a:srgbClr val="FE8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0080" y="4626864"/>
            <a:ext cx="347472" cy="347472"/>
          </a:xfrm>
          <a:prstGeom prst="ellipse">
            <a:avLst/>
          </a:prstGeom>
          <a:solidFill>
            <a:srgbClr val="FE8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457200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E8B00"/>
                </a:solidFill>
                <a:latin typeface="Aptos"/>
              </a:defRPr>
            </a:pPr>
            <a:r>
              <a:t>Execute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60320" y="4572000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00" b="0">
                <a:solidFill>
                  <a:srgbClr val="333333"/>
                </a:solidFill>
                <a:latin typeface="Aptos"/>
              </a:defRPr>
            </a:pPr>
            <a:r>
              <a:t>Use the agent in your delivery workflow. It handles its domain autonomously.</a:t>
            </a:r>
          </a:p>
          <a:p>
            <a:pPr>
              <a:spcAft>
                <a:spcPts val="300"/>
              </a:spcAft>
              <a:defRPr sz="900" b="0">
                <a:solidFill>
                  <a:srgbClr val="333333"/>
                </a:solidFill>
                <a:latin typeface="Aptos"/>
              </a:defRPr>
            </a:pPr>
            <a:r>
              <a:t>The agent follows routing rules and hands off to other agents as defined.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5303520"/>
            <a:ext cx="10972800" cy="640080"/>
          </a:xfrm>
          <a:prstGeom prst="roundRect">
            <a:avLst/>
          </a:prstGeom>
          <a:solidFill>
            <a:srgbClr val="F8F8FA"/>
          </a:solidFill>
          <a:ln w="12700">
            <a:solidFill>
              <a:srgbClr val="D83B0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40080" y="5376672"/>
            <a:ext cx="347472" cy="347472"/>
          </a:xfrm>
          <a:prstGeom prst="ellipse">
            <a:avLst/>
          </a:prstGeom>
          <a:solidFill>
            <a:srgbClr val="D83B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" y="5321808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83B02"/>
                </a:solidFill>
                <a:latin typeface="Aptos"/>
              </a:defRPr>
            </a:pPr>
            <a:r>
              <a:t>Contribute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60320" y="5321808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00" b="0">
                <a:solidFill>
                  <a:srgbClr val="333333"/>
                </a:solidFill>
                <a:latin typeface="Aptos"/>
              </a:defRPr>
            </a:pPr>
            <a:r>
              <a:t>Found an improvement? Submit a PR back to Central Squad with your enhancement.</a:t>
            </a:r>
          </a:p>
          <a:p>
            <a:pPr>
              <a:spcAft>
                <a:spcPts val="300"/>
              </a:spcAft>
              <a:defRPr sz="900" b="0">
                <a:solidFill>
                  <a:srgbClr val="333333"/>
                </a:solidFill>
                <a:latin typeface="Aptos"/>
              </a:defRPr>
            </a:pPr>
            <a:r>
              <a:t>Your improvement benefits every SubSquad that uses this agent.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4320" y="62636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Aptos"/>
              </a:defRPr>
            </a:pPr>
            <a:r>
              <a:t>CONFIDENTIAL  |  Microsoft Accelerate Factory  |  Copilot Squad Runbook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0" y="62636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  <a:latin typeface="Aptos"/>
              </a:defRPr>
            </a:pPr>
            <a:r>
              <a:t>8 / 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91440"/>
            <a:ext cx="12192000" cy="566928"/>
          </a:xfrm>
          <a:prstGeom prst="rect">
            <a:avLst/>
          </a:prstGeom>
          <a:solidFill>
            <a:srgbClr val="01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600" b="1">
                <a:solidFill>
                  <a:srgbClr val="FFFFFF"/>
                </a:solidFill>
                <a:latin typeface="Aptos Display"/>
              </a:defRPr>
            </a:pPr>
            <a:r>
              <a:t>06  How Agents Become Skills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4E66"/>
                </a:solidFill>
                <a:latin typeface="Aptos"/>
              </a:defRPr>
            </a:pPr>
            <a:r>
              <a:t>Agents are not one-time tools. They compound into organizational skills that scale.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17320"/>
            <a:ext cx="3474720" cy="3200400"/>
          </a:xfrm>
          <a:prstGeom prst="roundRect">
            <a:avLst/>
          </a:prstGeom>
          <a:solidFill>
            <a:srgbClr val="F8F8FA"/>
          </a:solidFill>
          <a:ln w="12700">
            <a:solidFill>
              <a:srgbClr val="01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417320"/>
            <a:ext cx="3474720" cy="457200"/>
          </a:xfrm>
          <a:prstGeom prst="rect">
            <a:avLst/>
          </a:prstGeom>
          <a:solidFill>
            <a:srgbClr val="01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48132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ptos"/>
              </a:defRPr>
            </a:pPr>
            <a:r>
              <a:t>Agents = Capabilities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96596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 b="0">
                <a:solidFill>
                  <a:srgbClr val="333333"/>
                </a:solidFill>
                <a:latin typeface="Aptos"/>
              </a:defRPr>
            </a:pPr>
            <a:r>
              <a:t>Reusable execution engines</a:t>
            </a:r>
          </a:p>
          <a:p>
            <a:pPr>
              <a:spcAft>
                <a:spcPts val="300"/>
              </a:spcAft>
              <a:defRPr sz="1000" b="0">
                <a:solidFill>
                  <a:srgbClr val="333333"/>
                </a:solidFill>
                <a:latin typeface="Aptos"/>
              </a:defRPr>
            </a:pPr>
            <a:r>
              <a:t>that handle specific domains</a:t>
            </a:r>
          </a:p>
          <a:p>
            <a:pPr>
              <a:spcAft>
                <a:spcPts val="300"/>
              </a:spcAft>
              <a:defRPr sz="1000" b="0">
                <a:solidFill>
                  <a:srgbClr val="333333"/>
                </a:solidFill>
                <a:latin typeface="Aptos"/>
              </a:defRPr>
            </a:pPr>
            <a:r>
              <a:t>autonomously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8346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ptos"/>
              </a:defRPr>
            </a:pPr>
            <a:r>
              <a:t>  Coder: writes and debugs code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21868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ptos"/>
              </a:defRPr>
            </a:pPr>
            <a:r>
              <a:t>  Tester: finds edge cases, writes tests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602736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ptos"/>
              </a:defRPr>
            </a:pPr>
            <a:r>
              <a:t>  GitOps: manages CI/CD and releases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986784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ptos"/>
              </a:defRPr>
            </a:pPr>
            <a:r>
              <a:t>  DevRel: generates documentation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06240" y="1417320"/>
            <a:ext cx="3474720" cy="3200400"/>
          </a:xfrm>
          <a:prstGeom prst="roundRect">
            <a:avLst/>
          </a:prstGeom>
          <a:solidFill>
            <a:srgbClr val="F8F8FA"/>
          </a:solidFill>
          <a:ln w="12700">
            <a:solidFill>
              <a:srgbClr val="4636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06240" y="1417320"/>
            <a:ext cx="3474720" cy="457200"/>
          </a:xfrm>
          <a:prstGeom prst="rect">
            <a:avLst/>
          </a:prstGeom>
          <a:solidFill>
            <a:srgbClr val="4636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43400" y="148132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ptos"/>
              </a:defRPr>
            </a:pPr>
            <a:r>
              <a:t>Prompts = Thinking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400" y="196596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 b="0">
                <a:solidFill>
                  <a:srgbClr val="333333"/>
                </a:solidFill>
                <a:latin typeface="Aptos"/>
              </a:defRPr>
            </a:pPr>
            <a:r>
              <a:t>Reusable reasoning patterns</a:t>
            </a:r>
          </a:p>
          <a:p>
            <a:pPr>
              <a:spcAft>
                <a:spcPts val="300"/>
              </a:spcAft>
              <a:defRPr sz="1000" b="0">
                <a:solidFill>
                  <a:srgbClr val="333333"/>
                </a:solidFill>
                <a:latin typeface="Aptos"/>
              </a:defRPr>
            </a:pPr>
            <a:r>
              <a:t>that encode organizational</a:t>
            </a:r>
          </a:p>
          <a:p>
            <a:pPr>
              <a:spcAft>
                <a:spcPts val="300"/>
              </a:spcAft>
              <a:defRPr sz="1000" b="0">
                <a:solidFill>
                  <a:srgbClr val="333333"/>
                </a:solidFill>
                <a:latin typeface="Aptos"/>
              </a:defRPr>
            </a:pPr>
            <a:r>
              <a:t>decision-making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3400" y="28346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ptos"/>
              </a:defRPr>
            </a:pPr>
            <a:r>
              <a:t>  Architecture decision templates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43400" y="321868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ptos"/>
              </a:defRPr>
            </a:pPr>
            <a:r>
              <a:t>  Code review criteria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400" y="3602736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ptos"/>
              </a:defRPr>
            </a:pPr>
            <a:r>
              <a:t>  Security validation checklists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3400" y="3986784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ptos"/>
              </a:defRPr>
            </a:pPr>
            <a:r>
              <a:t>  Routing and handoff logic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55279" y="1417320"/>
            <a:ext cx="3474720" cy="3200400"/>
          </a:xfrm>
          <a:prstGeom prst="roundRect">
            <a:avLst/>
          </a:prstGeom>
          <a:solidFill>
            <a:srgbClr val="F8F8FA"/>
          </a:solidFill>
          <a:ln w="12700">
            <a:solidFill>
              <a:srgbClr val="225B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955279" y="1417320"/>
            <a:ext cx="3474720" cy="457200"/>
          </a:xfrm>
          <a:prstGeom prst="rect">
            <a:avLst/>
          </a:prstGeom>
          <a:solidFill>
            <a:srgbClr val="225B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92439" y="148132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ptos"/>
              </a:defRPr>
            </a:pPr>
            <a:r>
              <a:t>Outputs = Templates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92439" y="196596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 b="0">
                <a:solidFill>
                  <a:srgbClr val="333333"/>
                </a:solidFill>
                <a:latin typeface="Aptos"/>
              </a:defRPr>
            </a:pPr>
            <a:r>
              <a:t>Reusable deliverables that</a:t>
            </a:r>
          </a:p>
          <a:p>
            <a:pPr>
              <a:spcAft>
                <a:spcPts val="300"/>
              </a:spcAft>
              <a:defRPr sz="1000" b="0">
                <a:solidFill>
                  <a:srgbClr val="333333"/>
                </a:solidFill>
                <a:latin typeface="Aptos"/>
              </a:defRPr>
            </a:pPr>
            <a:r>
              <a:t>eliminate starting from</a:t>
            </a:r>
          </a:p>
          <a:p>
            <a:pPr>
              <a:spcAft>
                <a:spcPts val="300"/>
              </a:spcAft>
              <a:defRPr sz="1000" b="0">
                <a:solidFill>
                  <a:srgbClr val="333333"/>
                </a:solidFill>
                <a:latin typeface="Aptos"/>
              </a:defRPr>
            </a:pPr>
            <a:r>
              <a:t>blank pages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92439" y="28346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ptos"/>
              </a:defRPr>
            </a:pPr>
            <a:r>
              <a:t>  IaC templates (Bicep/Terraform)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92439" y="321868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ptos"/>
              </a:defRPr>
            </a:pPr>
            <a:r>
              <a:t>  API scaffolding patterns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92439" y="3602736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ptos"/>
              </a:defRPr>
            </a:pPr>
            <a:r>
              <a:t>  Test framework setups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92439" y="3986784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ptos"/>
              </a:defRPr>
            </a:pPr>
            <a:r>
              <a:t>  Documentation structures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4846320"/>
            <a:ext cx="10972800" cy="1005840"/>
          </a:xfrm>
          <a:prstGeom prst="round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4892040"/>
            <a:ext cx="10424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BCF2"/>
                </a:solidFill>
                <a:latin typeface="Aptos"/>
              </a:defRPr>
            </a:pPr>
            <a:r>
              <a:t>THE COMPOUNDING LOOP</a:t>
            </a:r>
          </a:p>
        </p:txBody>
      </p:sp>
      <p:sp>
        <p:nvSpPr>
          <p:cNvPr id="30" name="Oval 29"/>
          <p:cNvSpPr/>
          <p:nvPr/>
        </p:nvSpPr>
        <p:spPr>
          <a:xfrm>
            <a:off x="914400" y="5257800"/>
            <a:ext cx="411480" cy="411480"/>
          </a:xfrm>
          <a:prstGeom prst="ellipse">
            <a:avLst/>
          </a:prstGeom>
          <a:solidFill>
            <a:srgbClr val="01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USE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1417320" y="5349240"/>
            <a:ext cx="320040" cy="228600"/>
          </a:xfrm>
          <a:prstGeom prst="rightArrow">
            <a:avLst/>
          </a:prstGeom>
          <a:solidFill>
            <a:srgbClr val="01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017520" y="5257800"/>
            <a:ext cx="411480" cy="411480"/>
          </a:xfrm>
          <a:prstGeom prst="ellipse">
            <a:avLst/>
          </a:prstGeom>
          <a:solidFill>
            <a:srgbClr val="00B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IMPROVE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3520440" y="5349240"/>
            <a:ext cx="320040" cy="228600"/>
          </a:xfrm>
          <a:prstGeom prst="rightArrow">
            <a:avLst/>
          </a:prstGeom>
          <a:solidFill>
            <a:srgbClr val="00B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5120640" y="5257800"/>
            <a:ext cx="411480" cy="411480"/>
          </a:xfrm>
          <a:prstGeom prst="ellipse">
            <a:avLst/>
          </a:prstGeom>
          <a:solidFill>
            <a:srgbClr val="4636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SHARE</a:t>
            </a:r>
          </a:p>
        </p:txBody>
      </p:sp>
      <p:sp>
        <p:nvSpPr>
          <p:cNvPr id="35" name="Right Arrow 34"/>
          <p:cNvSpPr/>
          <p:nvPr/>
        </p:nvSpPr>
        <p:spPr>
          <a:xfrm>
            <a:off x="5623560" y="5349240"/>
            <a:ext cx="320040" cy="228600"/>
          </a:xfrm>
          <a:prstGeom prst="rightArrow">
            <a:avLst/>
          </a:prstGeom>
          <a:solidFill>
            <a:srgbClr val="4636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7223759" y="5257800"/>
            <a:ext cx="411480" cy="411480"/>
          </a:xfrm>
          <a:prstGeom prst="ellipse">
            <a:avLst/>
          </a:prstGeom>
          <a:solidFill>
            <a:srgbClr val="FE8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REUSE</a:t>
            </a:r>
          </a:p>
        </p:txBody>
      </p:sp>
      <p:sp>
        <p:nvSpPr>
          <p:cNvPr id="37" name="Right Arrow 36"/>
          <p:cNvSpPr/>
          <p:nvPr/>
        </p:nvSpPr>
        <p:spPr>
          <a:xfrm>
            <a:off x="7726679" y="5349240"/>
            <a:ext cx="320040" cy="228600"/>
          </a:xfrm>
          <a:prstGeom prst="rightArrow">
            <a:avLst/>
          </a:prstGeom>
          <a:solidFill>
            <a:srgbClr val="FE8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9326880" y="5257800"/>
            <a:ext cx="411480" cy="411480"/>
          </a:xfrm>
          <a:prstGeom prst="ellipse">
            <a:avLst/>
          </a:prstGeom>
          <a:solidFill>
            <a:srgbClr val="00B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SCALE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5760720"/>
            <a:ext cx="10424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Aptos"/>
              </a:defRPr>
            </a:pPr>
            <a:r>
              <a:t>Every engagement makes the entire system smarter. Skills compound, they don't decay.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74320" y="62636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Aptos"/>
              </a:defRPr>
            </a:pPr>
            <a:r>
              <a:t>CONFIDENTIAL  |  Microsoft Accelerate Factory  |  Copilot Squad Runbook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15600" y="62636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  <a:latin typeface="Aptos"/>
              </a:defRPr>
            </a:pPr>
            <a:r>
              <a:t>9 / 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91440"/>
            <a:ext cx="12192000" cy="566928"/>
          </a:xfrm>
          <a:prstGeom prst="rect">
            <a:avLst/>
          </a:prstGeom>
          <a:solidFill>
            <a:srgbClr val="01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600" b="1">
                <a:solidFill>
                  <a:srgbClr val="FFFFFF"/>
                </a:solidFill>
                <a:latin typeface="Aptos Display"/>
              </a:defRPr>
            </a:pPr>
            <a:r>
              <a:t>07  Multi-Team Coordination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4E66"/>
                </a:solidFill>
                <a:latin typeface="Aptos"/>
              </a:defRPr>
            </a:pPr>
            <a:r>
              <a:t>SubSquads work in parallel. Central Squad ensures consistency without bottlenecking execution.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0" y="1463040"/>
            <a:ext cx="3657600" cy="1645920"/>
          </a:xfrm>
          <a:prstGeom prst="roundRect">
            <a:avLst/>
          </a:prstGeom>
          <a:solidFill>
            <a:srgbClr val="F2F7FA"/>
          </a:solidFill>
          <a:ln w="12700">
            <a:solidFill>
              <a:srgbClr val="01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297680" y="155448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178D4"/>
                </a:solidFill>
                <a:latin typeface="Aptos"/>
              </a:defRPr>
            </a:pPr>
            <a:r>
              <a:t>CENTRAL SQUAD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97680" y="192024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 b="0">
                <a:solidFill>
                  <a:srgbClr val="333333"/>
                </a:solidFill>
                <a:latin typeface="Aptos"/>
              </a:defRPr>
            </a:pPr>
            <a:r>
              <a:t>Agent Library  |  Governance  |  Standards</a:t>
            </a:r>
          </a:p>
          <a:p>
            <a:pPr>
              <a:spcAft>
                <a:spcPts val="300"/>
              </a:spcAft>
              <a:defRPr sz="1000" b="0">
                <a:solidFill>
                  <a:srgbClr val="333333"/>
                </a:solidFill>
                <a:latin typeface="Aptos"/>
              </a:defRPr>
            </a:pPr>
            <a:r>
              <a:t>Decisions  |  Patterns  |  Shared Memory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645920"/>
            <a:ext cx="3200400" cy="1188720"/>
          </a:xfrm>
          <a:prstGeom prst="roundRect">
            <a:avLst/>
          </a:prstGeom>
          <a:solidFill>
            <a:srgbClr val="F8F8FA"/>
          </a:solidFill>
          <a:ln w="12700">
            <a:solidFill>
              <a:srgbClr val="4636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645920"/>
            <a:ext cx="3200400" cy="365760"/>
          </a:xfrm>
          <a:prstGeom prst="rect">
            <a:avLst/>
          </a:prstGeom>
          <a:solidFill>
            <a:srgbClr val="4636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673352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Aptos"/>
              </a:defRPr>
            </a:pPr>
            <a:r>
              <a:t>SubSquad 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10312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 b="0">
                <a:solidFill>
                  <a:srgbClr val="333333"/>
                </a:solidFill>
                <a:latin typeface="Aptos"/>
              </a:defRPr>
            </a:pPr>
            <a:r>
              <a:t>Project Alpha</a:t>
            </a:r>
          </a:p>
          <a:p>
            <a:pPr>
              <a:spcAft>
                <a:spcPts val="300"/>
              </a:spcAft>
              <a:defRPr sz="1000" b="0">
                <a:solidFill>
                  <a:srgbClr val="333333"/>
                </a:solidFill>
                <a:latin typeface="Aptos"/>
              </a:defRPr>
            </a:pPr>
            <a:r>
              <a:t>Backend + IaC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0" y="1645920"/>
            <a:ext cx="3200400" cy="1188720"/>
          </a:xfrm>
          <a:prstGeom prst="roundRect">
            <a:avLst/>
          </a:prstGeom>
          <a:solidFill>
            <a:srgbClr val="F8F8FA"/>
          </a:solidFill>
          <a:ln w="12700">
            <a:solidFill>
              <a:srgbClr val="225B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86800" y="1645920"/>
            <a:ext cx="3200400" cy="365760"/>
          </a:xfrm>
          <a:prstGeom prst="rect">
            <a:avLst/>
          </a:prstGeom>
          <a:solidFill>
            <a:srgbClr val="225B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0" y="1673352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Aptos"/>
              </a:defRPr>
            </a:pPr>
            <a:r>
              <a:t>SubSquad 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23960" y="210312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 b="0">
                <a:solidFill>
                  <a:srgbClr val="333333"/>
                </a:solidFill>
                <a:latin typeface="Aptos"/>
              </a:defRPr>
            </a:pPr>
            <a:r>
              <a:t>Project Beta</a:t>
            </a:r>
          </a:p>
          <a:p>
            <a:pPr>
              <a:spcAft>
                <a:spcPts val="300"/>
              </a:spcAft>
              <a:defRPr sz="1000" b="0">
                <a:solidFill>
                  <a:srgbClr val="333333"/>
                </a:solidFill>
                <a:latin typeface="Aptos"/>
              </a:defRPr>
            </a:pPr>
            <a:r>
              <a:t>AI + Data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657600"/>
            <a:ext cx="3200400" cy="1188720"/>
          </a:xfrm>
          <a:prstGeom prst="roundRect">
            <a:avLst/>
          </a:prstGeom>
          <a:solidFill>
            <a:srgbClr val="F8F8FA"/>
          </a:solidFill>
          <a:ln w="12700">
            <a:solidFill>
              <a:srgbClr val="FE8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3657600"/>
            <a:ext cx="3200400" cy="365760"/>
          </a:xfrm>
          <a:prstGeom prst="rect">
            <a:avLst/>
          </a:prstGeom>
          <a:solidFill>
            <a:srgbClr val="FE8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685032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Aptos"/>
              </a:defRPr>
            </a:pPr>
            <a:r>
              <a:t>SubSquad 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411480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 b="0">
                <a:solidFill>
                  <a:srgbClr val="333333"/>
                </a:solidFill>
                <a:latin typeface="Aptos"/>
              </a:defRPr>
            </a:pPr>
            <a:r>
              <a:t>Project Gamma</a:t>
            </a:r>
          </a:p>
          <a:p>
            <a:pPr>
              <a:spcAft>
                <a:spcPts val="300"/>
              </a:spcAft>
              <a:defRPr sz="1000" b="0">
                <a:solidFill>
                  <a:srgbClr val="333333"/>
                </a:solidFill>
                <a:latin typeface="Aptos"/>
              </a:defRPr>
            </a:pPr>
            <a:r>
              <a:t>Frontend + API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86800" y="3657600"/>
            <a:ext cx="3200400" cy="1188720"/>
          </a:xfrm>
          <a:prstGeom prst="roundRect">
            <a:avLst/>
          </a:prstGeom>
          <a:solidFill>
            <a:srgbClr val="F8F8FA"/>
          </a:solidFill>
          <a:ln w="12700">
            <a:solidFill>
              <a:srgbClr val="D83B0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686800" y="3657600"/>
            <a:ext cx="3200400" cy="365760"/>
          </a:xfrm>
          <a:prstGeom prst="rect">
            <a:avLst/>
          </a:prstGeom>
          <a:solidFill>
            <a:srgbClr val="D83B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78240" y="3685032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Aptos"/>
              </a:defRPr>
            </a:pPr>
            <a:r>
              <a:t>SubSquad 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23960" y="411480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 b="0">
                <a:solidFill>
                  <a:srgbClr val="333333"/>
                </a:solidFill>
                <a:latin typeface="Aptos"/>
              </a:defRPr>
            </a:pPr>
            <a:r>
              <a:t>Project Delta</a:t>
            </a:r>
          </a:p>
          <a:p>
            <a:pPr>
              <a:spcAft>
                <a:spcPts val="300"/>
              </a:spcAft>
              <a:defRPr sz="1000" b="0">
                <a:solidFill>
                  <a:srgbClr val="333333"/>
                </a:solidFill>
                <a:latin typeface="Aptos"/>
              </a:defRPr>
            </a:pPr>
            <a:r>
              <a:t>Migration + QA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5120640"/>
            <a:ext cx="2103120" cy="256032"/>
          </a:xfrm>
          <a:prstGeom prst="rect">
            <a:avLst/>
          </a:prstGeom>
          <a:solidFill>
            <a:srgbClr val="01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1600" rIns="101600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COORDINATION RULES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548640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178D4"/>
                </a:solidFill>
                <a:latin typeface="Aptos"/>
              </a:defRPr>
            </a:pPr>
            <a:r>
              <a:t>No Duplication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94560" y="5486400"/>
            <a:ext cx="3840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ptos"/>
              </a:defRPr>
            </a:pPr>
            <a:r>
              <a:t>If Central has an agent, use it. Never rebuild what exists.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548640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178D4"/>
                </a:solidFill>
                <a:latin typeface="Aptos"/>
              </a:defRPr>
            </a:pPr>
            <a:r>
              <a:t>Shared Standards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55280" y="5486400"/>
            <a:ext cx="3840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ptos"/>
              </a:defRPr>
            </a:pPr>
            <a:r>
              <a:t>All SubSquads follow the same coding, testing, and documentation patterns.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580644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178D4"/>
                </a:solidFill>
                <a:latin typeface="Aptos"/>
              </a:defRPr>
            </a:pPr>
            <a:r>
              <a:t>Async by Default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94560" y="5806440"/>
            <a:ext cx="3840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ptos"/>
              </a:defRPr>
            </a:pPr>
            <a:r>
              <a:t>SubSquads do not wait for each other. Central Squad resolves conflicts asynchronously.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0" y="580644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178D4"/>
                </a:solidFill>
                <a:latin typeface="Aptos"/>
              </a:defRPr>
            </a:pPr>
            <a:r>
              <a:t>Contribute Back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55280" y="5806440"/>
            <a:ext cx="3840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ptos"/>
              </a:defRPr>
            </a:pPr>
            <a:r>
              <a:t>Every SubSquad must submit improvements to Central at engagement end.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4320" y="62636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Aptos"/>
              </a:defRPr>
            </a:pPr>
            <a:r>
              <a:t>CONFIDENTIAL  |  Microsoft Accelerate Factory  |  Copilot Squad Runbook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0" y="62636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  <a:latin typeface="Aptos"/>
              </a:defRPr>
            </a:pPr>
            <a:r>
              <a:t>10 / 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91440"/>
            <a:ext cx="12192000" cy="566928"/>
          </a:xfrm>
          <a:prstGeom prst="rect">
            <a:avLst/>
          </a:prstGeom>
          <a:solidFill>
            <a:srgbClr val="01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600" b="1">
                <a:solidFill>
                  <a:srgbClr val="FFFFFF"/>
                </a:solidFill>
                <a:latin typeface="Aptos Display"/>
              </a:defRPr>
            </a:pPr>
            <a:r>
              <a:t>08  Replace Meetings with Automation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4E66"/>
                </a:solidFill>
                <a:latin typeface="Aptos"/>
              </a:defRPr>
            </a:pPr>
            <a:r>
              <a:t>Most status meetings exist because information is trapped in people's heads. Agents fix that.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17320"/>
            <a:ext cx="1828800" cy="256032"/>
          </a:xfrm>
          <a:prstGeom prst="rect">
            <a:avLst/>
          </a:prstGeom>
          <a:solidFill>
            <a:srgbClr val="EE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1600" rIns="101600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REPLACE THIS...</a:t>
            </a:r>
          </a:p>
        </p:txBody>
      </p:sp>
      <p:sp>
        <p:nvSpPr>
          <p:cNvPr id="5" name="Rectangle 4"/>
          <p:cNvSpPr/>
          <p:nvPr/>
        </p:nvSpPr>
        <p:spPr>
          <a:xfrm>
            <a:off x="6126480" y="1417320"/>
            <a:ext cx="1645920" cy="256032"/>
          </a:xfrm>
          <a:prstGeom prst="rect">
            <a:avLst/>
          </a:prstGeom>
          <a:solidFill>
            <a:srgbClr val="00B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1600" rIns="101600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...WITH THIS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E0000"/>
                </a:solidFill>
                <a:latin typeface="Aptos"/>
              </a:defRPr>
            </a:pPr>
            <a:r>
              <a:t>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ptos"/>
              </a:defRPr>
            </a:pPr>
            <a:r>
              <a:t>Daily standup meetings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82880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B050"/>
                </a:solidFill>
                <a:latin typeface="Aptos"/>
              </a:defRPr>
            </a:pPr>
            <a:r>
              <a:t>&gt;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18288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ptos"/>
              </a:defRPr>
            </a:pPr>
            <a:r>
              <a:t>Agent-generated status dashboard from git activity and task progress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42316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E0000"/>
                </a:solidFill>
                <a:latin typeface="Aptos"/>
              </a:defRPr>
            </a:pPr>
            <a:r>
              <a:t>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4231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ptos"/>
              </a:defRPr>
            </a:pPr>
            <a:r>
              <a:t>Weekly status reports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242316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B050"/>
                </a:solidFill>
                <a:latin typeface="Aptos"/>
              </a:defRPr>
            </a:pPr>
            <a:r>
              <a:t>&gt;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4231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ptos"/>
              </a:defRPr>
            </a:pPr>
            <a:r>
              <a:t>Automated weekly summary from Scribe agent (JOURNAL.md)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0175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E0000"/>
                </a:solidFill>
                <a:latin typeface="Aptos"/>
              </a:defRPr>
            </a:pPr>
            <a:r>
              <a:t>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0175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ptos"/>
              </a:defRPr>
            </a:pPr>
            <a:r>
              <a:t>Architecture review meetings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30175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B050"/>
                </a:solidFill>
                <a:latin typeface="Aptos"/>
              </a:defRPr>
            </a:pPr>
            <a:r>
              <a:t>&gt;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30175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ptos"/>
              </a:defRPr>
            </a:pPr>
            <a:r>
              <a:t>Architect agent generates ADRs; async review via PR comments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61188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E0000"/>
                </a:solidFill>
                <a:latin typeface="Aptos"/>
              </a:defRPr>
            </a:pPr>
            <a:r>
              <a:t>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6118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ptos"/>
              </a:defRPr>
            </a:pPr>
            <a:r>
              <a:t>Manual coordination emails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361188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B050"/>
                </a:solidFill>
                <a:latin typeface="Aptos"/>
              </a:defRPr>
            </a:pPr>
            <a:r>
              <a:t>&gt;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36118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ptos"/>
              </a:defRPr>
            </a:pPr>
            <a:r>
              <a:t>Routing rules auto-dispatch work to the right agent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20624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E0000"/>
                </a:solidFill>
                <a:latin typeface="Aptos"/>
              </a:defRPr>
            </a:pPr>
            <a:r>
              <a:t>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2062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ptos"/>
              </a:defRPr>
            </a:pPr>
            <a:r>
              <a:t>Knowledge transfer sessions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420624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B050"/>
                </a:solidFill>
                <a:latin typeface="Aptos"/>
              </a:defRPr>
            </a:pPr>
            <a:r>
              <a:t>&gt;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42062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ptos"/>
              </a:defRPr>
            </a:pPr>
            <a:r>
              <a:t>DevRel agent generates onboarding docs automatically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480060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E0000"/>
                </a:solidFill>
                <a:latin typeface="Aptos"/>
              </a:defRPr>
            </a:pPr>
            <a:r>
              <a:t>X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48006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ptos"/>
              </a:defRPr>
            </a:pPr>
            <a:r>
              <a:t>Post-mortem meetings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480060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B050"/>
                </a:solidFill>
                <a:latin typeface="Aptos"/>
              </a:defRPr>
            </a:pPr>
            <a:r>
              <a:t>&gt;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4800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ptos"/>
              </a:defRPr>
            </a:pPr>
            <a:r>
              <a:t>Decisions.md + JOURNAL.md capture lessons in real-time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806440" y="1417320"/>
            <a:ext cx="27432" cy="3931920"/>
          </a:xfrm>
          <a:prstGeom prst="rect">
            <a:avLst/>
          </a:prstGeom>
          <a:solidFill>
            <a:srgbClr val="D0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457200" y="5669280"/>
            <a:ext cx="10972800" cy="457200"/>
          </a:xfrm>
          <a:prstGeom prst="round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" y="5715000"/>
            <a:ext cx="10424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Aptos"/>
              </a:defRPr>
            </a:pPr>
            <a:r>
              <a:t>Result: ~60% fewer recurring meetings. Information flows through agents, not calendars.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4320" y="62636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Aptos"/>
              </a:defRPr>
            </a:pPr>
            <a:r>
              <a:t>CONFIDENTIAL  |  Microsoft Accelerate Factory  |  Copilot Squad Runbook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15600" y="62636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  <a:latin typeface="Aptos"/>
              </a:defRPr>
            </a:pPr>
            <a:r>
              <a:t>11 / 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91440"/>
            <a:ext cx="12192000" cy="566928"/>
          </a:xfrm>
          <a:prstGeom prst="rect">
            <a:avLst/>
          </a:prstGeom>
          <a:solidFill>
            <a:srgbClr val="01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600" b="1">
                <a:solidFill>
                  <a:srgbClr val="FFFFFF"/>
                </a:solidFill>
                <a:latin typeface="Aptos Display"/>
              </a:defRPr>
            </a:pPr>
            <a:r>
              <a:t>09  SNAP Model (Borrow Capabilities)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A4E66"/>
                </a:solidFill>
                <a:latin typeface="Aptos"/>
              </a:defRPr>
            </a:pPr>
            <a:r>
              <a:t>Teams request capabilities, not people. Expertise is dynamically attached to SubSquads.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17320"/>
            <a:ext cx="5029200" cy="1828800"/>
          </a:xfrm>
          <a:prstGeom prst="roundRect">
            <a:avLst/>
          </a:prstGeom>
          <a:solidFill>
            <a:srgbClr val="F2F7FA"/>
          </a:solidFill>
          <a:ln w="12700">
            <a:solidFill>
              <a:srgbClr val="01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178D4"/>
                </a:solidFill>
                <a:latin typeface="Aptos"/>
              </a:defRPr>
            </a:pPr>
            <a:r>
              <a:t>HOW SNAP WORKS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4663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 b="0">
                <a:solidFill>
                  <a:srgbClr val="333333"/>
                </a:solidFill>
                <a:latin typeface="Aptos"/>
              </a:defRPr>
            </a:pPr>
            <a:r>
              <a:t>1. SubSquad identifies a capability gap (e.g., needs IaC expertise)</a:t>
            </a:r>
          </a:p>
          <a:p>
            <a:pPr>
              <a:spcAft>
                <a:spcPts val="300"/>
              </a:spcAft>
              <a:defRPr sz="1000" b="0">
                <a:solidFill>
                  <a:srgbClr val="333333"/>
                </a:solidFill>
                <a:latin typeface="Aptos"/>
              </a:defRPr>
            </a:pPr>
            <a:r>
              <a:t>2. Requests capability from Central Squad (not a specific person)</a:t>
            </a:r>
          </a:p>
          <a:p>
            <a:pPr>
              <a:spcAft>
                <a:spcPts val="300"/>
              </a:spcAft>
              <a:defRPr sz="1000" b="0">
                <a:solidFill>
                  <a:srgbClr val="333333"/>
                </a:solidFill>
                <a:latin typeface="Aptos"/>
              </a:defRPr>
            </a:pPr>
            <a:r>
              <a:t>3. Central attaches the relevant agent(s) to the SubSquad</a:t>
            </a:r>
          </a:p>
          <a:p>
            <a:pPr>
              <a:spcAft>
                <a:spcPts val="300"/>
              </a:spcAft>
              <a:defRPr sz="1000" b="0">
                <a:solidFill>
                  <a:srgbClr val="333333"/>
                </a:solidFill>
                <a:latin typeface="Aptos"/>
              </a:defRPr>
            </a:pPr>
            <a:r>
              <a:t>4. Agent operates within SubSquad for the needed duration</a:t>
            </a:r>
          </a:p>
          <a:p>
            <a:pPr>
              <a:spcAft>
                <a:spcPts val="300"/>
              </a:spcAft>
              <a:defRPr sz="1000" b="0">
                <a:solidFill>
                  <a:srgbClr val="333333"/>
                </a:solidFill>
                <a:latin typeface="Aptos"/>
              </a:defRPr>
            </a:pPr>
            <a:r>
              <a:t>5. Agent detaches when work completes, returns to Central pool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0" y="1417320"/>
            <a:ext cx="2743200" cy="256032"/>
          </a:xfrm>
          <a:prstGeom prst="rect">
            <a:avLst/>
          </a:prstGeom>
          <a:solidFill>
            <a:srgbClr val="4636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1600" rIns="101600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AVAILABLE CAPABILITIES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182880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178D4"/>
                </a:solidFill>
                <a:latin typeface="Aptos"/>
              </a:defRPr>
            </a:pPr>
            <a:r>
              <a:t>Backend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0" y="182880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ptos"/>
              </a:defRPr>
            </a:pPr>
            <a:r>
              <a:t>API design, server logic, data layers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0" y="182880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63668"/>
                </a:solidFill>
                <a:latin typeface="Aptos"/>
              </a:defRPr>
            </a:pPr>
            <a:r>
              <a:t>IaC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60" y="182880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ptos"/>
              </a:defRPr>
            </a:pPr>
            <a:r>
              <a:t>Bicep, Terraform, azd templates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2395728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B050"/>
                </a:solidFill>
                <a:latin typeface="Aptos"/>
              </a:defRPr>
            </a:pPr>
            <a:r>
              <a:t>QA / Testing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0" y="2395728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ptos"/>
              </a:defRPr>
            </a:pPr>
            <a:r>
              <a:t>Test strategies, automation, edge cases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0" y="2395728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25B62"/>
                </a:solidFill>
                <a:latin typeface="Aptos"/>
              </a:defRPr>
            </a:pPr>
            <a:r>
              <a:t>AI / ML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0" y="2395728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ptos"/>
              </a:defRPr>
            </a:pPr>
            <a:r>
              <a:t>Model integration, prompt engineering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2962656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E8B00"/>
                </a:solidFill>
                <a:latin typeface="Aptos"/>
              </a:defRPr>
            </a:pPr>
            <a:r>
              <a:t>DevOps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0" y="2962656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ptos"/>
              </a:defRPr>
            </a:pPr>
            <a:r>
              <a:t>CI/CD, pipelines, release management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0" y="2962656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D83B02"/>
                </a:solidFill>
                <a:latin typeface="Aptos"/>
              </a:defRPr>
            </a:pPr>
            <a:r>
              <a:t>Security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66960" y="2962656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ptos"/>
              </a:defRPr>
            </a:pPr>
            <a:r>
              <a:t>Compliance, scanning, access control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3529584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BCF2"/>
                </a:solidFill>
                <a:latin typeface="Aptos"/>
              </a:defRPr>
            </a:pPr>
            <a:r>
              <a:t>Frontend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0" y="3529584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ptos"/>
              </a:defRPr>
            </a:pPr>
            <a:r>
              <a:t>UI components, frameworks, responsive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78240" y="3529584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A4E66"/>
                </a:solidFill>
                <a:latin typeface="Aptos"/>
              </a:defRPr>
            </a:pPr>
            <a:r>
              <a:t>Data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66960" y="3529584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ptos"/>
              </a:defRPr>
            </a:pPr>
            <a:r>
              <a:t>Databases, migrations, analytics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3657600"/>
            <a:ext cx="10972800" cy="502920"/>
          </a:xfrm>
          <a:prstGeom prst="round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3703320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ptos"/>
              </a:defRPr>
            </a:pPr>
            <a:r>
              <a:t>SNAP = Scale capacity without moving people. Attach expertise. Detach when done. No reorgs needed.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4389120"/>
            <a:ext cx="1828800" cy="256032"/>
          </a:xfrm>
          <a:prstGeom prst="rect">
            <a:avLst/>
          </a:prstGeom>
          <a:solidFill>
            <a:srgbClr val="225B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1600" rIns="101600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SCALING EXAMPLE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74320" y="4754880"/>
            <a:ext cx="2103120" cy="1188720"/>
          </a:xfrm>
          <a:prstGeom prst="roundRect">
            <a:avLst/>
          </a:prstGeom>
          <a:solidFill>
            <a:srgbClr val="F8F8FA"/>
          </a:solidFill>
          <a:ln w="12700">
            <a:solidFill>
              <a:srgbClr val="01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74320" y="4754880"/>
            <a:ext cx="2103120" cy="320040"/>
          </a:xfrm>
          <a:prstGeom prst="rect">
            <a:avLst/>
          </a:prstGeom>
          <a:solidFill>
            <a:srgbClr val="01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5760" y="4782312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Aptos"/>
              </a:defRPr>
            </a:pPr>
            <a:r>
              <a:t>Week 1-2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516636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00" b="0">
                <a:solidFill>
                  <a:srgbClr val="333333"/>
                </a:solidFill>
                <a:latin typeface="Aptos"/>
              </a:defRPr>
            </a:pPr>
            <a:r>
              <a:t>SubSquad starts with</a:t>
            </a:r>
          </a:p>
          <a:p>
            <a:pPr>
              <a:spcAft>
                <a:spcPts val="300"/>
              </a:spcAft>
              <a:defRPr sz="900" b="0">
                <a:solidFill>
                  <a:srgbClr val="333333"/>
                </a:solidFill>
                <a:latin typeface="Aptos"/>
              </a:defRPr>
            </a:pPr>
            <a:r>
              <a:t>Coder + Tester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5669280"/>
            <a:ext cx="1920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178D4"/>
                </a:solidFill>
                <a:latin typeface="Aptos"/>
              </a:defRPr>
            </a:pPr>
            <a:r>
              <a:t>2 agents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2423160" y="5212080"/>
            <a:ext cx="137160" cy="228600"/>
          </a:xfrm>
          <a:prstGeom prst="rightArrow">
            <a:avLst/>
          </a:prstGeom>
          <a:solidFill>
            <a:srgbClr val="01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2606039" y="4754880"/>
            <a:ext cx="2103120" cy="1188720"/>
          </a:xfrm>
          <a:prstGeom prst="roundRect">
            <a:avLst/>
          </a:prstGeom>
          <a:solidFill>
            <a:srgbClr val="F8F8FA"/>
          </a:solidFill>
          <a:ln w="12700">
            <a:solidFill>
              <a:srgbClr val="4636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606039" y="4754880"/>
            <a:ext cx="2103120" cy="320040"/>
          </a:xfrm>
          <a:prstGeom prst="rect">
            <a:avLst/>
          </a:prstGeom>
          <a:solidFill>
            <a:srgbClr val="4636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697479" y="4782312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Aptos"/>
              </a:defRPr>
            </a:pPr>
            <a:r>
              <a:t>Week 3-4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697479" y="516636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00" b="0">
                <a:solidFill>
                  <a:srgbClr val="333333"/>
                </a:solidFill>
                <a:latin typeface="Aptos"/>
              </a:defRPr>
            </a:pPr>
            <a:r>
              <a:t>SNAPs in IaC +</a:t>
            </a:r>
          </a:p>
          <a:p>
            <a:pPr>
              <a:spcAft>
                <a:spcPts val="300"/>
              </a:spcAft>
              <a:defRPr sz="900" b="0">
                <a:solidFill>
                  <a:srgbClr val="333333"/>
                </a:solidFill>
                <a:latin typeface="Aptos"/>
              </a:defRPr>
            </a:pPr>
            <a:r>
              <a:t>DevOps capability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697479" y="5669280"/>
            <a:ext cx="1920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63668"/>
                </a:solidFill>
                <a:latin typeface="Aptos"/>
              </a:defRPr>
            </a:pPr>
            <a:r>
              <a:t>4 agents</a:t>
            </a:r>
          </a:p>
        </p:txBody>
      </p:sp>
      <p:sp>
        <p:nvSpPr>
          <p:cNvPr id="38" name="Right Arrow 37"/>
          <p:cNvSpPr/>
          <p:nvPr/>
        </p:nvSpPr>
        <p:spPr>
          <a:xfrm>
            <a:off x="4754879" y="5212080"/>
            <a:ext cx="137160" cy="228600"/>
          </a:xfrm>
          <a:prstGeom prst="rightArrow">
            <a:avLst/>
          </a:prstGeom>
          <a:solidFill>
            <a:srgbClr val="4636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4937759" y="4754880"/>
            <a:ext cx="2103120" cy="1188720"/>
          </a:xfrm>
          <a:prstGeom prst="roundRect">
            <a:avLst/>
          </a:prstGeom>
          <a:solidFill>
            <a:srgbClr val="F8F8FA"/>
          </a:solidFill>
          <a:ln w="12700">
            <a:solidFill>
              <a:srgbClr val="225B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937759" y="4754880"/>
            <a:ext cx="2103120" cy="320040"/>
          </a:xfrm>
          <a:prstGeom prst="rect">
            <a:avLst/>
          </a:prstGeom>
          <a:solidFill>
            <a:srgbClr val="225B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029199" y="4782312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Aptos"/>
              </a:defRPr>
            </a:pPr>
            <a:r>
              <a:t>Week 5-6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29199" y="516636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00" b="0">
                <a:solidFill>
                  <a:srgbClr val="333333"/>
                </a:solidFill>
                <a:latin typeface="Aptos"/>
              </a:defRPr>
            </a:pPr>
            <a:r>
              <a:t>Adds AI agent</a:t>
            </a:r>
          </a:p>
          <a:p>
            <a:pPr>
              <a:spcAft>
                <a:spcPts val="300"/>
              </a:spcAft>
              <a:defRPr sz="900" b="0">
                <a:solidFill>
                  <a:srgbClr val="333333"/>
                </a:solidFill>
                <a:latin typeface="Aptos"/>
              </a:defRPr>
            </a:pPr>
            <a:r>
              <a:t>for ML integration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29199" y="5669280"/>
            <a:ext cx="1920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25B62"/>
                </a:solidFill>
                <a:latin typeface="Aptos"/>
              </a:defRPr>
            </a:pPr>
            <a:r>
              <a:t>5 agents</a:t>
            </a:r>
          </a:p>
        </p:txBody>
      </p:sp>
      <p:sp>
        <p:nvSpPr>
          <p:cNvPr id="44" name="Right Arrow 43"/>
          <p:cNvSpPr/>
          <p:nvPr/>
        </p:nvSpPr>
        <p:spPr>
          <a:xfrm>
            <a:off x="7086599" y="5212080"/>
            <a:ext cx="137160" cy="228600"/>
          </a:xfrm>
          <a:prstGeom prst="rightArrow">
            <a:avLst/>
          </a:prstGeom>
          <a:solidFill>
            <a:srgbClr val="225B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7269479" y="4754880"/>
            <a:ext cx="2103120" cy="1188720"/>
          </a:xfrm>
          <a:prstGeom prst="roundRect">
            <a:avLst/>
          </a:prstGeom>
          <a:solidFill>
            <a:srgbClr val="F8F8FA"/>
          </a:solidFill>
          <a:ln w="12700">
            <a:solidFill>
              <a:srgbClr val="FE8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269479" y="4754880"/>
            <a:ext cx="2103120" cy="320040"/>
          </a:xfrm>
          <a:prstGeom prst="rect">
            <a:avLst/>
          </a:prstGeom>
          <a:solidFill>
            <a:srgbClr val="FE8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360919" y="4782312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Aptos"/>
              </a:defRPr>
            </a:pPr>
            <a:r>
              <a:t>Week 7-8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360919" y="516636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00" b="0">
                <a:solidFill>
                  <a:srgbClr val="333333"/>
                </a:solidFill>
                <a:latin typeface="Aptos"/>
              </a:defRPr>
            </a:pPr>
            <a:r>
              <a:t>Detaches AI + IaC</a:t>
            </a:r>
          </a:p>
          <a:p>
            <a:pPr>
              <a:spcAft>
                <a:spcPts val="300"/>
              </a:spcAft>
              <a:defRPr sz="900" b="0">
                <a:solidFill>
                  <a:srgbClr val="333333"/>
                </a:solidFill>
                <a:latin typeface="Aptos"/>
              </a:defRPr>
            </a:pPr>
            <a:r>
              <a:t>after completion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360919" y="5669280"/>
            <a:ext cx="1920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E8B00"/>
                </a:solidFill>
                <a:latin typeface="Aptos"/>
              </a:defRPr>
            </a:pPr>
            <a:r>
              <a:t>3 agents</a:t>
            </a:r>
          </a:p>
        </p:txBody>
      </p:sp>
      <p:sp>
        <p:nvSpPr>
          <p:cNvPr id="50" name="Right Arrow 49"/>
          <p:cNvSpPr/>
          <p:nvPr/>
        </p:nvSpPr>
        <p:spPr>
          <a:xfrm>
            <a:off x="9418319" y="5212080"/>
            <a:ext cx="137160" cy="228600"/>
          </a:xfrm>
          <a:prstGeom prst="rightArrow">
            <a:avLst/>
          </a:prstGeom>
          <a:solidFill>
            <a:srgbClr val="FE8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9601200" y="4754880"/>
            <a:ext cx="2103120" cy="1188720"/>
          </a:xfrm>
          <a:prstGeom prst="roundRect">
            <a:avLst/>
          </a:prstGeom>
          <a:solidFill>
            <a:srgbClr val="F8F8FA"/>
          </a:solidFill>
          <a:ln w="12700">
            <a:solidFill>
              <a:srgbClr val="00B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9601200" y="4754880"/>
            <a:ext cx="2103120" cy="320040"/>
          </a:xfrm>
          <a:prstGeom prst="rect">
            <a:avLst/>
          </a:prstGeom>
          <a:solidFill>
            <a:srgbClr val="00B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692640" y="4782312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Aptos"/>
              </a:defRPr>
            </a:pPr>
            <a:r>
              <a:t>Handover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692640" y="516636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00" b="0">
                <a:solidFill>
                  <a:srgbClr val="333333"/>
                </a:solidFill>
                <a:latin typeface="Aptos"/>
              </a:defRPr>
            </a:pPr>
            <a:r>
              <a:t>SNAPs in DevRel</a:t>
            </a:r>
          </a:p>
          <a:p>
            <a:pPr>
              <a:spcAft>
                <a:spcPts val="300"/>
              </a:spcAft>
              <a:defRPr sz="900" b="0">
                <a:solidFill>
                  <a:srgbClr val="333333"/>
                </a:solidFill>
                <a:latin typeface="Aptos"/>
              </a:defRPr>
            </a:pPr>
            <a:r>
              <a:t>for documentation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692640" y="5669280"/>
            <a:ext cx="1920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B050"/>
                </a:solidFill>
                <a:latin typeface="Aptos"/>
              </a:defRPr>
            </a:pPr>
            <a:r>
              <a:t>3 agents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74320" y="62636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Aptos"/>
              </a:defRPr>
            </a:pPr>
            <a:r>
              <a:t>CONFIDENTIAL  |  Microsoft Accelerate Factory  |  Copilot Squad Runbook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515600" y="62636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  <a:latin typeface="Aptos"/>
              </a:defRPr>
            </a:pPr>
            <a:r>
              <a:t>12 / 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91440"/>
            <a:ext cx="12192000" cy="566928"/>
          </a:xfrm>
          <a:prstGeom prst="rect">
            <a:avLst/>
          </a:prstGeom>
          <a:solidFill>
            <a:srgbClr val="01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600" b="1">
                <a:solidFill>
                  <a:srgbClr val="FFFFFF"/>
                </a:solidFill>
                <a:latin typeface="Aptos Display"/>
              </a:defRPr>
            </a:pPr>
            <a:r>
              <a:t>10  Execution by Factory Phase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4E66"/>
                </a:solidFill>
                <a:latin typeface="Aptos"/>
              </a:defRPr>
            </a:pPr>
            <a:r>
              <a:t>What agents do at each phase of the Accelerate Factory delivery model.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417320"/>
            <a:ext cx="2103120" cy="4572000"/>
          </a:xfrm>
          <a:prstGeom prst="roundRect">
            <a:avLst/>
          </a:prstGeom>
          <a:solidFill>
            <a:srgbClr val="F8F8FA"/>
          </a:solidFill>
          <a:ln w="12700">
            <a:solidFill>
              <a:srgbClr val="01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2103120" cy="457200"/>
          </a:xfrm>
          <a:prstGeom prst="rect">
            <a:avLst/>
          </a:prstGeom>
          <a:solidFill>
            <a:srgbClr val="01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481328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INTAKE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011680"/>
            <a:ext cx="1371600" cy="256032"/>
          </a:xfrm>
          <a:prstGeom prst="rect">
            <a:avLst/>
          </a:prstGeom>
          <a:solidFill>
            <a:srgbClr val="4A4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1600" rIns="101600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AGENT ACTIONS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3774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ptos"/>
              </a:defRPr>
            </a:pPr>
            <a:r>
              <a:t>  Researcher scans requirements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8346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ptos"/>
              </a:defRPr>
            </a:pPr>
            <a:r>
              <a:t>  Architect generates scope doc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291839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ptos"/>
              </a:defRPr>
            </a:pPr>
            <a:r>
              <a:t>  Agent identifies reusable assets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7490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ptos"/>
              </a:defRPr>
            </a:pPr>
            <a:r>
              <a:t>  Auto-generates project skeleton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4343400"/>
            <a:ext cx="914400" cy="256032"/>
          </a:xfrm>
          <a:prstGeom prst="rect">
            <a:avLst/>
          </a:prstGeom>
          <a:solidFill>
            <a:srgbClr val="01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1600" rIns="101600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4709160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00" b="0">
                <a:solidFill>
                  <a:srgbClr val="4A4E66"/>
                </a:solidFill>
                <a:latin typeface="Aptos"/>
              </a:defRPr>
            </a:pPr>
            <a:r>
              <a:t>Deliverables: scope doc, asset map,</a:t>
            </a:r>
          </a:p>
          <a:p>
            <a:pPr>
              <a:spcAft>
                <a:spcPts val="300"/>
              </a:spcAft>
              <a:defRPr sz="900" b="0">
                <a:solidFill>
                  <a:srgbClr val="4A4E66"/>
                </a:solidFill>
                <a:latin typeface="Aptos"/>
              </a:defRPr>
            </a:pPr>
            <a:r>
              <a:t>SubSquad composition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2423160" y="1554480"/>
            <a:ext cx="137160" cy="228600"/>
          </a:xfrm>
          <a:prstGeom prst="rightArrow">
            <a:avLst/>
          </a:prstGeom>
          <a:solidFill>
            <a:srgbClr val="01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606039" y="1417320"/>
            <a:ext cx="2103120" cy="4572000"/>
          </a:xfrm>
          <a:prstGeom prst="roundRect">
            <a:avLst/>
          </a:prstGeom>
          <a:solidFill>
            <a:srgbClr val="F8F8FA"/>
          </a:solidFill>
          <a:ln w="12700">
            <a:solidFill>
              <a:srgbClr val="4636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606039" y="1417320"/>
            <a:ext cx="2103120" cy="457200"/>
          </a:xfrm>
          <a:prstGeom prst="rect">
            <a:avLst/>
          </a:prstGeom>
          <a:solidFill>
            <a:srgbClr val="4636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697479" y="1481328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DESIGN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697479" y="2011680"/>
            <a:ext cx="1371600" cy="256032"/>
          </a:xfrm>
          <a:prstGeom prst="rect">
            <a:avLst/>
          </a:prstGeom>
          <a:solidFill>
            <a:srgbClr val="4A4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1600" rIns="101600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AGENT ACTIONS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97479" y="23774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ptos"/>
              </a:defRPr>
            </a:pPr>
            <a:r>
              <a:t>  Architect produces ADRs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97479" y="28346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ptos"/>
              </a:defRPr>
            </a:pPr>
            <a:r>
              <a:t>  Prompter designs agent config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79" y="3291839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ptos"/>
              </a:defRPr>
            </a:pPr>
            <a:r>
              <a:t>  IaC templates selected from lib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97479" y="37490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ptos"/>
              </a:defRPr>
            </a:pPr>
            <a:r>
              <a:t>  Security patterns applied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697479" y="4343400"/>
            <a:ext cx="914400" cy="256032"/>
          </a:xfrm>
          <a:prstGeom prst="rect">
            <a:avLst/>
          </a:prstGeom>
          <a:solidFill>
            <a:srgbClr val="4636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1600" rIns="101600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79" y="4709160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00" b="0">
                <a:solidFill>
                  <a:srgbClr val="4A4E66"/>
                </a:solidFill>
                <a:latin typeface="Aptos"/>
              </a:defRPr>
            </a:pPr>
            <a:r>
              <a:t>Deliverables: architecture docs,</a:t>
            </a:r>
          </a:p>
          <a:p>
            <a:pPr>
              <a:spcAft>
                <a:spcPts val="300"/>
              </a:spcAft>
              <a:defRPr sz="900" b="0">
                <a:solidFill>
                  <a:srgbClr val="4A4E66"/>
                </a:solidFill>
                <a:latin typeface="Aptos"/>
              </a:defRPr>
            </a:pPr>
            <a:r>
              <a:t>IaC plan, agent roster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4754879" y="1554480"/>
            <a:ext cx="137160" cy="228600"/>
          </a:xfrm>
          <a:prstGeom prst="rightArrow">
            <a:avLst/>
          </a:prstGeom>
          <a:solidFill>
            <a:srgbClr val="4636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937759" y="1417320"/>
            <a:ext cx="2103120" cy="4572000"/>
          </a:xfrm>
          <a:prstGeom prst="roundRect">
            <a:avLst/>
          </a:prstGeom>
          <a:solidFill>
            <a:srgbClr val="F8F8FA"/>
          </a:solidFill>
          <a:ln w="12700">
            <a:solidFill>
              <a:srgbClr val="FE8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937759" y="1417320"/>
            <a:ext cx="2103120" cy="457200"/>
          </a:xfrm>
          <a:prstGeom prst="rect">
            <a:avLst/>
          </a:prstGeom>
          <a:solidFill>
            <a:srgbClr val="FE8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199" y="1481328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BUILD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199" y="2011680"/>
            <a:ext cx="1371600" cy="256032"/>
          </a:xfrm>
          <a:prstGeom prst="rect">
            <a:avLst/>
          </a:prstGeom>
          <a:solidFill>
            <a:srgbClr val="4A4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1600" rIns="101600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AGENT ACTIONS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199" y="23774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ptos"/>
              </a:defRPr>
            </a:pPr>
            <a:r>
              <a:t>  Coder implements features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199" y="28346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ptos"/>
              </a:defRPr>
            </a:pPr>
            <a:r>
              <a:t>  Tester writes and runs tests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199" y="3291839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ptos"/>
              </a:defRPr>
            </a:pPr>
            <a:r>
              <a:t>  SubSquads execute in parallel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199" y="37490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ptos"/>
              </a:defRPr>
            </a:pPr>
            <a:r>
              <a:t>  Shared agents ensure consistency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29199" y="4343400"/>
            <a:ext cx="914400" cy="256032"/>
          </a:xfrm>
          <a:prstGeom prst="rect">
            <a:avLst/>
          </a:prstGeom>
          <a:solidFill>
            <a:srgbClr val="FE8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1600" rIns="101600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199" y="4709160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00" b="0">
                <a:solidFill>
                  <a:srgbClr val="4A4E66"/>
                </a:solidFill>
                <a:latin typeface="Aptos"/>
              </a:defRPr>
            </a:pPr>
            <a:r>
              <a:t>Deliverables: working code,</a:t>
            </a:r>
          </a:p>
          <a:p>
            <a:pPr>
              <a:spcAft>
                <a:spcPts val="300"/>
              </a:spcAft>
              <a:defRPr sz="900" b="0">
                <a:solidFill>
                  <a:srgbClr val="4A4E66"/>
                </a:solidFill>
                <a:latin typeface="Aptos"/>
              </a:defRPr>
            </a:pPr>
            <a:r>
              <a:t>test suites, automated builds</a:t>
            </a:r>
          </a:p>
        </p:txBody>
      </p:sp>
      <p:sp>
        <p:nvSpPr>
          <p:cNvPr id="36" name="Right Arrow 35"/>
          <p:cNvSpPr/>
          <p:nvPr/>
        </p:nvSpPr>
        <p:spPr>
          <a:xfrm>
            <a:off x="7086599" y="1554480"/>
            <a:ext cx="137160" cy="228600"/>
          </a:xfrm>
          <a:prstGeom prst="rightArrow">
            <a:avLst/>
          </a:prstGeom>
          <a:solidFill>
            <a:srgbClr val="FE8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269479" y="1417320"/>
            <a:ext cx="2103120" cy="4572000"/>
          </a:xfrm>
          <a:prstGeom prst="roundRect">
            <a:avLst/>
          </a:prstGeom>
          <a:solidFill>
            <a:srgbClr val="F8F8FA"/>
          </a:solidFill>
          <a:ln w="12700">
            <a:solidFill>
              <a:srgbClr val="00B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269479" y="1417320"/>
            <a:ext cx="2103120" cy="457200"/>
          </a:xfrm>
          <a:prstGeom prst="rect">
            <a:avLst/>
          </a:prstGeom>
          <a:solidFill>
            <a:srgbClr val="00B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360919" y="1481328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DEPLOY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360919" y="2011680"/>
            <a:ext cx="1371600" cy="256032"/>
          </a:xfrm>
          <a:prstGeom prst="rect">
            <a:avLst/>
          </a:prstGeom>
          <a:solidFill>
            <a:srgbClr val="4A4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1600" rIns="101600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AGENT ACTIONS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60919" y="23774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ptos"/>
              </a:defRPr>
            </a:pPr>
            <a:r>
              <a:t>  GitOps manages CI/CD pipeline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60919" y="28346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ptos"/>
              </a:defRPr>
            </a:pPr>
            <a:r>
              <a:t>  IaC deploys infra (no portal)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60919" y="3291839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ptos"/>
              </a:defRPr>
            </a:pPr>
            <a:r>
              <a:t>  Evaluator validates quality gates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60919" y="37490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ptos"/>
              </a:defRPr>
            </a:pPr>
            <a:r>
              <a:t>  Zero manual deployment steps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360919" y="4343400"/>
            <a:ext cx="914400" cy="256032"/>
          </a:xfrm>
          <a:prstGeom prst="rect">
            <a:avLst/>
          </a:prstGeom>
          <a:solidFill>
            <a:srgbClr val="00B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1600" rIns="101600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360919" y="4709160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00" b="0">
                <a:solidFill>
                  <a:srgbClr val="4A4E66"/>
                </a:solidFill>
                <a:latin typeface="Aptos"/>
              </a:defRPr>
            </a:pPr>
            <a:r>
              <a:t>Deliverables: deployed infra,</a:t>
            </a:r>
          </a:p>
          <a:p>
            <a:pPr>
              <a:spcAft>
                <a:spcPts val="300"/>
              </a:spcAft>
              <a:defRPr sz="900" b="0">
                <a:solidFill>
                  <a:srgbClr val="4A4E66"/>
                </a:solidFill>
                <a:latin typeface="Aptos"/>
              </a:defRPr>
            </a:pPr>
            <a:r>
              <a:t>pipeline configs, validation report</a:t>
            </a:r>
          </a:p>
        </p:txBody>
      </p:sp>
      <p:sp>
        <p:nvSpPr>
          <p:cNvPr id="47" name="Right Arrow 46"/>
          <p:cNvSpPr/>
          <p:nvPr/>
        </p:nvSpPr>
        <p:spPr>
          <a:xfrm>
            <a:off x="9418319" y="1554480"/>
            <a:ext cx="137160" cy="228600"/>
          </a:xfrm>
          <a:prstGeom prst="rightArrow">
            <a:avLst/>
          </a:prstGeom>
          <a:solidFill>
            <a:srgbClr val="00B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9601200" y="1417320"/>
            <a:ext cx="2103120" cy="4572000"/>
          </a:xfrm>
          <a:prstGeom prst="roundRect">
            <a:avLst/>
          </a:prstGeom>
          <a:solidFill>
            <a:srgbClr val="F8F8FA"/>
          </a:solidFill>
          <a:ln w="12700">
            <a:solidFill>
              <a:srgbClr val="225B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9601200" y="1417320"/>
            <a:ext cx="2103120" cy="457200"/>
          </a:xfrm>
          <a:prstGeom prst="rect">
            <a:avLst/>
          </a:prstGeom>
          <a:solidFill>
            <a:srgbClr val="225B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692640" y="1481328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HANDOVER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692640" y="2011680"/>
            <a:ext cx="1371600" cy="256032"/>
          </a:xfrm>
          <a:prstGeom prst="rect">
            <a:avLst/>
          </a:prstGeom>
          <a:solidFill>
            <a:srgbClr val="4A4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1600" rIns="101600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AGENT ACTIONS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692640" y="23774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ptos"/>
              </a:defRPr>
            </a:pPr>
            <a:r>
              <a:t>  DevRel generates all docs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692640" y="28346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ptos"/>
              </a:defRPr>
            </a:pPr>
            <a:r>
              <a:t>  Scribe writes build journal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692640" y="3291839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ptos"/>
              </a:defRPr>
            </a:pPr>
            <a:r>
              <a:t>  Improvements submitted to Central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692640" y="37490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ptos"/>
              </a:defRPr>
            </a:pPr>
            <a:r>
              <a:t>  Runbook auto-generated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692640" y="4343400"/>
            <a:ext cx="914400" cy="256032"/>
          </a:xfrm>
          <a:prstGeom prst="rect">
            <a:avLst/>
          </a:prstGeom>
          <a:solidFill>
            <a:srgbClr val="225B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1600" rIns="101600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692640" y="4709160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00" b="0">
                <a:solidFill>
                  <a:srgbClr val="4A4E66"/>
                </a:solidFill>
                <a:latin typeface="Aptos"/>
              </a:defRPr>
            </a:pPr>
            <a:r>
              <a:t>Deliverables: docs, runbook,</a:t>
            </a:r>
          </a:p>
          <a:p>
            <a:pPr>
              <a:spcAft>
                <a:spcPts val="300"/>
              </a:spcAft>
              <a:defRPr sz="900" b="0">
                <a:solidFill>
                  <a:srgbClr val="4A4E66"/>
                </a:solidFill>
                <a:latin typeface="Aptos"/>
              </a:defRPr>
            </a:pPr>
            <a:r>
              <a:t>journal, Central contributions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74320" y="62636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Aptos"/>
              </a:defRPr>
            </a:pPr>
            <a:r>
              <a:t>CONFIDENTIAL  |  Microsoft Accelerate Factory  |  Copilot Squad Runbook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515600" y="62636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  <a:latin typeface="Aptos"/>
              </a:defRPr>
            </a:pPr>
            <a:r>
              <a:t>13 / 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91440"/>
            <a:ext cx="12192000" cy="566928"/>
          </a:xfrm>
          <a:prstGeom prst="rect">
            <a:avLst/>
          </a:prstGeom>
          <a:solidFill>
            <a:srgbClr val="01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600" b="1">
                <a:solidFill>
                  <a:srgbClr val="FFFFFF"/>
                </a:solidFill>
                <a:latin typeface="Aptos Display"/>
              </a:defRPr>
            </a:pPr>
            <a:r>
              <a:t>11  Continuous Improvement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4E66"/>
                </a:solidFill>
                <a:latin typeface="Aptos"/>
              </a:defRPr>
            </a:pPr>
            <a:r>
              <a:t>The system gets smarter with every engagement. Here's how to make that happen.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417320"/>
            <a:ext cx="2697480" cy="3474720"/>
          </a:xfrm>
          <a:prstGeom prst="roundRect">
            <a:avLst/>
          </a:prstGeom>
          <a:solidFill>
            <a:srgbClr val="F8F8FA"/>
          </a:solidFill>
          <a:ln w="12700">
            <a:solidFill>
              <a:srgbClr val="01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417320"/>
            <a:ext cx="2697480" cy="640080"/>
          </a:xfrm>
          <a:prstGeom prst="rect">
            <a:avLst/>
          </a:prstGeom>
          <a:solidFill>
            <a:srgbClr val="01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44752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ptos"/>
              </a:defRPr>
            </a:pPr>
            <a:r>
              <a:t>CAPTURE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37360"/>
            <a:ext cx="2514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DDFF"/>
                </a:solidFill>
                <a:latin typeface="Aptos"/>
              </a:defRPr>
            </a:pPr>
            <a:r>
              <a:t>During Execution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240280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ptos"/>
              </a:defRPr>
            </a:pPr>
            <a:r>
              <a:t>  Log decisions in .squad/decisions.md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788920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ptos"/>
              </a:defRPr>
            </a:pPr>
            <a:r>
              <a:t>  Record lessons in JOURNAL.md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337560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ptos"/>
              </a:defRPr>
            </a:pPr>
            <a:r>
              <a:t>  Note agent gaps and workarounds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886199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ptos"/>
              </a:defRPr>
            </a:pPr>
            <a:r>
              <a:t>  Track what worked and what didn't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108960" y="1645920"/>
            <a:ext cx="137160" cy="228600"/>
          </a:xfrm>
          <a:prstGeom prst="rightArrow">
            <a:avLst/>
          </a:prstGeom>
          <a:solidFill>
            <a:srgbClr val="01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246120" y="1417320"/>
            <a:ext cx="2697480" cy="3474720"/>
          </a:xfrm>
          <a:prstGeom prst="roundRect">
            <a:avLst/>
          </a:prstGeom>
          <a:solidFill>
            <a:srgbClr val="F8F8FA"/>
          </a:solidFill>
          <a:ln w="12700">
            <a:solidFill>
              <a:srgbClr val="4636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46120" y="1417320"/>
            <a:ext cx="2697480" cy="640080"/>
          </a:xfrm>
          <a:prstGeom prst="rect">
            <a:avLst/>
          </a:prstGeom>
          <a:solidFill>
            <a:srgbClr val="4636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444752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ptos"/>
              </a:defRPr>
            </a:pPr>
            <a:r>
              <a:t>UPDATE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737360"/>
            <a:ext cx="2514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DDFF"/>
                </a:solidFill>
                <a:latin typeface="Aptos"/>
              </a:defRPr>
            </a:pPr>
            <a:r>
              <a:t>Post-Engagement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37560" y="2240280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ptos"/>
              </a:defRPr>
            </a:pPr>
            <a:r>
              <a:t>  Submit PRs for agent improvements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2788920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ptos"/>
              </a:defRPr>
            </a:pPr>
            <a:r>
              <a:t>  Update prompts with new patterns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37560" y="3337560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ptos"/>
              </a:defRPr>
            </a:pPr>
            <a:r>
              <a:t>  Add new IaC/code templates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37560" y="3886199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ptos"/>
              </a:defRPr>
            </a:pPr>
            <a:r>
              <a:t>  Refine routing rules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5989320" y="1645920"/>
            <a:ext cx="137160" cy="228600"/>
          </a:xfrm>
          <a:prstGeom prst="rightArrow">
            <a:avLst/>
          </a:prstGeom>
          <a:solidFill>
            <a:srgbClr val="4636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126480" y="1417320"/>
            <a:ext cx="2697480" cy="3474720"/>
          </a:xfrm>
          <a:prstGeom prst="roundRect">
            <a:avLst/>
          </a:prstGeom>
          <a:solidFill>
            <a:srgbClr val="F8F8FA"/>
          </a:solidFill>
          <a:ln w="12700">
            <a:solidFill>
              <a:srgbClr val="00B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26480" y="1417320"/>
            <a:ext cx="2697480" cy="640080"/>
          </a:xfrm>
          <a:prstGeom prst="rect">
            <a:avLst/>
          </a:prstGeom>
          <a:solidFill>
            <a:srgbClr val="00B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17920" y="1444752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ptos"/>
              </a:defRPr>
            </a:pPr>
            <a:r>
              <a:t>VALIDATE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1737360"/>
            <a:ext cx="2514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DDFF"/>
                </a:solidFill>
                <a:latin typeface="Aptos"/>
              </a:defRPr>
            </a:pPr>
            <a:r>
              <a:t>Central Review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2240280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ptos"/>
              </a:defRPr>
            </a:pPr>
            <a:r>
              <a:t>  Architect reviews contributions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2788920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ptos"/>
              </a:defRPr>
            </a:pPr>
            <a:r>
              <a:t>  Security scan on all changes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3337560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ptos"/>
              </a:defRPr>
            </a:pPr>
            <a:r>
              <a:t>  Test isolation (no client data)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0" y="3886199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ptos"/>
              </a:defRPr>
            </a:pPr>
            <a:r>
              <a:t>  Version and publish updates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8869680" y="1645920"/>
            <a:ext cx="137160" cy="228600"/>
          </a:xfrm>
          <a:prstGeom prst="rightArrow">
            <a:avLst/>
          </a:prstGeom>
          <a:solidFill>
            <a:srgbClr val="00B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006840" y="1417320"/>
            <a:ext cx="2697480" cy="3474720"/>
          </a:xfrm>
          <a:prstGeom prst="roundRect">
            <a:avLst/>
          </a:prstGeom>
          <a:solidFill>
            <a:srgbClr val="F8F8FA"/>
          </a:solidFill>
          <a:ln w="12700">
            <a:solidFill>
              <a:srgbClr val="225B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006840" y="1417320"/>
            <a:ext cx="2697480" cy="640080"/>
          </a:xfrm>
          <a:prstGeom prst="rect">
            <a:avLst/>
          </a:prstGeom>
          <a:solidFill>
            <a:srgbClr val="225B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098280" y="1444752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ptos"/>
              </a:defRPr>
            </a:pPr>
            <a:r>
              <a:t>DISTRIBUTE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98280" y="1737360"/>
            <a:ext cx="2514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DDFF"/>
                </a:solidFill>
                <a:latin typeface="Aptos"/>
              </a:defRPr>
            </a:pPr>
            <a:r>
              <a:t>All Teams Benefit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98280" y="2240280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ptos"/>
              </a:defRPr>
            </a:pPr>
            <a:r>
              <a:t>  Updated agents available to all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98280" y="2788920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ptos"/>
              </a:defRPr>
            </a:pPr>
            <a:r>
              <a:t>  New patterns in shared library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98280" y="3337560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ptos"/>
              </a:defRPr>
            </a:pPr>
            <a:r>
              <a:t>  Improved prompts for everyone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98280" y="3886199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ptos"/>
              </a:defRPr>
            </a:pPr>
            <a:r>
              <a:t>  Catalog reflects latest versions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5120640"/>
            <a:ext cx="2286000" cy="256032"/>
          </a:xfrm>
          <a:prstGeom prst="rect">
            <a:avLst/>
          </a:prstGeom>
          <a:solidFill>
            <a:srgbClr val="EE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1600" rIns="101600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ANTI-PATTERNS TO AVOID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548640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E0000"/>
                </a:solidFill>
                <a:latin typeface="Aptos"/>
              </a:defRPr>
            </a:pPr>
            <a:r>
              <a:t>X  Rebuilding from scratch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560320" y="5486400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ptos"/>
              </a:defRPr>
            </a:pPr>
            <a:r>
              <a:t>Always check Central first. If it exists, reuse it.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17920" y="548640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E0000"/>
                </a:solidFill>
                <a:latin typeface="Aptos"/>
              </a:defRPr>
            </a:pPr>
            <a:r>
              <a:t>X  Hoarding improvements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21040" y="5486400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ptos"/>
              </a:defRPr>
            </a:pPr>
            <a:r>
              <a:t>Improvements left in SubSquads die with the project.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" y="580644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E0000"/>
                </a:solidFill>
                <a:latin typeface="Aptos"/>
              </a:defRPr>
            </a:pPr>
            <a:r>
              <a:t>X  Embedding client data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560320" y="5806440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ptos"/>
              </a:defRPr>
            </a:pPr>
            <a:r>
              <a:t>Shared agents must be 100% generic. Use config for specifics.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17920" y="580644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E0000"/>
                </a:solidFill>
                <a:latin typeface="Aptos"/>
              </a:defRPr>
            </a:pPr>
            <a:r>
              <a:t>X  Skipping documentation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321040" y="5806440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ptos"/>
              </a:defRPr>
            </a:pPr>
            <a:r>
              <a:t>Undocumented improvements are invisible improvements.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74320" y="62636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Aptos"/>
              </a:defRPr>
            </a:pPr>
            <a:r>
              <a:t>CONFIDENTIAL  |  Microsoft Accelerate Factory  |  Copilot Squad Runbook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515600" y="62636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  <a:latin typeface="Aptos"/>
              </a:defRPr>
            </a:pPr>
            <a:r>
              <a:t>14 / 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91440"/>
            <a:ext cx="12192000" cy="566928"/>
          </a:xfrm>
          <a:prstGeom prst="rect">
            <a:avLst/>
          </a:prstGeom>
          <a:solidFill>
            <a:srgbClr val="01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600" b="1">
                <a:solidFill>
                  <a:srgbClr val="FFFFFF"/>
                </a:solidFill>
                <a:latin typeface="Aptos Display"/>
              </a:defRPr>
            </a:pPr>
            <a:r>
              <a:t>Quick Reference Card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2286000" cy="256032"/>
          </a:xfrm>
          <a:prstGeom prst="rect">
            <a:avLst/>
          </a:prstGeom>
          <a:solidFill>
            <a:srgbClr val="01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1600" rIns="101600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ESSENTIAL COMMANDS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178D4"/>
                </a:solidFill>
                <a:latin typeface="Aptos"/>
              </a:defRPr>
            </a:pPr>
            <a:r>
              <a:t>npx snap-squad 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132588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ptos"/>
              </a:defRPr>
            </a:pPr>
            <a:r>
              <a:t>See available presets and agents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45919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178D4"/>
                </a:solidFill>
                <a:latin typeface="Aptos"/>
              </a:defRPr>
            </a:pPr>
            <a:r>
              <a:t>npx snap-squad init --type &lt;preset&gt;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1645919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ptos"/>
              </a:defRPr>
            </a:pPr>
            <a:r>
              <a:t>Initialize SubSquad with preset agents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6596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178D4"/>
                </a:solidFill>
                <a:latin typeface="Aptos"/>
              </a:defRPr>
            </a:pPr>
            <a:r>
              <a:t>npx snap-squad init --type &lt;preset&gt; --force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196596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ptos"/>
              </a:defRPr>
            </a:pPr>
            <a:r>
              <a:t>Reset or switch squad preset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28600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178D4"/>
                </a:solidFill>
                <a:latin typeface="Aptos"/>
              </a:defRPr>
            </a:pPr>
            <a:r>
              <a:t>cat .squad/team.md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22860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ptos"/>
              </a:defRPr>
            </a:pPr>
            <a:r>
              <a:t>View current team roster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606039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178D4"/>
                </a:solidFill>
                <a:latin typeface="Aptos"/>
              </a:defRPr>
            </a:pPr>
            <a:r>
              <a:t>cat .squad/routing.md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2606039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ptos"/>
              </a:defRPr>
            </a:pPr>
            <a:r>
              <a:t>View work routing rules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92608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178D4"/>
                </a:solidFill>
                <a:latin typeface="Aptos"/>
              </a:defRPr>
            </a:pPr>
            <a:r>
              <a:t>cat .squad/decisions.md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292608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ptos"/>
              </a:defRPr>
            </a:pPr>
            <a:r>
              <a:t>View active decisions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383280"/>
            <a:ext cx="1371600" cy="256032"/>
          </a:xfrm>
          <a:prstGeom prst="rect">
            <a:avLst/>
          </a:prstGeom>
          <a:solidFill>
            <a:srgbClr val="4636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1600" rIns="101600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KEY FILES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749039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63668"/>
                </a:solidFill>
                <a:latin typeface="Aptos"/>
              </a:defRPr>
            </a:pPr>
            <a:r>
              <a:t>AGENTS.md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3749039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ptos"/>
              </a:defRPr>
            </a:pPr>
            <a:r>
              <a:t>Operating instructions for all agents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041648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63668"/>
                </a:solidFill>
                <a:latin typeface="Aptos"/>
              </a:defRPr>
            </a:pPr>
            <a:r>
              <a:t>CLAUDE.md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0" y="4041648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ptos"/>
              </a:defRPr>
            </a:pPr>
            <a:r>
              <a:t>Session memory and project context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334255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63668"/>
                </a:solidFill>
                <a:latin typeface="Aptos"/>
              </a:defRPr>
            </a:pPr>
            <a:r>
              <a:t>.squad/team.md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0" y="4334255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ptos"/>
              </a:defRPr>
            </a:pPr>
            <a:r>
              <a:t>Team roster and project metadata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626864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63668"/>
                </a:solidFill>
                <a:latin typeface="Aptos"/>
              </a:defRPr>
            </a:pPr>
            <a:r>
              <a:t>.squad/routing.md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0" y="4626864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ptos"/>
              </a:defRPr>
            </a:pPr>
            <a:r>
              <a:t>Work type to agent mapping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4919472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63668"/>
                </a:solidFill>
                <a:latin typeface="Aptos"/>
              </a:defRPr>
            </a:pPr>
            <a:r>
              <a:t>.squad/decisions.md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0" y="4919472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ptos"/>
              </a:defRPr>
            </a:pPr>
            <a:r>
              <a:t>Active design decisions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5212079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63668"/>
                </a:solidFill>
                <a:latin typeface="Aptos"/>
              </a:defRPr>
            </a:pPr>
            <a:r>
              <a:t>.squad/agents/&lt;name&gt;/charter.md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0" y="5212079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ptos"/>
              </a:defRPr>
            </a:pPr>
            <a:r>
              <a:t>Individual agent charter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5504688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63668"/>
                </a:solidFill>
                <a:latin typeface="Aptos"/>
              </a:defRPr>
            </a:pPr>
            <a:r>
              <a:t>JOURNAL.md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0" y="5504688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ptos"/>
              </a:defRPr>
            </a:pPr>
            <a:r>
              <a:t>Build history and milestones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5394960"/>
            <a:ext cx="2560320" cy="256032"/>
          </a:xfrm>
          <a:prstGeom prst="rect">
            <a:avLst/>
          </a:prstGeom>
          <a:solidFill>
            <a:srgbClr val="00B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1600" rIns="101600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BEFORE EVERY ENGAGEMENT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562356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ptos"/>
              </a:defRPr>
            </a:pPr>
            <a:r>
              <a:t>  Search Central registry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383280" y="562356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ptos"/>
              </a:defRPr>
            </a:pPr>
            <a:r>
              <a:t>  Pull agents (don't rebuild)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26480" y="562356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ptos"/>
              </a:defRPr>
            </a:pPr>
            <a:r>
              <a:t>  Configure (don't modify)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69680" y="562356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ptos"/>
              </a:defRPr>
            </a:pPr>
            <a:r>
              <a:t>  Contribute back at end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74320" y="62636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Aptos"/>
              </a:defRPr>
            </a:pPr>
            <a:r>
              <a:t>CONFIDENTIAL  |  Microsoft Accelerate Factory  |  Copilot Squad Runbook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0" y="62636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  <a:latin typeface="Aptos"/>
              </a:defRPr>
            </a:pPr>
            <a:r>
              <a:t>15 / 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Segoe Sans Display Semibold"/>
              </a:defRPr>
            </a:pPr>
            <a:r>
              <a:t>Microsoft Accelerated Factory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Aptos Display"/>
              </a:defRPr>
            </a:pPr>
            <a:r>
              <a:t>Start Using the Runbook</a:t>
            </a:r>
          </a:p>
        </p:txBody>
      </p:sp>
      <p:sp>
        <p:nvSpPr>
          <p:cNvPr id="4" name="Oval 3"/>
          <p:cNvSpPr/>
          <p:nvPr/>
        </p:nvSpPr>
        <p:spPr>
          <a:xfrm>
            <a:off x="731520" y="3017520"/>
            <a:ext cx="411480" cy="411480"/>
          </a:xfrm>
          <a:prstGeom prst="ellipse">
            <a:avLst/>
          </a:prstGeom>
          <a:solidFill>
            <a:srgbClr val="CC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0175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ptos"/>
              </a:defRPr>
            </a:pPr>
            <a:r>
              <a:t>Search First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3375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0B8E0"/>
                </a:solidFill>
                <a:latin typeface="Aptos"/>
              </a:defRPr>
            </a:pPr>
            <a:r>
              <a:t>Check Central Squad registry before creating anything new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3794759"/>
            <a:ext cx="411480" cy="411480"/>
          </a:xfrm>
          <a:prstGeom prst="ellipse">
            <a:avLst/>
          </a:prstGeom>
          <a:solidFill>
            <a:srgbClr val="CC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794759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ptos"/>
              </a:defRPr>
            </a:pPr>
            <a:r>
              <a:t>Configure, Don't Modify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4114799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0B8E0"/>
                </a:solidFill>
                <a:latin typeface="Aptos"/>
              </a:defRPr>
            </a:pPr>
            <a:r>
              <a:t>Use project-specific config. Never change shared agent logic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4572000"/>
            <a:ext cx="411480" cy="411480"/>
          </a:xfrm>
          <a:prstGeom prst="ellipse">
            <a:avLst/>
          </a:prstGeom>
          <a:solidFill>
            <a:srgbClr val="CC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5720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ptos"/>
              </a:defRPr>
            </a:pPr>
            <a:r>
              <a:t>Contribute Back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48920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0B8E0"/>
                </a:solidFill>
                <a:latin typeface="Aptos"/>
              </a:defRPr>
            </a:pPr>
            <a:r>
              <a:t>Every improvement you make should benefit every team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5349240"/>
            <a:ext cx="411480" cy="411480"/>
          </a:xfrm>
          <a:prstGeom prst="ellipse">
            <a:avLst/>
          </a:prstGeom>
          <a:solidFill>
            <a:srgbClr val="CC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5349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ptos"/>
              </a:defRPr>
            </a:pPr>
            <a:r>
              <a:t>Compound Skills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56692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0B8E0"/>
                </a:solidFill>
                <a:latin typeface="Aptos"/>
              </a:defRPr>
            </a:pPr>
            <a:r>
              <a:t>The system gets smarter with every engagement. Make it count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6692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CE5FF"/>
                </a:solidFill>
                <a:latin typeface="Aptos"/>
              </a:defRPr>
            </a:pPr>
            <a:r>
              <a:t>Reuse is the default. Creating is the exception. Every engagement makes us smarter.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62636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Aptos"/>
              </a:defRPr>
            </a:pPr>
            <a:r>
              <a:t>CONFIDENTIAL  |  Microsoft Accelerate Factory  |  Copilot Squad Runbook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62636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  <a:latin typeface="Aptos"/>
              </a:defRPr>
            </a:pPr>
            <a:r>
              <a:t>16 / 16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FY24 Global Customer Success">
  <a:themeElements>
    <a:clrScheme name="GCS">
      <a:dk1>
        <a:srgbClr val="1A1A1A"/>
      </a:dk1>
      <a:lt1>
        <a:srgbClr val="FFFFFF"/>
      </a:lt1>
      <a:dk2>
        <a:srgbClr val="2A446F"/>
      </a:dk2>
      <a:lt2>
        <a:srgbClr val="F2F2F2"/>
      </a:lt2>
      <a:accent1>
        <a:srgbClr val="D83B02"/>
      </a:accent1>
      <a:accent2>
        <a:srgbClr val="0178D4"/>
      </a:accent2>
      <a:accent3>
        <a:srgbClr val="FE8B00"/>
      </a:accent3>
      <a:accent4>
        <a:srgbClr val="00BCF2"/>
      </a:accent4>
      <a:accent5>
        <a:srgbClr val="463668"/>
      </a:accent5>
      <a:accent6>
        <a:srgbClr val="225B62"/>
      </a:accent6>
      <a:hlink>
        <a:srgbClr val="00BCF2"/>
      </a:hlink>
      <a:folHlink>
        <a:srgbClr val="274B47"/>
      </a:folHlink>
    </a:clrScheme>
    <a:fontScheme name="Segoe UI Semibold - Segoe UI">
      <a:majorFont>
        <a:latin typeface="Segoe UI Semibold"/>
        <a:ea typeface=""/>
        <a:cs typeface=""/>
      </a:majorFont>
      <a:minorFont>
        <a:latin typeface="Segoe UI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  <a:headEnd type="none" w="med" len="med"/>
          <a:tailEnd type="none" w="med" len="med"/>
        </a:ln>
        <a:effectLst/>
      </a:spPr>
      <a:bodyPr rot="0" spcFirstLastPara="0" vert="horz" wrap="square" lIns="182880" tIns="146304" rIns="182880" bIns="146304" numCol="1" spcCol="0" rtlCol="0" fromWordArt="0" anchor="t" anchorCtr="0" forceAA="0" compatLnSpc="1">
        <a:prstTxWarp prst="textNoShape">
          <a:avLst/>
        </a:prstTxWarp>
        <a:noAutofit/>
      </a:bodyPr>
      <a:lstStyle>
        <a:defPPr algn="l" defTabSz="932472" fontAlgn="base">
          <a:spcBef>
            <a:spcPct val="0"/>
          </a:spcBef>
          <a:spcAft>
            <a:spcPct val="0"/>
          </a:spcAft>
          <a:defRPr sz="2000" dirty="0" err="1" smtClean="0">
            <a:gradFill>
              <a:gsLst>
                <a:gs pos="0">
                  <a:srgbClr val="FFFFFF"/>
                </a:gs>
                <a:gs pos="100000">
                  <a:srgbClr val="FFFFFF"/>
                </a:gs>
              </a:gsLst>
              <a:lin ang="5400000" scaled="0"/>
            </a:gradFill>
            <a:ea typeface="Segoe UI" pitchFamily="34" charset="0"/>
            <a:cs typeface="Segoe UI" pitchFamily="34" charset="0"/>
          </a:defRPr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 w="lg" len="med"/>
          <a:tailEnd type="none" w="lg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sz="2000" dirty="0" err="1" smtClean="0">
            <a:gradFill>
              <a:gsLst>
                <a:gs pos="2917">
                  <a:schemeClr val="tx1"/>
                </a:gs>
                <a:gs pos="30000">
                  <a:schemeClr val="tx1"/>
                </a:gs>
              </a:gsLst>
              <a:lin ang="5400000" scaled="0"/>
            </a:gra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" id="{E3795941-59EF-4171-B17A-5159030DBA48}" vid="{3A2A1809-9A9C-4605-B72D-992B45BBB6BE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3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  <TaxCatchAll xmlns="31d963b9-1180-4647-93d7-d11aa08e2421" xsi:nil="true"/>
    <lcf76f155ced4ddcb4097134ff3c332f xmlns="f3541473-4e72-4c17-b1a6-32770bb766bd">
      <Terms xmlns="http://schemas.microsoft.com/office/infopath/2007/PartnerControls"/>
    </lcf76f155ced4ddcb4097134ff3c332f>
    <PrimeCorrectedByUser xmlns="31d963b9-1180-4647-93d7-d11aa08e2421" xsi:nil="true"/>
    <PrimeClassificationStatus xmlns="31d963b9-1180-4647-93d7-d11aa08e2421" xsi:nil="true"/>
    <Buckets xmlns="f3541473-4e72-4c17-b1a6-32770bb766bd" xsi:nil="true"/>
    <PrimeClassificationStatusDetails xmlns="31d963b9-1180-4647-93d7-d11aa08e2421" xsi:nil="true"/>
    <PrimeLastClassified xmlns="31d963b9-1180-4647-93d7-d11aa08e2421" xsi:nil="true"/>
    <Comments xmlns="f3541473-4e72-4c17-b1a6-32770bb766bd" xsi:nil="true"/>
    <ApprovedBy xmlns="f3541473-4e72-4c17-b1a6-32770bb766bd" xsi:nil="true"/>
    <ToBeMigrated_x003f_0 xmlns="f3541473-4e72-4c17-b1a6-32770bb766bd">true</ToBeMigrated_x003f_0>
    <ContentCategory xmlns="f3541473-4e72-4c17-b1a6-32770bb766bd" xsi:nil="true"/>
    <ToBeMigrated_x003f_ xmlns="f3541473-4e72-4c17-b1a6-32770bb766bd">true</ToBeMigrated_x003f_>
    <MigrationStatus xmlns="f3541473-4e72-4c17-b1a6-32770bb766bd" xsi:nil="true"/>
    <MigrationApproved xmlns="f3541473-4e72-4c17-b1a6-32770bb766bd">true</MigrationApproved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C4F5606B695A84A87B74917185224FA" ma:contentTypeVersion="35" ma:contentTypeDescription="Create a new document." ma:contentTypeScope="" ma:versionID="780f07036e1844f54aa521de4e75515b">
  <xsd:schema xmlns:xsd="http://www.w3.org/2001/XMLSchema" xmlns:xs="http://www.w3.org/2001/XMLSchema" xmlns:p="http://schemas.microsoft.com/office/2006/metadata/properties" xmlns:ns1="http://schemas.microsoft.com/sharepoint/v3" xmlns:ns2="f3541473-4e72-4c17-b1a6-32770bb766bd" xmlns:ns3="31d963b9-1180-4647-93d7-d11aa08e2421" targetNamespace="http://schemas.microsoft.com/office/2006/metadata/properties" ma:root="true" ma:fieldsID="5f4092ba07087a62a5026b82b14c4bf7" ns1:_="" ns2:_="" ns3:_="">
    <xsd:import namespace="http://schemas.microsoft.com/sharepoint/v3"/>
    <xsd:import namespace="f3541473-4e72-4c17-b1a6-32770bb766bd"/>
    <xsd:import namespace="31d963b9-1180-4647-93d7-d11aa08e242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1:_ip_UnifiedCompliancePolicyProperties" minOccurs="0"/>
                <xsd:element ref="ns1:_ip_UnifiedCompliancePolicyUIAction" minOccurs="0"/>
                <xsd:element ref="ns2:MediaServiceSearchProperties" minOccurs="0"/>
                <xsd:element ref="ns2:MediaServiceDateTaken" minOccurs="0"/>
                <xsd:element ref="ns2:MediaLengthInSeconds" minOccurs="0"/>
                <xsd:element ref="ns2:MediaServiceDocTag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TranslatedLang" minOccurs="0"/>
                <xsd:element ref="ns2:MediaServiceBillingMetadata" minOccurs="0"/>
                <xsd:element ref="ns3:PrimeClassificationStatus" minOccurs="0"/>
                <xsd:element ref="ns3:PrimeClassificationStatusDetails" minOccurs="0"/>
                <xsd:element ref="ns3:PrimeLastClassified" minOccurs="0"/>
                <xsd:element ref="ns3:PrimeCorrectedByUser" minOccurs="0"/>
                <xsd:element ref="ns2:Buckets" minOccurs="0"/>
                <xsd:element ref="ns2:MediaServiceLocation" minOccurs="0"/>
                <xsd:element ref="ns2:Comments" minOccurs="0"/>
                <xsd:element ref="ns2:ToBeMigrated_x003f_" minOccurs="0"/>
                <xsd:element ref="ns2:ToBeMigrated_x003f_0" minOccurs="0"/>
                <xsd:element ref="ns2:ApprovedBy" minOccurs="0"/>
                <xsd:element ref="ns2:MigrationApproved" minOccurs="0"/>
                <xsd:element ref="ns2:MigrationStatus" minOccurs="0"/>
                <xsd:element ref="ns2:ContentCategor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5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6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3541473-4e72-4c17-b1a6-32770bb766b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17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ocTags" ma:index="20" nillable="true" ma:displayName="MediaServiceDocTags" ma:hidden="true" ma:internalName="MediaServiceDocTags" ma:readOnly="true">
      <xsd:simpleType>
        <xsd:restriction base="dms:Note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TranslatedLang" ma:index="25" nillable="true" ma:displayName="TranslatedLang" ma:hidden="true" ma:internalName="TranslatedLang" ma:readOnly="true">
      <xsd:simpleType>
        <xsd:restriction base="dms:Text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Text"/>
      </xsd:simpleType>
    </xsd:element>
    <xsd:element name="Buckets" ma:index="31" nillable="true" ma:displayName="Buckets" ma:description="Describes the content and where it sits within Seismic" ma:format="Dropdown" ma:internalName="Bucket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Customer"/>
                    <xsd:enumeration value="Field"/>
                    <xsd:enumeration value="Partner"/>
                    <xsd:enumeration value="Intake Nomination"/>
                    <xsd:enumeration value="RACI"/>
                  </xsd:restriction>
                </xsd:simpleType>
              </xsd:element>
            </xsd:sequence>
          </xsd:extension>
        </xsd:complexContent>
      </xsd:complexType>
    </xsd:element>
    <xsd:element name="MediaServiceLocation" ma:index="32" nillable="true" ma:displayName="Location" ma:description="" ma:indexed="true" ma:internalName="MediaServiceLocation" ma:readOnly="true">
      <xsd:simpleType>
        <xsd:restriction base="dms:Text"/>
      </xsd:simpleType>
    </xsd:element>
    <xsd:element name="Comments" ma:index="33" nillable="true" ma:displayName="Comments" ma:format="Dropdown" ma:internalName="Comments">
      <xsd:simpleType>
        <xsd:restriction base="dms:Text">
          <xsd:maxLength value="255"/>
        </xsd:restriction>
      </xsd:simpleType>
    </xsd:element>
    <xsd:element name="ToBeMigrated_x003f_" ma:index="34" nillable="true" ma:displayName="To Be Migrated?" ma:default="1" ma:description="Indicates whether this folder or content is intended to be migrated to the new SharePoint location. Set to Yes only after reviewing relevance, ownership, and usefulness." ma:format="Dropdown" ma:internalName="ToBeMigrated_x003f_">
      <xsd:simpleType>
        <xsd:restriction base="dms:Boolean"/>
      </xsd:simpleType>
    </xsd:element>
    <xsd:element name="ToBeMigrated_x003f_0" ma:index="35" nillable="true" ma:displayName="To Be Migrated?" ma:default="1" ma:description="Indicates whether this folder or content is intended to be migrated to the new SharePoint location. Set to Yes only after reviewing relevance, ownership, and usefulness." ma:format="Dropdown" ma:internalName="ToBeMigrated_x003f_0">
      <xsd:simpleType>
        <xsd:restriction base="dms:Boolean"/>
      </xsd:simpleType>
    </xsd:element>
    <xsd:element name="ApprovedBy" ma:index="36" nillable="true" ma:displayName="Approved By" ma:description="Identifies the individual who approved the migration of this content to the new SharePoint location. Used for audit and accountability purposes." ma:format="Dropdown" ma:internalName="ApprovedBy">
      <xsd:simpleType>
        <xsd:restriction base="dms:Text">
          <xsd:maxLength value="255"/>
        </xsd:restriction>
      </xsd:simpleType>
    </xsd:element>
    <xsd:element name="MigrationApproved" ma:index="37" nillable="true" ma:displayName="Migration Approved" ma:default="1" ma:description="Shows the approval decision for migrating this content. Content should be migrated only when the status is set to Approved." ma:format="Dropdown" ma:internalName="MigrationApproved">
      <xsd:simpleType>
        <xsd:restriction base="dms:Boolean"/>
      </xsd:simpleType>
    </xsd:element>
    <xsd:element name="MigrationStatus" ma:index="38" nillable="true" ma:displayName="Migration Status" ma:description="Tracks the current state of the migration activity for this content, from planning through completion or exception handling." ma:format="Dropdown" ma:internalName="MigrationStatus">
      <xsd:simpleType>
        <xsd:restriction base="dms:Text">
          <xsd:maxLength value="255"/>
        </xsd:restriction>
      </xsd:simpleType>
    </xsd:element>
    <xsd:element name="ContentCategory" ma:index="39" nillable="true" ma:displayName="Content Category" ma:description="Classifies the business nature of the content to support migration decisions, prioritization, and future governance." ma:format="Dropdown" ma:internalName="ContentCategory">
      <xsd:simpleType>
        <xsd:restriction base="dms:Text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1d963b9-1180-4647-93d7-d11aa08e2421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c200b8a8-7722-4866-9ef1-0499ba3ec9e1}" ma:internalName="TaxCatchAll" ma:showField="CatchAllData" ma:web="31d963b9-1180-4647-93d7-d11aa08e242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rimeClassificationStatus" ma:index="27" nillable="true" ma:displayName="Processing status" ma:internalName="PrimeClassificationStatus">
      <xsd:simpleType>
        <xsd:restriction base="dms:Text"/>
      </xsd:simpleType>
    </xsd:element>
    <xsd:element name="PrimeClassificationStatusDetails" ma:index="28" nillable="true" ma:displayName="Processing details" ma:internalName="PrimeClassificationStatusDetails">
      <xsd:simpleType>
        <xsd:restriction base="dms:Note">
          <xsd:maxLength value="255"/>
        </xsd:restriction>
      </xsd:simpleType>
    </xsd:element>
    <xsd:element name="PrimeLastClassified" ma:index="29" nillable="true" ma:displayName="Processed" ma:internalName="PrimeLastClassified">
      <xsd:simpleType>
        <xsd:restriction base="dms:DateTime"/>
      </xsd:simpleType>
    </xsd:element>
    <xsd:element name="PrimeCorrectedByUser" ma:index="30" nillable="true" ma:displayName="Corrected" ma:internalName="PrimeCorrectedByUser">
      <xsd:simpleType>
        <xsd:restriction base="dms:Boolea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C55CB52-33A3-4B47-8C1D-0EE24875E3DC}">
  <ds:schemaRefs>
    <ds:schemaRef ds:uri="http://schemas.microsoft.com/sharepoint/v3"/>
    <ds:schemaRef ds:uri="http://purl.org/dc/dcmitype/"/>
    <ds:schemaRef ds:uri="http://purl.org/dc/terms/"/>
    <ds:schemaRef ds:uri="http://purl.org/dc/elements/1.1/"/>
    <ds:schemaRef ds:uri="http://schemas.microsoft.com/office/infopath/2007/PartnerControls"/>
    <ds:schemaRef ds:uri="http://schemas.microsoft.com/office/2006/documentManagement/types"/>
    <ds:schemaRef ds:uri="http://schemas.openxmlformats.org/package/2006/metadata/core-properties"/>
    <ds:schemaRef ds:uri="31d963b9-1180-4647-93d7-d11aa08e2421"/>
    <ds:schemaRef ds:uri="f3541473-4e72-4c17-b1a6-32770bb766bd"/>
    <ds:schemaRef ds:uri="http://schemas.microsoft.com/office/2006/metadata/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3998B09E-68DE-4B62-A34E-BB5B738ECC3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D7418BF-5125-468A-8024-F23D251B58C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f3541473-4e72-4c17-b1a6-32770bb766bd"/>
    <ds:schemaRef ds:uri="31d963b9-1180-4647-93d7-d11aa08e242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Privilege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6953</TotalTime>
  <Words>15713</Words>
  <Application>Microsoft Office PowerPoint</Application>
  <PresentationFormat>Widescreen</PresentationFormat>
  <Paragraphs>4452</Paragraphs>
  <Slides>56</Slides>
  <Notes>48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56</vt:i4>
      </vt:variant>
    </vt:vector>
  </HeadingPairs>
  <TitlesOfParts>
    <vt:vector size="70" baseType="lpstr">
      <vt:lpstr>Aptos</vt:lpstr>
      <vt:lpstr>Aptos Display</vt:lpstr>
      <vt:lpstr>Aptos Narrow</vt:lpstr>
      <vt:lpstr>Arial</vt:lpstr>
      <vt:lpstr>Arial,Sans-Serif</vt:lpstr>
      <vt:lpstr>Calibri</vt:lpstr>
      <vt:lpstr>Segoe Sans Display Semibold</vt:lpstr>
      <vt:lpstr>Segoe Sans Text</vt:lpstr>
      <vt:lpstr>Segoe UI</vt:lpstr>
      <vt:lpstr>Segoe UI Semibold</vt:lpstr>
      <vt:lpstr>Wingdings</vt:lpstr>
      <vt:lpstr>FY24 Global Customer Success</vt:lpstr>
      <vt:lpstr>1_Office Theme</vt:lpstr>
      <vt:lpstr>3_office theme</vt:lpstr>
      <vt:lpstr>Accounts Status – Area LATAM (MCSA)  Reporting Period – 04/03/2026 – 04/09/2026    Date : April 10, 2026 Generated By: Mani Kunda</vt:lpstr>
      <vt:lpstr>PowerPoint Presentation</vt:lpstr>
      <vt:lpstr>LATAM (MCSA) Nominations – Help required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Appendix</vt:lpstr>
      <vt:lpstr>LATAM (MCSA) Nominations – Stage 2 (1/2)</vt:lpstr>
      <vt:lpstr>LATAM (MCSA) Nominations – Stage 2 (2/2)</vt:lpstr>
      <vt:lpstr>LATAM (MCSA) Nominations – Stage 3</vt:lpstr>
      <vt:lpstr>LATAM (MCSA) Nominations – Stage 4 (1/2)</vt:lpstr>
      <vt:lpstr>LATAM (MCSA) Nominations – Stage 4 (2/2)</vt:lpstr>
      <vt:lpstr>LATAM (MCSA) Nominations – Stage 1</vt:lpstr>
      <vt:lpstr>LATAM (MCSA) Nominations – Deferred</vt:lpstr>
      <vt:lpstr>LATAM (MCSA) Nominations – Deferred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Scope Sign off</dc:title>
  <dc:creator>Ancy Alexander (International Supplier)</dc:creator>
  <cp:keywords>CMF;</cp:keywords>
  <cp:lastModifiedBy>Misa Breton (International Supplier)</cp:lastModifiedBy>
  <cp:revision>45</cp:revision>
  <dcterms:created xsi:type="dcterms:W3CDTF">2024-07-26T14:11:23Z</dcterms:created>
  <dcterms:modified xsi:type="dcterms:W3CDTF">2026-04-10T13:35:33Z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0x010100CC4F5606B695A84A87B74917185224FA</vt:lpwstr>
  </property>
  <property fmtid="{D5CDD505-2E9C-101B-9397-08002B2CF9AE}" pid="3" name="_dlc_DocIdItemGuid">
    <vt:lpwstr>36da67c7-b504-4aea-865b-0e87cedc899d</vt:lpwstr>
  </property>
  <property fmtid="{D5CDD505-2E9C-101B-9397-08002B2CF9AE}" pid="4" name="MediaServiceImageTags">
    <vt:lpwstr/>
  </property>
</Properties>
</file>