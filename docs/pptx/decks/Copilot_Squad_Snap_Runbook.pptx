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 id="2147483893" r:id="rId5"/>
    <p:sldMasterId id="2147483931" r:id="rId6"/>
  </p:sldMasterIdLst>
  <p:notesMasterIdLst>
    <p:notesMasterId r:id="rId63"/>
  </p:notesMasterIdLst>
  <p:handoutMasterIdLst>
    <p:handoutMasterId r:id="rId64"/>
  </p:handout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45EA2D-1AF0-34E0-A8D1-7DC498B324C6}" name="Leonardo Miller (International Supplier)" initials="LS" userId="S::v-lemiller@microsoft.com::b0ce1011-fe8a-48ce-b2f3-38c535a7b86f" providerId="AD"/>
  <p188:author id="{FC373C85-ECD1-2EBC-3625-F268C6A7DD7A}" name="Rajesh Doddapaneni (International Supplier)" initials="RD" userId="S::v-rajeshdo@microsoft.com::ee900ee1-8550-492f-8251-d7fc83307c82" providerId="AD"/>
  <p188:author id="{7C0DA9EE-7FEB-4CFD-0381-2DB8493D0D32}" name="Sunil Babu A V (International Supplier)" initials="SA" userId="S::v-veammi@microsoft.com::440459d4-1f85-4015-ac68-7529db05610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50"/>
    <a:srgbClr val="FFDF7D"/>
    <a:srgbClr val="FE8B00"/>
    <a:srgbClr val="F2F7FA"/>
    <a:srgbClr val="6C7E9C"/>
    <a:srgbClr val="C71C0F"/>
    <a:srgbClr val="66FF99"/>
    <a:srgbClr val="DEF6DF"/>
    <a:srgbClr val="66B3E4"/>
    <a:srgbClr val="7FA3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110926-E7D1-4FF0-AB29-7A94F8F28BDE}" v="159" dt="2026-04-10T07:32:52.5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22" autoAdjust="0"/>
    <p:restoredTop sz="89212" autoAdjust="0"/>
  </p:normalViewPr>
  <p:slideViewPr>
    <p:cSldViewPr snapToGrid="0">
      <p:cViewPr varScale="1">
        <p:scale>
          <a:sx n="98" d="100"/>
          <a:sy n="98"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microsoft.com/office/2015/10/relationships/revisionInfo" Target="revisionInfo.xml"/><Relationship Id="rId7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C412D67-2B4E-9F55-6EDC-F2256BD0218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5668C3D-E520-C942-CFB7-27E263C06F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5296E7-6EEA-4CEF-8F27-97AAB1939405}" type="datetimeFigureOut">
              <a:rPr lang="en-US" smtClean="0"/>
              <a:t>4/10/2026</a:t>
            </a:fld>
            <a:endParaRPr lang="en-US"/>
          </a:p>
        </p:txBody>
      </p:sp>
      <p:sp>
        <p:nvSpPr>
          <p:cNvPr id="4" name="Footer Placeholder 3">
            <a:extLst>
              <a:ext uri="{FF2B5EF4-FFF2-40B4-BE49-F238E27FC236}">
                <a16:creationId xmlns:a16="http://schemas.microsoft.com/office/drawing/2014/main" id="{15EDE418-482A-7A43-F10A-2705951C15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3D5FD8-B708-FF93-D8FD-7A2F3AD6180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8EA95-EEDE-466E-B94C-8B572EEF9CB7}" type="slidenum">
              <a:rPr lang="en-US" smtClean="0"/>
              <a:t>‹#›</a:t>
            </a:fld>
            <a:endParaRPr lang="en-US"/>
          </a:p>
        </p:txBody>
      </p:sp>
    </p:spTree>
    <p:extLst>
      <p:ext uri="{BB962C8B-B14F-4D97-AF65-F5344CB8AC3E}">
        <p14:creationId xmlns:p14="http://schemas.microsoft.com/office/powerpoint/2010/main" val="6989948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36652-5418-49D0-B2AF-7B23846B1C09}"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800DA-E989-494E-83A7-D0E15226734A}" type="slidenum">
              <a:rPr lang="en-IN" smtClean="0"/>
              <a:t>‹#›</a:t>
            </a:fld>
            <a:endParaRPr lang="en-IN"/>
          </a:p>
        </p:txBody>
      </p:sp>
    </p:spTree>
    <p:extLst>
      <p:ext uri="{BB962C8B-B14F-4D97-AF65-F5344CB8AC3E}">
        <p14:creationId xmlns:p14="http://schemas.microsoft.com/office/powerpoint/2010/main" val="2462255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This runbook is the operational guide for teams using the Snap Model inside the Accelerate Factory. It covers everything from Central Squad setup to SubSquad execution to continuous improvement. Follow it step by step when starting a new engagement.</a:t>
            </a:r>
          </a:p>
          <a:p/>
          <a:p>
            <a:r>
              <a:t>WHO IT'S FOR:</a:t>
            </a:r>
          </a:p>
          <a:p>
            <a:r>
              <a:t>Engineers implementing delivery, architects designing solutions, and delivery leads coordinating across SubSquads.</a:t>
            </a:r>
          </a:p>
          <a:p/>
          <a:p>
            <a:r>
              <a:t>KEY RULE:</a:t>
            </a:r>
          </a:p>
          <a:p>
            <a:r>
              <a:t>Reuse first. Always search the Central Squad library before creating anything new. The system gets smarter only when teams contribute improvements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Thirteen sections. Each one is self-contained. You can follow them in order for a new engagement, or jump to the section you need.</a:t>
            </a:r>
          </a:p>
          <a:p/>
          <a:p>
            <a:r>
              <a:t>The first four sections -- Central Squad Setup, Snap Governance, Snap Lifecycle, and SubSquad Creation -- are the foundation. Start there.</a:t>
            </a:r>
          </a:p>
          <a:p/>
          <a:p>
            <a:r>
              <a:t>Sections 5-8 cover day-to-day agent operations. Sections 9-13 cover scaling, governance, and continuous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Before anything else, you need Central Squad set up. Four storage areas.</a:t>
            </a:r>
          </a:p>
          <a:p/>
          <a:p>
            <a:r>
              <a:t>Agent Library: all shared agent charters live here. Each agent has an identity, role, expertise boundaries, and handoff rules.</a:t>
            </a:r>
          </a:p>
          <a:p/>
          <a:p>
            <a:r>
              <a:t>Snap Presets: pre-built team configurations. Each preset defines which agents, what routing rules, and what memory templates a team uses.</a:t>
            </a:r>
          </a:p>
          <a:p/>
          <a:p>
            <a:r>
              <a:t>Patterns: reusable IaC templates, CI/CD pipelines, test frameworks. Not code -- patterns.</a:t>
            </a:r>
          </a:p>
          <a:p/>
          <a:p>
            <a:r>
              <a:t>Shared Memory: decisions.md tracks active design decisions. JOURNAL.md tracks build history. This is institutional memory that persists across engagements.</a:t>
            </a:r>
          </a:p>
          <a:p/>
          <a:p>
            <a:r>
              <a:t>PRACTICAL STEP:</a:t>
            </a:r>
          </a:p>
          <a:p>
            <a:r>
              <a:t>If Central Squad doesn't exist yet, create the repository structure. Start with the agent library and one Snap preset. Add patterns as they emerge from projects.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Governance is what makes shared Snaps trustworthy. Here are the rules.</a:t>
            </a:r>
          </a:p>
          <a:p/>
          <a:p>
            <a:r>
              <a:t>Only Central Squad publishes production Snaps. SubSquads can propose changes through PRs, but they never modify shared presets directly.</a:t>
            </a:r>
          </a:p>
          <a:p/>
          <a:p>
            <a:r>
              <a:t>Every update goes through the approval flow at the bottom: SubSquad submits a PR, security scan runs automatically, an architect reviews, a peer reviews, and Central publishes with a version bump.</a:t>
            </a:r>
          </a:p>
          <a:p/>
          <a:p>
            <a:r>
              <a:t>PRACTICAL STEP:</a:t>
            </a:r>
          </a:p>
          <a:p>
            <a:r>
              <a:t>Set up a CI pipeline on the Central Squad repo that runs security scans automatically on every PR. The scan should check for hardcoded credentials, client identifiers, and PII in all agent charters and Snap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Seven stages. Every Snap goes through all of them.</a:t>
            </a:r>
          </a:p>
          <a:p/>
          <a:p>
            <a:r>
              <a:t>Create: define the team composition -- which agents, what routing rules, what memory templates. Validate: test it against a real (or simulated) project. Publish: add it to the Central library. Reuse: SubSquads pull it. Improve: teams submit enhancements. Version: track changes semantically. Retire: sunset when it's been replaced.</a:t>
            </a:r>
          </a:p>
          <a:p/>
          <a:p>
            <a:r>
              <a:t>The validation gate is critical. A Snap that hasn't been tested against a sample project cannot be published. We've seen teams skip this and publish broken presets that wasted days.</a:t>
            </a:r>
          </a:p>
          <a:p/>
          <a:p>
            <a:r>
              <a:t>PRACTICAL STEP:</a:t>
            </a:r>
          </a:p>
          <a:p>
            <a:r>
              <a:t>When creating a new Snap preset, always test it by running:</a:t>
            </a:r>
          </a:p>
          <a:p>
            <a:r>
              <a:t>  npx snap-squad-emu init --type &lt;your-preset&gt;</a:t>
            </a:r>
          </a:p>
          <a:p>
            <a:r>
              <a:t>Then verify: are all agents present? Do routing rules work? Does CLAUDE.md initialize correctly?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This is the core execution flow. Four steps, every engagement.</a:t>
            </a:r>
          </a:p>
          <a:p/>
          <a:p>
            <a:r>
              <a:t>Step 1: Select the right Snap preset. Don't guess -- check the catalog. If your project is a backend API, use the 'default' preset. If it's a quick prototype, use 'fast.'</a:t>
            </a:r>
          </a:p>
          <a:p/>
          <a:p>
            <a:r>
              <a:t>Step 2: Initialize. One command creates the entire squad structure. Agents, routing, memory -- all generated from the preset.</a:t>
            </a:r>
          </a:p>
          <a:p/>
          <a:p>
            <a:r>
              <a:t>Step 3: Review and configure. This is where you add project-specific context. Update CLAUDE.md with your project details. Set environment variables. But do NOT modify the agent charters. That's shared logic owned by Central Squad.</a:t>
            </a:r>
          </a:p>
          <a:p/>
          <a:p>
            <a:r>
              <a:t>Step 4: Execute. The agents handle the work. Routing rules dispatch tasks automatically. You validate decisions before they land. At the end, submit improvements back.</a:t>
            </a:r>
          </a:p>
          <a:p/>
          <a:p>
            <a:r>
              <a:t>CRITICAL:</a:t>
            </a:r>
          </a:p>
          <a:p>
            <a:r>
              <a:t>Step 3 is where most teams make mistakes. They modify the agent charters instead of using configuration. If you change the charter, your improvements can't flow back to Central, and you've forked from the shared standard.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Agents aren't magic. They live in the repo, and they follow rules.</a:t>
            </a:r>
          </a:p>
          <a:p/>
          <a:p>
            <a:r>
              <a:t>Left side: the repo structure. Every squad has these files. AGENTS.md defines how agents behave. CLAUDE.md carries project context. Routing.md maps work types to agents.</a:t>
            </a:r>
          </a:p>
          <a:p/>
          <a:p>
            <a:r>
              <a:t>Right side: the execution domains. Each agent has a clear lane. Architect handles design. Coder handles implementation. Tester handles QA. No overlap, no confusion.</a:t>
            </a:r>
          </a:p>
          <a:p/>
          <a:p>
            <a:r>
              <a:t>Bottom: routing in action. When a code change is submitted, routing.md automatically dispatches Coder to lead and Tester to validate. No human needs to assign work.</a:t>
            </a:r>
          </a:p>
          <a:p/>
          <a:p>
            <a:r>
              <a:t>CRITICAL:</a:t>
            </a:r>
          </a:p>
          <a:p>
            <a:r>
              <a:t>Human-in-the-loop is non-negotiable. Agents propose, humans approve. No agent output goes to production without a human reviewing it first.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Two sections combined: when to create agents, and how to publish them.</a:t>
            </a:r>
          </a:p>
          <a:p/>
          <a:p>
            <a:r>
              <a:t>The decision tree is simple. Green path: reuse. This is the default. If an agent exists that covers 80% of your need, use it and configure the rest. Orange path: create new. This requires architect approval because it means we're adding to the shared library.</a:t>
            </a:r>
          </a:p>
          <a:p/>
          <a:p>
            <a:r>
              <a:t>When creating, the four-step checklist is mandatory: write the charter, keep it generic, test in isolation, and document everything.</a:t>
            </a:r>
          </a:p>
          <a:p/>
          <a:p>
            <a:r>
              <a:t>Publishing goes through a five-stage pipeline. The security scan is automated -- it checks for credentials, PII, and client-specific data. If it fails, the PR is blocked.</a:t>
            </a:r>
          </a:p>
          <a:p/>
          <a:p>
            <a:r>
              <a:t>PRACTICAL STEP:</a:t>
            </a:r>
          </a:p>
          <a:p>
            <a:r>
              <a:t>Before creating a new agent, run: 'npx snap-squad list' to see what already exists. If you find something close, open a PR to improve it instead of creating a duplicate.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This is how individual agents become organizational skills.</a:t>
            </a:r>
          </a:p>
          <a:p/>
          <a:p>
            <a:r>
              <a:t>Three categories. Agents are capabilities -- they do work. Prompts are thinking -- they encode how we make decisions. Outputs are templates -- they eliminate blank pages.</a:t>
            </a:r>
          </a:p>
          <a:p/>
          <a:p>
            <a:r>
              <a:t>The compounding loop at the bottom: Use agents in real engagements. Improve them when you find gaps. Share improvements back to Central. Central makes them available for Reuse. More teams adopt, which Scales the system.</a:t>
            </a:r>
          </a:p>
          <a:p/>
          <a:p>
            <a:r>
              <a:t>KEY INSIGHT:</a:t>
            </a:r>
          </a:p>
          <a:p>
            <a:r>
              <a:t>In the old model, engagement 10 was exactly as hard as engagement 1. In this model, engagement 10 is dramatically easier because 9 previous teams contributed improvements. That's compounding.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Here's how agents map to the Accelerate Factory phases.</a:t>
            </a:r>
          </a:p>
          <a:p/>
          <a:p>
            <a:r>
              <a:t>Intake: agents scan requirements and auto-select the right Snap preset. No manual setup.</a:t>
            </a:r>
          </a:p>
          <a:p>
            <a:r>
              <a:t>Design: architecture decision records are generated, IaC templates are pulled from the library.</a:t>
            </a:r>
          </a:p>
          <a:p>
            <a:r>
              <a:t>Build: SubSquads execute in parallel using shared agents. Consistency is automatic.</a:t>
            </a:r>
          </a:p>
          <a:p>
            <a:r>
              <a:t>Deploy: IaC-first. No portal clicks. Zero manual deployment steps.</a:t>
            </a:r>
          </a:p>
          <a:p>
            <a:r>
              <a:t>Handover: documentation and runbooks are auto-generated. Improvements flow back to Central.</a:t>
            </a:r>
          </a:p>
          <a:p/>
          <a:p>
            <a:r>
              <a:t>PRACTICAL STEP:</a:t>
            </a:r>
          </a:p>
          <a:p>
            <a:r>
              <a:t>At the start of every engagement, use this slide as a checklist. At each phase, verify that the relevant agents are active and the expected outputs are being generated.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Two related topics: reducing manual work and the SNAP capability model.</a:t>
            </a:r>
          </a:p>
          <a:p/>
          <a:p>
            <a:r>
              <a:t>Top half: five types of meetings we replace. Daily standups become agent-generated dashboards. Weekly reports become automated summaries. Architecture reviews become async PR workflows. Result: approximately 60% fewer recurring meetings.</a:t>
            </a:r>
          </a:p>
          <a:p/>
          <a:p>
            <a:r>
              <a:t>Bottom half: the SNAP capability model. Instead of asking 'who has IaC experience?', the team requests the IaC capability. The Snap preset provides the right agents. No reorgs, no people shuffling -- just attach the capability and go.</a:t>
            </a:r>
          </a:p>
          <a:p/>
          <a:p>
            <a:r>
              <a:t>PRACTICAL STEP:</a:t>
            </a:r>
          </a:p>
          <a:p>
            <a:r>
              <a:t>For your next engagement, identify your top 3 recurring meetings. For each one, define which agent output would replace it. Then eliminate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Governance is what makes this model trustworthy at enterprise scale.</a:t>
            </a:r>
          </a:p>
          <a:p/>
          <a:p>
            <a:r>
              <a:t>The red banner: no client data in shared assets. Ever. This is the one rule that, if violated, breaks the entire model.</a:t>
            </a:r>
          </a:p>
          <a:p/>
          <a:p>
            <a:r>
              <a:t>Three pillars. Agent Security: every agent passes automated scans and isolation tests. Data Protection: client data never leaves the SubSquad boundary. Operational Control: everything is versioned, PR-based, and auditable.</a:t>
            </a:r>
          </a:p>
          <a:p/>
          <a:p>
            <a:r>
              <a:t>The audit trail at the bottom shows how we maintain traceability: git history, PRs, approvals, and automated scan results. If anyone asks 'who approved this agent?', the answer is always in the PR history.</a:t>
            </a:r>
          </a:p>
          <a:p/>
          <a:p>
            <a:r>
              <a:t>PRACTICAL STEP:</a:t>
            </a:r>
          </a:p>
          <a:p>
            <a:r>
              <a:t>Set up a GitHub Actions workflow on the Central Squad repo that runs on every PR:</a:t>
            </a:r>
          </a:p>
          <a:p>
            <a:r>
              <a:t>1. Scan all .md files for patterns like subscription IDs, tenant IDs, email addresses</a:t>
            </a:r>
          </a:p>
          <a:p>
            <a:r>
              <a:t>2. Verify no hardcoded credentials exist</a:t>
            </a:r>
          </a:p>
          <a:p>
            <a:r>
              <a:t>3. Block merge if any check fails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Continuous improvement is how the flywheel keeps spinning.</a:t>
            </a:r>
          </a:p>
          <a:p/>
          <a:p>
            <a:r>
              <a:t>Four stages, tied to the engagement lifecycle. During the engagement: capture decisions and lessons in real time. After the engagement: submit PRs with improvements. Central reviews and validates. Then distributes updated agents to all teams.</a:t>
            </a:r>
          </a:p>
          <a:p/>
          <a:p>
            <a:r>
              <a:t>At the bottom: the four anti-patterns that kill improvement. Rebuilding from scratch, hoarding improvements, embedding client data, and skipping documentation. These are the behaviors we need to change.</a:t>
            </a:r>
          </a:p>
          <a:p/>
          <a:p>
            <a:r>
              <a:t>PRACTICAL STEP:</a:t>
            </a:r>
          </a:p>
          <a:p>
            <a:r>
              <a:t>At engagement kickoff, add a standing item to your process: 'What improvements will we contribute back to Central?' Don't wait until the end. Identify improvements as you 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Keep this slide handy. It has the commands, files, and checklist you'll use every day.</a:t>
            </a:r>
          </a:p>
          <a:p/>
          <a:p>
            <a:r>
              <a:t>Essential commands: three snap-squad-emu commands cover initialization. Key files: seven files you need to know.</a:t>
            </a:r>
          </a:p>
          <a:p/>
          <a:p>
            <a:r>
              <a:t>The checklist at the bottom: four things to do at the start and end of every engagement. Search first, select a Snap, configure (don't modify), and contribute back.</a:t>
            </a:r>
          </a:p>
          <a:p/>
          <a:p>
            <a:r>
              <a:t>PRACTICAL STEP:</a:t>
            </a:r>
          </a:p>
          <a:p>
            <a:r>
              <a:t>Print this slide. Put it next to your monitor. Follow it every time you start a new project.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SAY:</a:t>
            </a:r>
          </a:p>
          <a:p>
            <a:r>
              <a:t>Five takeaways. Search first. Use Snap presets. Configure, don't modify. Contribute back. Compound skills.</a:t>
            </a:r>
          </a:p>
          <a:p/>
          <a:p>
            <a:r>
              <a:t>This runbook is a living document. As the model evolves, this runbook evolves with it. If you find something missing or unclear, submit a PR.</a:t>
            </a:r>
          </a:p>
          <a:p/>
          <a:p>
            <a:r>
              <a:t>NEXT STEPS:</a:t>
            </a:r>
          </a:p>
          <a:p>
            <a:r>
              <a:t>1. Set up Central Squad repository if it doesn't exist</a:t>
            </a:r>
          </a:p>
          <a:p>
            <a:r>
              <a:t>2. Create your first Snap preset based on the Default template</a:t>
            </a:r>
          </a:p>
          <a:p>
            <a:r>
              <a:t>3. Initialize a SubSquad for your next engagement</a:t>
            </a:r>
          </a:p>
          <a:p>
            <a:r>
              <a:t>4. Follow this runbook step by step</a:t>
            </a:r>
          </a:p>
          <a:p>
            <a:r>
              <a:t>5. At engagement end, submit at least one improvement to Central</a:t>
            </a:r>
          </a:p>
          <a:p/>
          <a:p>
            <a:r>
              <a:t>The goal is not perfection on day one. The goal is to start the flywheel spinning. Every engagement makes it faster.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8.emf"/><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3.xml"/><Relationship Id="rId3"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blue gradient">
    <p:bg>
      <p:bgPr>
        <a:gradFill>
          <a:gsLst>
            <a:gs pos="0">
              <a:schemeClr val="accent4"/>
            </a:gs>
            <a:gs pos="68000">
              <a:schemeClr val="accent2"/>
            </a:gs>
          </a:gsLst>
          <a:path path="circle">
            <a:fillToRect l="100000" t="100000"/>
          </a:path>
        </a:gra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bg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 text</a:t>
            </a:r>
          </a:p>
        </p:txBody>
      </p:sp>
      <p:pic>
        <p:nvPicPr>
          <p:cNvPr id="8" name="MS logo white - EMF" descr="Microsoft logo white text version">
            <a:extLst>
              <a:ext uri="{FF2B5EF4-FFF2-40B4-BE49-F238E27FC236}">
                <a16:creationId xmlns:a16="http://schemas.microsoft.com/office/drawing/2014/main" id="{B07EA41A-052C-9A8D-BC7D-FCDF9A324B6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2" name="Rectangle 1">
            <a:extLst>
              <a:ext uri="{FF2B5EF4-FFF2-40B4-BE49-F238E27FC236}">
                <a16:creationId xmlns:a16="http://schemas.microsoft.com/office/drawing/2014/main" id="{F3817E97-DBEB-FDDB-1B4E-61CD77C94EAF}"/>
              </a:ext>
            </a:extLst>
          </p:cNvPr>
          <p:cNvSpPr/>
          <p:nvPr userDrawn="1"/>
        </p:nvSpPr>
        <p:spPr>
          <a:xfrm>
            <a:off x="584200" y="6496253"/>
            <a:ext cx="2727670" cy="200055"/>
          </a:xfrm>
          <a:prstGeom prst="rect">
            <a:avLst/>
          </a:prstGeom>
        </p:spPr>
        <p:txBody>
          <a:bodyPr wrap="none" lIns="0">
            <a:spAutoFit/>
          </a:bodyPr>
          <a:lstStyle/>
          <a:p>
            <a:r>
              <a:rPr lang="en-US" sz="700" b="0" i="0" spc="80" baseline="0">
                <a:solidFill>
                  <a:schemeClr val="bg1"/>
                </a:solidFill>
                <a:latin typeface="+mn-lt"/>
              </a:rPr>
              <a:t>MICROSOFT CONFIDENTIAL. FOR INTERNAL USE ONLY</a:t>
            </a:r>
          </a:p>
        </p:txBody>
      </p:sp>
      <p:pic>
        <p:nvPicPr>
          <p:cNvPr id="3" name="Picture 2" descr="Grey dots in a spiral">
            <a:extLst>
              <a:ext uri="{FF2B5EF4-FFF2-40B4-BE49-F238E27FC236}">
                <a16:creationId xmlns:a16="http://schemas.microsoft.com/office/drawing/2014/main" id="{69B9EDB1-0B22-7101-DC5D-3EBD7B31689E}"/>
              </a:ext>
              <a:ext uri="{C183D7F6-B498-43B3-948B-1728B52AA6E4}">
                <adec:decorative xmlns:adec="http://schemas.microsoft.com/office/drawing/2017/decorative" val="0"/>
              </a:ext>
            </a:extLst>
          </p:cNvPr>
          <p:cNvPicPr>
            <a:picLocks noChangeAspect="1"/>
          </p:cNvPicPr>
          <p:nvPr userDrawn="1"/>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colorTemperature colorTemp="5300"/>
                    </a14:imgEffect>
                    <a14:imgEffect>
                      <a14:saturation sat="0"/>
                    </a14:imgEffect>
                    <a14:imgEffect>
                      <a14:brightnessContrast bright="3000" contrast="-12000"/>
                    </a14:imgEffect>
                  </a14:imgLayer>
                </a14:imgProps>
              </a:ext>
              <a:ext uri="{28A0092B-C50C-407E-A947-70E740481C1C}">
                <a14:useLocalDpi xmlns:a14="http://schemas.microsoft.com/office/drawing/2010/main" val="0"/>
              </a:ext>
            </a:extLst>
          </a:blip>
          <a:srcRect l="4435"/>
          <a:stretch>
            <a:fillRect/>
          </a:stretch>
        </p:blipFill>
        <p:spPr>
          <a:xfrm rot="17129996">
            <a:off x="5184478" y="-817591"/>
            <a:ext cx="9805678" cy="8054623"/>
          </a:xfrm>
          <a:custGeom>
            <a:avLst/>
            <a:gdLst>
              <a:gd name="connsiteX0" fmla="*/ 9805678 w 9805678"/>
              <a:gd name="connsiteY0" fmla="*/ 1 h 8054623"/>
              <a:gd name="connsiteX1" fmla="*/ 9805678 w 9805678"/>
              <a:gd name="connsiteY1" fmla="*/ 8054623 h 8054623"/>
              <a:gd name="connsiteX2" fmla="*/ 9350567 w 9805678"/>
              <a:gd name="connsiteY2" fmla="*/ 8054622 h 8054623"/>
              <a:gd name="connsiteX3" fmla="*/ 8558274 w 9805678"/>
              <a:gd name="connsiteY3" fmla="*/ 5197692 h 8054623"/>
              <a:gd name="connsiteX4" fmla="*/ 1949695 w 9805678"/>
              <a:gd name="connsiteY4" fmla="*/ 7030405 h 8054623"/>
              <a:gd name="connsiteX5" fmla="*/ 0 w 9805678"/>
              <a:gd name="connsiteY5" fmla="*/ 0 h 8054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805678" h="8054623">
                <a:moveTo>
                  <a:pt x="9805678" y="1"/>
                </a:moveTo>
                <a:lnTo>
                  <a:pt x="9805678" y="8054623"/>
                </a:lnTo>
                <a:lnTo>
                  <a:pt x="9350567" y="8054622"/>
                </a:lnTo>
                <a:lnTo>
                  <a:pt x="8558274" y="5197692"/>
                </a:lnTo>
                <a:lnTo>
                  <a:pt x="1949695" y="7030405"/>
                </a:lnTo>
                <a:lnTo>
                  <a:pt x="0" y="0"/>
                </a:lnTo>
                <a:close/>
              </a:path>
            </a:pathLst>
          </a:custGeom>
        </p:spPr>
      </p:pic>
    </p:spTree>
    <p:extLst>
      <p:ext uri="{BB962C8B-B14F-4D97-AF65-F5344CB8AC3E}">
        <p14:creationId xmlns:p14="http://schemas.microsoft.com/office/powerpoint/2010/main" val="1204349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Agenda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11018520" cy="553998"/>
          </a:xfrm>
        </p:spPr>
        <p:txBody>
          <a:bodyPr/>
          <a:lstStyle>
            <a:lvl1pPr>
              <a:defRPr sz="3600">
                <a:solidFill>
                  <a:schemeClr val="tx1"/>
                </a:solidFill>
              </a:defRPr>
            </a:lvl1pPr>
          </a:lstStyle>
          <a:p>
            <a:r>
              <a:rPr lang="en-US"/>
              <a:t>Agenda</a:t>
            </a:r>
          </a:p>
        </p:txBody>
      </p:sp>
      <p:cxnSp>
        <p:nvCxnSpPr>
          <p:cNvPr id="9" name="Straight Connector 8">
            <a:extLst>
              <a:ext uri="{FF2B5EF4-FFF2-40B4-BE49-F238E27FC236}">
                <a16:creationId xmlns:a16="http://schemas.microsoft.com/office/drawing/2014/main" id="{2AF0C0C6-8E74-F1C6-CB02-B90E834ABF03}"/>
              </a:ext>
              <a:ext uri="{C183D7F6-B498-43B3-948B-1728B52AA6E4}">
                <adec:decorative xmlns:adec="http://schemas.microsoft.com/office/drawing/2017/decorative" val="1"/>
              </a:ext>
            </a:extLst>
          </p:cNvPr>
          <p:cNvCxnSpPr>
            <a:cxnSpLocks/>
          </p:cNvCxnSpPr>
          <p:nvPr userDrawn="1"/>
        </p:nvCxnSpPr>
        <p:spPr>
          <a:xfrm flipH="1">
            <a:off x="1433554" y="1734160"/>
            <a:ext cx="8825" cy="4367213"/>
          </a:xfrm>
          <a:prstGeom prst="line">
            <a:avLst/>
          </a:prstGeom>
          <a:ln w="12700" cap="rnd">
            <a:gradFill>
              <a:gsLst>
                <a:gs pos="0">
                  <a:schemeClr val="accent3"/>
                </a:gs>
                <a:gs pos="100000">
                  <a:schemeClr val="accent1"/>
                </a:gs>
              </a:gsLst>
              <a:lin ang="5400000" scaled="1"/>
            </a:gra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276A6B21-0BB3-8590-D0F6-797F169E1857}"/>
              </a:ext>
            </a:extLst>
          </p:cNvPr>
          <p:cNvSpPr>
            <a:spLocks noGrp="1"/>
          </p:cNvSpPr>
          <p:nvPr>
            <p:ph type="body" sz="quarter" idx="10" hasCustomPrompt="1"/>
          </p:nvPr>
        </p:nvSpPr>
        <p:spPr>
          <a:xfrm>
            <a:off x="588263" y="1947764"/>
            <a:ext cx="480733" cy="492443"/>
          </a:xfrm>
        </p:spPr>
        <p:txBody>
          <a:bodyPr/>
          <a:lstStyle>
            <a:lvl1pPr marL="0" indent="0">
              <a:buNone/>
              <a:defRPr lang="en-US" sz="3200" b="1" kern="120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01</a:t>
            </a:r>
          </a:p>
        </p:txBody>
      </p:sp>
      <p:sp>
        <p:nvSpPr>
          <p:cNvPr id="22" name="Text Placeholder 21">
            <a:extLst>
              <a:ext uri="{FF2B5EF4-FFF2-40B4-BE49-F238E27FC236}">
                <a16:creationId xmlns:a16="http://schemas.microsoft.com/office/drawing/2014/main" id="{C1770E4A-D94C-1440-96DB-11ED8235076D}"/>
              </a:ext>
            </a:extLst>
          </p:cNvPr>
          <p:cNvSpPr>
            <a:spLocks noGrp="1"/>
          </p:cNvSpPr>
          <p:nvPr>
            <p:ph type="body" sz="quarter" idx="14"/>
          </p:nvPr>
        </p:nvSpPr>
        <p:spPr>
          <a:xfrm>
            <a:off x="1806938" y="1947764"/>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sp>
        <p:nvSpPr>
          <p:cNvPr id="40" name="Text Placeholder 39">
            <a:extLst>
              <a:ext uri="{FF2B5EF4-FFF2-40B4-BE49-F238E27FC236}">
                <a16:creationId xmlns:a16="http://schemas.microsoft.com/office/drawing/2014/main" id="{93773F22-97EC-FB3E-4D5B-9A9A1ED5EE89}"/>
              </a:ext>
            </a:extLst>
          </p:cNvPr>
          <p:cNvSpPr>
            <a:spLocks noGrp="1"/>
          </p:cNvSpPr>
          <p:nvPr>
            <p:ph type="body" sz="quarter" idx="25" hasCustomPrompt="1"/>
          </p:nvPr>
        </p:nvSpPr>
        <p:spPr>
          <a:xfrm>
            <a:off x="588263" y="3096951"/>
            <a:ext cx="480733" cy="492443"/>
          </a:xfrm>
        </p:spPr>
        <p:txBody>
          <a:bodyPr/>
          <a:lstStyle>
            <a:lvl1pPr marL="0" indent="0">
              <a:buNone/>
              <a:defRPr lang="en-US" sz="3200" b="1" kern="1200" spc="0" baseline="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02</a:t>
            </a:r>
          </a:p>
        </p:txBody>
      </p:sp>
      <p:sp>
        <p:nvSpPr>
          <p:cNvPr id="5" name="Text Placeholder 21">
            <a:extLst>
              <a:ext uri="{FF2B5EF4-FFF2-40B4-BE49-F238E27FC236}">
                <a16:creationId xmlns:a16="http://schemas.microsoft.com/office/drawing/2014/main" id="{918F8579-3664-D735-7F75-FD9D1C7D64CC}"/>
              </a:ext>
            </a:extLst>
          </p:cNvPr>
          <p:cNvSpPr>
            <a:spLocks noGrp="1"/>
          </p:cNvSpPr>
          <p:nvPr>
            <p:ph type="body" sz="quarter" idx="26"/>
          </p:nvPr>
        </p:nvSpPr>
        <p:spPr>
          <a:xfrm>
            <a:off x="1806938" y="3096951"/>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sp>
        <p:nvSpPr>
          <p:cNvPr id="36" name="Text Placeholder 35">
            <a:extLst>
              <a:ext uri="{FF2B5EF4-FFF2-40B4-BE49-F238E27FC236}">
                <a16:creationId xmlns:a16="http://schemas.microsoft.com/office/drawing/2014/main" id="{BD37564D-5CD2-62A4-1803-B42D963333A8}"/>
              </a:ext>
            </a:extLst>
          </p:cNvPr>
          <p:cNvSpPr>
            <a:spLocks noGrp="1"/>
          </p:cNvSpPr>
          <p:nvPr>
            <p:ph type="body" sz="quarter" idx="23" hasCustomPrompt="1"/>
          </p:nvPr>
        </p:nvSpPr>
        <p:spPr>
          <a:xfrm>
            <a:off x="588263" y="4246138"/>
            <a:ext cx="480733" cy="492443"/>
          </a:xfrm>
        </p:spPr>
        <p:txBody>
          <a:bodyPr/>
          <a:lstStyle>
            <a:lvl1pPr marL="0" indent="0">
              <a:buNone/>
              <a:defRPr lang="en-US" sz="3200" b="1" kern="1200" spc="0" baseline="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03</a:t>
            </a:r>
          </a:p>
        </p:txBody>
      </p:sp>
      <p:sp>
        <p:nvSpPr>
          <p:cNvPr id="7" name="Text Placeholder 21">
            <a:extLst>
              <a:ext uri="{FF2B5EF4-FFF2-40B4-BE49-F238E27FC236}">
                <a16:creationId xmlns:a16="http://schemas.microsoft.com/office/drawing/2014/main" id="{04ECCB71-C833-E3E7-D4C2-2794E3F2F2DB}"/>
              </a:ext>
            </a:extLst>
          </p:cNvPr>
          <p:cNvSpPr>
            <a:spLocks noGrp="1"/>
          </p:cNvSpPr>
          <p:nvPr>
            <p:ph type="body" sz="quarter" idx="27"/>
          </p:nvPr>
        </p:nvSpPr>
        <p:spPr>
          <a:xfrm>
            <a:off x="1806938" y="4246138"/>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sp>
        <p:nvSpPr>
          <p:cNvPr id="38" name="Text Placeholder 37">
            <a:extLst>
              <a:ext uri="{FF2B5EF4-FFF2-40B4-BE49-F238E27FC236}">
                <a16:creationId xmlns:a16="http://schemas.microsoft.com/office/drawing/2014/main" id="{C13684C1-E303-03EA-424F-F44C5796D988}"/>
              </a:ext>
            </a:extLst>
          </p:cNvPr>
          <p:cNvSpPr>
            <a:spLocks noGrp="1"/>
          </p:cNvSpPr>
          <p:nvPr>
            <p:ph type="body" sz="quarter" idx="24" hasCustomPrompt="1"/>
          </p:nvPr>
        </p:nvSpPr>
        <p:spPr>
          <a:xfrm>
            <a:off x="588263" y="5395325"/>
            <a:ext cx="480733" cy="492443"/>
          </a:xfrm>
        </p:spPr>
        <p:txBody>
          <a:bodyPr/>
          <a:lstStyle>
            <a:lvl1pPr marL="0" indent="0">
              <a:buNone/>
              <a:defRPr lang="en-US" sz="3200" b="1" kern="1200" spc="0" baseline="0" dirty="0">
                <a:gradFill>
                  <a:gsLst>
                    <a:gs pos="11000">
                      <a:schemeClr val="accent3"/>
                    </a:gs>
                    <a:gs pos="100000">
                      <a:schemeClr val="accent1"/>
                    </a:gs>
                  </a:gsLst>
                  <a:path path="circle">
                    <a:fillToRect r="100000" b="100000"/>
                  </a:path>
                </a:gradFill>
                <a:latin typeface="+mn-lt"/>
                <a:ea typeface="+mn-ea"/>
                <a:cs typeface="+mn-cs"/>
              </a:defRPr>
            </a:lvl1pPr>
          </a:lstStyle>
          <a:p>
            <a:pPr lvl="0"/>
            <a:r>
              <a:rPr lang="en-US"/>
              <a:t>04</a:t>
            </a:r>
          </a:p>
        </p:txBody>
      </p:sp>
      <p:sp>
        <p:nvSpPr>
          <p:cNvPr id="10" name="Text Placeholder 21">
            <a:extLst>
              <a:ext uri="{FF2B5EF4-FFF2-40B4-BE49-F238E27FC236}">
                <a16:creationId xmlns:a16="http://schemas.microsoft.com/office/drawing/2014/main" id="{82B21244-77F4-25F3-DAEE-DD3164EE2CDD}"/>
              </a:ext>
            </a:extLst>
          </p:cNvPr>
          <p:cNvSpPr>
            <a:spLocks noGrp="1"/>
          </p:cNvSpPr>
          <p:nvPr>
            <p:ph type="body" sz="quarter" idx="28"/>
          </p:nvPr>
        </p:nvSpPr>
        <p:spPr>
          <a:xfrm>
            <a:off x="1806938" y="5395325"/>
            <a:ext cx="9813562" cy="492443"/>
          </a:xfrm>
        </p:spPr>
        <p:txBody>
          <a:bodyPr>
            <a:noAutofit/>
          </a:bodyPr>
          <a:lstStyle>
            <a:lvl1pPr marL="0" indent="0">
              <a:buNone/>
              <a:defRPr lang="en-US" sz="1600" dirty="0" smtClean="0">
                <a:solidFill>
                  <a:schemeClr val="tx1"/>
                </a:solidFill>
                <a:latin typeface="+mn-lt"/>
              </a:defRPr>
            </a:lvl1pPr>
            <a:lvl2pPr marL="228556" indent="0">
              <a:buNone/>
              <a:defRPr lang="en-US" sz="1600" dirty="0">
                <a:solidFill>
                  <a:schemeClr val="tx1"/>
                </a:solidFill>
                <a:latin typeface="+mn-lt"/>
              </a:defRPr>
            </a:lvl2pPr>
          </a:lstStyle>
          <a:p>
            <a:pPr lvl="0"/>
            <a:r>
              <a:rPr lang="en-US"/>
              <a:t>Click to edit Master text styles</a:t>
            </a:r>
          </a:p>
          <a:p>
            <a:pPr lvl="1"/>
            <a:r>
              <a:rPr lang="en-US"/>
              <a:t>Second level</a:t>
            </a:r>
          </a:p>
        </p:txBody>
      </p:sp>
      <p:pic>
        <p:nvPicPr>
          <p:cNvPr id="6" name="Picture 5" descr="Colorful blue and orange dots in a spiral">
            <a:extLst>
              <a:ext uri="{FF2B5EF4-FFF2-40B4-BE49-F238E27FC236}">
                <a16:creationId xmlns:a16="http://schemas.microsoft.com/office/drawing/2014/main" id="{11D5C2FF-9643-2529-88FD-6CE111F87329}"/>
              </a:ext>
              <a:ext uri="{C183D7F6-B498-43B3-948B-1728B52AA6E4}">
                <adec:decorative xmlns:adec="http://schemas.microsoft.com/office/drawing/2017/decorative" val="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16871" t="11117" r="16871"/>
          <a:stretch/>
        </p:blipFill>
        <p:spPr>
          <a:xfrm rot="18368998">
            <a:off x="11067826" y="-163464"/>
            <a:ext cx="1453231" cy="1530253"/>
          </a:xfrm>
          <a:custGeom>
            <a:avLst/>
            <a:gdLst>
              <a:gd name="connsiteX0" fmla="*/ 1453231 w 1453231"/>
              <a:gd name="connsiteY0" fmla="*/ 0 h 1530253"/>
              <a:gd name="connsiteX1" fmla="*/ 1453231 w 1453231"/>
              <a:gd name="connsiteY1" fmla="*/ 726645 h 1530253"/>
              <a:gd name="connsiteX2" fmla="*/ 353226 w 1453231"/>
              <a:gd name="connsiteY2" fmla="*/ 1530253 h 1530253"/>
              <a:gd name="connsiteX3" fmla="*/ 0 w 1453231"/>
              <a:gd name="connsiteY3" fmla="*/ 1530253 h 1530253"/>
              <a:gd name="connsiteX4" fmla="*/ 0 w 1453231"/>
              <a:gd name="connsiteY4" fmla="*/ 0 h 1530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3231" h="1530253">
                <a:moveTo>
                  <a:pt x="1453231" y="0"/>
                </a:moveTo>
                <a:lnTo>
                  <a:pt x="1453231" y="726645"/>
                </a:lnTo>
                <a:lnTo>
                  <a:pt x="353226" y="1530253"/>
                </a:lnTo>
                <a:lnTo>
                  <a:pt x="0" y="1530253"/>
                </a:lnTo>
                <a:lnTo>
                  <a:pt x="0" y="0"/>
                </a:lnTo>
                <a:close/>
              </a:path>
            </a:pathLst>
          </a:custGeom>
        </p:spPr>
      </p:pic>
    </p:spTree>
    <p:custDataLst>
      <p:tags r:id="rId1"/>
    </p:custDataLst>
    <p:extLst>
      <p:ext uri="{BB962C8B-B14F-4D97-AF65-F5344CB8AC3E}">
        <p14:creationId xmlns:p14="http://schemas.microsoft.com/office/powerpoint/2010/main" val="3673899805"/>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9653392" cy="553998"/>
          </a:xfrm>
        </p:spPr>
        <p:txBody>
          <a:bodyPr/>
          <a:lstStyle>
            <a:lvl1pPr marL="0" algn="l" defTabSz="932384" rtl="0" eaLnBrk="1" latinLnBrk="0" hangingPunct="1">
              <a:lnSpc>
                <a:spcPct val="100000"/>
              </a:lnSpc>
              <a:spcBef>
                <a:spcPct val="0"/>
              </a:spcBef>
              <a:buNone/>
              <a:defRPr lang="en-US" sz="3600" b="0" kern="1200" cap="none" spc="-50" baseline="0" dirty="0">
                <a:ln w="3175">
                  <a:noFill/>
                </a:ln>
                <a:solidFill>
                  <a:schemeClr val="accent2">
                    <a:lumMod val="50000"/>
                  </a:schemeClr>
                </a:solidFill>
                <a:effectLst/>
                <a:latin typeface="+mj-lt"/>
                <a:ea typeface="+mn-ea"/>
                <a:cs typeface="Segoe UI" pitchFamily="34" charset="0"/>
              </a:defRPr>
            </a:lvl1pPr>
          </a:lstStyle>
          <a:p>
            <a:r>
              <a:rPr lang="en-US"/>
              <a:t>Title only</a:t>
            </a:r>
          </a:p>
        </p:txBody>
      </p:sp>
      <p:pic>
        <p:nvPicPr>
          <p:cNvPr id="13" name="Picture 12" descr="Grey dots in a decorative spiral">
            <a:extLst>
              <a:ext uri="{FF2B5EF4-FFF2-40B4-BE49-F238E27FC236}">
                <a16:creationId xmlns:a16="http://schemas.microsoft.com/office/drawing/2014/main" id="{129FA58B-F4C2-FEF2-22E5-FAC33CC0DA58}"/>
              </a:ext>
              <a:ext uri="{C183D7F6-B498-43B3-948B-1728B52AA6E4}">
                <adec:decorative xmlns:adec="http://schemas.microsoft.com/office/drawing/2017/decorative" val="0"/>
              </a:ext>
            </a:extLst>
          </p:cNvPr>
          <p:cNvPicPr>
            <a:picLocks noChangeAspect="1"/>
          </p:cNvPicPr>
          <p:nvPr userDrawn="1"/>
        </p:nvPicPr>
        <p:blipFill rotWithShape="1">
          <a:blip r:embed="rId3" cstate="print">
            <a:alphaModFix amt="48000"/>
            <a:grayscl/>
            <a:extLst>
              <a:ext uri="{28A0092B-C50C-407E-A947-70E740481C1C}">
                <a14:useLocalDpi xmlns:a14="http://schemas.microsoft.com/office/drawing/2010/main" val="0"/>
              </a:ext>
            </a:extLst>
          </a:blip>
          <a:srcRect l="27639" t="18675" r="11937" b="17894"/>
          <a:stretch/>
        </p:blipFill>
        <p:spPr>
          <a:xfrm flipH="1">
            <a:off x="10728642" y="0"/>
            <a:ext cx="1463358" cy="1206500"/>
          </a:xfrm>
          <a:custGeom>
            <a:avLst/>
            <a:gdLst>
              <a:gd name="connsiteX0" fmla="*/ 1684338 w 1684338"/>
              <a:gd name="connsiteY0" fmla="*/ 0 h 1562100"/>
              <a:gd name="connsiteX1" fmla="*/ 0 w 1684338"/>
              <a:gd name="connsiteY1" fmla="*/ 0 h 1562100"/>
              <a:gd name="connsiteX2" fmla="*/ 0 w 1684338"/>
              <a:gd name="connsiteY2" fmla="*/ 1562100 h 1562100"/>
              <a:gd name="connsiteX3" fmla="*/ 1684338 w 1684338"/>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1684338" h="1562100">
                <a:moveTo>
                  <a:pt x="1684338" y="0"/>
                </a:moveTo>
                <a:lnTo>
                  <a:pt x="0" y="0"/>
                </a:lnTo>
                <a:lnTo>
                  <a:pt x="0" y="1562100"/>
                </a:lnTo>
                <a:lnTo>
                  <a:pt x="1684338" y="1562100"/>
                </a:lnTo>
                <a:close/>
              </a:path>
            </a:pathLst>
          </a:custGeom>
        </p:spPr>
      </p:pic>
    </p:spTree>
    <p:custDataLst>
      <p:tags r:id="rId1"/>
    </p:custDataLst>
    <p:extLst>
      <p:ext uri="{BB962C8B-B14F-4D97-AF65-F5344CB8AC3E}">
        <p14:creationId xmlns:p14="http://schemas.microsoft.com/office/powerpoint/2010/main" val="3661768528"/>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2">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Divider with image 1">
    <p:bg>
      <p:bgPr>
        <a:solidFill>
          <a:schemeClr val="bg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6D04CCF-14FA-CEB5-E030-6D6A6B1637AF}"/>
              </a:ext>
            </a:extLst>
          </p:cNvPr>
          <p:cNvSpPr>
            <a:spLocks noGrp="1"/>
          </p:cNvSpPr>
          <p:nvPr>
            <p:ph type="title" hasCustomPrompt="1"/>
          </p:nvPr>
        </p:nvSpPr>
        <p:spPr>
          <a:xfrm>
            <a:off x="585216" y="3152001"/>
            <a:ext cx="4634484" cy="553998"/>
          </a:xfrm>
          <a:noFill/>
        </p:spPr>
        <p:txBody>
          <a:bodyPr wrap="square" lIns="0" tIns="0" rIns="0" bIns="0" anchor="b" anchorCtr="0">
            <a:spAutoFit/>
          </a:bodyPr>
          <a:lstStyle>
            <a:lvl1pPr marL="0" algn="l" defTabSz="932563"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pic>
        <p:nvPicPr>
          <p:cNvPr id="16" name="Picture 15" descr="A colorful dots in a spiral">
            <a:extLst>
              <a:ext uri="{FF2B5EF4-FFF2-40B4-BE49-F238E27FC236}">
                <a16:creationId xmlns:a16="http://schemas.microsoft.com/office/drawing/2014/main" id="{F74F4322-8497-A551-1633-B7D13287D75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2637" b="7924"/>
          <a:stretch>
            <a:fillRect/>
          </a:stretch>
        </p:blipFill>
        <p:spPr>
          <a:xfrm rot="240096" flipH="1">
            <a:off x="3825454" y="-881094"/>
            <a:ext cx="8615855" cy="8049533"/>
          </a:xfrm>
          <a:prstGeom prst="rect">
            <a:avLst/>
          </a:prstGeom>
        </p:spPr>
      </p:pic>
    </p:spTree>
    <p:custDataLst>
      <p:tags r:id="rId1"/>
    </p:custDataLst>
    <p:extLst>
      <p:ext uri="{BB962C8B-B14F-4D97-AF65-F5344CB8AC3E}">
        <p14:creationId xmlns:p14="http://schemas.microsoft.com/office/powerpoint/2010/main" val="13178820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hank You Slide 2">
    <p:bg>
      <p:bgPr>
        <a:solidFill>
          <a:srgbClr val="F7F7F7"/>
        </a:solidFill>
        <a:effectLst/>
      </p:bgPr>
    </p:bg>
    <p:spTree>
      <p:nvGrpSpPr>
        <p:cNvPr id="1" name=""/>
        <p:cNvGrpSpPr/>
        <p:nvPr/>
      </p:nvGrpSpPr>
      <p:grpSpPr>
        <a:xfrm>
          <a:off x="0" y="0"/>
          <a:ext cx="0" cy="0"/>
          <a:chOff x="0" y="0"/>
          <a:chExt cx="0" cy="0"/>
        </a:xfrm>
      </p:grpSpPr>
      <p:sp>
        <p:nvSpPr>
          <p:cNvPr id="265" name="Rectangle: Top Corners Rounded 264">
            <a:extLst>
              <a:ext uri="{FF2B5EF4-FFF2-40B4-BE49-F238E27FC236}">
                <a16:creationId xmlns:a16="http://schemas.microsoft.com/office/drawing/2014/main" id="{F115F110-E677-8F61-1011-C854F8F41079}"/>
              </a:ext>
              <a:ext uri="{C183D7F6-B498-43B3-948B-1728B52AA6E4}">
                <adec:decorative xmlns:adec="http://schemas.microsoft.com/office/drawing/2017/decorative" val="1"/>
              </a:ext>
            </a:extLst>
          </p:cNvPr>
          <p:cNvSpPr/>
          <p:nvPr userDrawn="1"/>
        </p:nvSpPr>
        <p:spPr bwMode="auto">
          <a:xfrm rot="16200000" flipH="1">
            <a:off x="5047344" y="-2667000"/>
            <a:ext cx="2097312" cy="12192001"/>
          </a:xfrm>
          <a:prstGeom prst="round2SameRect">
            <a:avLst>
              <a:gd name="adj1" fmla="val 0"/>
              <a:gd name="adj2" fmla="val 0"/>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gradFill>
                <a:gsLst>
                  <a:gs pos="0">
                    <a:srgbClr val="FFFFFF"/>
                  </a:gs>
                  <a:gs pos="100000">
                    <a:srgbClr val="FFFFFF"/>
                  </a:gs>
                </a:gsLst>
                <a:lin ang="5400000" scaled="0"/>
              </a:gradFill>
              <a:ea typeface="Segoe UI" pitchFamily="34" charset="0"/>
              <a:cs typeface="Segoe UI" pitchFamily="34" charset="0"/>
            </a:endParaRPr>
          </a:p>
        </p:txBody>
      </p:sp>
      <p:sp>
        <p:nvSpPr>
          <p:cNvPr id="10" name="Title 1">
            <a:extLst>
              <a:ext uri="{FF2B5EF4-FFF2-40B4-BE49-F238E27FC236}">
                <a16:creationId xmlns:a16="http://schemas.microsoft.com/office/drawing/2014/main" id="{2400F2C9-4D27-4A70-96EB-94073B12115C}"/>
              </a:ext>
            </a:extLst>
          </p:cNvPr>
          <p:cNvSpPr>
            <a:spLocks noGrp="1"/>
          </p:cNvSpPr>
          <p:nvPr>
            <p:ph type="title" hasCustomPrompt="1"/>
          </p:nvPr>
        </p:nvSpPr>
        <p:spPr>
          <a:xfrm>
            <a:off x="585216" y="2875002"/>
            <a:ext cx="5510783" cy="1107996"/>
          </a:xfrm>
          <a:noFill/>
        </p:spPr>
        <p:txBody>
          <a:bodyPr wrap="square" lIns="0" tIns="0" rIns="0" bIns="0" anchor="b" anchorCtr="0">
            <a:spAutoFit/>
          </a:bodyPr>
          <a:lstStyle>
            <a:lvl1pPr marL="0" algn="l" defTabSz="914400" rtl="0" eaLnBrk="1" latinLnBrk="0" hangingPunct="1">
              <a:lnSpc>
                <a:spcPct val="90000"/>
              </a:lnSpc>
              <a:spcBef>
                <a:spcPct val="0"/>
              </a:spcBef>
              <a:buNone/>
              <a:defRPr lang="en-US" sz="8000" b="1" kern="1200" cap="none" spc="-100" baseline="0" dirty="0">
                <a:ln w="3175">
                  <a:noFill/>
                </a:ln>
                <a:solidFill>
                  <a:srgbClr val="1B87D8"/>
                </a:solidFill>
                <a:effectLst/>
                <a:latin typeface="+mn-lt"/>
                <a:ea typeface="+mn-ea"/>
                <a:cs typeface="+mn-cs"/>
              </a:defRPr>
            </a:lvl1pPr>
          </a:lstStyle>
          <a:p>
            <a:r>
              <a:rPr lang="en-US"/>
              <a:t>Thank You</a:t>
            </a:r>
          </a:p>
        </p:txBody>
      </p:sp>
      <p:pic>
        <p:nvPicPr>
          <p:cNvPr id="272" name="MS logo gray - EMF" descr="Microsoft logo, gray text version">
            <a:extLst>
              <a:ext uri="{FF2B5EF4-FFF2-40B4-BE49-F238E27FC236}">
                <a16:creationId xmlns:a16="http://schemas.microsoft.com/office/drawing/2014/main" id="{2D2BFFA1-4E63-D173-568F-8EFA7A759798}"/>
              </a:ext>
            </a:extLst>
          </p:cNvPr>
          <p:cNvPicPr>
            <a:picLocks noChangeAspect="1"/>
          </p:cNvPicPr>
          <p:nvPr userDrawn="1"/>
        </p:nvPicPr>
        <p:blipFill>
          <a:blip r:embed="rId3"/>
          <a:stretch>
            <a:fillRect/>
          </a:stretch>
        </p:blipFill>
        <p:spPr bwMode="black">
          <a:xfrm>
            <a:off x="668662" y="1180148"/>
            <a:ext cx="1366440" cy="292608"/>
          </a:xfrm>
          <a:prstGeom prst="rect">
            <a:avLst/>
          </a:prstGeom>
        </p:spPr>
      </p:pic>
      <p:pic>
        <p:nvPicPr>
          <p:cNvPr id="4" name="Picture 3" descr="Grey dots in a spiral">
            <a:extLst>
              <a:ext uri="{FF2B5EF4-FFF2-40B4-BE49-F238E27FC236}">
                <a16:creationId xmlns:a16="http://schemas.microsoft.com/office/drawing/2014/main" id="{DD8E2EE1-B219-7AD0-95E9-3B9AB4E38744}"/>
              </a:ext>
            </a:extLst>
          </p:cNvPr>
          <p:cNvPicPr>
            <a:picLocks noChangeAspect="1"/>
          </p:cNvPicPr>
          <p:nvPr userDrawn="1"/>
        </p:nvPicPr>
        <p:blipFill>
          <a:blip r:embed="rId4" cstate="print">
            <a:duotone>
              <a:schemeClr val="bg2">
                <a:shade val="45000"/>
                <a:satMod val="135000"/>
              </a:schemeClr>
              <a:prstClr val="white"/>
            </a:duotone>
            <a:alphaModFix/>
            <a:extLst>
              <a:ext uri="{28A0092B-C50C-407E-A947-70E740481C1C}">
                <a14:useLocalDpi xmlns:a14="http://schemas.microsoft.com/office/drawing/2010/main" val="0"/>
              </a:ext>
            </a:extLst>
          </a:blip>
          <a:stretch>
            <a:fillRect/>
          </a:stretch>
        </p:blipFill>
        <p:spPr>
          <a:xfrm>
            <a:off x="4070205" y="-1383478"/>
            <a:ext cx="10849756" cy="8516960"/>
          </a:xfrm>
          <a:prstGeom prst="rect">
            <a:avLst/>
          </a:prstGeom>
        </p:spPr>
      </p:pic>
      <p:pic>
        <p:nvPicPr>
          <p:cNvPr id="11" name="Picture 10" descr="Colorful blue and orange dots in a spiral">
            <a:extLst>
              <a:ext uri="{FF2B5EF4-FFF2-40B4-BE49-F238E27FC236}">
                <a16:creationId xmlns:a16="http://schemas.microsoft.com/office/drawing/2014/main" id="{4AAEA3C1-2FB5-2778-F403-804889B2935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t="44192" r="25143" b="31183"/>
          <a:stretch>
            <a:fillRect/>
          </a:stretch>
        </p:blipFill>
        <p:spPr>
          <a:xfrm>
            <a:off x="4070206" y="2380346"/>
            <a:ext cx="8121795" cy="2097312"/>
          </a:xfrm>
          <a:custGeom>
            <a:avLst/>
            <a:gdLst>
              <a:gd name="connsiteX0" fmla="*/ 0 w 8121795"/>
              <a:gd name="connsiteY0" fmla="*/ 0 h 2097312"/>
              <a:gd name="connsiteX1" fmla="*/ 8121795 w 8121795"/>
              <a:gd name="connsiteY1" fmla="*/ 0 h 2097312"/>
              <a:gd name="connsiteX2" fmla="*/ 8121795 w 8121795"/>
              <a:gd name="connsiteY2" fmla="*/ 2097312 h 2097312"/>
              <a:gd name="connsiteX3" fmla="*/ 0 w 8121795"/>
              <a:gd name="connsiteY3" fmla="*/ 2097312 h 2097312"/>
            </a:gdLst>
            <a:ahLst/>
            <a:cxnLst>
              <a:cxn ang="0">
                <a:pos x="connsiteX0" y="connsiteY0"/>
              </a:cxn>
              <a:cxn ang="0">
                <a:pos x="connsiteX1" y="connsiteY1"/>
              </a:cxn>
              <a:cxn ang="0">
                <a:pos x="connsiteX2" y="connsiteY2"/>
              </a:cxn>
              <a:cxn ang="0">
                <a:pos x="connsiteX3" y="connsiteY3"/>
              </a:cxn>
            </a:cxnLst>
            <a:rect l="l" t="t" r="r" b="b"/>
            <a:pathLst>
              <a:path w="8121795" h="2097312">
                <a:moveTo>
                  <a:pt x="0" y="0"/>
                </a:moveTo>
                <a:lnTo>
                  <a:pt x="8121795" y="0"/>
                </a:lnTo>
                <a:lnTo>
                  <a:pt x="8121795" y="2097312"/>
                </a:lnTo>
                <a:lnTo>
                  <a:pt x="0" y="2097312"/>
                </a:lnTo>
                <a:close/>
              </a:path>
            </a:pathLst>
          </a:custGeom>
        </p:spPr>
      </p:pic>
    </p:spTree>
    <p:custDataLst>
      <p:tags r:id="rId1"/>
    </p:custDataLst>
    <p:extLst>
      <p:ext uri="{BB962C8B-B14F-4D97-AF65-F5344CB8AC3E}">
        <p14:creationId xmlns:p14="http://schemas.microsoft.com/office/powerpoint/2010/main" val="150424424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Only_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A43683-6DA3-CAB4-0B24-22FD85FE89C2}"/>
              </a:ext>
              <a:ext uri="{C183D7F6-B498-43B3-948B-1728B52AA6E4}">
                <adec:decorative xmlns:adec="http://schemas.microsoft.com/office/drawing/2017/decorative" val="1"/>
              </a:ext>
            </a:extLst>
          </p:cNvPr>
          <p:cNvSpPr/>
          <p:nvPr userDrawn="1"/>
        </p:nvSpPr>
        <p:spPr bwMode="auto">
          <a:xfrm flipH="1">
            <a:off x="0" y="0"/>
            <a:ext cx="12192000" cy="1188720"/>
          </a:xfrm>
          <a:prstGeom prst="rect">
            <a:avLst/>
          </a:prstGeom>
          <a:gradFill flip="none" rotWithShape="1">
            <a:gsLst>
              <a:gs pos="0">
                <a:schemeClr val="accent2">
                  <a:lumMod val="75000"/>
                </a:schemeClr>
              </a:gs>
              <a:gs pos="26000">
                <a:schemeClr val="accent2">
                  <a:lumMod val="50000"/>
                  <a:alpha val="9200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IN" sz="2000" err="1">
              <a:gradFill>
                <a:gsLst>
                  <a:gs pos="0">
                    <a:srgbClr val="FFFFFF"/>
                  </a:gs>
                  <a:gs pos="100000">
                    <a:srgbClr val="FFFFFF"/>
                  </a:gs>
                </a:gsLst>
                <a:lin ang="5400000" scaled="0"/>
              </a:gradFill>
              <a:cs typeface="Segoe UI" pitchFamily="34" charset="0"/>
            </a:endParaRPr>
          </a:p>
        </p:txBody>
      </p:sp>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10083922" cy="553998"/>
          </a:xfrm>
        </p:spPr>
        <p:txBody>
          <a:bodyPr/>
          <a:lstStyle>
            <a:lvl1pPr>
              <a:defRPr sz="3600">
                <a:solidFill>
                  <a:schemeClr val="bg1"/>
                </a:solidFill>
              </a:defRPr>
            </a:lvl1pPr>
          </a:lstStyle>
          <a:p>
            <a:r>
              <a:rPr lang="en-US"/>
              <a:t>Title only</a:t>
            </a:r>
          </a:p>
        </p:txBody>
      </p:sp>
      <p:sp>
        <p:nvSpPr>
          <p:cNvPr id="5" name="Rectangle 4">
            <a:extLst>
              <a:ext uri="{FF2B5EF4-FFF2-40B4-BE49-F238E27FC236}">
                <a16:creationId xmlns:a16="http://schemas.microsoft.com/office/drawing/2014/main" id="{2C1C0608-93BD-AA99-99FE-CE8B5C541457}"/>
              </a:ext>
              <a:ext uri="{C183D7F6-B498-43B3-948B-1728B52AA6E4}">
                <adec:decorative xmlns:adec="http://schemas.microsoft.com/office/drawing/2017/decorative" val="1"/>
              </a:ext>
            </a:extLst>
          </p:cNvPr>
          <p:cNvSpPr/>
          <p:nvPr userDrawn="1"/>
        </p:nvSpPr>
        <p:spPr bwMode="auto">
          <a:xfrm>
            <a:off x="0" y="1188720"/>
            <a:ext cx="12192000" cy="45719"/>
          </a:xfrm>
          <a:prstGeom prst="rect">
            <a:avLst/>
          </a:prstGeom>
          <a:solidFill>
            <a:srgbClr val="01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7" name="Picture 6" descr="Grey dots in a decorative spiral">
            <a:extLst>
              <a:ext uri="{FF2B5EF4-FFF2-40B4-BE49-F238E27FC236}">
                <a16:creationId xmlns:a16="http://schemas.microsoft.com/office/drawing/2014/main" id="{233A85F5-7EA5-D2AC-23E2-52EDBB1A0887}"/>
              </a:ext>
            </a:extLst>
          </p:cNvPr>
          <p:cNvPicPr>
            <a:picLocks noChangeAspect="1"/>
          </p:cNvPicPr>
          <p:nvPr userDrawn="1"/>
        </p:nvPicPr>
        <p:blipFill rotWithShape="1">
          <a:blip r:embed="rId3" cstate="print">
            <a:alphaModFix/>
            <a:duotone>
              <a:schemeClr val="bg2">
                <a:shade val="45000"/>
                <a:satMod val="135000"/>
              </a:schemeClr>
              <a:prstClr val="white"/>
            </a:duotone>
            <a:extLst>
              <a:ext uri="{28A0092B-C50C-407E-A947-70E740481C1C}">
                <a14:useLocalDpi xmlns:a14="http://schemas.microsoft.com/office/drawing/2010/main" val="0"/>
              </a:ext>
            </a:extLst>
          </a:blip>
          <a:srcRect l="27639" t="18675" r="11937" b="17894"/>
          <a:stretch/>
        </p:blipFill>
        <p:spPr>
          <a:xfrm flipH="1">
            <a:off x="10728642" y="0"/>
            <a:ext cx="1463358" cy="1206500"/>
          </a:xfrm>
          <a:custGeom>
            <a:avLst/>
            <a:gdLst>
              <a:gd name="connsiteX0" fmla="*/ 1684338 w 1684338"/>
              <a:gd name="connsiteY0" fmla="*/ 0 h 1562100"/>
              <a:gd name="connsiteX1" fmla="*/ 0 w 1684338"/>
              <a:gd name="connsiteY1" fmla="*/ 0 h 1562100"/>
              <a:gd name="connsiteX2" fmla="*/ 0 w 1684338"/>
              <a:gd name="connsiteY2" fmla="*/ 1562100 h 1562100"/>
              <a:gd name="connsiteX3" fmla="*/ 1684338 w 1684338"/>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1684338" h="1562100">
                <a:moveTo>
                  <a:pt x="1684338" y="0"/>
                </a:moveTo>
                <a:lnTo>
                  <a:pt x="0" y="0"/>
                </a:lnTo>
                <a:lnTo>
                  <a:pt x="0" y="1562100"/>
                </a:lnTo>
                <a:lnTo>
                  <a:pt x="1684338" y="1562100"/>
                </a:lnTo>
                <a:close/>
              </a:path>
            </a:pathLst>
          </a:custGeom>
        </p:spPr>
      </p:pic>
    </p:spTree>
    <p:custDataLst>
      <p:tags r:id="rId1"/>
    </p:custDataLst>
    <p:extLst>
      <p:ext uri="{BB962C8B-B14F-4D97-AF65-F5344CB8AC3E}">
        <p14:creationId xmlns:p14="http://schemas.microsoft.com/office/powerpoint/2010/main" val="3953922826"/>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127785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28907-B34B-EA5C-1932-0E6A411429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D3A667-77F1-832C-B8F7-7508A647BE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2852E7-C8FB-4DA2-CDCB-A34BDD83C1F6}"/>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714B5BC0-4891-5505-4859-7947BCDF71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2FBA88-B499-1118-EC80-C7206D44486E}"/>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1586546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D39EF-DFFF-D68B-DF06-AAD3667348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A2FD69-B14C-18E8-09A4-E45F4D3720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16C19-7361-3743-5500-35D026249CF9}"/>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16FE6084-AAAE-03BD-7178-EDBF83A1E2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F7631-28B2-86FF-F99C-9FBCA4EA38FA}"/>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3746281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30A0A-BE0C-B252-F913-577A75F3D0F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C9C56-EA9C-B39E-F4F1-EB9220FAB8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1A2A18-4EEA-91F5-50C8-6551A4E748EF}"/>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A2C28416-A8CD-4A77-47D0-2A4BA7BB3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8A763-0B34-E0D9-338A-0BCA0E47E448}"/>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3532136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FA275-CC8E-AC00-E560-38823DCCD4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8A719D-0A05-6E51-2289-57CE6A23F1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33CB6F-3885-C41F-6FCF-1A8E944838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CFCE16-863E-C47B-BD5E-7E082204753C}"/>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6" name="Footer Placeholder 5">
            <a:extLst>
              <a:ext uri="{FF2B5EF4-FFF2-40B4-BE49-F238E27FC236}">
                <a16:creationId xmlns:a16="http://schemas.microsoft.com/office/drawing/2014/main" id="{9B740710-77AC-587D-9345-24988AACBF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9A66C-64CC-F6A4-1EAB-FB436D9BE144}"/>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2129577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F4146-955C-B96D-FB84-663421F295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5C63DC-2B98-47CA-5A29-E78AE5B1F4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2FF2291-4F15-F94E-DCE3-2B05B1B57B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511724-D3AF-8984-BDF1-EDE643CE82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CEAC95-B7F0-5CAA-278A-BE82792952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229BD1-D504-8F66-71A7-B27708E02BC4}"/>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8" name="Footer Placeholder 7">
            <a:extLst>
              <a:ext uri="{FF2B5EF4-FFF2-40B4-BE49-F238E27FC236}">
                <a16:creationId xmlns:a16="http://schemas.microsoft.com/office/drawing/2014/main" id="{6F1A86E0-AEA2-2A5B-816F-D0F0F2F996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54A726-CDA9-CE16-656D-FE6DA092584A}"/>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513572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6953B-6D9C-6F4D-A79F-6C42DD5E97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743C4E-2952-D239-054A-A530A862B6D8}"/>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4" name="Footer Placeholder 3">
            <a:extLst>
              <a:ext uri="{FF2B5EF4-FFF2-40B4-BE49-F238E27FC236}">
                <a16:creationId xmlns:a16="http://schemas.microsoft.com/office/drawing/2014/main" id="{FEC98637-EE1F-4E91-F9E7-C09266D1D8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9CE189-AC99-E8F8-FEF0-2E2CF518BF14}"/>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5910852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BBA6C5-065A-D2AF-A291-BAA7647BCC9C}"/>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3" name="Footer Placeholder 2">
            <a:extLst>
              <a:ext uri="{FF2B5EF4-FFF2-40B4-BE49-F238E27FC236}">
                <a16:creationId xmlns:a16="http://schemas.microsoft.com/office/drawing/2014/main" id="{BC667236-3677-B639-D8BD-BCDC8477AC6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0025FF-25C8-5AE8-E5C0-075DA858ACD4}"/>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42664166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5FFCF-BCA4-6422-EF55-4187404405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A5162D-91AC-3CD0-063C-E0BBBE4F78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301E6C-93B7-DB7B-2FF8-18E2CA47A7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07B2EB-4B9F-4971-20DE-E2A0FC45D622}"/>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6" name="Footer Placeholder 5">
            <a:extLst>
              <a:ext uri="{FF2B5EF4-FFF2-40B4-BE49-F238E27FC236}">
                <a16:creationId xmlns:a16="http://schemas.microsoft.com/office/drawing/2014/main" id="{33312A8C-4192-A960-0924-32DB65E413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10DA8B-C4F6-F6C3-4CE3-6687BB6DE5DF}"/>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9860234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5A505-4EF4-4344-50A8-5C3F9D6C83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6236DB-2AB7-8010-B7C4-9587733F86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232FC49-51D0-FAE6-AE4F-593E30C1D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4D7ED5-3E99-EF65-A264-1FA60E019AE3}"/>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6" name="Footer Placeholder 5">
            <a:extLst>
              <a:ext uri="{FF2B5EF4-FFF2-40B4-BE49-F238E27FC236}">
                <a16:creationId xmlns:a16="http://schemas.microsoft.com/office/drawing/2014/main" id="{3FF4447A-20DA-776F-D992-D4C4F8FED4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786DC0-2143-6FF7-D633-AEB90F170132}"/>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4300974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C8807-8EA1-1E3F-C93C-53DC149571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0E4496-F8E6-C5F2-080D-95D9D738D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5A14D9-F8C6-8C40-2D38-4D310955402B}"/>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C78B8470-3C92-A110-4A16-6471243BBF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3E333C-EE8B-4C6C-740C-83DD53D29AAB}"/>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3212218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EF8295-38FF-2EE2-BA5A-10F55BEC75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A9746B-4BB9-92CC-BE72-BDD91738C9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E74B6F-9D5B-00D5-BC52-BFD90E7DF413}"/>
              </a:ext>
            </a:extLst>
          </p:cNvPr>
          <p:cNvSpPr>
            <a:spLocks noGrp="1"/>
          </p:cNvSpPr>
          <p:nvPr>
            <p:ph type="dt" sz="half" idx="10"/>
          </p:nvPr>
        </p:nvSpPr>
        <p:spPr/>
        <p:txBody>
          <a:body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7C45D54D-8851-7681-87FF-AD0C685D50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E94E6-BFED-206F-8DBE-C80EB6527FC5}"/>
              </a:ext>
            </a:extLst>
          </p:cNvPr>
          <p:cNvSpPr>
            <a:spLocks noGrp="1"/>
          </p:cNvSpPr>
          <p:nvPr>
            <p:ph type="sldNum" sz="quarter" idx="12"/>
          </p:nvPr>
        </p:nvSpPr>
        <p:spPr/>
        <p:txBody>
          <a:bodyPr/>
          <a:lstStyle/>
          <a:p>
            <a:fld id="{C8CA5850-4711-418D-B090-9E8809BBEA03}" type="slidenum">
              <a:rPr lang="en-US" smtClean="0"/>
              <a:t>‹#›</a:t>
            </a:fld>
            <a:endParaRPr lang="en-US"/>
          </a:p>
        </p:txBody>
      </p:sp>
    </p:spTree>
    <p:extLst>
      <p:ext uri="{BB962C8B-B14F-4D97-AF65-F5344CB8AC3E}">
        <p14:creationId xmlns:p14="http://schemas.microsoft.com/office/powerpoint/2010/main" val="1548630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Only_Custom Background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755519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952189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26082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062342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214669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016620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515603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873806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829993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700198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9997046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329013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a:xfrm>
            <a:off x="588263" y="457200"/>
            <a:ext cx="9653392" cy="553998"/>
          </a:xfrm>
        </p:spPr>
        <p:txBody>
          <a:bodyPr/>
          <a:lstStyle>
            <a:lvl1pPr marL="0" algn="l" defTabSz="932384" rtl="0" eaLnBrk="1" latinLnBrk="0" hangingPunct="1">
              <a:lnSpc>
                <a:spcPct val="100000"/>
              </a:lnSpc>
              <a:spcBef>
                <a:spcPct val="0"/>
              </a:spcBef>
              <a:buNone/>
              <a:defRPr lang="en-US" sz="3600" b="0" kern="1200" cap="none" spc="-50" baseline="0" dirty="0">
                <a:ln w="3175">
                  <a:noFill/>
                </a:ln>
                <a:solidFill>
                  <a:schemeClr val="accent2">
                    <a:lumMod val="50000"/>
                  </a:schemeClr>
                </a:solidFill>
                <a:effectLst/>
                <a:latin typeface="+mj-lt"/>
                <a:ea typeface="+mn-ea"/>
                <a:cs typeface="Segoe UI" pitchFamily="34" charset="0"/>
              </a:defRPr>
            </a:lvl1pPr>
          </a:lstStyle>
          <a:p>
            <a:r>
              <a:rPr lang="en-US"/>
              <a:t>Title only</a:t>
            </a:r>
          </a:p>
        </p:txBody>
      </p:sp>
      <p:pic>
        <p:nvPicPr>
          <p:cNvPr id="13" name="Picture 12" descr="Grey dots in a decorative spiral">
            <a:extLst>
              <a:ext uri="{FF2B5EF4-FFF2-40B4-BE49-F238E27FC236}">
                <a16:creationId xmlns:a16="http://schemas.microsoft.com/office/drawing/2014/main" id="{129FA58B-F4C2-FEF2-22E5-FAC33CC0DA58}"/>
              </a:ext>
              <a:ext uri="{C183D7F6-B498-43B3-948B-1728B52AA6E4}">
                <adec:decorative xmlns:adec="http://schemas.microsoft.com/office/drawing/2017/decorative" val="0"/>
              </a:ext>
            </a:extLst>
          </p:cNvPr>
          <p:cNvPicPr>
            <a:picLocks noChangeAspect="1"/>
          </p:cNvPicPr>
          <p:nvPr userDrawn="1"/>
        </p:nvPicPr>
        <p:blipFill rotWithShape="1">
          <a:blip r:embed="rId3" cstate="print">
            <a:alphaModFix amt="48000"/>
            <a:grayscl/>
            <a:extLst>
              <a:ext uri="{28A0092B-C50C-407E-A947-70E740481C1C}">
                <a14:useLocalDpi xmlns:a14="http://schemas.microsoft.com/office/drawing/2010/main" val="0"/>
              </a:ext>
            </a:extLst>
          </a:blip>
          <a:srcRect l="27639" t="18675" r="11937" b="17894"/>
          <a:stretch/>
        </p:blipFill>
        <p:spPr>
          <a:xfrm flipH="1">
            <a:off x="10728642" y="0"/>
            <a:ext cx="1463358" cy="1206500"/>
          </a:xfrm>
          <a:custGeom>
            <a:avLst/>
            <a:gdLst>
              <a:gd name="connsiteX0" fmla="*/ 1684338 w 1684338"/>
              <a:gd name="connsiteY0" fmla="*/ 0 h 1562100"/>
              <a:gd name="connsiteX1" fmla="*/ 0 w 1684338"/>
              <a:gd name="connsiteY1" fmla="*/ 0 h 1562100"/>
              <a:gd name="connsiteX2" fmla="*/ 0 w 1684338"/>
              <a:gd name="connsiteY2" fmla="*/ 1562100 h 1562100"/>
              <a:gd name="connsiteX3" fmla="*/ 1684338 w 1684338"/>
              <a:gd name="connsiteY3" fmla="*/ 1562100 h 1562100"/>
            </a:gdLst>
            <a:ahLst/>
            <a:cxnLst>
              <a:cxn ang="0">
                <a:pos x="connsiteX0" y="connsiteY0"/>
              </a:cxn>
              <a:cxn ang="0">
                <a:pos x="connsiteX1" y="connsiteY1"/>
              </a:cxn>
              <a:cxn ang="0">
                <a:pos x="connsiteX2" y="connsiteY2"/>
              </a:cxn>
              <a:cxn ang="0">
                <a:pos x="connsiteX3" y="connsiteY3"/>
              </a:cxn>
            </a:cxnLst>
            <a:rect l="l" t="t" r="r" b="b"/>
            <a:pathLst>
              <a:path w="1684338" h="1562100">
                <a:moveTo>
                  <a:pt x="1684338" y="0"/>
                </a:moveTo>
                <a:lnTo>
                  <a:pt x="0" y="0"/>
                </a:lnTo>
                <a:lnTo>
                  <a:pt x="0" y="1562100"/>
                </a:lnTo>
                <a:lnTo>
                  <a:pt x="1684338" y="1562100"/>
                </a:lnTo>
                <a:close/>
              </a:path>
            </a:pathLst>
          </a:custGeom>
        </p:spPr>
      </p:pic>
    </p:spTree>
    <p:custDataLst>
      <p:tags r:id="rId1"/>
    </p:custDataLst>
    <p:extLst>
      <p:ext uri="{BB962C8B-B14F-4D97-AF65-F5344CB8AC3E}">
        <p14:creationId xmlns:p14="http://schemas.microsoft.com/office/powerpoint/2010/main" val="300906940"/>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2">
          <p15:clr>
            <a:srgbClr val="5ACBF0"/>
          </p15:clr>
        </p15:guide>
        <p15:guide id="5" orient="horz" pos="283">
          <p15:clr>
            <a:srgbClr val="5ACBF0"/>
          </p15:clr>
        </p15:guide>
        <p15:guide id="6" pos="3917">
          <p15:clr>
            <a:srgbClr val="FBAE40"/>
          </p15:clr>
        </p15:guide>
        <p15:guide id="7" orient="horz" pos="2203">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Only_Custom Background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594391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tags" Target="../tags/tag1.xml"/><Relationship Id="rId10" Type="http://schemas.openxmlformats.org/officeDocument/2006/relationships/image" Target="../media/image1.emf"/><Relationship Id="rId11"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 Id="rId9" Type="http://schemas.openxmlformats.org/officeDocument/2006/relationships/slideLayout" Target="../slideLayouts/slideLayout28.xml"/><Relationship Id="rId10" Type="http://schemas.openxmlformats.org/officeDocument/2006/relationships/slideLayout" Target="../slideLayouts/slideLayout29.xml"/><Relationship Id="rId11" Type="http://schemas.openxmlformats.org/officeDocument/2006/relationships/slideLayout" Target="../slideLayouts/slideLayout30.xml"/><Relationship Id="rId12" Type="http://schemas.openxmlformats.org/officeDocument/2006/relationships/slideLayout" Target="../slideLayouts/slideLayout31.xml"/><Relationship Id="rId13" Type="http://schemas.openxmlformats.org/officeDocument/2006/relationships/slideLayout" Target="../slideLayouts/slideLayout32.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46056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4F863F8-3190-109C-7161-40345FE412FF}"/>
              </a:ext>
            </a:extLst>
          </p:cNvPr>
          <p:cNvSpPr/>
          <p:nvPr userDrawn="1"/>
        </p:nvSpPr>
        <p:spPr>
          <a:xfrm>
            <a:off x="584200" y="6496253"/>
            <a:ext cx="2727670" cy="200055"/>
          </a:xfrm>
          <a:prstGeom prst="rect">
            <a:avLst/>
          </a:prstGeom>
        </p:spPr>
        <p:txBody>
          <a:bodyPr wrap="none" lIns="0">
            <a:spAutoFit/>
          </a:bodyPr>
          <a:lstStyle/>
          <a:p>
            <a:r>
              <a:rPr lang="en-US" sz="700" b="0" i="0" spc="80" baseline="0">
                <a:solidFill>
                  <a:schemeClr val="tx1">
                    <a:lumMod val="50000"/>
                    <a:lumOff val="50000"/>
                  </a:schemeClr>
                </a:solidFill>
                <a:latin typeface="+mn-lt"/>
              </a:rPr>
              <a:t>MICROSOFT CONFIDENTIAL. FOR INTERNAL USE ONLY</a:t>
            </a:r>
          </a:p>
        </p:txBody>
      </p:sp>
      <p:pic>
        <p:nvPicPr>
          <p:cNvPr id="64" name="NEW Brand Colors 2018">
            <a:extLst>
              <a:ext uri="{FF2B5EF4-FFF2-40B4-BE49-F238E27FC236}">
                <a16:creationId xmlns:a16="http://schemas.microsoft.com/office/drawing/2014/main" id="{A8BA6B64-5E5E-4B2E-8DF2-17DC5A1D39B7}"/>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rot="5400000">
            <a:off x="9353628" y="2942644"/>
            <a:ext cx="6858000" cy="972712"/>
          </a:xfrm>
          <a:prstGeom prst="rect">
            <a:avLst/>
          </a:prstGeom>
        </p:spPr>
      </p:pic>
      <p:pic>
        <p:nvPicPr>
          <p:cNvPr id="94" name="Picture 93">
            <a:extLst>
              <a:ext uri="{FF2B5EF4-FFF2-40B4-BE49-F238E27FC236}">
                <a16:creationId xmlns:a16="http://schemas.microsoft.com/office/drawing/2014/main" id="{6A88F09E-5CD6-2540-F778-A9F2267C630D}"/>
              </a:ext>
              <a:ext uri="{C183D7F6-B498-43B3-948B-1728B52AA6E4}">
                <adec:decorative xmlns:adec="http://schemas.microsoft.com/office/drawing/2017/decorative" val="1"/>
              </a:ext>
            </a:extLst>
          </p:cNvPr>
          <p:cNvPicPr>
            <a:picLocks noChangeAspect="1"/>
          </p:cNvPicPr>
          <p:nvPr userDrawn="1"/>
        </p:nvPicPr>
        <p:blipFill>
          <a:blip r:embed="rId11"/>
          <a:stretch>
            <a:fillRect/>
          </a:stretch>
        </p:blipFill>
        <p:spPr>
          <a:xfrm>
            <a:off x="13373253" y="12841"/>
            <a:ext cx="340671" cy="6832318"/>
          </a:xfrm>
          <a:prstGeom prst="rect">
            <a:avLst/>
          </a:prstGeom>
        </p:spPr>
      </p:pic>
    </p:spTree>
    <p:custDataLst>
      <p:tags r:id="rId9"/>
    </p:custDataLst>
    <p:extLst>
      <p:ext uri="{BB962C8B-B14F-4D97-AF65-F5344CB8AC3E}">
        <p14:creationId xmlns:p14="http://schemas.microsoft.com/office/powerpoint/2010/main" val="2927840230"/>
      </p:ext>
    </p:extLst>
  </p:cSld>
  <p:clrMap bg1="lt1" tx1="dk1" bg2="lt2" tx2="dk2" accent1="accent1" accent2="accent2" accent3="accent3" accent4="accent4" accent5="accent5" accent6="accent6" hlink="hlink" folHlink="folHlink"/>
  <p:sldLayoutIdLst>
    <p:sldLayoutId id="2147483685" r:id="rId1"/>
    <p:sldLayoutId id="2147483689" r:id="rId2"/>
    <p:sldLayoutId id="2147483693" r:id="rId3"/>
    <p:sldLayoutId id="2147483723" r:id="rId4"/>
    <p:sldLayoutId id="2147483730" r:id="rId5"/>
    <p:sldLayoutId id="2147483800" r:id="rId6"/>
    <p:sldLayoutId id="2147483801" r:id="rId7"/>
  </p:sldLayoutIdLst>
  <p:transition>
    <p:fade/>
  </p:transition>
  <p:hf sldNum="0" hdr="0" ftr="0" dt="0"/>
  <p:txStyles>
    <p:titleStyle>
      <a:lvl1pPr algn="l" defTabSz="932563" rtl="0" eaLnBrk="1" latinLnBrk="0" hangingPunct="1">
        <a:lnSpc>
          <a:spcPct val="100000"/>
        </a:lnSpc>
        <a:spcBef>
          <a:spcPct val="0"/>
        </a:spcBef>
        <a:buNone/>
        <a:defRPr lang="en-US" sz="3529"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556"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j-lt"/>
          <a:ea typeface="+mn-ea"/>
          <a:cs typeface="Segoe UI Semilight" panose="020B0402040204020203" pitchFamily="34" charset="0"/>
        </a:defRPr>
      </a:lvl1pPr>
      <a:lvl2pPr marL="457112" marR="0" indent="-22855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61" kern="1200" spc="0" baseline="0">
          <a:gradFill>
            <a:gsLst>
              <a:gs pos="1250">
                <a:schemeClr val="tx1"/>
              </a:gs>
              <a:gs pos="100000">
                <a:schemeClr val="tx1"/>
              </a:gs>
            </a:gsLst>
            <a:lin ang="5400000" scaled="0"/>
          </a:gradFill>
          <a:latin typeface="+mn-lt"/>
          <a:ea typeface="+mn-ea"/>
          <a:cs typeface="+mn-cs"/>
        </a:defRPr>
      </a:lvl2pPr>
      <a:lvl3pPr marL="657099" marR="0" indent="-199986"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3pPr>
      <a:lvl4pPr marL="842801" marR="0" indent="-180940"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4pPr>
      <a:lvl5pPr marL="1023741" marR="0" indent="-168243" algn="l" defTabSz="932563"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72" kern="1200" spc="0" baseline="0">
          <a:gradFill>
            <a:gsLst>
              <a:gs pos="1250">
                <a:schemeClr val="tx1"/>
              </a:gs>
              <a:gs pos="100000">
                <a:schemeClr val="tx1"/>
              </a:gs>
            </a:gsLst>
            <a:lin ang="5400000" scaled="0"/>
          </a:gradFill>
          <a:latin typeface="+mn-lt"/>
          <a:ea typeface="+mn-ea"/>
          <a:cs typeface="+mn-cs"/>
        </a:defRPr>
      </a:lvl5pPr>
      <a:lvl6pPr marL="2564547"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1"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2"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2" algn="l" defTabSz="9325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5">
          <p15:clr>
            <a:srgbClr val="C35EA4"/>
          </p15:clr>
        </p15:guide>
        <p15:guide id="17" pos="7661">
          <p15:clr>
            <a:srgbClr val="A4A3A4"/>
          </p15:clr>
        </p15:guide>
        <p15:guide id="25" orient="horz" pos="379">
          <p15:clr>
            <a:srgbClr val="C35EA4"/>
          </p15:clr>
        </p15:guide>
        <p15:guide id="26" orient="horz" pos="4027">
          <p15:clr>
            <a:srgbClr val="C35EA4"/>
          </p15:clr>
        </p15:guide>
        <p15:guide id="27" orient="horz" pos="187">
          <p15:clr>
            <a:srgbClr val="A4A3A4"/>
          </p15:clr>
        </p15:guide>
        <p15:guide id="28" pos="173">
          <p15:clr>
            <a:srgbClr val="A4A3A4"/>
          </p15:clr>
        </p15:guide>
        <p15:guide id="29" orient="horz" pos="2347">
          <p15:clr>
            <a:srgbClr val="A4A3A4"/>
          </p15:clr>
        </p15:guide>
        <p15:guide id="30" pos="7320">
          <p15:clr>
            <a:srgbClr val="C35EA4"/>
          </p15:clr>
        </p15:guide>
        <p15:guide id="31" pos="3917">
          <p15:clr>
            <a:srgbClr val="C35EA4"/>
          </p15:clr>
        </p15:guide>
        <p15:guide id="32" orient="horz" pos="2203">
          <p15:clr>
            <a:srgbClr val="F26B43"/>
          </p15:clr>
        </p15:guide>
        <p15:guide id="33" orient="horz" pos="4219">
          <p15:clr>
            <a:srgbClr val="A4A3A4"/>
          </p15:clr>
        </p15:guide>
        <p15:guide id="34" orient="horz" pos="2059">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8FFDEB-E59B-898A-0919-D2FCE42638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773C94-ED43-8244-6B02-E7234CAF92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4D8F9E-0E0A-9154-6906-F2228259F9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E128125-7331-418B-970D-A88E73B1885B}" type="datetimeFigureOut">
              <a:rPr lang="en-US" smtClean="0"/>
              <a:t>4/10/2026</a:t>
            </a:fld>
            <a:endParaRPr lang="en-US"/>
          </a:p>
        </p:txBody>
      </p:sp>
      <p:sp>
        <p:nvSpPr>
          <p:cNvPr id="5" name="Footer Placeholder 4">
            <a:extLst>
              <a:ext uri="{FF2B5EF4-FFF2-40B4-BE49-F238E27FC236}">
                <a16:creationId xmlns:a16="http://schemas.microsoft.com/office/drawing/2014/main" id="{9399CEC8-4581-4497-9206-B9F450C3E8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03F71B-B2A7-7E82-4132-62F4B834C1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CA5850-4711-418D-B090-9E8809BBEA03}" type="slidenum">
              <a:rPr lang="en-US" smtClean="0"/>
              <a:t>‹#›</a:t>
            </a:fld>
            <a:endParaRPr lang="en-US"/>
          </a:p>
        </p:txBody>
      </p:sp>
    </p:spTree>
    <p:extLst>
      <p:ext uri="{BB962C8B-B14F-4D97-AF65-F5344CB8AC3E}">
        <p14:creationId xmlns:p14="http://schemas.microsoft.com/office/powerpoint/2010/main" val="174378396"/>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4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930422111"/>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 id="2147483943" r:id="rId12"/>
    <p:sldLayoutId id="214748394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097280"/>
            <a:ext cx="10058400" cy="457200"/>
          </a:xfrm>
          <a:prstGeom prst="rect">
            <a:avLst/>
          </a:prstGeom>
          <a:noFill/>
        </p:spPr>
        <p:txBody>
          <a:bodyPr wrap="square">
            <a:spAutoFit/>
          </a:bodyPr>
          <a:lstStyle/>
          <a:p>
            <a:pPr algn="l">
              <a:defRPr sz="1800" b="0">
                <a:solidFill>
                  <a:srgbClr val="FFFFFF"/>
                </a:solidFill>
                <a:latin typeface="Segoe Sans Display Semibold"/>
              </a:defRPr>
            </a:pPr>
            <a:r>
              <a:t>Microsoft Accelerated Factory</a:t>
            </a:r>
          </a:p>
        </p:txBody>
      </p:sp>
      <p:sp>
        <p:nvSpPr>
          <p:cNvPr id="3" name="TextBox 2"/>
          <p:cNvSpPr txBox="1"/>
          <p:nvPr/>
        </p:nvSpPr>
        <p:spPr>
          <a:xfrm>
            <a:off x="731520" y="1828800"/>
            <a:ext cx="10058400" cy="1097280"/>
          </a:xfrm>
          <a:prstGeom prst="rect">
            <a:avLst/>
          </a:prstGeom>
          <a:noFill/>
        </p:spPr>
        <p:txBody>
          <a:bodyPr wrap="square">
            <a:spAutoFit/>
          </a:bodyPr>
          <a:lstStyle/>
          <a:p>
            <a:pPr algn="l">
              <a:defRPr sz="5000" b="1">
                <a:solidFill>
                  <a:srgbClr val="FFFFFF"/>
                </a:solidFill>
                <a:latin typeface="Aptos Display"/>
              </a:defRPr>
            </a:pPr>
            <a:r>
              <a:t>Snap Model Operations Runbook</a:t>
            </a:r>
          </a:p>
        </p:txBody>
      </p:sp>
      <p:sp>
        <p:nvSpPr>
          <p:cNvPr id="4" name="TextBox 3"/>
          <p:cNvSpPr txBox="1"/>
          <p:nvPr/>
        </p:nvSpPr>
        <p:spPr>
          <a:xfrm>
            <a:off x="731520" y="3200400"/>
            <a:ext cx="10058400" cy="548640"/>
          </a:xfrm>
          <a:prstGeom prst="rect">
            <a:avLst/>
          </a:prstGeom>
          <a:noFill/>
        </p:spPr>
        <p:txBody>
          <a:bodyPr wrap="square">
            <a:spAutoFit/>
          </a:bodyPr>
          <a:lstStyle/>
          <a:p>
            <a:pPr algn="l">
              <a:defRPr sz="2400" b="0">
                <a:solidFill>
                  <a:srgbClr val="CCE5FF"/>
                </a:solidFill>
                <a:latin typeface="Aptos Display"/>
              </a:defRPr>
            </a:pPr>
            <a:r>
              <a:t>Central Squad + Snap Presets + SubSquads</a:t>
            </a:r>
          </a:p>
        </p:txBody>
      </p:sp>
      <p:sp>
        <p:nvSpPr>
          <p:cNvPr id="5" name="TextBox 4"/>
          <p:cNvSpPr txBox="1"/>
          <p:nvPr/>
        </p:nvSpPr>
        <p:spPr>
          <a:xfrm>
            <a:off x="731520" y="4114800"/>
            <a:ext cx="8229600" cy="731520"/>
          </a:xfrm>
          <a:prstGeom prst="rect">
            <a:avLst/>
          </a:prstGeom>
          <a:noFill/>
        </p:spPr>
        <p:txBody>
          <a:bodyPr wrap="square">
            <a:spAutoFit/>
          </a:bodyPr>
          <a:lstStyle/>
          <a:p>
            <a:pPr algn="l">
              <a:defRPr sz="1400" b="0">
                <a:solidFill>
                  <a:srgbClr val="B0D0F0"/>
                </a:solidFill>
                <a:latin typeface="Aptos"/>
              </a:defRPr>
            </a:pPr>
            <a:r>
              <a:t>Step-by-step guide for engineers and architects operating</a:t>
            </a:r>
            <a:br/>
            <a:r>
              <a:t>the AI-driven delivery model at enterprise scale</a:t>
            </a:r>
          </a:p>
        </p:txBody>
      </p:sp>
      <p:sp>
        <p:nvSpPr>
          <p:cNvPr id="6" name="TextBox 5"/>
          <p:cNvSpPr txBox="1"/>
          <p:nvPr/>
        </p:nvSpPr>
        <p:spPr>
          <a:xfrm>
            <a:off x="731520" y="5486400"/>
            <a:ext cx="5486400" cy="640080"/>
          </a:xfrm>
          <a:prstGeom prst="rect">
            <a:avLst/>
          </a:prstGeom>
          <a:noFill/>
        </p:spPr>
        <p:txBody>
          <a:bodyPr wrap="square">
            <a:spAutoFit/>
          </a:bodyPr>
          <a:lstStyle/>
          <a:p>
            <a:pPr algn="l">
              <a:defRPr sz="1100" b="0">
                <a:solidFill>
                  <a:srgbClr val="90B8E0"/>
                </a:solidFill>
                <a:latin typeface="Aptos"/>
              </a:defRPr>
            </a:pPr>
            <a:r>
              <a:t>Audience: Engineers, Architects, Delivery Leads</a:t>
            </a:r>
            <a:br/>
            <a:r>
              <a:t>Version 1.0  |  May 2026  |  Classification: Confidential</a:t>
            </a:r>
          </a:p>
        </p:txBody>
      </p:sp>
      <p:sp>
        <p:nvSpPr>
          <p:cNvPr id="7" name="TextBox 6"/>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8" name="TextBox 7"/>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Runbook Contents</a:t>
            </a:r>
          </a:p>
        </p:txBody>
      </p:sp>
      <p:sp>
        <p:nvSpPr>
          <p:cNvPr id="3" name="Oval 2"/>
          <p:cNvSpPr/>
          <p:nvPr/>
        </p:nvSpPr>
        <p:spPr>
          <a:xfrm>
            <a:off x="457200" y="1024128"/>
            <a:ext cx="347472" cy="347472"/>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01</a:t>
            </a:r>
          </a:p>
        </p:txBody>
      </p:sp>
      <p:sp>
        <p:nvSpPr>
          <p:cNvPr id="4" name="TextBox 3"/>
          <p:cNvSpPr txBox="1"/>
          <p:nvPr/>
        </p:nvSpPr>
        <p:spPr>
          <a:xfrm>
            <a:off x="914400" y="1005840"/>
            <a:ext cx="5029200" cy="256032"/>
          </a:xfrm>
          <a:prstGeom prst="rect">
            <a:avLst/>
          </a:prstGeom>
          <a:noFill/>
        </p:spPr>
        <p:txBody>
          <a:bodyPr wrap="square">
            <a:spAutoFit/>
          </a:bodyPr>
          <a:lstStyle/>
          <a:p>
            <a:pPr algn="l">
              <a:defRPr sz="1300" b="1">
                <a:solidFill>
                  <a:srgbClr val="0178D4"/>
                </a:solidFill>
                <a:latin typeface="Aptos"/>
              </a:defRPr>
            </a:pPr>
            <a:r>
              <a:t>Central Squad Setup</a:t>
            </a:r>
          </a:p>
        </p:txBody>
      </p:sp>
      <p:sp>
        <p:nvSpPr>
          <p:cNvPr id="5" name="TextBox 4"/>
          <p:cNvSpPr txBox="1"/>
          <p:nvPr/>
        </p:nvSpPr>
        <p:spPr>
          <a:xfrm>
            <a:off x="914400" y="1261872"/>
            <a:ext cx="5029200" cy="228600"/>
          </a:xfrm>
          <a:prstGeom prst="rect">
            <a:avLst/>
          </a:prstGeom>
          <a:noFill/>
        </p:spPr>
        <p:txBody>
          <a:bodyPr wrap="square">
            <a:spAutoFit/>
          </a:bodyPr>
          <a:lstStyle/>
          <a:p>
            <a:pPr algn="l">
              <a:defRPr sz="900" b="0">
                <a:solidFill>
                  <a:srgbClr val="666666"/>
                </a:solidFill>
                <a:latin typeface="Aptos"/>
              </a:defRPr>
            </a:pPr>
            <a:r>
              <a:t>Shared assets, naming, memory model</a:t>
            </a:r>
          </a:p>
        </p:txBody>
      </p:sp>
      <p:sp>
        <p:nvSpPr>
          <p:cNvPr id="6" name="Oval 5"/>
          <p:cNvSpPr/>
          <p:nvPr/>
        </p:nvSpPr>
        <p:spPr>
          <a:xfrm>
            <a:off x="6217920" y="1024128"/>
            <a:ext cx="347472" cy="347472"/>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02</a:t>
            </a:r>
          </a:p>
        </p:txBody>
      </p:sp>
      <p:sp>
        <p:nvSpPr>
          <p:cNvPr id="7" name="TextBox 6"/>
          <p:cNvSpPr txBox="1"/>
          <p:nvPr/>
        </p:nvSpPr>
        <p:spPr>
          <a:xfrm>
            <a:off x="6675120" y="1005840"/>
            <a:ext cx="5029200" cy="256032"/>
          </a:xfrm>
          <a:prstGeom prst="rect">
            <a:avLst/>
          </a:prstGeom>
          <a:noFill/>
        </p:spPr>
        <p:txBody>
          <a:bodyPr wrap="square">
            <a:spAutoFit/>
          </a:bodyPr>
          <a:lstStyle/>
          <a:p>
            <a:pPr algn="l">
              <a:defRPr sz="1300" b="1">
                <a:solidFill>
                  <a:srgbClr val="463668"/>
                </a:solidFill>
                <a:latin typeface="Aptos"/>
              </a:defRPr>
            </a:pPr>
            <a:r>
              <a:t>Snap Governance Model</a:t>
            </a:r>
          </a:p>
        </p:txBody>
      </p:sp>
      <p:sp>
        <p:nvSpPr>
          <p:cNvPr id="8" name="TextBox 7"/>
          <p:cNvSpPr txBox="1"/>
          <p:nvPr/>
        </p:nvSpPr>
        <p:spPr>
          <a:xfrm>
            <a:off x="6675120" y="1261872"/>
            <a:ext cx="5029200" cy="228600"/>
          </a:xfrm>
          <a:prstGeom prst="rect">
            <a:avLst/>
          </a:prstGeom>
          <a:noFill/>
        </p:spPr>
        <p:txBody>
          <a:bodyPr wrap="square">
            <a:spAutoFit/>
          </a:bodyPr>
          <a:lstStyle/>
          <a:p>
            <a:pPr algn="l">
              <a:defRPr sz="900" b="0">
                <a:solidFill>
                  <a:srgbClr val="666666"/>
                </a:solidFill>
                <a:latin typeface="Aptos"/>
              </a:defRPr>
            </a:pPr>
            <a:r>
              <a:t>Publishing rules, security, approvals</a:t>
            </a:r>
          </a:p>
        </p:txBody>
      </p:sp>
      <p:sp>
        <p:nvSpPr>
          <p:cNvPr id="9" name="Oval 8"/>
          <p:cNvSpPr/>
          <p:nvPr/>
        </p:nvSpPr>
        <p:spPr>
          <a:xfrm>
            <a:off x="457200" y="1737360"/>
            <a:ext cx="347472" cy="347472"/>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03</a:t>
            </a:r>
          </a:p>
        </p:txBody>
      </p:sp>
      <p:sp>
        <p:nvSpPr>
          <p:cNvPr id="10" name="TextBox 9"/>
          <p:cNvSpPr txBox="1"/>
          <p:nvPr/>
        </p:nvSpPr>
        <p:spPr>
          <a:xfrm>
            <a:off x="914400" y="1719072"/>
            <a:ext cx="5029200" cy="256032"/>
          </a:xfrm>
          <a:prstGeom prst="rect">
            <a:avLst/>
          </a:prstGeom>
          <a:noFill/>
        </p:spPr>
        <p:txBody>
          <a:bodyPr wrap="square">
            <a:spAutoFit/>
          </a:bodyPr>
          <a:lstStyle/>
          <a:p>
            <a:pPr algn="l">
              <a:defRPr sz="1300" b="1">
                <a:solidFill>
                  <a:srgbClr val="225B62"/>
                </a:solidFill>
                <a:latin typeface="Aptos"/>
              </a:defRPr>
            </a:pPr>
            <a:r>
              <a:t>Snap Lifecycle</a:t>
            </a:r>
          </a:p>
        </p:txBody>
      </p:sp>
      <p:sp>
        <p:nvSpPr>
          <p:cNvPr id="11" name="TextBox 10"/>
          <p:cNvSpPr txBox="1"/>
          <p:nvPr/>
        </p:nvSpPr>
        <p:spPr>
          <a:xfrm>
            <a:off x="914400" y="1975104"/>
            <a:ext cx="5029200" cy="228600"/>
          </a:xfrm>
          <a:prstGeom prst="rect">
            <a:avLst/>
          </a:prstGeom>
          <a:noFill/>
        </p:spPr>
        <p:txBody>
          <a:bodyPr wrap="square">
            <a:spAutoFit/>
          </a:bodyPr>
          <a:lstStyle/>
          <a:p>
            <a:pPr algn="l">
              <a:defRPr sz="900" b="0">
                <a:solidFill>
                  <a:srgbClr val="666666"/>
                </a:solidFill>
                <a:latin typeface="Aptos"/>
              </a:defRPr>
            </a:pPr>
            <a:r>
              <a:t>Create to retire -- 7 stages</a:t>
            </a:r>
          </a:p>
        </p:txBody>
      </p:sp>
      <p:sp>
        <p:nvSpPr>
          <p:cNvPr id="12" name="Oval 11"/>
          <p:cNvSpPr/>
          <p:nvPr/>
        </p:nvSpPr>
        <p:spPr>
          <a:xfrm>
            <a:off x="6217920" y="1737360"/>
            <a:ext cx="347472" cy="347472"/>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04</a:t>
            </a:r>
          </a:p>
        </p:txBody>
      </p:sp>
      <p:sp>
        <p:nvSpPr>
          <p:cNvPr id="13" name="TextBox 12"/>
          <p:cNvSpPr txBox="1"/>
          <p:nvPr/>
        </p:nvSpPr>
        <p:spPr>
          <a:xfrm>
            <a:off x="6675120" y="1719072"/>
            <a:ext cx="5029200" cy="256032"/>
          </a:xfrm>
          <a:prstGeom prst="rect">
            <a:avLst/>
          </a:prstGeom>
          <a:noFill/>
        </p:spPr>
        <p:txBody>
          <a:bodyPr wrap="square">
            <a:spAutoFit/>
          </a:bodyPr>
          <a:lstStyle/>
          <a:p>
            <a:pPr algn="l">
              <a:defRPr sz="1300" b="1">
                <a:solidFill>
                  <a:srgbClr val="00B050"/>
                </a:solidFill>
                <a:latin typeface="Aptos"/>
              </a:defRPr>
            </a:pPr>
            <a:r>
              <a:t>SubSquad Creation</a:t>
            </a:r>
          </a:p>
        </p:txBody>
      </p:sp>
      <p:sp>
        <p:nvSpPr>
          <p:cNvPr id="14" name="TextBox 13"/>
          <p:cNvSpPr txBox="1"/>
          <p:nvPr/>
        </p:nvSpPr>
        <p:spPr>
          <a:xfrm>
            <a:off x="6675120" y="1975104"/>
            <a:ext cx="5029200" cy="228600"/>
          </a:xfrm>
          <a:prstGeom prst="rect">
            <a:avLst/>
          </a:prstGeom>
          <a:noFill/>
        </p:spPr>
        <p:txBody>
          <a:bodyPr wrap="square">
            <a:spAutoFit/>
          </a:bodyPr>
          <a:lstStyle/>
          <a:p>
            <a:pPr algn="l">
              <a:defRPr sz="900" b="0">
                <a:solidFill>
                  <a:srgbClr val="666666"/>
                </a:solidFill>
                <a:latin typeface="Aptos"/>
              </a:defRPr>
            </a:pPr>
            <a:r>
              <a:t>Select, initialize, configure, execute</a:t>
            </a:r>
          </a:p>
        </p:txBody>
      </p:sp>
      <p:sp>
        <p:nvSpPr>
          <p:cNvPr id="15" name="Oval 14"/>
          <p:cNvSpPr/>
          <p:nvPr/>
        </p:nvSpPr>
        <p:spPr>
          <a:xfrm>
            <a:off x="457200" y="2450592"/>
            <a:ext cx="347472" cy="347472"/>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05</a:t>
            </a:r>
          </a:p>
        </p:txBody>
      </p:sp>
      <p:sp>
        <p:nvSpPr>
          <p:cNvPr id="16" name="TextBox 15"/>
          <p:cNvSpPr txBox="1"/>
          <p:nvPr/>
        </p:nvSpPr>
        <p:spPr>
          <a:xfrm>
            <a:off x="914400" y="2432304"/>
            <a:ext cx="5029200" cy="256032"/>
          </a:xfrm>
          <a:prstGeom prst="rect">
            <a:avLst/>
          </a:prstGeom>
          <a:noFill/>
        </p:spPr>
        <p:txBody>
          <a:bodyPr wrap="square">
            <a:spAutoFit/>
          </a:bodyPr>
          <a:lstStyle/>
          <a:p>
            <a:pPr algn="l">
              <a:defRPr sz="1300" b="1">
                <a:solidFill>
                  <a:srgbClr val="FE8B00"/>
                </a:solidFill>
                <a:latin typeface="Aptos"/>
              </a:defRPr>
            </a:pPr>
            <a:r>
              <a:t>Agent Usage in Practice</a:t>
            </a:r>
          </a:p>
        </p:txBody>
      </p:sp>
      <p:sp>
        <p:nvSpPr>
          <p:cNvPr id="17" name="TextBox 16"/>
          <p:cNvSpPr txBox="1"/>
          <p:nvPr/>
        </p:nvSpPr>
        <p:spPr>
          <a:xfrm>
            <a:off x="914400" y="2688336"/>
            <a:ext cx="5029200" cy="228600"/>
          </a:xfrm>
          <a:prstGeom prst="rect">
            <a:avLst/>
          </a:prstGeom>
          <a:noFill/>
        </p:spPr>
        <p:txBody>
          <a:bodyPr wrap="square">
            <a:spAutoFit/>
          </a:bodyPr>
          <a:lstStyle/>
          <a:p>
            <a:pPr algn="l">
              <a:defRPr sz="900" b="0">
                <a:solidFill>
                  <a:srgbClr val="666666"/>
                </a:solidFill>
                <a:latin typeface="Aptos"/>
              </a:defRPr>
            </a:pPr>
            <a:r>
              <a:t>Switching agents, execution patterns</a:t>
            </a:r>
          </a:p>
        </p:txBody>
      </p:sp>
      <p:sp>
        <p:nvSpPr>
          <p:cNvPr id="18" name="Oval 17"/>
          <p:cNvSpPr/>
          <p:nvPr/>
        </p:nvSpPr>
        <p:spPr>
          <a:xfrm>
            <a:off x="6217920" y="2450592"/>
            <a:ext cx="347472" cy="347472"/>
          </a:xfrm>
          <a:prstGeom prst="ellipse">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06</a:t>
            </a:r>
          </a:p>
        </p:txBody>
      </p:sp>
      <p:sp>
        <p:nvSpPr>
          <p:cNvPr id="19" name="TextBox 18"/>
          <p:cNvSpPr txBox="1"/>
          <p:nvPr/>
        </p:nvSpPr>
        <p:spPr>
          <a:xfrm>
            <a:off x="6675120" y="2432304"/>
            <a:ext cx="5029200" cy="256032"/>
          </a:xfrm>
          <a:prstGeom prst="rect">
            <a:avLst/>
          </a:prstGeom>
          <a:noFill/>
        </p:spPr>
        <p:txBody>
          <a:bodyPr wrap="square">
            <a:spAutoFit/>
          </a:bodyPr>
          <a:lstStyle/>
          <a:p>
            <a:pPr algn="l">
              <a:defRPr sz="1300" b="1">
                <a:solidFill>
                  <a:srgbClr val="D83B02"/>
                </a:solidFill>
                <a:latin typeface="Aptos"/>
              </a:defRPr>
            </a:pPr>
            <a:r>
              <a:t>Creating New Agents</a:t>
            </a:r>
          </a:p>
        </p:txBody>
      </p:sp>
      <p:sp>
        <p:nvSpPr>
          <p:cNvPr id="20" name="TextBox 19"/>
          <p:cNvSpPr txBox="1"/>
          <p:nvPr/>
        </p:nvSpPr>
        <p:spPr>
          <a:xfrm>
            <a:off x="6675120" y="2688336"/>
            <a:ext cx="5029200" cy="228600"/>
          </a:xfrm>
          <a:prstGeom prst="rect">
            <a:avLst/>
          </a:prstGeom>
          <a:noFill/>
        </p:spPr>
        <p:txBody>
          <a:bodyPr wrap="square">
            <a:spAutoFit/>
          </a:bodyPr>
          <a:lstStyle/>
          <a:p>
            <a:pPr algn="l">
              <a:defRPr sz="900" b="0">
                <a:solidFill>
                  <a:srgbClr val="666666"/>
                </a:solidFill>
                <a:latin typeface="Aptos"/>
              </a:defRPr>
            </a:pPr>
            <a:r>
              <a:t>When to create, how to keep generic</a:t>
            </a:r>
          </a:p>
        </p:txBody>
      </p:sp>
      <p:sp>
        <p:nvSpPr>
          <p:cNvPr id="21" name="Oval 20"/>
          <p:cNvSpPr/>
          <p:nvPr/>
        </p:nvSpPr>
        <p:spPr>
          <a:xfrm>
            <a:off x="457200" y="3163824"/>
            <a:ext cx="347472" cy="347472"/>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07</a:t>
            </a:r>
          </a:p>
        </p:txBody>
      </p:sp>
      <p:sp>
        <p:nvSpPr>
          <p:cNvPr id="22" name="TextBox 21"/>
          <p:cNvSpPr txBox="1"/>
          <p:nvPr/>
        </p:nvSpPr>
        <p:spPr>
          <a:xfrm>
            <a:off x="914400" y="3145536"/>
            <a:ext cx="5029200" cy="256032"/>
          </a:xfrm>
          <a:prstGeom prst="rect">
            <a:avLst/>
          </a:prstGeom>
          <a:noFill/>
        </p:spPr>
        <p:txBody>
          <a:bodyPr wrap="square">
            <a:spAutoFit/>
          </a:bodyPr>
          <a:lstStyle/>
          <a:p>
            <a:pPr algn="l">
              <a:defRPr sz="1300" b="1">
                <a:solidFill>
                  <a:srgbClr val="0178D4"/>
                </a:solidFill>
                <a:latin typeface="Aptos"/>
              </a:defRPr>
            </a:pPr>
            <a:r>
              <a:t>Publishing &amp; Sharing</a:t>
            </a:r>
          </a:p>
        </p:txBody>
      </p:sp>
      <p:sp>
        <p:nvSpPr>
          <p:cNvPr id="23" name="TextBox 22"/>
          <p:cNvSpPr txBox="1"/>
          <p:nvPr/>
        </p:nvSpPr>
        <p:spPr>
          <a:xfrm>
            <a:off x="914400" y="3401568"/>
            <a:ext cx="5029200" cy="228600"/>
          </a:xfrm>
          <a:prstGeom prst="rect">
            <a:avLst/>
          </a:prstGeom>
          <a:noFill/>
        </p:spPr>
        <p:txBody>
          <a:bodyPr wrap="square">
            <a:spAutoFit/>
          </a:bodyPr>
          <a:lstStyle/>
          <a:p>
            <a:pPr algn="l">
              <a:defRPr sz="900" b="0">
                <a:solidFill>
                  <a:srgbClr val="666666"/>
                </a:solidFill>
                <a:latin typeface="Aptos"/>
              </a:defRPr>
            </a:pPr>
            <a:r>
              <a:t>Submit, validate, version, catalog</a:t>
            </a:r>
          </a:p>
        </p:txBody>
      </p:sp>
      <p:sp>
        <p:nvSpPr>
          <p:cNvPr id="24" name="Oval 23"/>
          <p:cNvSpPr/>
          <p:nvPr/>
        </p:nvSpPr>
        <p:spPr>
          <a:xfrm>
            <a:off x="6217920" y="3163824"/>
            <a:ext cx="347472" cy="347472"/>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08</a:t>
            </a:r>
          </a:p>
        </p:txBody>
      </p:sp>
      <p:sp>
        <p:nvSpPr>
          <p:cNvPr id="25" name="TextBox 24"/>
          <p:cNvSpPr txBox="1"/>
          <p:nvPr/>
        </p:nvSpPr>
        <p:spPr>
          <a:xfrm>
            <a:off x="6675120" y="3145536"/>
            <a:ext cx="5029200" cy="256032"/>
          </a:xfrm>
          <a:prstGeom prst="rect">
            <a:avLst/>
          </a:prstGeom>
          <a:noFill/>
        </p:spPr>
        <p:txBody>
          <a:bodyPr wrap="square">
            <a:spAutoFit/>
          </a:bodyPr>
          <a:lstStyle/>
          <a:p>
            <a:pPr algn="l">
              <a:defRPr sz="1300" b="1">
                <a:solidFill>
                  <a:srgbClr val="463668"/>
                </a:solidFill>
                <a:latin typeface="Aptos"/>
              </a:defRPr>
            </a:pPr>
            <a:r>
              <a:t>Agent to Skill Transformation</a:t>
            </a:r>
          </a:p>
        </p:txBody>
      </p:sp>
      <p:sp>
        <p:nvSpPr>
          <p:cNvPr id="26" name="TextBox 25"/>
          <p:cNvSpPr txBox="1"/>
          <p:nvPr/>
        </p:nvSpPr>
        <p:spPr>
          <a:xfrm>
            <a:off x="6675120" y="3401568"/>
            <a:ext cx="5029200" cy="228600"/>
          </a:xfrm>
          <a:prstGeom prst="rect">
            <a:avLst/>
          </a:prstGeom>
          <a:noFill/>
        </p:spPr>
        <p:txBody>
          <a:bodyPr wrap="square">
            <a:spAutoFit/>
          </a:bodyPr>
          <a:lstStyle/>
          <a:p>
            <a:pPr algn="l">
              <a:defRPr sz="900" b="0">
                <a:solidFill>
                  <a:srgbClr val="666666"/>
                </a:solidFill>
                <a:latin typeface="Aptos"/>
              </a:defRPr>
            </a:pPr>
            <a:r>
              <a:t>Compounding knowledge over time</a:t>
            </a:r>
          </a:p>
        </p:txBody>
      </p:sp>
      <p:sp>
        <p:nvSpPr>
          <p:cNvPr id="27" name="Oval 26"/>
          <p:cNvSpPr/>
          <p:nvPr/>
        </p:nvSpPr>
        <p:spPr>
          <a:xfrm>
            <a:off x="457200" y="3877056"/>
            <a:ext cx="347472" cy="347472"/>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09</a:t>
            </a:r>
          </a:p>
        </p:txBody>
      </p:sp>
      <p:sp>
        <p:nvSpPr>
          <p:cNvPr id="28" name="TextBox 27"/>
          <p:cNvSpPr txBox="1"/>
          <p:nvPr/>
        </p:nvSpPr>
        <p:spPr>
          <a:xfrm>
            <a:off x="914400" y="3858768"/>
            <a:ext cx="5029200" cy="256032"/>
          </a:xfrm>
          <a:prstGeom prst="rect">
            <a:avLst/>
          </a:prstGeom>
          <a:noFill/>
        </p:spPr>
        <p:txBody>
          <a:bodyPr wrap="square">
            <a:spAutoFit/>
          </a:bodyPr>
          <a:lstStyle/>
          <a:p>
            <a:pPr algn="l">
              <a:defRPr sz="1300" b="1">
                <a:solidFill>
                  <a:srgbClr val="225B62"/>
                </a:solidFill>
                <a:latin typeface="Aptos"/>
              </a:defRPr>
            </a:pPr>
            <a:r>
              <a:t>Accelerate Factory Mapping</a:t>
            </a:r>
          </a:p>
        </p:txBody>
      </p:sp>
      <p:sp>
        <p:nvSpPr>
          <p:cNvPr id="29" name="TextBox 28"/>
          <p:cNvSpPr txBox="1"/>
          <p:nvPr/>
        </p:nvSpPr>
        <p:spPr>
          <a:xfrm>
            <a:off x="914400" y="4114800"/>
            <a:ext cx="5029200" cy="228600"/>
          </a:xfrm>
          <a:prstGeom prst="rect">
            <a:avLst/>
          </a:prstGeom>
          <a:noFill/>
        </p:spPr>
        <p:txBody>
          <a:bodyPr wrap="square">
            <a:spAutoFit/>
          </a:bodyPr>
          <a:lstStyle/>
          <a:p>
            <a:pPr algn="l">
              <a:defRPr sz="900" b="0">
                <a:solidFill>
                  <a:srgbClr val="666666"/>
                </a:solidFill>
                <a:latin typeface="Aptos"/>
              </a:defRPr>
            </a:pPr>
            <a:r>
              <a:t>Agents at every phase</a:t>
            </a:r>
          </a:p>
        </p:txBody>
      </p:sp>
      <p:sp>
        <p:nvSpPr>
          <p:cNvPr id="30" name="Oval 29"/>
          <p:cNvSpPr/>
          <p:nvPr/>
        </p:nvSpPr>
        <p:spPr>
          <a:xfrm>
            <a:off x="6217920" y="3877056"/>
            <a:ext cx="347472" cy="347472"/>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10</a:t>
            </a:r>
          </a:p>
        </p:txBody>
      </p:sp>
      <p:sp>
        <p:nvSpPr>
          <p:cNvPr id="31" name="TextBox 30"/>
          <p:cNvSpPr txBox="1"/>
          <p:nvPr/>
        </p:nvSpPr>
        <p:spPr>
          <a:xfrm>
            <a:off x="6675120" y="3858768"/>
            <a:ext cx="5029200" cy="256032"/>
          </a:xfrm>
          <a:prstGeom prst="rect">
            <a:avLst/>
          </a:prstGeom>
          <a:noFill/>
        </p:spPr>
        <p:txBody>
          <a:bodyPr wrap="square">
            <a:spAutoFit/>
          </a:bodyPr>
          <a:lstStyle/>
          <a:p>
            <a:pPr algn="l">
              <a:defRPr sz="1300" b="1">
                <a:solidFill>
                  <a:srgbClr val="00B050"/>
                </a:solidFill>
                <a:latin typeface="Aptos"/>
              </a:defRPr>
            </a:pPr>
            <a:r>
              <a:t>Reducing Manual Work</a:t>
            </a:r>
          </a:p>
        </p:txBody>
      </p:sp>
      <p:sp>
        <p:nvSpPr>
          <p:cNvPr id="32" name="TextBox 31"/>
          <p:cNvSpPr txBox="1"/>
          <p:nvPr/>
        </p:nvSpPr>
        <p:spPr>
          <a:xfrm>
            <a:off x="6675120" y="4114800"/>
            <a:ext cx="5029200" cy="228600"/>
          </a:xfrm>
          <a:prstGeom prst="rect">
            <a:avLst/>
          </a:prstGeom>
          <a:noFill/>
        </p:spPr>
        <p:txBody>
          <a:bodyPr wrap="square">
            <a:spAutoFit/>
          </a:bodyPr>
          <a:lstStyle/>
          <a:p>
            <a:pPr algn="l">
              <a:defRPr sz="900" b="0">
                <a:solidFill>
                  <a:srgbClr val="666666"/>
                </a:solidFill>
                <a:latin typeface="Aptos"/>
              </a:defRPr>
            </a:pPr>
            <a:r>
              <a:t>Replace meetings with automation</a:t>
            </a:r>
          </a:p>
        </p:txBody>
      </p:sp>
      <p:sp>
        <p:nvSpPr>
          <p:cNvPr id="33" name="Oval 32"/>
          <p:cNvSpPr/>
          <p:nvPr/>
        </p:nvSpPr>
        <p:spPr>
          <a:xfrm>
            <a:off x="457200" y="4590288"/>
            <a:ext cx="347472" cy="347472"/>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11</a:t>
            </a:r>
          </a:p>
        </p:txBody>
      </p:sp>
      <p:sp>
        <p:nvSpPr>
          <p:cNvPr id="34" name="TextBox 33"/>
          <p:cNvSpPr txBox="1"/>
          <p:nvPr/>
        </p:nvSpPr>
        <p:spPr>
          <a:xfrm>
            <a:off x="914400" y="4572000"/>
            <a:ext cx="5029200" cy="256032"/>
          </a:xfrm>
          <a:prstGeom prst="rect">
            <a:avLst/>
          </a:prstGeom>
          <a:noFill/>
        </p:spPr>
        <p:txBody>
          <a:bodyPr wrap="square">
            <a:spAutoFit/>
          </a:bodyPr>
          <a:lstStyle/>
          <a:p>
            <a:pPr algn="l">
              <a:defRPr sz="1300" b="1">
                <a:solidFill>
                  <a:srgbClr val="FE8B00"/>
                </a:solidFill>
                <a:latin typeface="Aptos"/>
              </a:defRPr>
            </a:pPr>
            <a:r>
              <a:t>SNAP Capability Model</a:t>
            </a:r>
          </a:p>
        </p:txBody>
      </p:sp>
      <p:sp>
        <p:nvSpPr>
          <p:cNvPr id="35" name="TextBox 34"/>
          <p:cNvSpPr txBox="1"/>
          <p:nvPr/>
        </p:nvSpPr>
        <p:spPr>
          <a:xfrm>
            <a:off x="914400" y="4828032"/>
            <a:ext cx="5029200" cy="228600"/>
          </a:xfrm>
          <a:prstGeom prst="rect">
            <a:avLst/>
          </a:prstGeom>
          <a:noFill/>
        </p:spPr>
        <p:txBody>
          <a:bodyPr wrap="square">
            <a:spAutoFit/>
          </a:bodyPr>
          <a:lstStyle/>
          <a:p>
            <a:pPr algn="l">
              <a:defRPr sz="900" b="0">
                <a:solidFill>
                  <a:srgbClr val="666666"/>
                </a:solidFill>
                <a:latin typeface="Aptos"/>
              </a:defRPr>
            </a:pPr>
            <a:r>
              <a:t>Request capabilities, not people</a:t>
            </a:r>
          </a:p>
        </p:txBody>
      </p:sp>
      <p:sp>
        <p:nvSpPr>
          <p:cNvPr id="36" name="Oval 35"/>
          <p:cNvSpPr/>
          <p:nvPr/>
        </p:nvSpPr>
        <p:spPr>
          <a:xfrm>
            <a:off x="6217920" y="4590288"/>
            <a:ext cx="347472" cy="347472"/>
          </a:xfrm>
          <a:prstGeom prst="ellipse">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12</a:t>
            </a:r>
          </a:p>
        </p:txBody>
      </p:sp>
      <p:sp>
        <p:nvSpPr>
          <p:cNvPr id="37" name="TextBox 36"/>
          <p:cNvSpPr txBox="1"/>
          <p:nvPr/>
        </p:nvSpPr>
        <p:spPr>
          <a:xfrm>
            <a:off x="6675120" y="4572000"/>
            <a:ext cx="5029200" cy="256032"/>
          </a:xfrm>
          <a:prstGeom prst="rect">
            <a:avLst/>
          </a:prstGeom>
          <a:noFill/>
        </p:spPr>
        <p:txBody>
          <a:bodyPr wrap="square">
            <a:spAutoFit/>
          </a:bodyPr>
          <a:lstStyle/>
          <a:p>
            <a:pPr algn="l">
              <a:defRPr sz="1300" b="1">
                <a:solidFill>
                  <a:srgbClr val="D83B02"/>
                </a:solidFill>
                <a:latin typeface="Aptos"/>
              </a:defRPr>
            </a:pPr>
            <a:r>
              <a:t>Governance &amp; Security</a:t>
            </a:r>
          </a:p>
        </p:txBody>
      </p:sp>
      <p:sp>
        <p:nvSpPr>
          <p:cNvPr id="38" name="TextBox 37"/>
          <p:cNvSpPr txBox="1"/>
          <p:nvPr/>
        </p:nvSpPr>
        <p:spPr>
          <a:xfrm>
            <a:off x="6675120" y="4828032"/>
            <a:ext cx="5029200" cy="228600"/>
          </a:xfrm>
          <a:prstGeom prst="rect">
            <a:avLst/>
          </a:prstGeom>
          <a:noFill/>
        </p:spPr>
        <p:txBody>
          <a:bodyPr wrap="square">
            <a:spAutoFit/>
          </a:bodyPr>
          <a:lstStyle/>
          <a:p>
            <a:pPr algn="l">
              <a:defRPr sz="900" b="0">
                <a:solidFill>
                  <a:srgbClr val="666666"/>
                </a:solidFill>
                <a:latin typeface="Aptos"/>
              </a:defRPr>
            </a:pPr>
            <a:r>
              <a:t>Data rules, audit, compliance</a:t>
            </a:r>
          </a:p>
        </p:txBody>
      </p:sp>
      <p:sp>
        <p:nvSpPr>
          <p:cNvPr id="39" name="Oval 38"/>
          <p:cNvSpPr/>
          <p:nvPr/>
        </p:nvSpPr>
        <p:spPr>
          <a:xfrm>
            <a:off x="457200" y="5303519"/>
            <a:ext cx="347472" cy="347472"/>
          </a:xfrm>
          <a:prstGeom prst="ellipse">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13</a:t>
            </a:r>
          </a:p>
        </p:txBody>
      </p:sp>
      <p:sp>
        <p:nvSpPr>
          <p:cNvPr id="40" name="TextBox 39"/>
          <p:cNvSpPr txBox="1"/>
          <p:nvPr/>
        </p:nvSpPr>
        <p:spPr>
          <a:xfrm>
            <a:off x="914400" y="5285231"/>
            <a:ext cx="5029200" cy="256032"/>
          </a:xfrm>
          <a:prstGeom prst="rect">
            <a:avLst/>
          </a:prstGeom>
          <a:noFill/>
        </p:spPr>
        <p:txBody>
          <a:bodyPr wrap="square">
            <a:spAutoFit/>
          </a:bodyPr>
          <a:lstStyle/>
          <a:p>
            <a:pPr algn="l">
              <a:defRPr sz="1300" b="1">
                <a:solidFill>
                  <a:srgbClr val="00BCF2"/>
                </a:solidFill>
                <a:latin typeface="Aptos"/>
              </a:defRPr>
            </a:pPr>
            <a:r>
              <a:t>Continuous Improvement</a:t>
            </a:r>
          </a:p>
        </p:txBody>
      </p:sp>
      <p:sp>
        <p:nvSpPr>
          <p:cNvPr id="41" name="TextBox 40"/>
          <p:cNvSpPr txBox="1"/>
          <p:nvPr/>
        </p:nvSpPr>
        <p:spPr>
          <a:xfrm>
            <a:off x="914400" y="5541263"/>
            <a:ext cx="5029200" cy="228600"/>
          </a:xfrm>
          <a:prstGeom prst="rect">
            <a:avLst/>
          </a:prstGeom>
          <a:noFill/>
        </p:spPr>
        <p:txBody>
          <a:bodyPr wrap="square">
            <a:spAutoFit/>
          </a:bodyPr>
          <a:lstStyle/>
          <a:p>
            <a:pPr algn="l">
              <a:defRPr sz="900" b="0">
                <a:solidFill>
                  <a:srgbClr val="666666"/>
                </a:solidFill>
                <a:latin typeface="Aptos"/>
              </a:defRPr>
            </a:pPr>
            <a:r>
              <a:t>Capture, update, grow the library</a:t>
            </a:r>
          </a:p>
        </p:txBody>
      </p:sp>
      <p:sp>
        <p:nvSpPr>
          <p:cNvPr id="42" name="TextBox 41"/>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43" name="TextBox 4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01  Central Squad Setup</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Central Squad is the control plane. It owns all shared assets, standards, and institutional memory.</a:t>
            </a:r>
          </a:p>
        </p:txBody>
      </p:sp>
      <p:sp>
        <p:nvSpPr>
          <p:cNvPr id="4" name="Rounded Rectangle 3"/>
          <p:cNvSpPr/>
          <p:nvPr/>
        </p:nvSpPr>
        <p:spPr>
          <a:xfrm>
            <a:off x="365760" y="1417320"/>
            <a:ext cx="2697480" cy="329184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417320"/>
            <a:ext cx="2697480" cy="45720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2423160" cy="320040"/>
          </a:xfrm>
          <a:prstGeom prst="rect">
            <a:avLst/>
          </a:prstGeom>
          <a:noFill/>
        </p:spPr>
        <p:txBody>
          <a:bodyPr wrap="square">
            <a:spAutoFit/>
          </a:bodyPr>
          <a:lstStyle/>
          <a:p>
            <a:pPr algn="l">
              <a:defRPr sz="1400" b="1">
                <a:solidFill>
                  <a:srgbClr val="FFFFFF"/>
                </a:solidFill>
                <a:latin typeface="Aptos"/>
              </a:defRPr>
            </a:pPr>
            <a:r>
              <a:t>Agent Library</a:t>
            </a:r>
          </a:p>
        </p:txBody>
      </p:sp>
      <p:sp>
        <p:nvSpPr>
          <p:cNvPr id="7" name="TextBox 6"/>
          <p:cNvSpPr txBox="1"/>
          <p:nvPr/>
        </p:nvSpPr>
        <p:spPr>
          <a:xfrm>
            <a:off x="502920" y="2057400"/>
            <a:ext cx="2423160" cy="411480"/>
          </a:xfrm>
          <a:prstGeom prst="rect">
            <a:avLst/>
          </a:prstGeom>
          <a:noFill/>
        </p:spPr>
        <p:txBody>
          <a:bodyPr wrap="square">
            <a:spAutoFit/>
          </a:bodyPr>
          <a:lstStyle/>
          <a:p>
            <a:pPr algn="l">
              <a:defRPr sz="900" b="0">
                <a:solidFill>
                  <a:srgbClr val="333333"/>
                </a:solidFill>
                <a:latin typeface="Aptos"/>
              </a:defRPr>
            </a:pPr>
            <a:r>
              <a:t>  .squad/agents/&lt;name&gt;/charter.md</a:t>
            </a:r>
          </a:p>
        </p:txBody>
      </p:sp>
      <p:sp>
        <p:nvSpPr>
          <p:cNvPr id="8" name="TextBox 7"/>
          <p:cNvSpPr txBox="1"/>
          <p:nvPr/>
        </p:nvSpPr>
        <p:spPr>
          <a:xfrm>
            <a:off x="502920" y="2606039"/>
            <a:ext cx="2423160" cy="411480"/>
          </a:xfrm>
          <a:prstGeom prst="rect">
            <a:avLst/>
          </a:prstGeom>
          <a:noFill/>
        </p:spPr>
        <p:txBody>
          <a:bodyPr wrap="square">
            <a:spAutoFit/>
          </a:bodyPr>
          <a:lstStyle/>
          <a:p>
            <a:pPr algn="l">
              <a:defRPr sz="900" b="0">
                <a:solidFill>
                  <a:srgbClr val="333333"/>
                </a:solidFill>
                <a:latin typeface="Aptos"/>
              </a:defRPr>
            </a:pPr>
            <a:r>
              <a:t>  Identity, role, expertise, boundaries</a:t>
            </a:r>
          </a:p>
        </p:txBody>
      </p:sp>
      <p:sp>
        <p:nvSpPr>
          <p:cNvPr id="9" name="TextBox 8"/>
          <p:cNvSpPr txBox="1"/>
          <p:nvPr/>
        </p:nvSpPr>
        <p:spPr>
          <a:xfrm>
            <a:off x="502920" y="3154680"/>
            <a:ext cx="2423160" cy="411480"/>
          </a:xfrm>
          <a:prstGeom prst="rect">
            <a:avLst/>
          </a:prstGeom>
          <a:noFill/>
        </p:spPr>
        <p:txBody>
          <a:bodyPr wrap="square">
            <a:spAutoFit/>
          </a:bodyPr>
          <a:lstStyle/>
          <a:p>
            <a:pPr algn="l">
              <a:defRPr sz="900" b="0">
                <a:solidFill>
                  <a:srgbClr val="333333"/>
                </a:solidFill>
                <a:latin typeface="Aptos"/>
              </a:defRPr>
            </a:pPr>
            <a:r>
              <a:t>  Style guide per agent</a:t>
            </a:r>
          </a:p>
        </p:txBody>
      </p:sp>
      <p:sp>
        <p:nvSpPr>
          <p:cNvPr id="10" name="TextBox 9"/>
          <p:cNvSpPr txBox="1"/>
          <p:nvPr/>
        </p:nvSpPr>
        <p:spPr>
          <a:xfrm>
            <a:off x="502920" y="3703320"/>
            <a:ext cx="2423160" cy="411480"/>
          </a:xfrm>
          <a:prstGeom prst="rect">
            <a:avLst/>
          </a:prstGeom>
          <a:noFill/>
        </p:spPr>
        <p:txBody>
          <a:bodyPr wrap="square">
            <a:spAutoFit/>
          </a:bodyPr>
          <a:lstStyle/>
          <a:p>
            <a:pPr algn="l">
              <a:defRPr sz="900" b="0">
                <a:solidFill>
                  <a:srgbClr val="333333"/>
                </a:solidFill>
                <a:latin typeface="Aptos"/>
              </a:defRPr>
            </a:pPr>
            <a:r>
              <a:t>  Cross-agent handoff rules</a:t>
            </a:r>
          </a:p>
        </p:txBody>
      </p:sp>
      <p:sp>
        <p:nvSpPr>
          <p:cNvPr id="11" name="Rounded Rectangle 10"/>
          <p:cNvSpPr/>
          <p:nvPr/>
        </p:nvSpPr>
        <p:spPr>
          <a:xfrm>
            <a:off x="3246120" y="1417320"/>
            <a:ext cx="2697480" cy="329184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46120" y="1417320"/>
            <a:ext cx="2697480" cy="457200"/>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1481328"/>
            <a:ext cx="2423160" cy="320040"/>
          </a:xfrm>
          <a:prstGeom prst="rect">
            <a:avLst/>
          </a:prstGeom>
          <a:noFill/>
        </p:spPr>
        <p:txBody>
          <a:bodyPr wrap="square">
            <a:spAutoFit/>
          </a:bodyPr>
          <a:lstStyle/>
          <a:p>
            <a:pPr algn="l">
              <a:defRPr sz="1400" b="1">
                <a:solidFill>
                  <a:srgbClr val="FFFFFF"/>
                </a:solidFill>
                <a:latin typeface="Aptos"/>
              </a:defRPr>
            </a:pPr>
            <a:r>
              <a:t>Snap Presets</a:t>
            </a:r>
          </a:p>
        </p:txBody>
      </p:sp>
      <p:sp>
        <p:nvSpPr>
          <p:cNvPr id="14" name="TextBox 13"/>
          <p:cNvSpPr txBox="1"/>
          <p:nvPr/>
        </p:nvSpPr>
        <p:spPr>
          <a:xfrm>
            <a:off x="3383280" y="2057400"/>
            <a:ext cx="2423160" cy="411480"/>
          </a:xfrm>
          <a:prstGeom prst="rect">
            <a:avLst/>
          </a:prstGeom>
          <a:noFill/>
        </p:spPr>
        <p:txBody>
          <a:bodyPr wrap="square">
            <a:spAutoFit/>
          </a:bodyPr>
          <a:lstStyle/>
          <a:p>
            <a:pPr algn="l">
              <a:defRPr sz="900" b="0">
                <a:solidFill>
                  <a:srgbClr val="333333"/>
                </a:solidFill>
                <a:latin typeface="Aptos"/>
              </a:defRPr>
            </a:pPr>
            <a:r>
              <a:t>  .squad/presets/&lt;type&gt;/</a:t>
            </a:r>
          </a:p>
        </p:txBody>
      </p:sp>
      <p:sp>
        <p:nvSpPr>
          <p:cNvPr id="15" name="TextBox 14"/>
          <p:cNvSpPr txBox="1"/>
          <p:nvPr/>
        </p:nvSpPr>
        <p:spPr>
          <a:xfrm>
            <a:off x="3383280" y="2606039"/>
            <a:ext cx="2423160" cy="411480"/>
          </a:xfrm>
          <a:prstGeom prst="rect">
            <a:avLst/>
          </a:prstGeom>
          <a:noFill/>
        </p:spPr>
        <p:txBody>
          <a:bodyPr wrap="square">
            <a:spAutoFit/>
          </a:bodyPr>
          <a:lstStyle/>
          <a:p>
            <a:pPr algn="l">
              <a:defRPr sz="900" b="0">
                <a:solidFill>
                  <a:srgbClr val="333333"/>
                </a:solidFill>
                <a:latin typeface="Aptos"/>
              </a:defRPr>
            </a:pPr>
            <a:r>
              <a:t>  Team composition definitions</a:t>
            </a:r>
          </a:p>
        </p:txBody>
      </p:sp>
      <p:sp>
        <p:nvSpPr>
          <p:cNvPr id="16" name="TextBox 15"/>
          <p:cNvSpPr txBox="1"/>
          <p:nvPr/>
        </p:nvSpPr>
        <p:spPr>
          <a:xfrm>
            <a:off x="3383280" y="3154680"/>
            <a:ext cx="2423160" cy="411480"/>
          </a:xfrm>
          <a:prstGeom prst="rect">
            <a:avLst/>
          </a:prstGeom>
          <a:noFill/>
        </p:spPr>
        <p:txBody>
          <a:bodyPr wrap="square">
            <a:spAutoFit/>
          </a:bodyPr>
          <a:lstStyle/>
          <a:p>
            <a:pPr algn="l">
              <a:defRPr sz="900" b="0">
                <a:solidFill>
                  <a:srgbClr val="333333"/>
                </a:solidFill>
                <a:latin typeface="Aptos"/>
              </a:defRPr>
            </a:pPr>
            <a:r>
              <a:t>  Routing rules per preset</a:t>
            </a:r>
          </a:p>
        </p:txBody>
      </p:sp>
      <p:sp>
        <p:nvSpPr>
          <p:cNvPr id="17" name="TextBox 16"/>
          <p:cNvSpPr txBox="1"/>
          <p:nvPr/>
        </p:nvSpPr>
        <p:spPr>
          <a:xfrm>
            <a:off x="3383280" y="3703320"/>
            <a:ext cx="2423160" cy="411480"/>
          </a:xfrm>
          <a:prstGeom prst="rect">
            <a:avLst/>
          </a:prstGeom>
          <a:noFill/>
        </p:spPr>
        <p:txBody>
          <a:bodyPr wrap="square">
            <a:spAutoFit/>
          </a:bodyPr>
          <a:lstStyle/>
          <a:p>
            <a:pPr algn="l">
              <a:defRPr sz="900" b="0">
                <a:solidFill>
                  <a:srgbClr val="333333"/>
                </a:solidFill>
                <a:latin typeface="Aptos"/>
              </a:defRPr>
            </a:pPr>
            <a:r>
              <a:t>  Memory templates (CLAUDE.md)</a:t>
            </a:r>
          </a:p>
        </p:txBody>
      </p:sp>
      <p:sp>
        <p:nvSpPr>
          <p:cNvPr id="18" name="Rounded Rectangle 17"/>
          <p:cNvSpPr/>
          <p:nvPr/>
        </p:nvSpPr>
        <p:spPr>
          <a:xfrm>
            <a:off x="6126480" y="1417320"/>
            <a:ext cx="2697480" cy="329184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417320"/>
            <a:ext cx="2697480" cy="457200"/>
          </a:xfrm>
          <a:prstGeom prst="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481328"/>
            <a:ext cx="2423160" cy="320040"/>
          </a:xfrm>
          <a:prstGeom prst="rect">
            <a:avLst/>
          </a:prstGeom>
          <a:noFill/>
        </p:spPr>
        <p:txBody>
          <a:bodyPr wrap="square">
            <a:spAutoFit/>
          </a:bodyPr>
          <a:lstStyle/>
          <a:p>
            <a:pPr algn="l">
              <a:defRPr sz="1400" b="1">
                <a:solidFill>
                  <a:srgbClr val="FFFFFF"/>
                </a:solidFill>
                <a:latin typeface="Aptos"/>
              </a:defRPr>
            </a:pPr>
            <a:r>
              <a:t>Patterns &amp; Templates</a:t>
            </a:r>
          </a:p>
        </p:txBody>
      </p:sp>
      <p:sp>
        <p:nvSpPr>
          <p:cNvPr id="21" name="TextBox 20"/>
          <p:cNvSpPr txBox="1"/>
          <p:nvPr/>
        </p:nvSpPr>
        <p:spPr>
          <a:xfrm>
            <a:off x="6263640" y="2057400"/>
            <a:ext cx="2423160" cy="411480"/>
          </a:xfrm>
          <a:prstGeom prst="rect">
            <a:avLst/>
          </a:prstGeom>
          <a:noFill/>
        </p:spPr>
        <p:txBody>
          <a:bodyPr wrap="square">
            <a:spAutoFit/>
          </a:bodyPr>
          <a:lstStyle/>
          <a:p>
            <a:pPr algn="l">
              <a:defRPr sz="900" b="0">
                <a:solidFill>
                  <a:srgbClr val="333333"/>
                </a:solidFill>
                <a:latin typeface="Aptos"/>
              </a:defRPr>
            </a:pPr>
            <a:r>
              <a:t>  Bicep / Terraform modules</a:t>
            </a:r>
          </a:p>
        </p:txBody>
      </p:sp>
      <p:sp>
        <p:nvSpPr>
          <p:cNvPr id="22" name="TextBox 21"/>
          <p:cNvSpPr txBox="1"/>
          <p:nvPr/>
        </p:nvSpPr>
        <p:spPr>
          <a:xfrm>
            <a:off x="6263640" y="2606039"/>
            <a:ext cx="2423160" cy="411480"/>
          </a:xfrm>
          <a:prstGeom prst="rect">
            <a:avLst/>
          </a:prstGeom>
          <a:noFill/>
        </p:spPr>
        <p:txBody>
          <a:bodyPr wrap="square">
            <a:spAutoFit/>
          </a:bodyPr>
          <a:lstStyle/>
          <a:p>
            <a:pPr algn="l">
              <a:defRPr sz="900" b="0">
                <a:solidFill>
                  <a:srgbClr val="333333"/>
                </a:solidFill>
                <a:latin typeface="Aptos"/>
              </a:defRPr>
            </a:pPr>
            <a:r>
              <a:t>  CI/CD pipeline templates</a:t>
            </a:r>
          </a:p>
        </p:txBody>
      </p:sp>
      <p:sp>
        <p:nvSpPr>
          <p:cNvPr id="23" name="TextBox 22"/>
          <p:cNvSpPr txBox="1"/>
          <p:nvPr/>
        </p:nvSpPr>
        <p:spPr>
          <a:xfrm>
            <a:off x="6263640" y="3154680"/>
            <a:ext cx="2423160" cy="411480"/>
          </a:xfrm>
          <a:prstGeom prst="rect">
            <a:avLst/>
          </a:prstGeom>
          <a:noFill/>
        </p:spPr>
        <p:txBody>
          <a:bodyPr wrap="square">
            <a:spAutoFit/>
          </a:bodyPr>
          <a:lstStyle/>
          <a:p>
            <a:pPr algn="l">
              <a:defRPr sz="900" b="0">
                <a:solidFill>
                  <a:srgbClr val="333333"/>
                </a:solidFill>
                <a:latin typeface="Aptos"/>
              </a:defRPr>
            </a:pPr>
            <a:r>
              <a:t>  Test frameworks and fixtures</a:t>
            </a:r>
          </a:p>
        </p:txBody>
      </p:sp>
      <p:sp>
        <p:nvSpPr>
          <p:cNvPr id="24" name="TextBox 23"/>
          <p:cNvSpPr txBox="1"/>
          <p:nvPr/>
        </p:nvSpPr>
        <p:spPr>
          <a:xfrm>
            <a:off x="6263640" y="3703320"/>
            <a:ext cx="2423160" cy="411480"/>
          </a:xfrm>
          <a:prstGeom prst="rect">
            <a:avLst/>
          </a:prstGeom>
          <a:noFill/>
        </p:spPr>
        <p:txBody>
          <a:bodyPr wrap="square">
            <a:spAutoFit/>
          </a:bodyPr>
          <a:lstStyle/>
          <a:p>
            <a:pPr algn="l">
              <a:defRPr sz="900" b="0">
                <a:solidFill>
                  <a:srgbClr val="333333"/>
                </a:solidFill>
                <a:latin typeface="Aptos"/>
              </a:defRPr>
            </a:pPr>
            <a:r>
              <a:t>  Architecture decision records</a:t>
            </a:r>
          </a:p>
        </p:txBody>
      </p:sp>
      <p:sp>
        <p:nvSpPr>
          <p:cNvPr id="25" name="Rounded Rectangle 24"/>
          <p:cNvSpPr/>
          <p:nvPr/>
        </p:nvSpPr>
        <p:spPr>
          <a:xfrm>
            <a:off x="9006840" y="1417320"/>
            <a:ext cx="2697480" cy="329184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06840" y="1417320"/>
            <a:ext cx="269748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0" y="1481328"/>
            <a:ext cx="2423160" cy="320040"/>
          </a:xfrm>
          <a:prstGeom prst="rect">
            <a:avLst/>
          </a:prstGeom>
          <a:noFill/>
        </p:spPr>
        <p:txBody>
          <a:bodyPr wrap="square">
            <a:spAutoFit/>
          </a:bodyPr>
          <a:lstStyle/>
          <a:p>
            <a:pPr algn="l">
              <a:defRPr sz="1400" b="1">
                <a:solidFill>
                  <a:srgbClr val="FFFFFF"/>
                </a:solidFill>
                <a:latin typeface="Aptos"/>
              </a:defRPr>
            </a:pPr>
            <a:r>
              <a:t>Shared Memory</a:t>
            </a:r>
          </a:p>
        </p:txBody>
      </p:sp>
      <p:sp>
        <p:nvSpPr>
          <p:cNvPr id="28" name="TextBox 27"/>
          <p:cNvSpPr txBox="1"/>
          <p:nvPr/>
        </p:nvSpPr>
        <p:spPr>
          <a:xfrm>
            <a:off x="9144000" y="2057400"/>
            <a:ext cx="2423160" cy="411480"/>
          </a:xfrm>
          <a:prstGeom prst="rect">
            <a:avLst/>
          </a:prstGeom>
          <a:noFill/>
        </p:spPr>
        <p:txBody>
          <a:bodyPr wrap="square">
            <a:spAutoFit/>
          </a:bodyPr>
          <a:lstStyle/>
          <a:p>
            <a:pPr algn="l">
              <a:defRPr sz="900" b="0">
                <a:solidFill>
                  <a:srgbClr val="333333"/>
                </a:solidFill>
                <a:latin typeface="Aptos"/>
              </a:defRPr>
            </a:pPr>
            <a:r>
              <a:t>  .squad/decisions.md (active)</a:t>
            </a:r>
          </a:p>
        </p:txBody>
      </p:sp>
      <p:sp>
        <p:nvSpPr>
          <p:cNvPr id="29" name="TextBox 28"/>
          <p:cNvSpPr txBox="1"/>
          <p:nvPr/>
        </p:nvSpPr>
        <p:spPr>
          <a:xfrm>
            <a:off x="9144000" y="2606039"/>
            <a:ext cx="2423160" cy="411480"/>
          </a:xfrm>
          <a:prstGeom prst="rect">
            <a:avLst/>
          </a:prstGeom>
          <a:noFill/>
        </p:spPr>
        <p:txBody>
          <a:bodyPr wrap="square">
            <a:spAutoFit/>
          </a:bodyPr>
          <a:lstStyle/>
          <a:p>
            <a:pPr algn="l">
              <a:defRPr sz="900" b="0">
                <a:solidFill>
                  <a:srgbClr val="333333"/>
                </a:solidFill>
                <a:latin typeface="Aptos"/>
              </a:defRPr>
            </a:pPr>
            <a:r>
              <a:t>  JOURNAL.md (build history)</a:t>
            </a:r>
          </a:p>
        </p:txBody>
      </p:sp>
      <p:sp>
        <p:nvSpPr>
          <p:cNvPr id="30" name="TextBox 29"/>
          <p:cNvSpPr txBox="1"/>
          <p:nvPr/>
        </p:nvSpPr>
        <p:spPr>
          <a:xfrm>
            <a:off x="9144000" y="3154680"/>
            <a:ext cx="2423160" cy="411480"/>
          </a:xfrm>
          <a:prstGeom prst="rect">
            <a:avLst/>
          </a:prstGeom>
          <a:noFill/>
        </p:spPr>
        <p:txBody>
          <a:bodyPr wrap="square">
            <a:spAutoFit/>
          </a:bodyPr>
          <a:lstStyle/>
          <a:p>
            <a:pPr algn="l">
              <a:defRPr sz="900" b="0">
                <a:solidFill>
                  <a:srgbClr val="333333"/>
                </a:solidFill>
                <a:latin typeface="Aptos"/>
              </a:defRPr>
            </a:pPr>
            <a:r>
              <a:t>  Lessons learned per engagement</a:t>
            </a:r>
          </a:p>
        </p:txBody>
      </p:sp>
      <p:sp>
        <p:nvSpPr>
          <p:cNvPr id="31" name="TextBox 30"/>
          <p:cNvSpPr txBox="1"/>
          <p:nvPr/>
        </p:nvSpPr>
        <p:spPr>
          <a:xfrm>
            <a:off x="9144000" y="3703320"/>
            <a:ext cx="2423160" cy="411480"/>
          </a:xfrm>
          <a:prstGeom prst="rect">
            <a:avLst/>
          </a:prstGeom>
          <a:noFill/>
        </p:spPr>
        <p:txBody>
          <a:bodyPr wrap="square">
            <a:spAutoFit/>
          </a:bodyPr>
          <a:lstStyle/>
          <a:p>
            <a:pPr algn="l">
              <a:defRPr sz="900" b="0">
                <a:solidFill>
                  <a:srgbClr val="333333"/>
                </a:solidFill>
                <a:latin typeface="Aptos"/>
              </a:defRPr>
            </a:pPr>
            <a:r>
              <a:t>  Cross-team knowledge base</a:t>
            </a:r>
          </a:p>
        </p:txBody>
      </p:sp>
      <p:sp>
        <p:nvSpPr>
          <p:cNvPr id="32" name="Rounded Rectangle 31"/>
          <p:cNvSpPr/>
          <p:nvPr/>
        </p:nvSpPr>
        <p:spPr>
          <a:xfrm>
            <a:off x="365760" y="4937760"/>
            <a:ext cx="11430000" cy="3200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4956048"/>
            <a:ext cx="10972800" cy="274320"/>
          </a:xfrm>
          <a:prstGeom prst="rect">
            <a:avLst/>
          </a:prstGeom>
          <a:noFill/>
        </p:spPr>
        <p:txBody>
          <a:bodyPr wrap="square">
            <a:spAutoFit/>
          </a:bodyPr>
          <a:lstStyle/>
          <a:p>
            <a:pPr algn="l">
              <a:defRPr sz="1000" b="1">
                <a:solidFill>
                  <a:srgbClr val="FFFFFF"/>
                </a:solidFill>
                <a:latin typeface="Aptos"/>
              </a:defRPr>
            </a:pPr>
            <a:r>
              <a:t>Naming:  agent-&lt;domain&gt;-&lt;capability&gt;  |  snap-&lt;type&gt;-&lt;version&gt;  |  pattern-&lt;stack&gt;-&lt;component&gt;</a:t>
            </a:r>
          </a:p>
        </p:txBody>
      </p:sp>
      <p:sp>
        <p:nvSpPr>
          <p:cNvPr id="34" name="Rectangle 33"/>
          <p:cNvSpPr/>
          <p:nvPr/>
        </p:nvSpPr>
        <p:spPr>
          <a:xfrm>
            <a:off x="457200" y="5440680"/>
            <a:ext cx="2286000" cy="256032"/>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SHARED MEMORY MODEL</a:t>
            </a:r>
          </a:p>
        </p:txBody>
      </p:sp>
      <p:sp>
        <p:nvSpPr>
          <p:cNvPr id="35" name="TextBox 34"/>
          <p:cNvSpPr txBox="1"/>
          <p:nvPr/>
        </p:nvSpPr>
        <p:spPr>
          <a:xfrm>
            <a:off x="640080" y="5715000"/>
            <a:ext cx="10972800" cy="228600"/>
          </a:xfrm>
          <a:prstGeom prst="rect">
            <a:avLst/>
          </a:prstGeom>
          <a:noFill/>
        </p:spPr>
        <p:txBody>
          <a:bodyPr wrap="square">
            <a:spAutoFit/>
          </a:bodyPr>
          <a:lstStyle/>
          <a:p>
            <a:pPr algn="l">
              <a:defRPr sz="800" b="0">
                <a:solidFill>
                  <a:srgbClr val="333333"/>
                </a:solidFill>
                <a:latin typeface="Aptos"/>
              </a:defRPr>
            </a:pPr>
            <a:r>
              <a:t>  decisions.md = active design decisions (all teams reference)</a:t>
            </a:r>
          </a:p>
        </p:txBody>
      </p:sp>
      <p:sp>
        <p:nvSpPr>
          <p:cNvPr id="36" name="TextBox 35"/>
          <p:cNvSpPr txBox="1"/>
          <p:nvPr/>
        </p:nvSpPr>
        <p:spPr>
          <a:xfrm>
            <a:off x="640080" y="5779008"/>
            <a:ext cx="10972800" cy="228600"/>
          </a:xfrm>
          <a:prstGeom prst="rect">
            <a:avLst/>
          </a:prstGeom>
          <a:noFill/>
        </p:spPr>
        <p:txBody>
          <a:bodyPr wrap="square">
            <a:spAutoFit/>
          </a:bodyPr>
          <a:lstStyle/>
          <a:p>
            <a:pPr algn="l">
              <a:defRPr sz="800" b="0">
                <a:solidFill>
                  <a:srgbClr val="333333"/>
                </a:solidFill>
                <a:latin typeface="Aptos"/>
              </a:defRPr>
            </a:pPr>
            <a:r>
              <a:t>  JOURNAL.md = engagement history (Scribe agent maintains)</a:t>
            </a:r>
          </a:p>
        </p:txBody>
      </p:sp>
      <p:sp>
        <p:nvSpPr>
          <p:cNvPr id="37" name="TextBox 36"/>
          <p:cNvSpPr txBox="1"/>
          <p:nvPr/>
        </p:nvSpPr>
        <p:spPr>
          <a:xfrm>
            <a:off x="640080" y="5843016"/>
            <a:ext cx="10972800" cy="228600"/>
          </a:xfrm>
          <a:prstGeom prst="rect">
            <a:avLst/>
          </a:prstGeom>
          <a:noFill/>
        </p:spPr>
        <p:txBody>
          <a:bodyPr wrap="square">
            <a:spAutoFit/>
          </a:bodyPr>
          <a:lstStyle/>
          <a:p>
            <a:pPr algn="l">
              <a:defRPr sz="800" b="0">
                <a:solidFill>
                  <a:srgbClr val="333333"/>
                </a:solidFill>
                <a:latin typeface="Aptos"/>
              </a:defRPr>
            </a:pPr>
            <a:r>
              <a:t>  AGENTS.md = operating instructions (defines agent behavior)</a:t>
            </a:r>
          </a:p>
        </p:txBody>
      </p:sp>
      <p:sp>
        <p:nvSpPr>
          <p:cNvPr id="38" name="TextBox 37"/>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39" name="TextBox 38"/>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02  Snap Governance Model</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Central Squad is the sole publisher of production Snap presets. SubSquads consume, they do not modify.</a:t>
            </a:r>
          </a:p>
        </p:txBody>
      </p:sp>
      <p:sp>
        <p:nvSpPr>
          <p:cNvPr id="4" name="Rounded Rectangle 3"/>
          <p:cNvSpPr/>
          <p:nvPr/>
        </p:nvSpPr>
        <p:spPr>
          <a:xfrm>
            <a:off x="457200" y="1371600"/>
            <a:ext cx="10972800" cy="457200"/>
          </a:xfrm>
          <a:prstGeom prst="roundRect">
            <a:avLst/>
          </a:prstGeom>
          <a:solidFill>
            <a:srgbClr val="FFEDED"/>
          </a:solidFill>
          <a:ln w="12700">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10424160" cy="365760"/>
          </a:xfrm>
          <a:prstGeom prst="rect">
            <a:avLst/>
          </a:prstGeom>
          <a:noFill/>
        </p:spPr>
        <p:txBody>
          <a:bodyPr wrap="square">
            <a:spAutoFit/>
          </a:bodyPr>
          <a:lstStyle/>
          <a:p>
            <a:pPr algn="l">
              <a:defRPr sz="1200" b="1">
                <a:solidFill>
                  <a:srgbClr val="EE0000"/>
                </a:solidFill>
                <a:latin typeface="Aptos"/>
              </a:defRPr>
            </a:pPr>
            <a:r>
              <a:t>RULE: SubSquads CANNOT directly modify shared Snap presets. All changes go through Central Squad.</a:t>
            </a:r>
          </a:p>
        </p:txBody>
      </p:sp>
      <p:sp>
        <p:nvSpPr>
          <p:cNvPr id="6" name="Rectangle 5"/>
          <p:cNvSpPr/>
          <p:nvPr/>
        </p:nvSpPr>
        <p:spPr>
          <a:xfrm>
            <a:off x="457200" y="2011680"/>
            <a:ext cx="1828800" cy="256032"/>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PUBLISHING RULES</a:t>
            </a:r>
          </a:p>
        </p:txBody>
      </p:sp>
      <p:sp>
        <p:nvSpPr>
          <p:cNvPr id="7" name="Rectangle 6"/>
          <p:cNvSpPr/>
          <p:nvPr/>
        </p:nvSpPr>
        <p:spPr>
          <a:xfrm>
            <a:off x="5943600" y="2011680"/>
            <a:ext cx="2103120" cy="256032"/>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UPDATE REQUIREMENTS</a:t>
            </a:r>
          </a:p>
        </p:txBody>
      </p:sp>
      <p:sp>
        <p:nvSpPr>
          <p:cNvPr id="8" name="TextBox 7"/>
          <p:cNvSpPr txBox="1"/>
          <p:nvPr/>
        </p:nvSpPr>
        <p:spPr>
          <a:xfrm>
            <a:off x="640080" y="2423160"/>
            <a:ext cx="5029200" cy="365760"/>
          </a:xfrm>
          <a:prstGeom prst="rect">
            <a:avLst/>
          </a:prstGeom>
          <a:noFill/>
        </p:spPr>
        <p:txBody>
          <a:bodyPr wrap="square">
            <a:spAutoFit/>
          </a:bodyPr>
          <a:lstStyle/>
          <a:p>
            <a:pPr algn="l">
              <a:defRPr sz="1000" b="0">
                <a:solidFill>
                  <a:srgbClr val="333333"/>
                </a:solidFill>
                <a:latin typeface="Aptos"/>
              </a:defRPr>
            </a:pPr>
            <a:r>
              <a:t>  Only Central Squad architects can publish Snaps</a:t>
            </a:r>
          </a:p>
        </p:txBody>
      </p:sp>
      <p:sp>
        <p:nvSpPr>
          <p:cNvPr id="9" name="TextBox 8"/>
          <p:cNvSpPr txBox="1"/>
          <p:nvPr/>
        </p:nvSpPr>
        <p:spPr>
          <a:xfrm>
            <a:off x="640080" y="2880360"/>
            <a:ext cx="5029200" cy="365760"/>
          </a:xfrm>
          <a:prstGeom prst="rect">
            <a:avLst/>
          </a:prstGeom>
          <a:noFill/>
        </p:spPr>
        <p:txBody>
          <a:bodyPr wrap="square">
            <a:spAutoFit/>
          </a:bodyPr>
          <a:lstStyle/>
          <a:p>
            <a:pPr algn="l">
              <a:defRPr sz="1000" b="0">
                <a:solidFill>
                  <a:srgbClr val="333333"/>
                </a:solidFill>
                <a:latin typeface="Aptos"/>
              </a:defRPr>
            </a:pPr>
            <a:r>
              <a:t>  Every Snap must pass security review</a:t>
            </a:r>
          </a:p>
        </p:txBody>
      </p:sp>
      <p:sp>
        <p:nvSpPr>
          <p:cNvPr id="10" name="TextBox 9"/>
          <p:cNvSpPr txBox="1"/>
          <p:nvPr/>
        </p:nvSpPr>
        <p:spPr>
          <a:xfrm>
            <a:off x="640080" y="3337560"/>
            <a:ext cx="5029200" cy="365760"/>
          </a:xfrm>
          <a:prstGeom prst="rect">
            <a:avLst/>
          </a:prstGeom>
          <a:noFill/>
        </p:spPr>
        <p:txBody>
          <a:bodyPr wrap="square">
            <a:spAutoFit/>
          </a:bodyPr>
          <a:lstStyle/>
          <a:p>
            <a:pPr algn="l">
              <a:defRPr sz="1000" b="0">
                <a:solidFill>
                  <a:srgbClr val="333333"/>
                </a:solidFill>
                <a:latin typeface="Aptos"/>
              </a:defRPr>
            </a:pPr>
            <a:r>
              <a:t>  No client-specific data in any preset</a:t>
            </a:r>
          </a:p>
        </p:txBody>
      </p:sp>
      <p:sp>
        <p:nvSpPr>
          <p:cNvPr id="11" name="TextBox 10"/>
          <p:cNvSpPr txBox="1"/>
          <p:nvPr/>
        </p:nvSpPr>
        <p:spPr>
          <a:xfrm>
            <a:off x="640080" y="3794760"/>
            <a:ext cx="5029200" cy="365760"/>
          </a:xfrm>
          <a:prstGeom prst="rect">
            <a:avLst/>
          </a:prstGeom>
          <a:noFill/>
        </p:spPr>
        <p:txBody>
          <a:bodyPr wrap="square">
            <a:spAutoFit/>
          </a:bodyPr>
          <a:lstStyle/>
          <a:p>
            <a:pPr algn="l">
              <a:defRPr sz="1000" b="0">
                <a:solidFill>
                  <a:srgbClr val="333333"/>
                </a:solidFill>
                <a:latin typeface="Aptos"/>
              </a:defRPr>
            </a:pPr>
            <a:r>
              <a:t>  Documentation required: purpose, agents, routing</a:t>
            </a:r>
          </a:p>
        </p:txBody>
      </p:sp>
      <p:sp>
        <p:nvSpPr>
          <p:cNvPr id="12" name="TextBox 11"/>
          <p:cNvSpPr txBox="1"/>
          <p:nvPr/>
        </p:nvSpPr>
        <p:spPr>
          <a:xfrm>
            <a:off x="640080" y="4251960"/>
            <a:ext cx="5029200" cy="365760"/>
          </a:xfrm>
          <a:prstGeom prst="rect">
            <a:avLst/>
          </a:prstGeom>
          <a:noFill/>
        </p:spPr>
        <p:txBody>
          <a:bodyPr wrap="square">
            <a:spAutoFit/>
          </a:bodyPr>
          <a:lstStyle/>
          <a:p>
            <a:pPr algn="l">
              <a:defRPr sz="1000" b="0">
                <a:solidFill>
                  <a:srgbClr val="333333"/>
                </a:solidFill>
                <a:latin typeface="Aptos"/>
              </a:defRPr>
            </a:pPr>
            <a:r>
              <a:t>  At least 2 reviewer approvals on publish PR</a:t>
            </a:r>
          </a:p>
        </p:txBody>
      </p:sp>
      <p:sp>
        <p:nvSpPr>
          <p:cNvPr id="13" name="TextBox 12"/>
          <p:cNvSpPr txBox="1"/>
          <p:nvPr/>
        </p:nvSpPr>
        <p:spPr>
          <a:xfrm>
            <a:off x="6126480" y="2423160"/>
            <a:ext cx="5029200" cy="365760"/>
          </a:xfrm>
          <a:prstGeom prst="rect">
            <a:avLst/>
          </a:prstGeom>
          <a:noFill/>
        </p:spPr>
        <p:txBody>
          <a:bodyPr wrap="square">
            <a:spAutoFit/>
          </a:bodyPr>
          <a:lstStyle/>
          <a:p>
            <a:pPr algn="l">
              <a:defRPr sz="1000" b="0">
                <a:solidFill>
                  <a:srgbClr val="333333"/>
                </a:solidFill>
                <a:latin typeface="Aptos"/>
              </a:defRPr>
            </a:pPr>
            <a:r>
              <a:t>  All Snap updates require version bump</a:t>
            </a:r>
          </a:p>
        </p:txBody>
      </p:sp>
      <p:sp>
        <p:nvSpPr>
          <p:cNvPr id="14" name="TextBox 13"/>
          <p:cNvSpPr txBox="1"/>
          <p:nvPr/>
        </p:nvSpPr>
        <p:spPr>
          <a:xfrm>
            <a:off x="6126480" y="2880360"/>
            <a:ext cx="5029200" cy="365760"/>
          </a:xfrm>
          <a:prstGeom prst="rect">
            <a:avLst/>
          </a:prstGeom>
          <a:noFill/>
        </p:spPr>
        <p:txBody>
          <a:bodyPr wrap="square">
            <a:spAutoFit/>
          </a:bodyPr>
          <a:lstStyle/>
          <a:p>
            <a:pPr algn="l">
              <a:defRPr sz="1000" b="0">
                <a:solidFill>
                  <a:srgbClr val="333333"/>
                </a:solidFill>
                <a:latin typeface="Aptos"/>
              </a:defRPr>
            </a:pPr>
            <a:r>
              <a:t>  Breaking changes require major version (v2.0)</a:t>
            </a:r>
          </a:p>
        </p:txBody>
      </p:sp>
      <p:sp>
        <p:nvSpPr>
          <p:cNvPr id="15" name="TextBox 14"/>
          <p:cNvSpPr txBox="1"/>
          <p:nvPr/>
        </p:nvSpPr>
        <p:spPr>
          <a:xfrm>
            <a:off x="6126480" y="3337560"/>
            <a:ext cx="5029200" cy="365760"/>
          </a:xfrm>
          <a:prstGeom prst="rect">
            <a:avLst/>
          </a:prstGeom>
          <a:noFill/>
        </p:spPr>
        <p:txBody>
          <a:bodyPr wrap="square">
            <a:spAutoFit/>
          </a:bodyPr>
          <a:lstStyle/>
          <a:p>
            <a:pPr algn="l">
              <a:defRPr sz="1000" b="0">
                <a:solidFill>
                  <a:srgbClr val="333333"/>
                </a:solidFill>
                <a:latin typeface="Aptos"/>
              </a:defRPr>
            </a:pPr>
            <a:r>
              <a:t>  Migration guide required for major versions</a:t>
            </a:r>
          </a:p>
        </p:txBody>
      </p:sp>
      <p:sp>
        <p:nvSpPr>
          <p:cNvPr id="16" name="TextBox 15"/>
          <p:cNvSpPr txBox="1"/>
          <p:nvPr/>
        </p:nvSpPr>
        <p:spPr>
          <a:xfrm>
            <a:off x="6126480" y="3794760"/>
            <a:ext cx="5029200" cy="365760"/>
          </a:xfrm>
          <a:prstGeom prst="rect">
            <a:avLst/>
          </a:prstGeom>
          <a:noFill/>
        </p:spPr>
        <p:txBody>
          <a:bodyPr wrap="square">
            <a:spAutoFit/>
          </a:bodyPr>
          <a:lstStyle/>
          <a:p>
            <a:pPr algn="l">
              <a:defRPr sz="1000" b="0">
                <a:solidFill>
                  <a:srgbClr val="333333"/>
                </a:solidFill>
                <a:latin typeface="Aptos"/>
              </a:defRPr>
            </a:pPr>
            <a:r>
              <a:t>  Backward compatibility enforced for minor updates</a:t>
            </a:r>
          </a:p>
        </p:txBody>
      </p:sp>
      <p:sp>
        <p:nvSpPr>
          <p:cNvPr id="17" name="TextBox 16"/>
          <p:cNvSpPr txBox="1"/>
          <p:nvPr/>
        </p:nvSpPr>
        <p:spPr>
          <a:xfrm>
            <a:off x="6126480" y="4251960"/>
            <a:ext cx="5029200" cy="365760"/>
          </a:xfrm>
          <a:prstGeom prst="rect">
            <a:avLst/>
          </a:prstGeom>
          <a:noFill/>
        </p:spPr>
        <p:txBody>
          <a:bodyPr wrap="square">
            <a:spAutoFit/>
          </a:bodyPr>
          <a:lstStyle/>
          <a:p>
            <a:pPr algn="l">
              <a:defRPr sz="1000" b="0">
                <a:solidFill>
                  <a:srgbClr val="333333"/>
                </a:solidFill>
                <a:latin typeface="Aptos"/>
              </a:defRPr>
            </a:pPr>
            <a:r>
              <a:t>  Automated validation pipeline must pass</a:t>
            </a:r>
          </a:p>
        </p:txBody>
      </p:sp>
      <p:sp>
        <p:nvSpPr>
          <p:cNvPr id="18" name="Rectangle 17"/>
          <p:cNvSpPr/>
          <p:nvPr/>
        </p:nvSpPr>
        <p:spPr>
          <a:xfrm>
            <a:off x="457200" y="4800600"/>
            <a:ext cx="1463040" cy="256032"/>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APPROVAL FLOW</a:t>
            </a:r>
          </a:p>
        </p:txBody>
      </p:sp>
      <p:sp>
        <p:nvSpPr>
          <p:cNvPr id="19" name="Rounded Rectangle 18"/>
          <p:cNvSpPr/>
          <p:nvPr/>
        </p:nvSpPr>
        <p:spPr>
          <a:xfrm>
            <a:off x="457200" y="5166360"/>
            <a:ext cx="1920240" cy="64008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193792"/>
            <a:ext cx="1645920" cy="548640"/>
          </a:xfrm>
          <a:prstGeom prst="rect">
            <a:avLst/>
          </a:prstGeom>
          <a:noFill/>
        </p:spPr>
        <p:txBody>
          <a:bodyPr wrap="square">
            <a:spAutoFit/>
          </a:bodyPr>
          <a:lstStyle/>
          <a:p>
            <a:pPr>
              <a:spcAft>
                <a:spcPts val="300"/>
              </a:spcAft>
              <a:defRPr sz="900" b="1">
                <a:solidFill>
                  <a:srgbClr val="FE8B00"/>
                </a:solidFill>
                <a:latin typeface="Aptos"/>
              </a:defRPr>
            </a:pPr>
            <a:r>
              <a:t>SubSquad</a:t>
            </a:r>
          </a:p>
          <a:p>
            <a:pPr>
              <a:spcAft>
                <a:spcPts val="300"/>
              </a:spcAft>
              <a:defRPr sz="900" b="1">
                <a:solidFill>
                  <a:srgbClr val="FE8B00"/>
                </a:solidFill>
                <a:latin typeface="Aptos"/>
              </a:defRPr>
            </a:pPr>
            <a:r>
              <a:t>Submits PR</a:t>
            </a:r>
          </a:p>
        </p:txBody>
      </p:sp>
      <p:sp>
        <p:nvSpPr>
          <p:cNvPr id="21" name="Right Arrow 20"/>
          <p:cNvSpPr/>
          <p:nvPr/>
        </p:nvSpPr>
        <p:spPr>
          <a:xfrm>
            <a:off x="2423160" y="5349240"/>
            <a:ext cx="137160" cy="228600"/>
          </a:xfrm>
          <a:prstGeom prst="rightArrow">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743200" y="5166360"/>
            <a:ext cx="1920240" cy="640080"/>
          </a:xfrm>
          <a:prstGeom prst="roundRect">
            <a:avLst/>
          </a:prstGeom>
          <a:solidFill>
            <a:srgbClr val="F8F8FA"/>
          </a:solidFill>
          <a:ln w="12700">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80360" y="5193792"/>
            <a:ext cx="1645920" cy="548640"/>
          </a:xfrm>
          <a:prstGeom prst="rect">
            <a:avLst/>
          </a:prstGeom>
          <a:noFill/>
        </p:spPr>
        <p:txBody>
          <a:bodyPr wrap="square">
            <a:spAutoFit/>
          </a:bodyPr>
          <a:lstStyle/>
          <a:p>
            <a:pPr>
              <a:spcAft>
                <a:spcPts val="300"/>
              </a:spcAft>
              <a:defRPr sz="900" b="1">
                <a:solidFill>
                  <a:srgbClr val="EE0000"/>
                </a:solidFill>
                <a:latin typeface="Aptos"/>
              </a:defRPr>
            </a:pPr>
            <a:r>
              <a:t>Security</a:t>
            </a:r>
          </a:p>
          <a:p>
            <a:pPr>
              <a:spcAft>
                <a:spcPts val="300"/>
              </a:spcAft>
              <a:defRPr sz="900" b="1">
                <a:solidFill>
                  <a:srgbClr val="EE0000"/>
                </a:solidFill>
                <a:latin typeface="Aptos"/>
              </a:defRPr>
            </a:pPr>
            <a:r>
              <a:t>Scan</a:t>
            </a:r>
          </a:p>
        </p:txBody>
      </p:sp>
      <p:sp>
        <p:nvSpPr>
          <p:cNvPr id="24" name="Right Arrow 23"/>
          <p:cNvSpPr/>
          <p:nvPr/>
        </p:nvSpPr>
        <p:spPr>
          <a:xfrm>
            <a:off x="4709160" y="5349240"/>
            <a:ext cx="137160" cy="228600"/>
          </a:xfrm>
          <a:prstGeom prst="rightArrow">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0" y="5166360"/>
            <a:ext cx="1920240" cy="64008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166360" y="5193792"/>
            <a:ext cx="1645920" cy="548640"/>
          </a:xfrm>
          <a:prstGeom prst="rect">
            <a:avLst/>
          </a:prstGeom>
          <a:noFill/>
        </p:spPr>
        <p:txBody>
          <a:bodyPr wrap="square">
            <a:spAutoFit/>
          </a:bodyPr>
          <a:lstStyle/>
          <a:p>
            <a:pPr>
              <a:spcAft>
                <a:spcPts val="300"/>
              </a:spcAft>
              <a:defRPr sz="900" b="1">
                <a:solidFill>
                  <a:srgbClr val="0178D4"/>
                </a:solidFill>
                <a:latin typeface="Aptos"/>
              </a:defRPr>
            </a:pPr>
            <a:r>
              <a:t>Architect</a:t>
            </a:r>
          </a:p>
          <a:p>
            <a:pPr>
              <a:spcAft>
                <a:spcPts val="300"/>
              </a:spcAft>
              <a:defRPr sz="900" b="1">
                <a:solidFill>
                  <a:srgbClr val="0178D4"/>
                </a:solidFill>
                <a:latin typeface="Aptos"/>
              </a:defRPr>
            </a:pPr>
            <a:r>
              <a:t>Review</a:t>
            </a:r>
          </a:p>
        </p:txBody>
      </p:sp>
      <p:sp>
        <p:nvSpPr>
          <p:cNvPr id="27" name="Right Arrow 26"/>
          <p:cNvSpPr/>
          <p:nvPr/>
        </p:nvSpPr>
        <p:spPr>
          <a:xfrm>
            <a:off x="6995160" y="5349240"/>
            <a:ext cx="13716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15200" y="5166360"/>
            <a:ext cx="1920240" cy="64008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2360" y="5193792"/>
            <a:ext cx="1645920" cy="548640"/>
          </a:xfrm>
          <a:prstGeom prst="rect">
            <a:avLst/>
          </a:prstGeom>
          <a:noFill/>
        </p:spPr>
        <p:txBody>
          <a:bodyPr wrap="square">
            <a:spAutoFit/>
          </a:bodyPr>
          <a:lstStyle/>
          <a:p>
            <a:pPr>
              <a:spcAft>
                <a:spcPts val="300"/>
              </a:spcAft>
              <a:defRPr sz="900" b="1">
                <a:solidFill>
                  <a:srgbClr val="463668"/>
                </a:solidFill>
                <a:latin typeface="Aptos"/>
              </a:defRPr>
            </a:pPr>
            <a:r>
              <a:t>Peer</a:t>
            </a:r>
          </a:p>
          <a:p>
            <a:pPr>
              <a:spcAft>
                <a:spcPts val="300"/>
              </a:spcAft>
              <a:defRPr sz="900" b="1">
                <a:solidFill>
                  <a:srgbClr val="463668"/>
                </a:solidFill>
                <a:latin typeface="Aptos"/>
              </a:defRPr>
            </a:pPr>
            <a:r>
              <a:t>Review</a:t>
            </a:r>
          </a:p>
        </p:txBody>
      </p:sp>
      <p:sp>
        <p:nvSpPr>
          <p:cNvPr id="30" name="Right Arrow 29"/>
          <p:cNvSpPr/>
          <p:nvPr/>
        </p:nvSpPr>
        <p:spPr>
          <a:xfrm>
            <a:off x="9281160" y="5349240"/>
            <a:ext cx="137160" cy="228600"/>
          </a:xfrm>
          <a:prstGeom prst="rightArrow">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01200" y="5166360"/>
            <a:ext cx="1920240" cy="64008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38360" y="5193792"/>
            <a:ext cx="1645920" cy="548640"/>
          </a:xfrm>
          <a:prstGeom prst="rect">
            <a:avLst/>
          </a:prstGeom>
          <a:noFill/>
        </p:spPr>
        <p:txBody>
          <a:bodyPr wrap="square">
            <a:spAutoFit/>
          </a:bodyPr>
          <a:lstStyle/>
          <a:p>
            <a:pPr>
              <a:spcAft>
                <a:spcPts val="300"/>
              </a:spcAft>
              <a:defRPr sz="900" b="1">
                <a:solidFill>
                  <a:srgbClr val="00B050"/>
                </a:solidFill>
                <a:latin typeface="Aptos"/>
              </a:defRPr>
            </a:pPr>
            <a:r>
              <a:t>Central</a:t>
            </a:r>
          </a:p>
          <a:p>
            <a:pPr>
              <a:spcAft>
                <a:spcPts val="300"/>
              </a:spcAft>
              <a:defRPr sz="900" b="1">
                <a:solidFill>
                  <a:srgbClr val="00B050"/>
                </a:solidFill>
                <a:latin typeface="Aptos"/>
              </a:defRPr>
            </a:pPr>
            <a:r>
              <a:t>Publishes</a:t>
            </a:r>
          </a:p>
        </p:txBody>
      </p:sp>
      <p:sp>
        <p:nvSpPr>
          <p:cNvPr id="33" name="TextBox 32"/>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34" name="TextBox 33"/>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03  Snap Lifecycle</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Every Snap preset follows a structured lifecycle from creation through retirement.</a:t>
            </a:r>
          </a:p>
        </p:txBody>
      </p:sp>
      <p:sp>
        <p:nvSpPr>
          <p:cNvPr id="4" name="Rounded Rectangle 3"/>
          <p:cNvSpPr/>
          <p:nvPr/>
        </p:nvSpPr>
        <p:spPr>
          <a:xfrm>
            <a:off x="182880" y="1417320"/>
            <a:ext cx="1508760" cy="256032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554480"/>
            <a:ext cx="457200" cy="45720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1</a:t>
            </a:r>
          </a:p>
        </p:txBody>
      </p:sp>
      <p:sp>
        <p:nvSpPr>
          <p:cNvPr id="6" name="TextBox 5"/>
          <p:cNvSpPr txBox="1"/>
          <p:nvPr/>
        </p:nvSpPr>
        <p:spPr>
          <a:xfrm>
            <a:off x="228600" y="2148840"/>
            <a:ext cx="1417320" cy="228600"/>
          </a:xfrm>
          <a:prstGeom prst="rect">
            <a:avLst/>
          </a:prstGeom>
          <a:noFill/>
        </p:spPr>
        <p:txBody>
          <a:bodyPr wrap="square">
            <a:spAutoFit/>
          </a:bodyPr>
          <a:lstStyle/>
          <a:p>
            <a:pPr algn="ctr">
              <a:defRPr sz="1100" b="1">
                <a:solidFill>
                  <a:srgbClr val="0178D4"/>
                </a:solidFill>
                <a:latin typeface="Aptos"/>
              </a:defRPr>
            </a:pPr>
            <a:r>
              <a:t>CREATE</a:t>
            </a:r>
          </a:p>
        </p:txBody>
      </p:sp>
      <p:sp>
        <p:nvSpPr>
          <p:cNvPr id="7" name="TextBox 6"/>
          <p:cNvSpPr txBox="1"/>
          <p:nvPr/>
        </p:nvSpPr>
        <p:spPr>
          <a:xfrm>
            <a:off x="228600" y="2468880"/>
            <a:ext cx="1417320" cy="1097280"/>
          </a:xfrm>
          <a:prstGeom prst="rect">
            <a:avLst/>
          </a:prstGeom>
          <a:noFill/>
        </p:spPr>
        <p:txBody>
          <a:bodyPr wrap="square">
            <a:spAutoFit/>
          </a:bodyPr>
          <a:lstStyle/>
          <a:p>
            <a:pPr>
              <a:spcAft>
                <a:spcPts val="300"/>
              </a:spcAft>
              <a:defRPr sz="900" b="0">
                <a:solidFill>
                  <a:srgbClr val="333333"/>
                </a:solidFill>
                <a:latin typeface="Aptos"/>
              </a:defRPr>
            </a:pPr>
            <a:r>
              <a:t>Define team comp,</a:t>
            </a:r>
          </a:p>
          <a:p>
            <a:pPr>
              <a:spcAft>
                <a:spcPts val="300"/>
              </a:spcAft>
              <a:defRPr sz="900" b="0">
                <a:solidFill>
                  <a:srgbClr val="333333"/>
                </a:solidFill>
                <a:latin typeface="Aptos"/>
              </a:defRPr>
            </a:pPr>
            <a:r>
              <a:t>agents, routing,</a:t>
            </a:r>
          </a:p>
          <a:p>
            <a:pPr>
              <a:spcAft>
                <a:spcPts val="300"/>
              </a:spcAft>
              <a:defRPr sz="900" b="0">
                <a:solidFill>
                  <a:srgbClr val="333333"/>
                </a:solidFill>
                <a:latin typeface="Aptos"/>
              </a:defRPr>
            </a:pPr>
            <a:r>
              <a:t>memory templates</a:t>
            </a:r>
          </a:p>
        </p:txBody>
      </p:sp>
      <p:sp>
        <p:nvSpPr>
          <p:cNvPr id="8" name="Right Arrow 7"/>
          <p:cNvSpPr/>
          <p:nvPr/>
        </p:nvSpPr>
        <p:spPr>
          <a:xfrm>
            <a:off x="1719072" y="1783080"/>
            <a:ext cx="9144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847088" y="1417320"/>
            <a:ext cx="1508760" cy="256032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304288" y="1554480"/>
            <a:ext cx="457200" cy="45720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2</a:t>
            </a:r>
          </a:p>
        </p:txBody>
      </p:sp>
      <p:sp>
        <p:nvSpPr>
          <p:cNvPr id="11" name="TextBox 10"/>
          <p:cNvSpPr txBox="1"/>
          <p:nvPr/>
        </p:nvSpPr>
        <p:spPr>
          <a:xfrm>
            <a:off x="1892808" y="2148840"/>
            <a:ext cx="1417320" cy="228600"/>
          </a:xfrm>
          <a:prstGeom prst="rect">
            <a:avLst/>
          </a:prstGeom>
          <a:noFill/>
        </p:spPr>
        <p:txBody>
          <a:bodyPr wrap="square">
            <a:spAutoFit/>
          </a:bodyPr>
          <a:lstStyle/>
          <a:p>
            <a:pPr algn="ctr">
              <a:defRPr sz="1100" b="1">
                <a:solidFill>
                  <a:srgbClr val="463668"/>
                </a:solidFill>
                <a:latin typeface="Aptos"/>
              </a:defRPr>
            </a:pPr>
            <a:r>
              <a:t>VALIDATE</a:t>
            </a:r>
          </a:p>
        </p:txBody>
      </p:sp>
      <p:sp>
        <p:nvSpPr>
          <p:cNvPr id="12" name="TextBox 11"/>
          <p:cNvSpPr txBox="1"/>
          <p:nvPr/>
        </p:nvSpPr>
        <p:spPr>
          <a:xfrm>
            <a:off x="1892808" y="2468880"/>
            <a:ext cx="1417320" cy="1097280"/>
          </a:xfrm>
          <a:prstGeom prst="rect">
            <a:avLst/>
          </a:prstGeom>
          <a:noFill/>
        </p:spPr>
        <p:txBody>
          <a:bodyPr wrap="square">
            <a:spAutoFit/>
          </a:bodyPr>
          <a:lstStyle/>
          <a:p>
            <a:pPr>
              <a:spcAft>
                <a:spcPts val="300"/>
              </a:spcAft>
              <a:defRPr sz="900" b="0">
                <a:solidFill>
                  <a:srgbClr val="333333"/>
                </a:solidFill>
                <a:latin typeface="Aptos"/>
              </a:defRPr>
            </a:pPr>
            <a:r>
              <a:t>Test with sample</a:t>
            </a:r>
          </a:p>
          <a:p>
            <a:pPr>
              <a:spcAft>
                <a:spcPts val="300"/>
              </a:spcAft>
              <a:defRPr sz="900" b="0">
                <a:solidFill>
                  <a:srgbClr val="333333"/>
                </a:solidFill>
                <a:latin typeface="Aptos"/>
              </a:defRPr>
            </a:pPr>
            <a:r>
              <a:t>project. Verify</a:t>
            </a:r>
          </a:p>
          <a:p>
            <a:pPr>
              <a:spcAft>
                <a:spcPts val="300"/>
              </a:spcAft>
              <a:defRPr sz="900" b="0">
                <a:solidFill>
                  <a:srgbClr val="333333"/>
                </a:solidFill>
                <a:latin typeface="Aptos"/>
              </a:defRPr>
            </a:pPr>
            <a:r>
              <a:t>all agents work</a:t>
            </a:r>
          </a:p>
        </p:txBody>
      </p:sp>
      <p:sp>
        <p:nvSpPr>
          <p:cNvPr id="13" name="Right Arrow 12"/>
          <p:cNvSpPr/>
          <p:nvPr/>
        </p:nvSpPr>
        <p:spPr>
          <a:xfrm>
            <a:off x="3383280" y="1783080"/>
            <a:ext cx="91440" cy="228600"/>
          </a:xfrm>
          <a:prstGeom prst="rightArrow">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11296" y="1417320"/>
            <a:ext cx="1508760" cy="256032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968496" y="1554480"/>
            <a:ext cx="457200" cy="457200"/>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3</a:t>
            </a:r>
          </a:p>
        </p:txBody>
      </p:sp>
      <p:sp>
        <p:nvSpPr>
          <p:cNvPr id="16" name="TextBox 15"/>
          <p:cNvSpPr txBox="1"/>
          <p:nvPr/>
        </p:nvSpPr>
        <p:spPr>
          <a:xfrm>
            <a:off x="3557016" y="2148840"/>
            <a:ext cx="1417320" cy="228600"/>
          </a:xfrm>
          <a:prstGeom prst="rect">
            <a:avLst/>
          </a:prstGeom>
          <a:noFill/>
        </p:spPr>
        <p:txBody>
          <a:bodyPr wrap="square">
            <a:spAutoFit/>
          </a:bodyPr>
          <a:lstStyle/>
          <a:p>
            <a:pPr algn="ctr">
              <a:defRPr sz="1100" b="1">
                <a:solidFill>
                  <a:srgbClr val="FE8B00"/>
                </a:solidFill>
                <a:latin typeface="Aptos"/>
              </a:defRPr>
            </a:pPr>
            <a:r>
              <a:t>PUBLISH</a:t>
            </a:r>
          </a:p>
        </p:txBody>
      </p:sp>
      <p:sp>
        <p:nvSpPr>
          <p:cNvPr id="17" name="TextBox 16"/>
          <p:cNvSpPr txBox="1"/>
          <p:nvPr/>
        </p:nvSpPr>
        <p:spPr>
          <a:xfrm>
            <a:off x="3557016" y="2468880"/>
            <a:ext cx="1417320" cy="1097280"/>
          </a:xfrm>
          <a:prstGeom prst="rect">
            <a:avLst/>
          </a:prstGeom>
          <a:noFill/>
        </p:spPr>
        <p:txBody>
          <a:bodyPr wrap="square">
            <a:spAutoFit/>
          </a:bodyPr>
          <a:lstStyle/>
          <a:p>
            <a:pPr>
              <a:spcAft>
                <a:spcPts val="300"/>
              </a:spcAft>
              <a:defRPr sz="900" b="0">
                <a:solidFill>
                  <a:srgbClr val="333333"/>
                </a:solidFill>
                <a:latin typeface="Aptos"/>
              </a:defRPr>
            </a:pPr>
            <a:r>
              <a:t>Add to Central</a:t>
            </a:r>
          </a:p>
          <a:p>
            <a:pPr>
              <a:spcAft>
                <a:spcPts val="300"/>
              </a:spcAft>
              <a:defRPr sz="900" b="0">
                <a:solidFill>
                  <a:srgbClr val="333333"/>
                </a:solidFill>
                <a:latin typeface="Aptos"/>
              </a:defRPr>
            </a:pPr>
            <a:r>
              <a:t>library. Document</a:t>
            </a:r>
          </a:p>
          <a:p>
            <a:pPr>
              <a:spcAft>
                <a:spcPts val="300"/>
              </a:spcAft>
              <a:defRPr sz="900" b="0">
                <a:solidFill>
                  <a:srgbClr val="333333"/>
                </a:solidFill>
                <a:latin typeface="Aptos"/>
              </a:defRPr>
            </a:pPr>
            <a:r>
              <a:t>use cases</a:t>
            </a:r>
          </a:p>
        </p:txBody>
      </p:sp>
      <p:sp>
        <p:nvSpPr>
          <p:cNvPr id="18" name="Right Arrow 17"/>
          <p:cNvSpPr/>
          <p:nvPr/>
        </p:nvSpPr>
        <p:spPr>
          <a:xfrm>
            <a:off x="5047488" y="1783080"/>
            <a:ext cx="91440" cy="228600"/>
          </a:xfrm>
          <a:prstGeom prst="rightArrow">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75504" y="1417320"/>
            <a:ext cx="1508760" cy="256032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632704" y="1554480"/>
            <a:ext cx="457200" cy="457200"/>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4</a:t>
            </a:r>
          </a:p>
        </p:txBody>
      </p:sp>
      <p:sp>
        <p:nvSpPr>
          <p:cNvPr id="21" name="TextBox 20"/>
          <p:cNvSpPr txBox="1"/>
          <p:nvPr/>
        </p:nvSpPr>
        <p:spPr>
          <a:xfrm>
            <a:off x="5221224" y="2148840"/>
            <a:ext cx="1417320" cy="228600"/>
          </a:xfrm>
          <a:prstGeom prst="rect">
            <a:avLst/>
          </a:prstGeom>
          <a:noFill/>
        </p:spPr>
        <p:txBody>
          <a:bodyPr wrap="square">
            <a:spAutoFit/>
          </a:bodyPr>
          <a:lstStyle/>
          <a:p>
            <a:pPr algn="ctr">
              <a:defRPr sz="1100" b="1">
                <a:solidFill>
                  <a:srgbClr val="00B050"/>
                </a:solidFill>
                <a:latin typeface="Aptos"/>
              </a:defRPr>
            </a:pPr>
            <a:r>
              <a:t>REUSE</a:t>
            </a:r>
          </a:p>
        </p:txBody>
      </p:sp>
      <p:sp>
        <p:nvSpPr>
          <p:cNvPr id="22" name="TextBox 21"/>
          <p:cNvSpPr txBox="1"/>
          <p:nvPr/>
        </p:nvSpPr>
        <p:spPr>
          <a:xfrm>
            <a:off x="5221224" y="2468880"/>
            <a:ext cx="1417320" cy="1097280"/>
          </a:xfrm>
          <a:prstGeom prst="rect">
            <a:avLst/>
          </a:prstGeom>
          <a:noFill/>
        </p:spPr>
        <p:txBody>
          <a:bodyPr wrap="square">
            <a:spAutoFit/>
          </a:bodyPr>
          <a:lstStyle/>
          <a:p>
            <a:pPr>
              <a:spcAft>
                <a:spcPts val="300"/>
              </a:spcAft>
              <a:defRPr sz="900" b="0">
                <a:solidFill>
                  <a:srgbClr val="333333"/>
                </a:solidFill>
                <a:latin typeface="Aptos"/>
              </a:defRPr>
            </a:pPr>
            <a:r>
              <a:t>SubSquads pull</a:t>
            </a:r>
          </a:p>
          <a:p>
            <a:pPr>
              <a:spcAft>
                <a:spcPts val="300"/>
              </a:spcAft>
              <a:defRPr sz="900" b="0">
                <a:solidFill>
                  <a:srgbClr val="333333"/>
                </a:solidFill>
                <a:latin typeface="Aptos"/>
              </a:defRPr>
            </a:pPr>
            <a:r>
              <a:t>preset. Configure</a:t>
            </a:r>
          </a:p>
          <a:p>
            <a:pPr>
              <a:spcAft>
                <a:spcPts val="300"/>
              </a:spcAft>
              <a:defRPr sz="900" b="0">
                <a:solidFill>
                  <a:srgbClr val="333333"/>
                </a:solidFill>
                <a:latin typeface="Aptos"/>
              </a:defRPr>
            </a:pPr>
            <a:r>
              <a:t>for engagement</a:t>
            </a:r>
          </a:p>
        </p:txBody>
      </p:sp>
      <p:sp>
        <p:nvSpPr>
          <p:cNvPr id="23" name="Right Arrow 22"/>
          <p:cNvSpPr/>
          <p:nvPr/>
        </p:nvSpPr>
        <p:spPr>
          <a:xfrm>
            <a:off x="6711696" y="1783080"/>
            <a:ext cx="91440" cy="228600"/>
          </a:xfrm>
          <a:prstGeom prst="right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39712" y="1417320"/>
            <a:ext cx="1508760" cy="256032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296912" y="1554480"/>
            <a:ext cx="457200" cy="457200"/>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5</a:t>
            </a:r>
          </a:p>
        </p:txBody>
      </p:sp>
      <p:sp>
        <p:nvSpPr>
          <p:cNvPr id="26" name="TextBox 25"/>
          <p:cNvSpPr txBox="1"/>
          <p:nvPr/>
        </p:nvSpPr>
        <p:spPr>
          <a:xfrm>
            <a:off x="6885432" y="2148840"/>
            <a:ext cx="1417320" cy="228600"/>
          </a:xfrm>
          <a:prstGeom prst="rect">
            <a:avLst/>
          </a:prstGeom>
          <a:noFill/>
        </p:spPr>
        <p:txBody>
          <a:bodyPr wrap="square">
            <a:spAutoFit/>
          </a:bodyPr>
          <a:lstStyle/>
          <a:p>
            <a:pPr algn="ctr">
              <a:defRPr sz="1100" b="1">
                <a:solidFill>
                  <a:srgbClr val="225B62"/>
                </a:solidFill>
                <a:latin typeface="Aptos"/>
              </a:defRPr>
            </a:pPr>
            <a:r>
              <a:t>IMPROVE</a:t>
            </a:r>
          </a:p>
        </p:txBody>
      </p:sp>
      <p:sp>
        <p:nvSpPr>
          <p:cNvPr id="27" name="TextBox 26"/>
          <p:cNvSpPr txBox="1"/>
          <p:nvPr/>
        </p:nvSpPr>
        <p:spPr>
          <a:xfrm>
            <a:off x="6885432" y="2468880"/>
            <a:ext cx="1417320" cy="1097280"/>
          </a:xfrm>
          <a:prstGeom prst="rect">
            <a:avLst/>
          </a:prstGeom>
          <a:noFill/>
        </p:spPr>
        <p:txBody>
          <a:bodyPr wrap="square">
            <a:spAutoFit/>
          </a:bodyPr>
          <a:lstStyle/>
          <a:p>
            <a:pPr>
              <a:spcAft>
                <a:spcPts val="300"/>
              </a:spcAft>
              <a:defRPr sz="900" b="0">
                <a:solidFill>
                  <a:srgbClr val="333333"/>
                </a:solidFill>
                <a:latin typeface="Aptos"/>
              </a:defRPr>
            </a:pPr>
            <a:r>
              <a:t>Teams submit</a:t>
            </a:r>
          </a:p>
          <a:p>
            <a:pPr>
              <a:spcAft>
                <a:spcPts val="300"/>
              </a:spcAft>
              <a:defRPr sz="900" b="0">
                <a:solidFill>
                  <a:srgbClr val="333333"/>
                </a:solidFill>
                <a:latin typeface="Aptos"/>
              </a:defRPr>
            </a:pPr>
            <a:r>
              <a:t>enhancements</a:t>
            </a:r>
          </a:p>
          <a:p>
            <a:pPr>
              <a:spcAft>
                <a:spcPts val="300"/>
              </a:spcAft>
              <a:defRPr sz="900" b="0">
                <a:solidFill>
                  <a:srgbClr val="333333"/>
                </a:solidFill>
                <a:latin typeface="Aptos"/>
              </a:defRPr>
            </a:pPr>
            <a:r>
              <a:t>back via PR</a:t>
            </a:r>
          </a:p>
        </p:txBody>
      </p:sp>
      <p:sp>
        <p:nvSpPr>
          <p:cNvPr id="28" name="Right Arrow 27"/>
          <p:cNvSpPr/>
          <p:nvPr/>
        </p:nvSpPr>
        <p:spPr>
          <a:xfrm>
            <a:off x="8375904" y="1783080"/>
            <a:ext cx="91440" cy="228600"/>
          </a:xfrm>
          <a:prstGeom prst="rightArrow">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503919" y="1417320"/>
            <a:ext cx="1508760" cy="2560320"/>
          </a:xfrm>
          <a:prstGeom prst="roundRect">
            <a:avLst/>
          </a:prstGeom>
          <a:solidFill>
            <a:srgbClr val="F8F8FA"/>
          </a:solidFill>
          <a:ln w="12700">
            <a:solidFill>
              <a:srgbClr val="D83B0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961119" y="1554480"/>
            <a:ext cx="457200" cy="457200"/>
          </a:xfrm>
          <a:prstGeom prst="ellipse">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6</a:t>
            </a:r>
          </a:p>
        </p:txBody>
      </p:sp>
      <p:sp>
        <p:nvSpPr>
          <p:cNvPr id="31" name="TextBox 30"/>
          <p:cNvSpPr txBox="1"/>
          <p:nvPr/>
        </p:nvSpPr>
        <p:spPr>
          <a:xfrm>
            <a:off x="8549639" y="2148840"/>
            <a:ext cx="1417320" cy="228600"/>
          </a:xfrm>
          <a:prstGeom prst="rect">
            <a:avLst/>
          </a:prstGeom>
          <a:noFill/>
        </p:spPr>
        <p:txBody>
          <a:bodyPr wrap="square">
            <a:spAutoFit/>
          </a:bodyPr>
          <a:lstStyle/>
          <a:p>
            <a:pPr algn="ctr">
              <a:defRPr sz="1100" b="1">
                <a:solidFill>
                  <a:srgbClr val="D83B02"/>
                </a:solidFill>
                <a:latin typeface="Aptos"/>
              </a:defRPr>
            </a:pPr>
            <a:r>
              <a:t>VERSION</a:t>
            </a:r>
          </a:p>
        </p:txBody>
      </p:sp>
      <p:sp>
        <p:nvSpPr>
          <p:cNvPr id="32" name="TextBox 31"/>
          <p:cNvSpPr txBox="1"/>
          <p:nvPr/>
        </p:nvSpPr>
        <p:spPr>
          <a:xfrm>
            <a:off x="8549639" y="2468880"/>
            <a:ext cx="1417320" cy="1097280"/>
          </a:xfrm>
          <a:prstGeom prst="rect">
            <a:avLst/>
          </a:prstGeom>
          <a:noFill/>
        </p:spPr>
        <p:txBody>
          <a:bodyPr wrap="square">
            <a:spAutoFit/>
          </a:bodyPr>
          <a:lstStyle/>
          <a:p>
            <a:pPr>
              <a:spcAft>
                <a:spcPts val="300"/>
              </a:spcAft>
              <a:defRPr sz="900" b="0">
                <a:solidFill>
                  <a:srgbClr val="333333"/>
                </a:solidFill>
                <a:latin typeface="Aptos"/>
              </a:defRPr>
            </a:pPr>
            <a:r>
              <a:t>Semantic version.</a:t>
            </a:r>
          </a:p>
          <a:p>
            <a:pPr>
              <a:spcAft>
                <a:spcPts val="300"/>
              </a:spcAft>
              <a:defRPr sz="900" b="0">
                <a:solidFill>
                  <a:srgbClr val="333333"/>
                </a:solidFill>
                <a:latin typeface="Aptos"/>
              </a:defRPr>
            </a:pPr>
            <a:r>
              <a:t>Changelog. Backward</a:t>
            </a:r>
          </a:p>
          <a:p>
            <a:pPr>
              <a:spcAft>
                <a:spcPts val="300"/>
              </a:spcAft>
              <a:defRPr sz="900" b="0">
                <a:solidFill>
                  <a:srgbClr val="333333"/>
                </a:solidFill>
                <a:latin typeface="Aptos"/>
              </a:defRPr>
            </a:pPr>
            <a:r>
              <a:t>compat check</a:t>
            </a:r>
          </a:p>
        </p:txBody>
      </p:sp>
      <p:sp>
        <p:nvSpPr>
          <p:cNvPr id="33" name="Right Arrow 32"/>
          <p:cNvSpPr/>
          <p:nvPr/>
        </p:nvSpPr>
        <p:spPr>
          <a:xfrm>
            <a:off x="10040111" y="1783080"/>
            <a:ext cx="91440" cy="228600"/>
          </a:xfrm>
          <a:prstGeom prst="rightArrow">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168128" y="1417320"/>
            <a:ext cx="1508760" cy="2560320"/>
          </a:xfrm>
          <a:prstGeom prst="roundRect">
            <a:avLst/>
          </a:prstGeom>
          <a:solidFill>
            <a:srgbClr val="F8F8FA"/>
          </a:solidFill>
          <a:ln w="12700">
            <a:solidFill>
              <a:srgbClr val="4A4E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625328" y="1554480"/>
            <a:ext cx="457200" cy="457200"/>
          </a:xfrm>
          <a:prstGeom prst="ellipse">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400" b="1">
                <a:solidFill>
                  <a:srgbClr val="FFFFFF"/>
                </a:solidFill>
                <a:latin typeface="Aptos"/>
              </a:defRPr>
            </a:pPr>
            <a:r>
              <a:t>7</a:t>
            </a:r>
          </a:p>
        </p:txBody>
      </p:sp>
      <p:sp>
        <p:nvSpPr>
          <p:cNvPr id="36" name="TextBox 35"/>
          <p:cNvSpPr txBox="1"/>
          <p:nvPr/>
        </p:nvSpPr>
        <p:spPr>
          <a:xfrm>
            <a:off x="10213848" y="2148840"/>
            <a:ext cx="1417320" cy="228600"/>
          </a:xfrm>
          <a:prstGeom prst="rect">
            <a:avLst/>
          </a:prstGeom>
          <a:noFill/>
        </p:spPr>
        <p:txBody>
          <a:bodyPr wrap="square">
            <a:spAutoFit/>
          </a:bodyPr>
          <a:lstStyle/>
          <a:p>
            <a:pPr algn="ctr">
              <a:defRPr sz="1100" b="1">
                <a:solidFill>
                  <a:srgbClr val="4A4E66"/>
                </a:solidFill>
                <a:latin typeface="Aptos"/>
              </a:defRPr>
            </a:pPr>
            <a:r>
              <a:t>RETIRE</a:t>
            </a:r>
          </a:p>
        </p:txBody>
      </p:sp>
      <p:sp>
        <p:nvSpPr>
          <p:cNvPr id="37" name="TextBox 36"/>
          <p:cNvSpPr txBox="1"/>
          <p:nvPr/>
        </p:nvSpPr>
        <p:spPr>
          <a:xfrm>
            <a:off x="10213848" y="2468880"/>
            <a:ext cx="1417320" cy="1097280"/>
          </a:xfrm>
          <a:prstGeom prst="rect">
            <a:avLst/>
          </a:prstGeom>
          <a:noFill/>
        </p:spPr>
        <p:txBody>
          <a:bodyPr wrap="square">
            <a:spAutoFit/>
          </a:bodyPr>
          <a:lstStyle/>
          <a:p>
            <a:pPr>
              <a:spcAft>
                <a:spcPts val="300"/>
              </a:spcAft>
              <a:defRPr sz="900" b="0">
                <a:solidFill>
                  <a:srgbClr val="333333"/>
                </a:solidFill>
                <a:latin typeface="Aptos"/>
              </a:defRPr>
            </a:pPr>
            <a:r>
              <a:t>Sunset when</a:t>
            </a:r>
          </a:p>
          <a:p>
            <a:pPr>
              <a:spcAft>
                <a:spcPts val="300"/>
              </a:spcAft>
              <a:defRPr sz="900" b="0">
                <a:solidFill>
                  <a:srgbClr val="333333"/>
                </a:solidFill>
                <a:latin typeface="Aptos"/>
              </a:defRPr>
            </a:pPr>
            <a:r>
              <a:t>replaced by better</a:t>
            </a:r>
          </a:p>
          <a:p>
            <a:pPr>
              <a:spcAft>
                <a:spcPts val="300"/>
              </a:spcAft>
              <a:defRPr sz="900" b="0">
                <a:solidFill>
                  <a:srgbClr val="333333"/>
                </a:solidFill>
                <a:latin typeface="Aptos"/>
              </a:defRPr>
            </a:pPr>
            <a:r>
              <a:t>configuration</a:t>
            </a:r>
          </a:p>
        </p:txBody>
      </p:sp>
      <p:sp>
        <p:nvSpPr>
          <p:cNvPr id="38" name="Rectangle 37"/>
          <p:cNvSpPr/>
          <p:nvPr/>
        </p:nvSpPr>
        <p:spPr>
          <a:xfrm>
            <a:off x="457200" y="4206240"/>
            <a:ext cx="1645920" cy="256032"/>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LIFECYCLE RULES</a:t>
            </a:r>
          </a:p>
        </p:txBody>
      </p:sp>
      <p:sp>
        <p:nvSpPr>
          <p:cNvPr id="39" name="TextBox 38"/>
          <p:cNvSpPr txBox="1"/>
          <p:nvPr/>
        </p:nvSpPr>
        <p:spPr>
          <a:xfrm>
            <a:off x="457200" y="4572000"/>
            <a:ext cx="1828800" cy="228600"/>
          </a:xfrm>
          <a:prstGeom prst="rect">
            <a:avLst/>
          </a:prstGeom>
          <a:noFill/>
        </p:spPr>
        <p:txBody>
          <a:bodyPr wrap="square">
            <a:spAutoFit/>
          </a:bodyPr>
          <a:lstStyle/>
          <a:p>
            <a:pPr algn="l">
              <a:defRPr sz="1000" b="1">
                <a:solidFill>
                  <a:srgbClr val="0178D4"/>
                </a:solidFill>
                <a:latin typeface="Aptos"/>
              </a:defRPr>
            </a:pPr>
            <a:r>
              <a:t>Validation gate</a:t>
            </a:r>
          </a:p>
        </p:txBody>
      </p:sp>
      <p:sp>
        <p:nvSpPr>
          <p:cNvPr id="40" name="TextBox 39"/>
          <p:cNvSpPr txBox="1"/>
          <p:nvPr/>
        </p:nvSpPr>
        <p:spPr>
          <a:xfrm>
            <a:off x="2377440" y="4572000"/>
            <a:ext cx="3657600" cy="365760"/>
          </a:xfrm>
          <a:prstGeom prst="rect">
            <a:avLst/>
          </a:prstGeom>
          <a:noFill/>
        </p:spPr>
        <p:txBody>
          <a:bodyPr wrap="square">
            <a:spAutoFit/>
          </a:bodyPr>
          <a:lstStyle/>
          <a:p>
            <a:pPr algn="l">
              <a:defRPr sz="900" b="0">
                <a:solidFill>
                  <a:srgbClr val="333333"/>
                </a:solidFill>
                <a:latin typeface="Aptos"/>
              </a:defRPr>
            </a:pPr>
            <a:r>
              <a:t>A Snap cannot be published without passing isolation tests on a sample project</a:t>
            </a:r>
          </a:p>
        </p:txBody>
      </p:sp>
      <p:sp>
        <p:nvSpPr>
          <p:cNvPr id="41" name="TextBox 40"/>
          <p:cNvSpPr txBox="1"/>
          <p:nvPr/>
        </p:nvSpPr>
        <p:spPr>
          <a:xfrm>
            <a:off x="6217920" y="4572000"/>
            <a:ext cx="1828800" cy="228600"/>
          </a:xfrm>
          <a:prstGeom prst="rect">
            <a:avLst/>
          </a:prstGeom>
          <a:noFill/>
        </p:spPr>
        <p:txBody>
          <a:bodyPr wrap="square">
            <a:spAutoFit/>
          </a:bodyPr>
          <a:lstStyle/>
          <a:p>
            <a:pPr algn="l">
              <a:defRPr sz="1000" b="1">
                <a:solidFill>
                  <a:srgbClr val="0178D4"/>
                </a:solidFill>
                <a:latin typeface="Aptos"/>
              </a:defRPr>
            </a:pPr>
            <a:r>
              <a:t>Deprecation path</a:t>
            </a:r>
          </a:p>
        </p:txBody>
      </p:sp>
      <p:sp>
        <p:nvSpPr>
          <p:cNvPr id="42" name="TextBox 41"/>
          <p:cNvSpPr txBox="1"/>
          <p:nvPr/>
        </p:nvSpPr>
        <p:spPr>
          <a:xfrm>
            <a:off x="8138160" y="4572000"/>
            <a:ext cx="3657600" cy="365760"/>
          </a:xfrm>
          <a:prstGeom prst="rect">
            <a:avLst/>
          </a:prstGeom>
          <a:noFill/>
        </p:spPr>
        <p:txBody>
          <a:bodyPr wrap="square">
            <a:spAutoFit/>
          </a:bodyPr>
          <a:lstStyle/>
          <a:p>
            <a:pPr algn="l">
              <a:defRPr sz="900" b="0">
                <a:solidFill>
                  <a:srgbClr val="333333"/>
                </a:solidFill>
                <a:latin typeface="Aptos"/>
              </a:defRPr>
            </a:pPr>
            <a:r>
              <a:t>Mark deprecated Snaps with a sunset date. Provide migration instructions.</a:t>
            </a:r>
          </a:p>
        </p:txBody>
      </p:sp>
      <p:sp>
        <p:nvSpPr>
          <p:cNvPr id="43" name="TextBox 42"/>
          <p:cNvSpPr txBox="1"/>
          <p:nvPr/>
        </p:nvSpPr>
        <p:spPr>
          <a:xfrm>
            <a:off x="457200" y="5029200"/>
            <a:ext cx="1828800" cy="228600"/>
          </a:xfrm>
          <a:prstGeom prst="rect">
            <a:avLst/>
          </a:prstGeom>
          <a:noFill/>
        </p:spPr>
        <p:txBody>
          <a:bodyPr wrap="square">
            <a:spAutoFit/>
          </a:bodyPr>
          <a:lstStyle/>
          <a:p>
            <a:pPr algn="l">
              <a:defRPr sz="1000" b="1">
                <a:solidFill>
                  <a:srgbClr val="0178D4"/>
                </a:solidFill>
                <a:latin typeface="Aptos"/>
              </a:defRPr>
            </a:pPr>
            <a:r>
              <a:t>Version policy</a:t>
            </a:r>
          </a:p>
        </p:txBody>
      </p:sp>
      <p:sp>
        <p:nvSpPr>
          <p:cNvPr id="44" name="TextBox 43"/>
          <p:cNvSpPr txBox="1"/>
          <p:nvPr/>
        </p:nvSpPr>
        <p:spPr>
          <a:xfrm>
            <a:off x="2377440" y="5029200"/>
            <a:ext cx="3657600" cy="365760"/>
          </a:xfrm>
          <a:prstGeom prst="rect">
            <a:avLst/>
          </a:prstGeom>
          <a:noFill/>
        </p:spPr>
        <p:txBody>
          <a:bodyPr wrap="square">
            <a:spAutoFit/>
          </a:bodyPr>
          <a:lstStyle/>
          <a:p>
            <a:pPr algn="l">
              <a:defRPr sz="900" b="0">
                <a:solidFill>
                  <a:srgbClr val="333333"/>
                </a:solidFill>
                <a:latin typeface="Aptos"/>
              </a:defRPr>
            </a:pPr>
            <a:r>
              <a:t>MAJOR = breaking changes, MINOR = new agents added, PATCH = bug fixes</a:t>
            </a:r>
          </a:p>
        </p:txBody>
      </p:sp>
      <p:sp>
        <p:nvSpPr>
          <p:cNvPr id="45" name="TextBox 44"/>
          <p:cNvSpPr txBox="1"/>
          <p:nvPr/>
        </p:nvSpPr>
        <p:spPr>
          <a:xfrm>
            <a:off x="6217920" y="5029200"/>
            <a:ext cx="1828800" cy="228600"/>
          </a:xfrm>
          <a:prstGeom prst="rect">
            <a:avLst/>
          </a:prstGeom>
          <a:noFill/>
        </p:spPr>
        <p:txBody>
          <a:bodyPr wrap="square">
            <a:spAutoFit/>
          </a:bodyPr>
          <a:lstStyle/>
          <a:p>
            <a:pPr algn="l">
              <a:defRPr sz="1000" b="1">
                <a:solidFill>
                  <a:srgbClr val="0178D4"/>
                </a:solidFill>
                <a:latin typeface="Aptos"/>
              </a:defRPr>
            </a:pPr>
            <a:r>
              <a:t>Retirement criteria</a:t>
            </a:r>
          </a:p>
        </p:txBody>
      </p:sp>
      <p:sp>
        <p:nvSpPr>
          <p:cNvPr id="46" name="TextBox 45"/>
          <p:cNvSpPr txBox="1"/>
          <p:nvPr/>
        </p:nvSpPr>
        <p:spPr>
          <a:xfrm>
            <a:off x="8138160" y="5029200"/>
            <a:ext cx="3657600" cy="365760"/>
          </a:xfrm>
          <a:prstGeom prst="rect">
            <a:avLst/>
          </a:prstGeom>
          <a:noFill/>
        </p:spPr>
        <p:txBody>
          <a:bodyPr wrap="square">
            <a:spAutoFit/>
          </a:bodyPr>
          <a:lstStyle/>
          <a:p>
            <a:pPr algn="l">
              <a:defRPr sz="900" b="0">
                <a:solidFill>
                  <a:srgbClr val="333333"/>
                </a:solidFill>
                <a:latin typeface="Aptos"/>
              </a:defRPr>
            </a:pPr>
            <a:r>
              <a:t>Zero active SubSquads using the preset for 90+ days = eligible for retirement</a:t>
            </a:r>
          </a:p>
        </p:txBody>
      </p:sp>
      <p:sp>
        <p:nvSpPr>
          <p:cNvPr id="47" name="TextBox 46"/>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48" name="TextBox 47"/>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04  SubSquad Creation and Execution</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Four steps to go from zero to executing. Follow them in order for every new engagement.</a:t>
            </a:r>
          </a:p>
        </p:txBody>
      </p:sp>
      <p:sp>
        <p:nvSpPr>
          <p:cNvPr id="4" name="Rounded Rectangle 3"/>
          <p:cNvSpPr/>
          <p:nvPr/>
        </p:nvSpPr>
        <p:spPr>
          <a:xfrm>
            <a:off x="320040" y="1417320"/>
            <a:ext cx="2697480" cy="429768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325880" y="1554480"/>
            <a:ext cx="502920" cy="50292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Aptos"/>
              </a:defRPr>
            </a:pPr>
            <a:r>
              <a:t>1</a:t>
            </a:r>
          </a:p>
        </p:txBody>
      </p:sp>
      <p:sp>
        <p:nvSpPr>
          <p:cNvPr id="6" name="TextBox 5"/>
          <p:cNvSpPr txBox="1"/>
          <p:nvPr/>
        </p:nvSpPr>
        <p:spPr>
          <a:xfrm>
            <a:off x="411480" y="2194560"/>
            <a:ext cx="2514600" cy="274320"/>
          </a:xfrm>
          <a:prstGeom prst="rect">
            <a:avLst/>
          </a:prstGeom>
          <a:noFill/>
        </p:spPr>
        <p:txBody>
          <a:bodyPr wrap="square">
            <a:spAutoFit/>
          </a:bodyPr>
          <a:lstStyle/>
          <a:p>
            <a:pPr algn="ctr">
              <a:defRPr sz="1300" b="1">
                <a:solidFill>
                  <a:srgbClr val="0178D4"/>
                </a:solidFill>
                <a:latin typeface="Aptos"/>
              </a:defRPr>
            </a:pPr>
            <a:r>
              <a:t>SELECT SNAP</a:t>
            </a:r>
          </a:p>
        </p:txBody>
      </p:sp>
      <p:sp>
        <p:nvSpPr>
          <p:cNvPr id="7" name="TextBox 6"/>
          <p:cNvSpPr txBox="1"/>
          <p:nvPr/>
        </p:nvSpPr>
        <p:spPr>
          <a:xfrm>
            <a:off x="411480" y="2468880"/>
            <a:ext cx="2514600" cy="274320"/>
          </a:xfrm>
          <a:prstGeom prst="rect">
            <a:avLst/>
          </a:prstGeom>
          <a:noFill/>
        </p:spPr>
        <p:txBody>
          <a:bodyPr wrap="square">
            <a:spAutoFit/>
          </a:bodyPr>
          <a:lstStyle/>
          <a:p>
            <a:pPr algn="ctr">
              <a:defRPr sz="900" b="0">
                <a:solidFill>
                  <a:srgbClr val="4A4E66"/>
                </a:solidFill>
                <a:latin typeface="Aptos"/>
              </a:defRPr>
            </a:pPr>
            <a:r>
              <a:t>Choose preset based on project type</a:t>
            </a:r>
          </a:p>
        </p:txBody>
      </p:sp>
      <p:sp>
        <p:nvSpPr>
          <p:cNvPr id="8" name="TextBox 7"/>
          <p:cNvSpPr txBox="1"/>
          <p:nvPr/>
        </p:nvSpPr>
        <p:spPr>
          <a:xfrm>
            <a:off x="411480" y="2880360"/>
            <a:ext cx="2514600" cy="502920"/>
          </a:xfrm>
          <a:prstGeom prst="rect">
            <a:avLst/>
          </a:prstGeom>
          <a:noFill/>
        </p:spPr>
        <p:txBody>
          <a:bodyPr wrap="square">
            <a:spAutoFit/>
          </a:bodyPr>
          <a:lstStyle/>
          <a:p>
            <a:pPr algn="l">
              <a:defRPr sz="800" b="0">
                <a:solidFill>
                  <a:srgbClr val="333333"/>
                </a:solidFill>
                <a:latin typeface="Aptos"/>
              </a:defRPr>
            </a:pPr>
            <a:r>
              <a:t>  Assess project requirements (backend, AI, migration, etc.)</a:t>
            </a:r>
          </a:p>
        </p:txBody>
      </p:sp>
      <p:sp>
        <p:nvSpPr>
          <p:cNvPr id="9" name="TextBox 8"/>
          <p:cNvSpPr txBox="1"/>
          <p:nvPr/>
        </p:nvSpPr>
        <p:spPr>
          <a:xfrm>
            <a:off x="411480" y="3520439"/>
            <a:ext cx="2514600" cy="502920"/>
          </a:xfrm>
          <a:prstGeom prst="rect">
            <a:avLst/>
          </a:prstGeom>
          <a:noFill/>
        </p:spPr>
        <p:txBody>
          <a:bodyPr wrap="square">
            <a:spAutoFit/>
          </a:bodyPr>
          <a:lstStyle/>
          <a:p>
            <a:pPr algn="l">
              <a:defRPr sz="800" b="0">
                <a:solidFill>
                  <a:srgbClr val="333333"/>
                </a:solidFill>
                <a:latin typeface="Aptos"/>
              </a:defRPr>
            </a:pPr>
            <a:r>
              <a:t>  Browse Central Squad Snap catalog</a:t>
            </a:r>
          </a:p>
        </p:txBody>
      </p:sp>
      <p:sp>
        <p:nvSpPr>
          <p:cNvPr id="10" name="TextBox 9"/>
          <p:cNvSpPr txBox="1"/>
          <p:nvPr/>
        </p:nvSpPr>
        <p:spPr>
          <a:xfrm>
            <a:off x="411480" y="4160520"/>
            <a:ext cx="2514600" cy="502920"/>
          </a:xfrm>
          <a:prstGeom prst="rect">
            <a:avLst/>
          </a:prstGeom>
          <a:noFill/>
        </p:spPr>
        <p:txBody>
          <a:bodyPr wrap="square">
            <a:spAutoFit/>
          </a:bodyPr>
          <a:lstStyle/>
          <a:p>
            <a:pPr algn="l">
              <a:defRPr sz="800" b="0">
                <a:solidFill>
                  <a:srgbClr val="333333"/>
                </a:solidFill>
                <a:latin typeface="Aptos"/>
              </a:defRPr>
            </a:pPr>
            <a:r>
              <a:t>  Match project needs to available presets</a:t>
            </a:r>
          </a:p>
        </p:txBody>
      </p:sp>
      <p:sp>
        <p:nvSpPr>
          <p:cNvPr id="11" name="TextBox 10"/>
          <p:cNvSpPr txBox="1"/>
          <p:nvPr/>
        </p:nvSpPr>
        <p:spPr>
          <a:xfrm>
            <a:off x="411480" y="4800600"/>
            <a:ext cx="2514600" cy="502920"/>
          </a:xfrm>
          <a:prstGeom prst="rect">
            <a:avLst/>
          </a:prstGeom>
          <a:noFill/>
        </p:spPr>
        <p:txBody>
          <a:bodyPr wrap="square">
            <a:spAutoFit/>
          </a:bodyPr>
          <a:lstStyle/>
          <a:p>
            <a:pPr algn="l">
              <a:defRPr sz="800" b="0">
                <a:solidFill>
                  <a:srgbClr val="333333"/>
                </a:solidFill>
                <a:latin typeface="Aptos"/>
              </a:defRPr>
            </a:pPr>
            <a:r>
              <a:t>  If no preset fits: request new Snap from Central Squad</a:t>
            </a:r>
          </a:p>
        </p:txBody>
      </p:sp>
      <p:sp>
        <p:nvSpPr>
          <p:cNvPr id="12" name="Rounded Rectangle 11"/>
          <p:cNvSpPr/>
          <p:nvPr/>
        </p:nvSpPr>
        <p:spPr>
          <a:xfrm>
            <a:off x="3200400" y="1417320"/>
            <a:ext cx="2697480" cy="429768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206240" y="1554480"/>
            <a:ext cx="502920" cy="50292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Aptos"/>
              </a:defRPr>
            </a:pPr>
            <a:r>
              <a:t>2</a:t>
            </a:r>
          </a:p>
        </p:txBody>
      </p:sp>
      <p:sp>
        <p:nvSpPr>
          <p:cNvPr id="14" name="TextBox 13"/>
          <p:cNvSpPr txBox="1"/>
          <p:nvPr/>
        </p:nvSpPr>
        <p:spPr>
          <a:xfrm>
            <a:off x="3291840" y="2194560"/>
            <a:ext cx="2514600" cy="274320"/>
          </a:xfrm>
          <a:prstGeom prst="rect">
            <a:avLst/>
          </a:prstGeom>
          <a:noFill/>
        </p:spPr>
        <p:txBody>
          <a:bodyPr wrap="square">
            <a:spAutoFit/>
          </a:bodyPr>
          <a:lstStyle/>
          <a:p>
            <a:pPr algn="ctr">
              <a:defRPr sz="1300" b="1">
                <a:solidFill>
                  <a:srgbClr val="463668"/>
                </a:solidFill>
                <a:latin typeface="Aptos"/>
              </a:defRPr>
            </a:pPr>
            <a:r>
              <a:t>INITIALIZE</a:t>
            </a:r>
          </a:p>
        </p:txBody>
      </p:sp>
      <p:sp>
        <p:nvSpPr>
          <p:cNvPr id="15" name="TextBox 14"/>
          <p:cNvSpPr txBox="1"/>
          <p:nvPr/>
        </p:nvSpPr>
        <p:spPr>
          <a:xfrm>
            <a:off x="3291840" y="2468880"/>
            <a:ext cx="2514600" cy="274320"/>
          </a:xfrm>
          <a:prstGeom prst="rect">
            <a:avLst/>
          </a:prstGeom>
          <a:noFill/>
        </p:spPr>
        <p:txBody>
          <a:bodyPr wrap="square">
            <a:spAutoFit/>
          </a:bodyPr>
          <a:lstStyle/>
          <a:p>
            <a:pPr algn="ctr">
              <a:defRPr sz="900" b="0">
                <a:solidFill>
                  <a:srgbClr val="4A4E66"/>
                </a:solidFill>
                <a:latin typeface="Aptos"/>
              </a:defRPr>
            </a:pPr>
            <a:r>
              <a:t>Run the command, get a full team</a:t>
            </a:r>
          </a:p>
        </p:txBody>
      </p:sp>
      <p:sp>
        <p:nvSpPr>
          <p:cNvPr id="16" name="TextBox 15"/>
          <p:cNvSpPr txBox="1"/>
          <p:nvPr/>
        </p:nvSpPr>
        <p:spPr>
          <a:xfrm>
            <a:off x="3291840" y="2880360"/>
            <a:ext cx="2514600" cy="502920"/>
          </a:xfrm>
          <a:prstGeom prst="rect">
            <a:avLst/>
          </a:prstGeom>
          <a:noFill/>
        </p:spPr>
        <p:txBody>
          <a:bodyPr wrap="square">
            <a:spAutoFit/>
          </a:bodyPr>
          <a:lstStyle/>
          <a:p>
            <a:pPr algn="l">
              <a:defRPr sz="800" b="0">
                <a:solidFill>
                  <a:srgbClr val="333333"/>
                </a:solidFill>
                <a:latin typeface="Aptos"/>
              </a:defRPr>
            </a:pPr>
            <a:r>
              <a:t>  npx snap-squad-emu init --type &lt;preset&gt;</a:t>
            </a:r>
          </a:p>
        </p:txBody>
      </p:sp>
      <p:sp>
        <p:nvSpPr>
          <p:cNvPr id="17" name="TextBox 16"/>
          <p:cNvSpPr txBox="1"/>
          <p:nvPr/>
        </p:nvSpPr>
        <p:spPr>
          <a:xfrm>
            <a:off x="3291840" y="3520439"/>
            <a:ext cx="2514600" cy="502920"/>
          </a:xfrm>
          <a:prstGeom prst="rect">
            <a:avLst/>
          </a:prstGeom>
          <a:noFill/>
        </p:spPr>
        <p:txBody>
          <a:bodyPr wrap="square">
            <a:spAutoFit/>
          </a:bodyPr>
          <a:lstStyle/>
          <a:p>
            <a:pPr algn="l">
              <a:defRPr sz="800" b="0">
                <a:solidFill>
                  <a:srgbClr val="333333"/>
                </a:solidFill>
                <a:latin typeface="Aptos"/>
              </a:defRPr>
            </a:pPr>
            <a:r>
              <a:t>  Creates .squad/ directory with all agent charters</a:t>
            </a:r>
          </a:p>
        </p:txBody>
      </p:sp>
      <p:sp>
        <p:nvSpPr>
          <p:cNvPr id="18" name="TextBox 17"/>
          <p:cNvSpPr txBox="1"/>
          <p:nvPr/>
        </p:nvSpPr>
        <p:spPr>
          <a:xfrm>
            <a:off x="3291840" y="4160520"/>
            <a:ext cx="2514600" cy="502920"/>
          </a:xfrm>
          <a:prstGeom prst="rect">
            <a:avLst/>
          </a:prstGeom>
          <a:noFill/>
        </p:spPr>
        <p:txBody>
          <a:bodyPr wrap="square">
            <a:spAutoFit/>
          </a:bodyPr>
          <a:lstStyle/>
          <a:p>
            <a:pPr algn="l">
              <a:defRPr sz="800" b="0">
                <a:solidFill>
                  <a:srgbClr val="333333"/>
                </a:solidFill>
                <a:latin typeface="Aptos"/>
              </a:defRPr>
            </a:pPr>
            <a:r>
              <a:t>  Sets up routing.md, team.md, decisions.md</a:t>
            </a:r>
          </a:p>
        </p:txBody>
      </p:sp>
      <p:sp>
        <p:nvSpPr>
          <p:cNvPr id="19" name="TextBox 18"/>
          <p:cNvSpPr txBox="1"/>
          <p:nvPr/>
        </p:nvSpPr>
        <p:spPr>
          <a:xfrm>
            <a:off x="3291840" y="4800600"/>
            <a:ext cx="2514600" cy="502920"/>
          </a:xfrm>
          <a:prstGeom prst="rect">
            <a:avLst/>
          </a:prstGeom>
          <a:noFill/>
        </p:spPr>
        <p:txBody>
          <a:bodyPr wrap="square">
            <a:spAutoFit/>
          </a:bodyPr>
          <a:lstStyle/>
          <a:p>
            <a:pPr algn="l">
              <a:defRPr sz="800" b="0">
                <a:solidFill>
                  <a:srgbClr val="333333"/>
                </a:solidFill>
                <a:latin typeface="Aptos"/>
              </a:defRPr>
            </a:pPr>
            <a:r>
              <a:t>  Populates AGENTS.md and CLAUDE.md</a:t>
            </a:r>
          </a:p>
        </p:txBody>
      </p:sp>
      <p:sp>
        <p:nvSpPr>
          <p:cNvPr id="20" name="Rounded Rectangle 19"/>
          <p:cNvSpPr/>
          <p:nvPr/>
        </p:nvSpPr>
        <p:spPr>
          <a:xfrm>
            <a:off x="6080759" y="1417320"/>
            <a:ext cx="2697480" cy="429768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6599" y="1554480"/>
            <a:ext cx="502920" cy="502920"/>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Aptos"/>
              </a:defRPr>
            </a:pPr>
            <a:r>
              <a:t>3</a:t>
            </a:r>
          </a:p>
        </p:txBody>
      </p:sp>
      <p:sp>
        <p:nvSpPr>
          <p:cNvPr id="22" name="TextBox 21"/>
          <p:cNvSpPr txBox="1"/>
          <p:nvPr/>
        </p:nvSpPr>
        <p:spPr>
          <a:xfrm>
            <a:off x="6172199" y="2194560"/>
            <a:ext cx="2514600" cy="274320"/>
          </a:xfrm>
          <a:prstGeom prst="rect">
            <a:avLst/>
          </a:prstGeom>
          <a:noFill/>
        </p:spPr>
        <p:txBody>
          <a:bodyPr wrap="square">
            <a:spAutoFit/>
          </a:bodyPr>
          <a:lstStyle/>
          <a:p>
            <a:pPr algn="ctr">
              <a:defRPr sz="1300" b="1">
                <a:solidFill>
                  <a:srgbClr val="225B62"/>
                </a:solidFill>
                <a:latin typeface="Aptos"/>
              </a:defRPr>
            </a:pPr>
            <a:r>
              <a:t>REVIEW &amp; CONFIGURE</a:t>
            </a:r>
          </a:p>
        </p:txBody>
      </p:sp>
      <p:sp>
        <p:nvSpPr>
          <p:cNvPr id="23" name="TextBox 22"/>
          <p:cNvSpPr txBox="1"/>
          <p:nvPr/>
        </p:nvSpPr>
        <p:spPr>
          <a:xfrm>
            <a:off x="6172199" y="2468880"/>
            <a:ext cx="2514600" cy="274320"/>
          </a:xfrm>
          <a:prstGeom prst="rect">
            <a:avLst/>
          </a:prstGeom>
          <a:noFill/>
        </p:spPr>
        <p:txBody>
          <a:bodyPr wrap="square">
            <a:spAutoFit/>
          </a:bodyPr>
          <a:lstStyle/>
          <a:p>
            <a:pPr algn="ctr">
              <a:defRPr sz="900" b="0">
                <a:solidFill>
                  <a:srgbClr val="4A4E66"/>
                </a:solidFill>
                <a:latin typeface="Aptos"/>
              </a:defRPr>
            </a:pPr>
            <a:r>
              <a:t>Verify agents, add project context</a:t>
            </a:r>
          </a:p>
        </p:txBody>
      </p:sp>
      <p:sp>
        <p:nvSpPr>
          <p:cNvPr id="24" name="TextBox 23"/>
          <p:cNvSpPr txBox="1"/>
          <p:nvPr/>
        </p:nvSpPr>
        <p:spPr>
          <a:xfrm>
            <a:off x="6172199" y="2880360"/>
            <a:ext cx="2514600" cy="502920"/>
          </a:xfrm>
          <a:prstGeom prst="rect">
            <a:avLst/>
          </a:prstGeom>
          <a:noFill/>
        </p:spPr>
        <p:txBody>
          <a:bodyPr wrap="square">
            <a:spAutoFit/>
          </a:bodyPr>
          <a:lstStyle/>
          <a:p>
            <a:pPr algn="l">
              <a:defRPr sz="800" b="0">
                <a:solidFill>
                  <a:srgbClr val="333333"/>
                </a:solidFill>
                <a:latin typeface="Aptos"/>
              </a:defRPr>
            </a:pPr>
            <a:r>
              <a:t>  Review generated agents and routing rules</a:t>
            </a:r>
          </a:p>
        </p:txBody>
      </p:sp>
      <p:sp>
        <p:nvSpPr>
          <p:cNvPr id="25" name="TextBox 24"/>
          <p:cNvSpPr txBox="1"/>
          <p:nvPr/>
        </p:nvSpPr>
        <p:spPr>
          <a:xfrm>
            <a:off x="6172199" y="3520439"/>
            <a:ext cx="2514600" cy="502920"/>
          </a:xfrm>
          <a:prstGeom prst="rect">
            <a:avLst/>
          </a:prstGeom>
          <a:noFill/>
        </p:spPr>
        <p:txBody>
          <a:bodyPr wrap="square">
            <a:spAutoFit/>
          </a:bodyPr>
          <a:lstStyle/>
          <a:p>
            <a:pPr algn="l">
              <a:defRPr sz="800" b="0">
                <a:solidFill>
                  <a:srgbClr val="333333"/>
                </a:solidFill>
                <a:latin typeface="Aptos"/>
              </a:defRPr>
            </a:pPr>
            <a:r>
              <a:t>  Update CLAUDE.md with: project owner, stack, description</a:t>
            </a:r>
          </a:p>
        </p:txBody>
      </p:sp>
      <p:sp>
        <p:nvSpPr>
          <p:cNvPr id="26" name="TextBox 25"/>
          <p:cNvSpPr txBox="1"/>
          <p:nvPr/>
        </p:nvSpPr>
        <p:spPr>
          <a:xfrm>
            <a:off x="6172199" y="4160520"/>
            <a:ext cx="2514600" cy="502920"/>
          </a:xfrm>
          <a:prstGeom prst="rect">
            <a:avLst/>
          </a:prstGeom>
          <a:noFill/>
        </p:spPr>
        <p:txBody>
          <a:bodyPr wrap="square">
            <a:spAutoFit/>
          </a:bodyPr>
          <a:lstStyle/>
          <a:p>
            <a:pPr algn="l">
              <a:defRPr sz="800" b="0">
                <a:solidFill>
                  <a:srgbClr val="333333"/>
                </a:solidFill>
                <a:latin typeface="Aptos"/>
              </a:defRPr>
            </a:pPr>
            <a:r>
              <a:t>  Set project-specific environment variables</a:t>
            </a:r>
          </a:p>
        </p:txBody>
      </p:sp>
      <p:sp>
        <p:nvSpPr>
          <p:cNvPr id="27" name="TextBox 26"/>
          <p:cNvSpPr txBox="1"/>
          <p:nvPr/>
        </p:nvSpPr>
        <p:spPr>
          <a:xfrm>
            <a:off x="6172199" y="4800600"/>
            <a:ext cx="2514600" cy="502920"/>
          </a:xfrm>
          <a:prstGeom prst="rect">
            <a:avLst/>
          </a:prstGeom>
          <a:noFill/>
        </p:spPr>
        <p:txBody>
          <a:bodyPr wrap="square">
            <a:spAutoFit/>
          </a:bodyPr>
          <a:lstStyle/>
          <a:p>
            <a:pPr algn="l">
              <a:defRPr sz="800" b="0">
                <a:solidFill>
                  <a:srgbClr val="333333"/>
                </a:solidFill>
                <a:latin typeface="Aptos"/>
              </a:defRPr>
            </a:pPr>
            <a:r>
              <a:t>  DO NOT modify agent charters or shared logic</a:t>
            </a:r>
          </a:p>
        </p:txBody>
      </p:sp>
      <p:sp>
        <p:nvSpPr>
          <p:cNvPr id="28" name="Rounded Rectangle 27"/>
          <p:cNvSpPr/>
          <p:nvPr/>
        </p:nvSpPr>
        <p:spPr>
          <a:xfrm>
            <a:off x="8961119" y="1417320"/>
            <a:ext cx="2697480" cy="429768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66959" y="1554480"/>
            <a:ext cx="502920" cy="502920"/>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Aptos"/>
              </a:defRPr>
            </a:pPr>
            <a:r>
              <a:t>4</a:t>
            </a:r>
          </a:p>
        </p:txBody>
      </p:sp>
      <p:sp>
        <p:nvSpPr>
          <p:cNvPr id="30" name="TextBox 29"/>
          <p:cNvSpPr txBox="1"/>
          <p:nvPr/>
        </p:nvSpPr>
        <p:spPr>
          <a:xfrm>
            <a:off x="9052559" y="2194560"/>
            <a:ext cx="2514600" cy="274320"/>
          </a:xfrm>
          <a:prstGeom prst="rect">
            <a:avLst/>
          </a:prstGeom>
          <a:noFill/>
        </p:spPr>
        <p:txBody>
          <a:bodyPr wrap="square">
            <a:spAutoFit/>
          </a:bodyPr>
          <a:lstStyle/>
          <a:p>
            <a:pPr algn="ctr">
              <a:defRPr sz="1300" b="1">
                <a:solidFill>
                  <a:srgbClr val="00B050"/>
                </a:solidFill>
                <a:latin typeface="Aptos"/>
              </a:defRPr>
            </a:pPr>
            <a:r>
              <a:t>EXECUTE</a:t>
            </a:r>
          </a:p>
        </p:txBody>
      </p:sp>
      <p:sp>
        <p:nvSpPr>
          <p:cNvPr id="31" name="TextBox 30"/>
          <p:cNvSpPr txBox="1"/>
          <p:nvPr/>
        </p:nvSpPr>
        <p:spPr>
          <a:xfrm>
            <a:off x="9052559" y="2468880"/>
            <a:ext cx="2514600" cy="274320"/>
          </a:xfrm>
          <a:prstGeom prst="rect">
            <a:avLst/>
          </a:prstGeom>
          <a:noFill/>
        </p:spPr>
        <p:txBody>
          <a:bodyPr wrap="square">
            <a:spAutoFit/>
          </a:bodyPr>
          <a:lstStyle/>
          <a:p>
            <a:pPr algn="ctr">
              <a:defRPr sz="900" b="0">
                <a:solidFill>
                  <a:srgbClr val="4A4E66"/>
                </a:solidFill>
                <a:latin typeface="Aptos"/>
              </a:defRPr>
            </a:pPr>
            <a:r>
              <a:t>Start delivery using the squad</a:t>
            </a:r>
          </a:p>
        </p:txBody>
      </p:sp>
      <p:sp>
        <p:nvSpPr>
          <p:cNvPr id="32" name="TextBox 31"/>
          <p:cNvSpPr txBox="1"/>
          <p:nvPr/>
        </p:nvSpPr>
        <p:spPr>
          <a:xfrm>
            <a:off x="9052559" y="2880360"/>
            <a:ext cx="2514600" cy="502920"/>
          </a:xfrm>
          <a:prstGeom prst="rect">
            <a:avLst/>
          </a:prstGeom>
          <a:noFill/>
        </p:spPr>
        <p:txBody>
          <a:bodyPr wrap="square">
            <a:spAutoFit/>
          </a:bodyPr>
          <a:lstStyle/>
          <a:p>
            <a:pPr algn="l">
              <a:defRPr sz="800" b="0">
                <a:solidFill>
                  <a:srgbClr val="333333"/>
                </a:solidFill>
                <a:latin typeface="Aptos"/>
              </a:defRPr>
            </a:pPr>
            <a:r>
              <a:t>  Agents handle: design, code, test, docs, deploy</a:t>
            </a:r>
          </a:p>
        </p:txBody>
      </p:sp>
      <p:sp>
        <p:nvSpPr>
          <p:cNvPr id="33" name="TextBox 32"/>
          <p:cNvSpPr txBox="1"/>
          <p:nvPr/>
        </p:nvSpPr>
        <p:spPr>
          <a:xfrm>
            <a:off x="9052559" y="3520439"/>
            <a:ext cx="2514600" cy="502920"/>
          </a:xfrm>
          <a:prstGeom prst="rect">
            <a:avLst/>
          </a:prstGeom>
          <a:noFill/>
        </p:spPr>
        <p:txBody>
          <a:bodyPr wrap="square">
            <a:spAutoFit/>
          </a:bodyPr>
          <a:lstStyle/>
          <a:p>
            <a:pPr algn="l">
              <a:defRPr sz="800" b="0">
                <a:solidFill>
                  <a:srgbClr val="333333"/>
                </a:solidFill>
                <a:latin typeface="Aptos"/>
              </a:defRPr>
            </a:pPr>
            <a:r>
              <a:t>  Work is routed automatically based on routing.md</a:t>
            </a:r>
          </a:p>
        </p:txBody>
      </p:sp>
      <p:sp>
        <p:nvSpPr>
          <p:cNvPr id="34" name="TextBox 33"/>
          <p:cNvSpPr txBox="1"/>
          <p:nvPr/>
        </p:nvSpPr>
        <p:spPr>
          <a:xfrm>
            <a:off x="9052559" y="4160520"/>
            <a:ext cx="2514600" cy="502920"/>
          </a:xfrm>
          <a:prstGeom prst="rect">
            <a:avLst/>
          </a:prstGeom>
          <a:noFill/>
        </p:spPr>
        <p:txBody>
          <a:bodyPr wrap="square">
            <a:spAutoFit/>
          </a:bodyPr>
          <a:lstStyle/>
          <a:p>
            <a:pPr algn="l">
              <a:defRPr sz="800" b="0">
                <a:solidFill>
                  <a:srgbClr val="333333"/>
                </a:solidFill>
                <a:latin typeface="Aptos"/>
              </a:defRPr>
            </a:pPr>
            <a:r>
              <a:t>  Human validates decisions before changes land</a:t>
            </a:r>
          </a:p>
        </p:txBody>
      </p:sp>
      <p:sp>
        <p:nvSpPr>
          <p:cNvPr id="35" name="TextBox 34"/>
          <p:cNvSpPr txBox="1"/>
          <p:nvPr/>
        </p:nvSpPr>
        <p:spPr>
          <a:xfrm>
            <a:off x="9052559" y="4800600"/>
            <a:ext cx="2514600" cy="502920"/>
          </a:xfrm>
          <a:prstGeom prst="rect">
            <a:avLst/>
          </a:prstGeom>
          <a:noFill/>
        </p:spPr>
        <p:txBody>
          <a:bodyPr wrap="square">
            <a:spAutoFit/>
          </a:bodyPr>
          <a:lstStyle/>
          <a:p>
            <a:pPr algn="l">
              <a:defRPr sz="800" b="0">
                <a:solidFill>
                  <a:srgbClr val="333333"/>
                </a:solidFill>
                <a:latin typeface="Aptos"/>
              </a:defRPr>
            </a:pPr>
            <a:r>
              <a:t>  At engagement end: submit improvements to Central</a:t>
            </a:r>
          </a:p>
        </p:txBody>
      </p:sp>
      <p:sp>
        <p:nvSpPr>
          <p:cNvPr id="36" name="TextBox 35"/>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37" name="TextBox 36"/>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05  Agent Usage in Practice</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Agents live in the repo. Teams switch agents based on the task. Routing happens automatically.</a:t>
            </a:r>
          </a:p>
        </p:txBody>
      </p:sp>
      <p:sp>
        <p:nvSpPr>
          <p:cNvPr id="4" name="Rectangle 3"/>
          <p:cNvSpPr/>
          <p:nvPr/>
        </p:nvSpPr>
        <p:spPr>
          <a:xfrm>
            <a:off x="457200" y="1371600"/>
            <a:ext cx="1645920" cy="256032"/>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REPO STRUCTURE</a:t>
            </a:r>
          </a:p>
        </p:txBody>
      </p:sp>
      <p:sp>
        <p:nvSpPr>
          <p:cNvPr id="5" name="TextBox 4"/>
          <p:cNvSpPr txBox="1"/>
          <p:nvPr/>
        </p:nvSpPr>
        <p:spPr>
          <a:xfrm>
            <a:off x="640080" y="1737360"/>
            <a:ext cx="3657600" cy="228600"/>
          </a:xfrm>
          <a:prstGeom prst="rect">
            <a:avLst/>
          </a:prstGeom>
          <a:noFill/>
        </p:spPr>
        <p:txBody>
          <a:bodyPr wrap="square">
            <a:spAutoFit/>
          </a:bodyPr>
          <a:lstStyle/>
          <a:p>
            <a:pPr algn="l">
              <a:defRPr sz="1000" b="1">
                <a:solidFill>
                  <a:srgbClr val="463668"/>
                </a:solidFill>
                <a:latin typeface="Aptos"/>
              </a:defRPr>
            </a:pPr>
            <a:r>
              <a:t>AGENTS.md</a:t>
            </a:r>
          </a:p>
        </p:txBody>
      </p:sp>
      <p:sp>
        <p:nvSpPr>
          <p:cNvPr id="6" name="TextBox 5"/>
          <p:cNvSpPr txBox="1"/>
          <p:nvPr/>
        </p:nvSpPr>
        <p:spPr>
          <a:xfrm>
            <a:off x="4389120" y="1737360"/>
            <a:ext cx="2743200" cy="228600"/>
          </a:xfrm>
          <a:prstGeom prst="rect">
            <a:avLst/>
          </a:prstGeom>
          <a:noFill/>
        </p:spPr>
        <p:txBody>
          <a:bodyPr wrap="square">
            <a:spAutoFit/>
          </a:bodyPr>
          <a:lstStyle/>
          <a:p>
            <a:pPr algn="l">
              <a:defRPr sz="1000" b="0">
                <a:solidFill>
                  <a:srgbClr val="333333"/>
                </a:solidFill>
                <a:latin typeface="Aptos"/>
              </a:defRPr>
            </a:pPr>
            <a:r>
              <a:t>Operating instructions for all agents</a:t>
            </a:r>
          </a:p>
        </p:txBody>
      </p:sp>
      <p:sp>
        <p:nvSpPr>
          <p:cNvPr id="7" name="TextBox 6"/>
          <p:cNvSpPr txBox="1"/>
          <p:nvPr/>
        </p:nvSpPr>
        <p:spPr>
          <a:xfrm>
            <a:off x="640080" y="2029967"/>
            <a:ext cx="3657600" cy="228600"/>
          </a:xfrm>
          <a:prstGeom prst="rect">
            <a:avLst/>
          </a:prstGeom>
          <a:noFill/>
        </p:spPr>
        <p:txBody>
          <a:bodyPr wrap="square">
            <a:spAutoFit/>
          </a:bodyPr>
          <a:lstStyle/>
          <a:p>
            <a:pPr algn="l">
              <a:defRPr sz="1000" b="1">
                <a:solidFill>
                  <a:srgbClr val="463668"/>
                </a:solidFill>
                <a:latin typeface="Aptos"/>
              </a:defRPr>
            </a:pPr>
            <a:r>
              <a:t>CLAUDE.md</a:t>
            </a:r>
          </a:p>
        </p:txBody>
      </p:sp>
      <p:sp>
        <p:nvSpPr>
          <p:cNvPr id="8" name="TextBox 7"/>
          <p:cNvSpPr txBox="1"/>
          <p:nvPr/>
        </p:nvSpPr>
        <p:spPr>
          <a:xfrm>
            <a:off x="4389120" y="2029967"/>
            <a:ext cx="2743200" cy="228600"/>
          </a:xfrm>
          <a:prstGeom prst="rect">
            <a:avLst/>
          </a:prstGeom>
          <a:noFill/>
        </p:spPr>
        <p:txBody>
          <a:bodyPr wrap="square">
            <a:spAutoFit/>
          </a:bodyPr>
          <a:lstStyle/>
          <a:p>
            <a:pPr algn="l">
              <a:defRPr sz="1000" b="0">
                <a:solidFill>
                  <a:srgbClr val="333333"/>
                </a:solidFill>
                <a:latin typeface="Aptos"/>
              </a:defRPr>
            </a:pPr>
            <a:r>
              <a:t>Session memory and project context</a:t>
            </a:r>
          </a:p>
        </p:txBody>
      </p:sp>
      <p:sp>
        <p:nvSpPr>
          <p:cNvPr id="9" name="TextBox 8"/>
          <p:cNvSpPr txBox="1"/>
          <p:nvPr/>
        </p:nvSpPr>
        <p:spPr>
          <a:xfrm>
            <a:off x="640080" y="2322576"/>
            <a:ext cx="3657600" cy="228600"/>
          </a:xfrm>
          <a:prstGeom prst="rect">
            <a:avLst/>
          </a:prstGeom>
          <a:noFill/>
        </p:spPr>
        <p:txBody>
          <a:bodyPr wrap="square">
            <a:spAutoFit/>
          </a:bodyPr>
          <a:lstStyle/>
          <a:p>
            <a:pPr algn="l">
              <a:defRPr sz="1000" b="1">
                <a:solidFill>
                  <a:srgbClr val="463668"/>
                </a:solidFill>
                <a:latin typeface="Aptos"/>
              </a:defRPr>
            </a:pPr>
            <a:r>
              <a:t>.squad/team.md</a:t>
            </a:r>
          </a:p>
        </p:txBody>
      </p:sp>
      <p:sp>
        <p:nvSpPr>
          <p:cNvPr id="10" name="TextBox 9"/>
          <p:cNvSpPr txBox="1"/>
          <p:nvPr/>
        </p:nvSpPr>
        <p:spPr>
          <a:xfrm>
            <a:off x="4389120" y="2322576"/>
            <a:ext cx="2743200" cy="228600"/>
          </a:xfrm>
          <a:prstGeom prst="rect">
            <a:avLst/>
          </a:prstGeom>
          <a:noFill/>
        </p:spPr>
        <p:txBody>
          <a:bodyPr wrap="square">
            <a:spAutoFit/>
          </a:bodyPr>
          <a:lstStyle/>
          <a:p>
            <a:pPr algn="l">
              <a:defRPr sz="1000" b="0">
                <a:solidFill>
                  <a:srgbClr val="333333"/>
                </a:solidFill>
                <a:latin typeface="Aptos"/>
              </a:defRPr>
            </a:pPr>
            <a:r>
              <a:t>Team roster and metadata</a:t>
            </a:r>
          </a:p>
        </p:txBody>
      </p:sp>
      <p:sp>
        <p:nvSpPr>
          <p:cNvPr id="11" name="TextBox 10"/>
          <p:cNvSpPr txBox="1"/>
          <p:nvPr/>
        </p:nvSpPr>
        <p:spPr>
          <a:xfrm>
            <a:off x="640080" y="2615184"/>
            <a:ext cx="3657600" cy="228600"/>
          </a:xfrm>
          <a:prstGeom prst="rect">
            <a:avLst/>
          </a:prstGeom>
          <a:noFill/>
        </p:spPr>
        <p:txBody>
          <a:bodyPr wrap="square">
            <a:spAutoFit/>
          </a:bodyPr>
          <a:lstStyle/>
          <a:p>
            <a:pPr algn="l">
              <a:defRPr sz="1000" b="1">
                <a:solidFill>
                  <a:srgbClr val="463668"/>
                </a:solidFill>
                <a:latin typeface="Aptos"/>
              </a:defRPr>
            </a:pPr>
            <a:r>
              <a:t>.squad/routing.md</a:t>
            </a:r>
          </a:p>
        </p:txBody>
      </p:sp>
      <p:sp>
        <p:nvSpPr>
          <p:cNvPr id="12" name="TextBox 11"/>
          <p:cNvSpPr txBox="1"/>
          <p:nvPr/>
        </p:nvSpPr>
        <p:spPr>
          <a:xfrm>
            <a:off x="4389120" y="2615184"/>
            <a:ext cx="2743200" cy="228600"/>
          </a:xfrm>
          <a:prstGeom prst="rect">
            <a:avLst/>
          </a:prstGeom>
          <a:noFill/>
        </p:spPr>
        <p:txBody>
          <a:bodyPr wrap="square">
            <a:spAutoFit/>
          </a:bodyPr>
          <a:lstStyle/>
          <a:p>
            <a:pPr algn="l">
              <a:defRPr sz="1000" b="0">
                <a:solidFill>
                  <a:srgbClr val="333333"/>
                </a:solidFill>
                <a:latin typeface="Aptos"/>
              </a:defRPr>
            </a:pPr>
            <a:r>
              <a:t>Work type --&gt; agent mapping</a:t>
            </a:r>
          </a:p>
        </p:txBody>
      </p:sp>
      <p:sp>
        <p:nvSpPr>
          <p:cNvPr id="13" name="TextBox 12"/>
          <p:cNvSpPr txBox="1"/>
          <p:nvPr/>
        </p:nvSpPr>
        <p:spPr>
          <a:xfrm>
            <a:off x="640080" y="2907791"/>
            <a:ext cx="3657600" cy="228600"/>
          </a:xfrm>
          <a:prstGeom prst="rect">
            <a:avLst/>
          </a:prstGeom>
          <a:noFill/>
        </p:spPr>
        <p:txBody>
          <a:bodyPr wrap="square">
            <a:spAutoFit/>
          </a:bodyPr>
          <a:lstStyle/>
          <a:p>
            <a:pPr algn="l">
              <a:defRPr sz="1000" b="1">
                <a:solidFill>
                  <a:srgbClr val="463668"/>
                </a:solidFill>
                <a:latin typeface="Aptos"/>
              </a:defRPr>
            </a:pPr>
            <a:r>
              <a:t>.squad/decisions.md</a:t>
            </a:r>
          </a:p>
        </p:txBody>
      </p:sp>
      <p:sp>
        <p:nvSpPr>
          <p:cNvPr id="14" name="TextBox 13"/>
          <p:cNvSpPr txBox="1"/>
          <p:nvPr/>
        </p:nvSpPr>
        <p:spPr>
          <a:xfrm>
            <a:off x="4389120" y="2907791"/>
            <a:ext cx="2743200" cy="228600"/>
          </a:xfrm>
          <a:prstGeom prst="rect">
            <a:avLst/>
          </a:prstGeom>
          <a:noFill/>
        </p:spPr>
        <p:txBody>
          <a:bodyPr wrap="square">
            <a:spAutoFit/>
          </a:bodyPr>
          <a:lstStyle/>
          <a:p>
            <a:pPr algn="l">
              <a:defRPr sz="1000" b="0">
                <a:solidFill>
                  <a:srgbClr val="333333"/>
                </a:solidFill>
                <a:latin typeface="Aptos"/>
              </a:defRPr>
            </a:pPr>
            <a:r>
              <a:t>Active design decisions</a:t>
            </a:r>
          </a:p>
        </p:txBody>
      </p:sp>
      <p:sp>
        <p:nvSpPr>
          <p:cNvPr id="15" name="TextBox 14"/>
          <p:cNvSpPr txBox="1"/>
          <p:nvPr/>
        </p:nvSpPr>
        <p:spPr>
          <a:xfrm>
            <a:off x="640080" y="3200400"/>
            <a:ext cx="3657600" cy="228600"/>
          </a:xfrm>
          <a:prstGeom prst="rect">
            <a:avLst/>
          </a:prstGeom>
          <a:noFill/>
        </p:spPr>
        <p:txBody>
          <a:bodyPr wrap="square">
            <a:spAutoFit/>
          </a:bodyPr>
          <a:lstStyle/>
          <a:p>
            <a:pPr algn="l">
              <a:defRPr sz="1000" b="1">
                <a:solidFill>
                  <a:srgbClr val="463668"/>
                </a:solidFill>
                <a:latin typeface="Aptos"/>
              </a:defRPr>
            </a:pPr>
            <a:r>
              <a:t>.squad/agents/&lt;name&gt;/charter.md</a:t>
            </a:r>
          </a:p>
        </p:txBody>
      </p:sp>
      <p:sp>
        <p:nvSpPr>
          <p:cNvPr id="16" name="TextBox 15"/>
          <p:cNvSpPr txBox="1"/>
          <p:nvPr/>
        </p:nvSpPr>
        <p:spPr>
          <a:xfrm>
            <a:off x="4389120" y="3200400"/>
            <a:ext cx="2743200" cy="228600"/>
          </a:xfrm>
          <a:prstGeom prst="rect">
            <a:avLst/>
          </a:prstGeom>
          <a:noFill/>
        </p:spPr>
        <p:txBody>
          <a:bodyPr wrap="square">
            <a:spAutoFit/>
          </a:bodyPr>
          <a:lstStyle/>
          <a:p>
            <a:pPr algn="l">
              <a:defRPr sz="1000" b="0">
                <a:solidFill>
                  <a:srgbClr val="333333"/>
                </a:solidFill>
                <a:latin typeface="Aptos"/>
              </a:defRPr>
            </a:pPr>
            <a:r>
              <a:t>Individual agent identity</a:t>
            </a:r>
          </a:p>
        </p:txBody>
      </p:sp>
      <p:sp>
        <p:nvSpPr>
          <p:cNvPr id="17" name="Rectangle 16"/>
          <p:cNvSpPr/>
          <p:nvPr/>
        </p:nvSpPr>
        <p:spPr>
          <a:xfrm>
            <a:off x="5943600" y="1371600"/>
            <a:ext cx="2560320" cy="256032"/>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AGENT EXECUTION DOMAINS</a:t>
            </a:r>
          </a:p>
        </p:txBody>
      </p:sp>
      <p:sp>
        <p:nvSpPr>
          <p:cNvPr id="18" name="TextBox 17"/>
          <p:cNvSpPr txBox="1"/>
          <p:nvPr/>
        </p:nvSpPr>
        <p:spPr>
          <a:xfrm>
            <a:off x="6126480" y="1737360"/>
            <a:ext cx="1097280" cy="228600"/>
          </a:xfrm>
          <a:prstGeom prst="rect">
            <a:avLst/>
          </a:prstGeom>
          <a:noFill/>
        </p:spPr>
        <p:txBody>
          <a:bodyPr wrap="square">
            <a:spAutoFit/>
          </a:bodyPr>
          <a:lstStyle/>
          <a:p>
            <a:pPr algn="l">
              <a:defRPr sz="1000" b="1">
                <a:solidFill>
                  <a:srgbClr val="0178D4"/>
                </a:solidFill>
                <a:latin typeface="Aptos"/>
              </a:defRPr>
            </a:pPr>
            <a:r>
              <a:t>Architect</a:t>
            </a:r>
          </a:p>
        </p:txBody>
      </p:sp>
      <p:sp>
        <p:nvSpPr>
          <p:cNvPr id="19" name="TextBox 18"/>
          <p:cNvSpPr txBox="1"/>
          <p:nvPr/>
        </p:nvSpPr>
        <p:spPr>
          <a:xfrm>
            <a:off x="7315200" y="1737360"/>
            <a:ext cx="4114800" cy="228600"/>
          </a:xfrm>
          <a:prstGeom prst="rect">
            <a:avLst/>
          </a:prstGeom>
          <a:noFill/>
        </p:spPr>
        <p:txBody>
          <a:bodyPr wrap="square">
            <a:spAutoFit/>
          </a:bodyPr>
          <a:lstStyle/>
          <a:p>
            <a:pPr algn="l">
              <a:defRPr sz="1000" b="0">
                <a:solidFill>
                  <a:srgbClr val="333333"/>
                </a:solidFill>
                <a:latin typeface="Aptos"/>
              </a:defRPr>
            </a:pPr>
            <a:r>
              <a:t>System design, scope, ADRs</a:t>
            </a:r>
          </a:p>
        </p:txBody>
      </p:sp>
      <p:sp>
        <p:nvSpPr>
          <p:cNvPr id="20" name="TextBox 19"/>
          <p:cNvSpPr txBox="1"/>
          <p:nvPr/>
        </p:nvSpPr>
        <p:spPr>
          <a:xfrm>
            <a:off x="6126480" y="2057400"/>
            <a:ext cx="1097280" cy="228600"/>
          </a:xfrm>
          <a:prstGeom prst="rect">
            <a:avLst/>
          </a:prstGeom>
          <a:noFill/>
        </p:spPr>
        <p:txBody>
          <a:bodyPr wrap="square">
            <a:spAutoFit/>
          </a:bodyPr>
          <a:lstStyle/>
          <a:p>
            <a:pPr algn="l">
              <a:defRPr sz="1000" b="1">
                <a:solidFill>
                  <a:srgbClr val="463668"/>
                </a:solidFill>
                <a:latin typeface="Aptos"/>
              </a:defRPr>
            </a:pPr>
            <a:r>
              <a:t>Coder</a:t>
            </a:r>
          </a:p>
        </p:txBody>
      </p:sp>
      <p:sp>
        <p:nvSpPr>
          <p:cNvPr id="21" name="TextBox 20"/>
          <p:cNvSpPr txBox="1"/>
          <p:nvPr/>
        </p:nvSpPr>
        <p:spPr>
          <a:xfrm>
            <a:off x="7315200" y="2057400"/>
            <a:ext cx="4114800" cy="228600"/>
          </a:xfrm>
          <a:prstGeom prst="rect">
            <a:avLst/>
          </a:prstGeom>
          <a:noFill/>
        </p:spPr>
        <p:txBody>
          <a:bodyPr wrap="square">
            <a:spAutoFit/>
          </a:bodyPr>
          <a:lstStyle/>
          <a:p>
            <a:pPr algn="l">
              <a:defRPr sz="1000" b="0">
                <a:solidFill>
                  <a:srgbClr val="333333"/>
                </a:solidFill>
                <a:latin typeface="Aptos"/>
              </a:defRPr>
            </a:pPr>
            <a:r>
              <a:t>Implementation, debugging</a:t>
            </a:r>
          </a:p>
        </p:txBody>
      </p:sp>
      <p:sp>
        <p:nvSpPr>
          <p:cNvPr id="22" name="TextBox 21"/>
          <p:cNvSpPr txBox="1"/>
          <p:nvPr/>
        </p:nvSpPr>
        <p:spPr>
          <a:xfrm>
            <a:off x="6126480" y="2377439"/>
            <a:ext cx="1097280" cy="228600"/>
          </a:xfrm>
          <a:prstGeom prst="rect">
            <a:avLst/>
          </a:prstGeom>
          <a:noFill/>
        </p:spPr>
        <p:txBody>
          <a:bodyPr wrap="square">
            <a:spAutoFit/>
          </a:bodyPr>
          <a:lstStyle/>
          <a:p>
            <a:pPr algn="l">
              <a:defRPr sz="1000" b="1">
                <a:solidFill>
                  <a:srgbClr val="00B050"/>
                </a:solidFill>
                <a:latin typeface="Aptos"/>
              </a:defRPr>
            </a:pPr>
            <a:r>
              <a:t>Tester</a:t>
            </a:r>
          </a:p>
        </p:txBody>
      </p:sp>
      <p:sp>
        <p:nvSpPr>
          <p:cNvPr id="23" name="TextBox 22"/>
          <p:cNvSpPr txBox="1"/>
          <p:nvPr/>
        </p:nvSpPr>
        <p:spPr>
          <a:xfrm>
            <a:off x="7315200" y="2377439"/>
            <a:ext cx="4114800" cy="228600"/>
          </a:xfrm>
          <a:prstGeom prst="rect">
            <a:avLst/>
          </a:prstGeom>
          <a:noFill/>
        </p:spPr>
        <p:txBody>
          <a:bodyPr wrap="square">
            <a:spAutoFit/>
          </a:bodyPr>
          <a:lstStyle/>
          <a:p>
            <a:pPr algn="l">
              <a:defRPr sz="1000" b="0">
                <a:solidFill>
                  <a:srgbClr val="333333"/>
                </a:solidFill>
                <a:latin typeface="Aptos"/>
              </a:defRPr>
            </a:pPr>
            <a:r>
              <a:t>QA, edge cases, test suites</a:t>
            </a:r>
          </a:p>
        </p:txBody>
      </p:sp>
      <p:sp>
        <p:nvSpPr>
          <p:cNvPr id="24" name="TextBox 23"/>
          <p:cNvSpPr txBox="1"/>
          <p:nvPr/>
        </p:nvSpPr>
        <p:spPr>
          <a:xfrm>
            <a:off x="6126480" y="2697479"/>
            <a:ext cx="1097280" cy="228600"/>
          </a:xfrm>
          <a:prstGeom prst="rect">
            <a:avLst/>
          </a:prstGeom>
          <a:noFill/>
        </p:spPr>
        <p:txBody>
          <a:bodyPr wrap="square">
            <a:spAutoFit/>
          </a:bodyPr>
          <a:lstStyle/>
          <a:p>
            <a:pPr algn="l">
              <a:defRPr sz="1000" b="1">
                <a:solidFill>
                  <a:srgbClr val="225B62"/>
                </a:solidFill>
                <a:latin typeface="Aptos"/>
              </a:defRPr>
            </a:pPr>
            <a:r>
              <a:t>DevRel</a:t>
            </a:r>
          </a:p>
        </p:txBody>
      </p:sp>
      <p:sp>
        <p:nvSpPr>
          <p:cNvPr id="25" name="TextBox 24"/>
          <p:cNvSpPr txBox="1"/>
          <p:nvPr/>
        </p:nvSpPr>
        <p:spPr>
          <a:xfrm>
            <a:off x="7315200" y="2697479"/>
            <a:ext cx="4114800" cy="228600"/>
          </a:xfrm>
          <a:prstGeom prst="rect">
            <a:avLst/>
          </a:prstGeom>
          <a:noFill/>
        </p:spPr>
        <p:txBody>
          <a:bodyPr wrap="square">
            <a:spAutoFit/>
          </a:bodyPr>
          <a:lstStyle/>
          <a:p>
            <a:pPr algn="l">
              <a:defRPr sz="1000" b="0">
                <a:solidFill>
                  <a:srgbClr val="333333"/>
                </a:solidFill>
                <a:latin typeface="Aptos"/>
              </a:defRPr>
            </a:pPr>
            <a:r>
              <a:t>Docs, README, onboarding</a:t>
            </a:r>
          </a:p>
        </p:txBody>
      </p:sp>
      <p:sp>
        <p:nvSpPr>
          <p:cNvPr id="26" name="TextBox 25"/>
          <p:cNvSpPr txBox="1"/>
          <p:nvPr/>
        </p:nvSpPr>
        <p:spPr>
          <a:xfrm>
            <a:off x="6126480" y="3017520"/>
            <a:ext cx="1097280" cy="228600"/>
          </a:xfrm>
          <a:prstGeom prst="rect">
            <a:avLst/>
          </a:prstGeom>
          <a:noFill/>
        </p:spPr>
        <p:txBody>
          <a:bodyPr wrap="square">
            <a:spAutoFit/>
          </a:bodyPr>
          <a:lstStyle/>
          <a:p>
            <a:pPr algn="l">
              <a:defRPr sz="1000" b="1">
                <a:solidFill>
                  <a:srgbClr val="FE8B00"/>
                </a:solidFill>
                <a:latin typeface="Aptos"/>
              </a:defRPr>
            </a:pPr>
            <a:r>
              <a:t>GitOps</a:t>
            </a:r>
          </a:p>
        </p:txBody>
      </p:sp>
      <p:sp>
        <p:nvSpPr>
          <p:cNvPr id="27" name="TextBox 26"/>
          <p:cNvSpPr txBox="1"/>
          <p:nvPr/>
        </p:nvSpPr>
        <p:spPr>
          <a:xfrm>
            <a:off x="7315200" y="3017520"/>
            <a:ext cx="4114800" cy="228600"/>
          </a:xfrm>
          <a:prstGeom prst="rect">
            <a:avLst/>
          </a:prstGeom>
          <a:noFill/>
        </p:spPr>
        <p:txBody>
          <a:bodyPr wrap="square">
            <a:spAutoFit/>
          </a:bodyPr>
          <a:lstStyle/>
          <a:p>
            <a:pPr algn="l">
              <a:defRPr sz="1000" b="0">
                <a:solidFill>
                  <a:srgbClr val="333333"/>
                </a:solidFill>
                <a:latin typeface="Aptos"/>
              </a:defRPr>
            </a:pPr>
            <a:r>
              <a:t>CI/CD, releases, git workflow</a:t>
            </a:r>
          </a:p>
        </p:txBody>
      </p:sp>
      <p:sp>
        <p:nvSpPr>
          <p:cNvPr id="28" name="TextBox 27"/>
          <p:cNvSpPr txBox="1"/>
          <p:nvPr/>
        </p:nvSpPr>
        <p:spPr>
          <a:xfrm>
            <a:off x="6126480" y="3337560"/>
            <a:ext cx="1097280" cy="228600"/>
          </a:xfrm>
          <a:prstGeom prst="rect">
            <a:avLst/>
          </a:prstGeom>
          <a:noFill/>
        </p:spPr>
        <p:txBody>
          <a:bodyPr wrap="square">
            <a:spAutoFit/>
          </a:bodyPr>
          <a:lstStyle/>
          <a:p>
            <a:pPr algn="l">
              <a:defRPr sz="1000" b="1">
                <a:solidFill>
                  <a:srgbClr val="00BCF2"/>
                </a:solidFill>
                <a:latin typeface="Aptos"/>
              </a:defRPr>
            </a:pPr>
            <a:r>
              <a:t>Evaluator</a:t>
            </a:r>
          </a:p>
        </p:txBody>
      </p:sp>
      <p:sp>
        <p:nvSpPr>
          <p:cNvPr id="29" name="TextBox 28"/>
          <p:cNvSpPr txBox="1"/>
          <p:nvPr/>
        </p:nvSpPr>
        <p:spPr>
          <a:xfrm>
            <a:off x="7315200" y="3337560"/>
            <a:ext cx="4114800" cy="228600"/>
          </a:xfrm>
          <a:prstGeom prst="rect">
            <a:avLst/>
          </a:prstGeom>
          <a:noFill/>
        </p:spPr>
        <p:txBody>
          <a:bodyPr wrap="square">
            <a:spAutoFit/>
          </a:bodyPr>
          <a:lstStyle/>
          <a:p>
            <a:pPr algn="l">
              <a:defRPr sz="1000" b="0">
                <a:solidFill>
                  <a:srgbClr val="333333"/>
                </a:solidFill>
                <a:latin typeface="Aptos"/>
              </a:defRPr>
            </a:pPr>
            <a:r>
              <a:t>Quality baselines, evals</a:t>
            </a:r>
          </a:p>
        </p:txBody>
      </p:sp>
      <p:sp>
        <p:nvSpPr>
          <p:cNvPr id="30" name="Rectangle 29"/>
          <p:cNvSpPr/>
          <p:nvPr/>
        </p:nvSpPr>
        <p:spPr>
          <a:xfrm>
            <a:off x="457200" y="3840480"/>
            <a:ext cx="1828800" cy="256032"/>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ROUTING IN ACTION</a:t>
            </a:r>
          </a:p>
        </p:txBody>
      </p:sp>
      <p:sp>
        <p:nvSpPr>
          <p:cNvPr id="31" name="TextBox 30"/>
          <p:cNvSpPr txBox="1"/>
          <p:nvPr/>
        </p:nvSpPr>
        <p:spPr>
          <a:xfrm>
            <a:off x="640080" y="4251960"/>
            <a:ext cx="3200400" cy="274320"/>
          </a:xfrm>
          <a:prstGeom prst="rect">
            <a:avLst/>
          </a:prstGeom>
          <a:noFill/>
        </p:spPr>
        <p:txBody>
          <a:bodyPr wrap="square">
            <a:spAutoFit/>
          </a:bodyPr>
          <a:lstStyle/>
          <a:p>
            <a:pPr algn="l">
              <a:defRPr sz="1000" b="1">
                <a:solidFill>
                  <a:srgbClr val="0178D4"/>
                </a:solidFill>
                <a:latin typeface="Aptos"/>
              </a:defRPr>
            </a:pPr>
            <a:r>
              <a:t>Code change submitted</a:t>
            </a:r>
          </a:p>
        </p:txBody>
      </p:sp>
      <p:sp>
        <p:nvSpPr>
          <p:cNvPr id="32" name="Right Arrow 31"/>
          <p:cNvSpPr/>
          <p:nvPr/>
        </p:nvSpPr>
        <p:spPr>
          <a:xfrm>
            <a:off x="3931920" y="4270248"/>
            <a:ext cx="18288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7680" y="4251960"/>
            <a:ext cx="7132320" cy="274320"/>
          </a:xfrm>
          <a:prstGeom prst="rect">
            <a:avLst/>
          </a:prstGeom>
          <a:noFill/>
        </p:spPr>
        <p:txBody>
          <a:bodyPr wrap="square">
            <a:spAutoFit/>
          </a:bodyPr>
          <a:lstStyle/>
          <a:p>
            <a:pPr algn="l">
              <a:defRPr sz="1000" b="0">
                <a:solidFill>
                  <a:srgbClr val="333333"/>
                </a:solidFill>
                <a:latin typeface="Aptos"/>
              </a:defRPr>
            </a:pPr>
            <a:r>
              <a:t>Coder leads implementation, Tester validates</a:t>
            </a:r>
          </a:p>
        </p:txBody>
      </p:sp>
      <p:sp>
        <p:nvSpPr>
          <p:cNvPr id="34" name="TextBox 33"/>
          <p:cNvSpPr txBox="1"/>
          <p:nvPr/>
        </p:nvSpPr>
        <p:spPr>
          <a:xfrm>
            <a:off x="640080" y="4636008"/>
            <a:ext cx="3200400" cy="274320"/>
          </a:xfrm>
          <a:prstGeom prst="rect">
            <a:avLst/>
          </a:prstGeom>
          <a:noFill/>
        </p:spPr>
        <p:txBody>
          <a:bodyPr wrap="square">
            <a:spAutoFit/>
          </a:bodyPr>
          <a:lstStyle/>
          <a:p>
            <a:pPr algn="l">
              <a:defRPr sz="1000" b="1">
                <a:solidFill>
                  <a:srgbClr val="0178D4"/>
                </a:solidFill>
                <a:latin typeface="Aptos"/>
              </a:defRPr>
            </a:pPr>
            <a:r>
              <a:t>Architecture question</a:t>
            </a:r>
          </a:p>
        </p:txBody>
      </p:sp>
      <p:sp>
        <p:nvSpPr>
          <p:cNvPr id="35" name="Right Arrow 34"/>
          <p:cNvSpPr/>
          <p:nvPr/>
        </p:nvSpPr>
        <p:spPr>
          <a:xfrm>
            <a:off x="3931920" y="4654296"/>
            <a:ext cx="18288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97680" y="4636008"/>
            <a:ext cx="7132320" cy="274320"/>
          </a:xfrm>
          <a:prstGeom prst="rect">
            <a:avLst/>
          </a:prstGeom>
          <a:noFill/>
        </p:spPr>
        <p:txBody>
          <a:bodyPr wrap="square">
            <a:spAutoFit/>
          </a:bodyPr>
          <a:lstStyle/>
          <a:p>
            <a:pPr algn="l">
              <a:defRPr sz="1000" b="0">
                <a:solidFill>
                  <a:srgbClr val="333333"/>
                </a:solidFill>
                <a:latin typeface="Aptos"/>
              </a:defRPr>
            </a:pPr>
            <a:r>
              <a:t>Architect leads decision, logs to decisions.md</a:t>
            </a:r>
          </a:p>
        </p:txBody>
      </p:sp>
      <p:sp>
        <p:nvSpPr>
          <p:cNvPr id="37" name="TextBox 36"/>
          <p:cNvSpPr txBox="1"/>
          <p:nvPr/>
        </p:nvSpPr>
        <p:spPr>
          <a:xfrm>
            <a:off x="640080" y="5020056"/>
            <a:ext cx="3200400" cy="274320"/>
          </a:xfrm>
          <a:prstGeom prst="rect">
            <a:avLst/>
          </a:prstGeom>
          <a:noFill/>
        </p:spPr>
        <p:txBody>
          <a:bodyPr wrap="square">
            <a:spAutoFit/>
          </a:bodyPr>
          <a:lstStyle/>
          <a:p>
            <a:pPr algn="l">
              <a:defRPr sz="1000" b="1">
                <a:solidFill>
                  <a:srgbClr val="0178D4"/>
                </a:solidFill>
                <a:latin typeface="Aptos"/>
              </a:defRPr>
            </a:pPr>
            <a:r>
              <a:t>Documentation needed</a:t>
            </a:r>
          </a:p>
        </p:txBody>
      </p:sp>
      <p:sp>
        <p:nvSpPr>
          <p:cNvPr id="38" name="Right Arrow 37"/>
          <p:cNvSpPr/>
          <p:nvPr/>
        </p:nvSpPr>
        <p:spPr>
          <a:xfrm>
            <a:off x="3931920" y="5038344"/>
            <a:ext cx="18288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7680" y="5020056"/>
            <a:ext cx="7132320" cy="274320"/>
          </a:xfrm>
          <a:prstGeom prst="rect">
            <a:avLst/>
          </a:prstGeom>
          <a:noFill/>
        </p:spPr>
        <p:txBody>
          <a:bodyPr wrap="square">
            <a:spAutoFit/>
          </a:bodyPr>
          <a:lstStyle/>
          <a:p>
            <a:pPr algn="l">
              <a:defRPr sz="1000" b="0">
                <a:solidFill>
                  <a:srgbClr val="333333"/>
                </a:solidFill>
                <a:latin typeface="Aptos"/>
              </a:defRPr>
            </a:pPr>
            <a:r>
              <a:t>DevRel generates docs, Scribe records in JOURNAL.md</a:t>
            </a:r>
          </a:p>
        </p:txBody>
      </p:sp>
      <p:sp>
        <p:nvSpPr>
          <p:cNvPr id="40" name="TextBox 39"/>
          <p:cNvSpPr txBox="1"/>
          <p:nvPr/>
        </p:nvSpPr>
        <p:spPr>
          <a:xfrm>
            <a:off x="640080" y="5404104"/>
            <a:ext cx="3200400" cy="274320"/>
          </a:xfrm>
          <a:prstGeom prst="rect">
            <a:avLst/>
          </a:prstGeom>
          <a:noFill/>
        </p:spPr>
        <p:txBody>
          <a:bodyPr wrap="square">
            <a:spAutoFit/>
          </a:bodyPr>
          <a:lstStyle/>
          <a:p>
            <a:pPr algn="l">
              <a:defRPr sz="1000" b="1">
                <a:solidFill>
                  <a:srgbClr val="0178D4"/>
                </a:solidFill>
                <a:latin typeface="Aptos"/>
              </a:defRPr>
            </a:pPr>
            <a:r>
              <a:t>Release preparation</a:t>
            </a:r>
          </a:p>
        </p:txBody>
      </p:sp>
      <p:sp>
        <p:nvSpPr>
          <p:cNvPr id="41" name="Right Arrow 40"/>
          <p:cNvSpPr/>
          <p:nvPr/>
        </p:nvSpPr>
        <p:spPr>
          <a:xfrm>
            <a:off x="3931920" y="5422392"/>
            <a:ext cx="18288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97680" y="5404104"/>
            <a:ext cx="7132320" cy="274320"/>
          </a:xfrm>
          <a:prstGeom prst="rect">
            <a:avLst/>
          </a:prstGeom>
          <a:noFill/>
        </p:spPr>
        <p:txBody>
          <a:bodyPr wrap="square">
            <a:spAutoFit/>
          </a:bodyPr>
          <a:lstStyle/>
          <a:p>
            <a:pPr algn="l">
              <a:defRPr sz="1000" b="0">
                <a:solidFill>
                  <a:srgbClr val="333333"/>
                </a:solidFill>
                <a:latin typeface="Aptos"/>
              </a:defRPr>
            </a:pPr>
            <a:r>
              <a:t>GitOps manages pipeline, Evaluator checks quality gates</a:t>
            </a:r>
          </a:p>
        </p:txBody>
      </p:sp>
      <p:sp>
        <p:nvSpPr>
          <p:cNvPr id="43" name="Rounded Rectangle 42"/>
          <p:cNvSpPr/>
          <p:nvPr/>
        </p:nvSpPr>
        <p:spPr>
          <a:xfrm>
            <a:off x="457200" y="5852160"/>
            <a:ext cx="10972800" cy="0"/>
          </a:xfrm>
          <a:prstGeom prst="round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57200" y="5577840"/>
            <a:ext cx="10972800" cy="274320"/>
          </a:xfrm>
          <a:prstGeom prst="roundRect">
            <a:avLst/>
          </a:prstGeom>
          <a:solidFill>
            <a:srgbClr val="F2F7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5596128"/>
            <a:ext cx="10424160" cy="228600"/>
          </a:xfrm>
          <a:prstGeom prst="rect">
            <a:avLst/>
          </a:prstGeom>
          <a:noFill/>
        </p:spPr>
        <p:txBody>
          <a:bodyPr wrap="square">
            <a:spAutoFit/>
          </a:bodyPr>
          <a:lstStyle/>
          <a:p>
            <a:pPr algn="l">
              <a:defRPr sz="1000" b="1">
                <a:solidFill>
                  <a:srgbClr val="0178D4"/>
                </a:solidFill>
                <a:latin typeface="Aptos"/>
              </a:defRPr>
            </a:pPr>
            <a:r>
              <a:t>Human-in-the-loop: All agent outputs require human validation before landing in production.</a:t>
            </a:r>
          </a:p>
        </p:txBody>
      </p:sp>
      <p:sp>
        <p:nvSpPr>
          <p:cNvPr id="46" name="TextBox 45"/>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47" name="TextBox 46"/>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06-07  Creating &amp; Publishing Agents</a:t>
            </a:r>
          </a:p>
        </p:txBody>
      </p:sp>
      <p:sp>
        <p:nvSpPr>
          <p:cNvPr id="3" name="Rectangle 2"/>
          <p:cNvSpPr/>
          <p:nvPr/>
        </p:nvSpPr>
        <p:spPr>
          <a:xfrm>
            <a:off x="457200" y="914400"/>
            <a:ext cx="3200400" cy="256032"/>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DECISION: REUSE OR CREATE?</a:t>
            </a:r>
          </a:p>
        </p:txBody>
      </p:sp>
      <p:sp>
        <p:nvSpPr>
          <p:cNvPr id="4" name="Rounded Rectangle 3"/>
          <p:cNvSpPr/>
          <p:nvPr/>
        </p:nvSpPr>
        <p:spPr>
          <a:xfrm>
            <a:off x="457200" y="1325880"/>
            <a:ext cx="5303520" cy="1828800"/>
          </a:xfrm>
          <a:prstGeom prst="roundRect">
            <a:avLst/>
          </a:prstGeom>
          <a:solidFill>
            <a:srgbClr val="E8F5E9"/>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4937760" cy="274320"/>
          </a:xfrm>
          <a:prstGeom prst="rect">
            <a:avLst/>
          </a:prstGeom>
          <a:noFill/>
        </p:spPr>
        <p:txBody>
          <a:bodyPr wrap="square">
            <a:spAutoFit/>
          </a:bodyPr>
          <a:lstStyle/>
          <a:p>
            <a:pPr algn="l">
              <a:defRPr sz="1300" b="1">
                <a:solidFill>
                  <a:srgbClr val="00B050"/>
                </a:solidFill>
                <a:latin typeface="Aptos"/>
              </a:defRPr>
            </a:pPr>
            <a:r>
              <a:t>REUSE (Default -- always try this first)</a:t>
            </a:r>
          </a:p>
        </p:txBody>
      </p:sp>
      <p:sp>
        <p:nvSpPr>
          <p:cNvPr id="6" name="TextBox 5"/>
          <p:cNvSpPr txBox="1"/>
          <p:nvPr/>
        </p:nvSpPr>
        <p:spPr>
          <a:xfrm>
            <a:off x="822960" y="1737360"/>
            <a:ext cx="4754880" cy="274320"/>
          </a:xfrm>
          <a:prstGeom prst="rect">
            <a:avLst/>
          </a:prstGeom>
          <a:noFill/>
        </p:spPr>
        <p:txBody>
          <a:bodyPr wrap="square">
            <a:spAutoFit/>
          </a:bodyPr>
          <a:lstStyle/>
          <a:p>
            <a:pPr algn="l">
              <a:defRPr sz="1000" b="0">
                <a:solidFill>
                  <a:srgbClr val="333333"/>
                </a:solidFill>
                <a:latin typeface="Aptos"/>
              </a:defRPr>
            </a:pPr>
            <a:r>
              <a:t>  Similar agent exists in Central (&gt;= 80% capability match)</a:t>
            </a:r>
          </a:p>
        </p:txBody>
      </p:sp>
      <p:sp>
        <p:nvSpPr>
          <p:cNvPr id="7" name="TextBox 6"/>
          <p:cNvSpPr txBox="1"/>
          <p:nvPr/>
        </p:nvSpPr>
        <p:spPr>
          <a:xfrm>
            <a:off x="822960" y="2103120"/>
            <a:ext cx="4754880" cy="274320"/>
          </a:xfrm>
          <a:prstGeom prst="rect">
            <a:avLst/>
          </a:prstGeom>
          <a:noFill/>
        </p:spPr>
        <p:txBody>
          <a:bodyPr wrap="square">
            <a:spAutoFit/>
          </a:bodyPr>
          <a:lstStyle/>
          <a:p>
            <a:pPr algn="l">
              <a:defRPr sz="1000" b="0">
                <a:solidFill>
                  <a:srgbClr val="333333"/>
                </a:solidFill>
                <a:latin typeface="Aptos"/>
              </a:defRPr>
            </a:pPr>
            <a:r>
              <a:t>  Gap can be bridged with configuration changes only</a:t>
            </a:r>
          </a:p>
        </p:txBody>
      </p:sp>
      <p:sp>
        <p:nvSpPr>
          <p:cNvPr id="8" name="TextBox 7"/>
          <p:cNvSpPr txBox="1"/>
          <p:nvPr/>
        </p:nvSpPr>
        <p:spPr>
          <a:xfrm>
            <a:off x="822960" y="2468880"/>
            <a:ext cx="4754880" cy="274320"/>
          </a:xfrm>
          <a:prstGeom prst="rect">
            <a:avLst/>
          </a:prstGeom>
          <a:noFill/>
        </p:spPr>
        <p:txBody>
          <a:bodyPr wrap="square">
            <a:spAutoFit/>
          </a:bodyPr>
          <a:lstStyle/>
          <a:p>
            <a:pPr algn="l">
              <a:defRPr sz="1000" b="0">
                <a:solidFill>
                  <a:srgbClr val="333333"/>
                </a:solidFill>
                <a:latin typeface="Aptos"/>
              </a:defRPr>
            </a:pPr>
            <a:r>
              <a:t>  Another team has solved a similar problem before</a:t>
            </a:r>
          </a:p>
        </p:txBody>
      </p:sp>
      <p:sp>
        <p:nvSpPr>
          <p:cNvPr id="9" name="Rounded Rectangle 8"/>
          <p:cNvSpPr/>
          <p:nvPr/>
        </p:nvSpPr>
        <p:spPr>
          <a:xfrm>
            <a:off x="6126480" y="1325880"/>
            <a:ext cx="5303520" cy="1828800"/>
          </a:xfrm>
          <a:prstGeom prst="roundRect">
            <a:avLst/>
          </a:prstGeom>
          <a:solidFill>
            <a:srgbClr val="FFF3E0"/>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371600"/>
            <a:ext cx="4937760" cy="274320"/>
          </a:xfrm>
          <a:prstGeom prst="rect">
            <a:avLst/>
          </a:prstGeom>
          <a:noFill/>
        </p:spPr>
        <p:txBody>
          <a:bodyPr wrap="square">
            <a:spAutoFit/>
          </a:bodyPr>
          <a:lstStyle/>
          <a:p>
            <a:pPr algn="l">
              <a:defRPr sz="1300" b="1">
                <a:solidFill>
                  <a:srgbClr val="FE8B00"/>
                </a:solidFill>
                <a:latin typeface="Aptos"/>
              </a:defRPr>
            </a:pPr>
            <a:r>
              <a:t>CREATE NEW (Exception -- architect approval required)</a:t>
            </a:r>
          </a:p>
        </p:txBody>
      </p:sp>
      <p:sp>
        <p:nvSpPr>
          <p:cNvPr id="11" name="TextBox 10"/>
          <p:cNvSpPr txBox="1"/>
          <p:nvPr/>
        </p:nvSpPr>
        <p:spPr>
          <a:xfrm>
            <a:off x="6492240" y="1737360"/>
            <a:ext cx="4754880" cy="274320"/>
          </a:xfrm>
          <a:prstGeom prst="rect">
            <a:avLst/>
          </a:prstGeom>
          <a:noFill/>
        </p:spPr>
        <p:txBody>
          <a:bodyPr wrap="square">
            <a:spAutoFit/>
          </a:bodyPr>
          <a:lstStyle/>
          <a:p>
            <a:pPr algn="l">
              <a:defRPr sz="1000" b="0">
                <a:solidFill>
                  <a:srgbClr val="333333"/>
                </a:solidFill>
                <a:latin typeface="Aptos"/>
              </a:defRPr>
            </a:pPr>
            <a:r>
              <a:t>  No agent with overlapping capability exists</a:t>
            </a:r>
          </a:p>
        </p:txBody>
      </p:sp>
      <p:sp>
        <p:nvSpPr>
          <p:cNvPr id="12" name="TextBox 11"/>
          <p:cNvSpPr txBox="1"/>
          <p:nvPr/>
        </p:nvSpPr>
        <p:spPr>
          <a:xfrm>
            <a:off x="6492240" y="2103120"/>
            <a:ext cx="4754880" cy="274320"/>
          </a:xfrm>
          <a:prstGeom prst="rect">
            <a:avLst/>
          </a:prstGeom>
          <a:noFill/>
        </p:spPr>
        <p:txBody>
          <a:bodyPr wrap="square">
            <a:spAutoFit/>
          </a:bodyPr>
          <a:lstStyle/>
          <a:p>
            <a:pPr algn="l">
              <a:defRPr sz="1000" b="0">
                <a:solidFill>
                  <a:srgbClr val="333333"/>
                </a:solidFill>
                <a:latin typeface="Aptos"/>
              </a:defRPr>
            </a:pPr>
            <a:r>
              <a:t>  Domain is entirely new to the organization</a:t>
            </a:r>
          </a:p>
        </p:txBody>
      </p:sp>
      <p:sp>
        <p:nvSpPr>
          <p:cNvPr id="13" name="TextBox 12"/>
          <p:cNvSpPr txBox="1"/>
          <p:nvPr/>
        </p:nvSpPr>
        <p:spPr>
          <a:xfrm>
            <a:off x="6492240" y="2468880"/>
            <a:ext cx="4754880" cy="274320"/>
          </a:xfrm>
          <a:prstGeom prst="rect">
            <a:avLst/>
          </a:prstGeom>
          <a:noFill/>
        </p:spPr>
        <p:txBody>
          <a:bodyPr wrap="square">
            <a:spAutoFit/>
          </a:bodyPr>
          <a:lstStyle/>
          <a:p>
            <a:pPr algn="l">
              <a:defRPr sz="1000" b="0">
                <a:solidFill>
                  <a:srgbClr val="333333"/>
                </a:solidFill>
                <a:latin typeface="Aptos"/>
              </a:defRPr>
            </a:pPr>
            <a:r>
              <a:t>  Central Squad architect approves the creation</a:t>
            </a:r>
          </a:p>
        </p:txBody>
      </p:sp>
      <p:sp>
        <p:nvSpPr>
          <p:cNvPr id="14" name="Rectangle 13"/>
          <p:cNvSpPr/>
          <p:nvPr/>
        </p:nvSpPr>
        <p:spPr>
          <a:xfrm>
            <a:off x="457200" y="3383280"/>
            <a:ext cx="2286000" cy="256032"/>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CREATING A NEW AGENT</a:t>
            </a:r>
          </a:p>
        </p:txBody>
      </p:sp>
      <p:sp>
        <p:nvSpPr>
          <p:cNvPr id="15" name="Oval 14"/>
          <p:cNvSpPr/>
          <p:nvPr/>
        </p:nvSpPr>
        <p:spPr>
          <a:xfrm>
            <a:off x="548640" y="3749039"/>
            <a:ext cx="228600" cy="22860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Aptos"/>
              </a:defRPr>
            </a:pPr>
            <a:r>
              <a:t>1</a:t>
            </a:r>
          </a:p>
        </p:txBody>
      </p:sp>
      <p:sp>
        <p:nvSpPr>
          <p:cNvPr id="16" name="TextBox 15"/>
          <p:cNvSpPr txBox="1"/>
          <p:nvPr/>
        </p:nvSpPr>
        <p:spPr>
          <a:xfrm>
            <a:off x="914400" y="3749039"/>
            <a:ext cx="1371600" cy="228600"/>
          </a:xfrm>
          <a:prstGeom prst="rect">
            <a:avLst/>
          </a:prstGeom>
          <a:noFill/>
        </p:spPr>
        <p:txBody>
          <a:bodyPr wrap="square">
            <a:spAutoFit/>
          </a:bodyPr>
          <a:lstStyle/>
          <a:p>
            <a:pPr algn="l">
              <a:defRPr sz="1000" b="1">
                <a:solidFill>
                  <a:srgbClr val="0178D4"/>
                </a:solidFill>
                <a:latin typeface="Aptos"/>
              </a:defRPr>
            </a:pPr>
            <a:r>
              <a:t>Write charter</a:t>
            </a:r>
          </a:p>
        </p:txBody>
      </p:sp>
      <p:sp>
        <p:nvSpPr>
          <p:cNvPr id="17" name="TextBox 16"/>
          <p:cNvSpPr txBox="1"/>
          <p:nvPr/>
        </p:nvSpPr>
        <p:spPr>
          <a:xfrm>
            <a:off x="2377440" y="3749039"/>
            <a:ext cx="8961120" cy="228600"/>
          </a:xfrm>
          <a:prstGeom prst="rect">
            <a:avLst/>
          </a:prstGeom>
          <a:noFill/>
        </p:spPr>
        <p:txBody>
          <a:bodyPr wrap="square">
            <a:spAutoFit/>
          </a:bodyPr>
          <a:lstStyle/>
          <a:p>
            <a:pPr algn="l">
              <a:defRPr sz="1000" b="0">
                <a:solidFill>
                  <a:srgbClr val="333333"/>
                </a:solidFill>
                <a:latin typeface="Aptos"/>
              </a:defRPr>
            </a:pPr>
            <a:r>
              <a:t>Define identity, role, expertise, style, and boundaries in charter.md</a:t>
            </a:r>
          </a:p>
        </p:txBody>
      </p:sp>
      <p:sp>
        <p:nvSpPr>
          <p:cNvPr id="18" name="Oval 17"/>
          <p:cNvSpPr/>
          <p:nvPr/>
        </p:nvSpPr>
        <p:spPr>
          <a:xfrm>
            <a:off x="548640" y="4096511"/>
            <a:ext cx="228600" cy="22860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Aptos"/>
              </a:defRPr>
            </a:pPr>
            <a:r>
              <a:t>2</a:t>
            </a:r>
          </a:p>
        </p:txBody>
      </p:sp>
      <p:sp>
        <p:nvSpPr>
          <p:cNvPr id="19" name="TextBox 18"/>
          <p:cNvSpPr txBox="1"/>
          <p:nvPr/>
        </p:nvSpPr>
        <p:spPr>
          <a:xfrm>
            <a:off x="914400" y="4096511"/>
            <a:ext cx="1371600" cy="228600"/>
          </a:xfrm>
          <a:prstGeom prst="rect">
            <a:avLst/>
          </a:prstGeom>
          <a:noFill/>
        </p:spPr>
        <p:txBody>
          <a:bodyPr wrap="square">
            <a:spAutoFit/>
          </a:bodyPr>
          <a:lstStyle/>
          <a:p>
            <a:pPr algn="l">
              <a:defRPr sz="1000" b="1">
                <a:solidFill>
                  <a:srgbClr val="463668"/>
                </a:solidFill>
                <a:latin typeface="Aptos"/>
              </a:defRPr>
            </a:pPr>
            <a:r>
              <a:t>Keep generic</a:t>
            </a:r>
          </a:p>
        </p:txBody>
      </p:sp>
      <p:sp>
        <p:nvSpPr>
          <p:cNvPr id="20" name="TextBox 19"/>
          <p:cNvSpPr txBox="1"/>
          <p:nvPr/>
        </p:nvSpPr>
        <p:spPr>
          <a:xfrm>
            <a:off x="2377440" y="4096511"/>
            <a:ext cx="8961120" cy="228600"/>
          </a:xfrm>
          <a:prstGeom prst="rect">
            <a:avLst/>
          </a:prstGeom>
          <a:noFill/>
        </p:spPr>
        <p:txBody>
          <a:bodyPr wrap="square">
            <a:spAutoFit/>
          </a:bodyPr>
          <a:lstStyle/>
          <a:p>
            <a:pPr algn="l">
              <a:defRPr sz="1000" b="0">
                <a:solidFill>
                  <a:srgbClr val="333333"/>
                </a:solidFill>
                <a:latin typeface="Aptos"/>
              </a:defRPr>
            </a:pPr>
            <a:r>
              <a:t>No client names, project IDs, or sensitive data. Use template variables</a:t>
            </a:r>
          </a:p>
        </p:txBody>
      </p:sp>
      <p:sp>
        <p:nvSpPr>
          <p:cNvPr id="21" name="Oval 20"/>
          <p:cNvSpPr/>
          <p:nvPr/>
        </p:nvSpPr>
        <p:spPr>
          <a:xfrm>
            <a:off x="548640" y="4443983"/>
            <a:ext cx="228600" cy="228600"/>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Aptos"/>
              </a:defRPr>
            </a:pPr>
            <a:r>
              <a:t>3</a:t>
            </a:r>
          </a:p>
        </p:txBody>
      </p:sp>
      <p:sp>
        <p:nvSpPr>
          <p:cNvPr id="22" name="TextBox 21"/>
          <p:cNvSpPr txBox="1"/>
          <p:nvPr/>
        </p:nvSpPr>
        <p:spPr>
          <a:xfrm>
            <a:off x="914400" y="4443983"/>
            <a:ext cx="1371600" cy="228600"/>
          </a:xfrm>
          <a:prstGeom prst="rect">
            <a:avLst/>
          </a:prstGeom>
          <a:noFill/>
        </p:spPr>
        <p:txBody>
          <a:bodyPr wrap="square">
            <a:spAutoFit/>
          </a:bodyPr>
          <a:lstStyle/>
          <a:p>
            <a:pPr algn="l">
              <a:defRPr sz="1000" b="1">
                <a:solidFill>
                  <a:srgbClr val="225B62"/>
                </a:solidFill>
                <a:latin typeface="Aptos"/>
              </a:defRPr>
            </a:pPr>
            <a:r>
              <a:t>Test isolation</a:t>
            </a:r>
          </a:p>
        </p:txBody>
      </p:sp>
      <p:sp>
        <p:nvSpPr>
          <p:cNvPr id="23" name="TextBox 22"/>
          <p:cNvSpPr txBox="1"/>
          <p:nvPr/>
        </p:nvSpPr>
        <p:spPr>
          <a:xfrm>
            <a:off x="2377440" y="4443983"/>
            <a:ext cx="8961120" cy="228600"/>
          </a:xfrm>
          <a:prstGeom prst="rect">
            <a:avLst/>
          </a:prstGeom>
          <a:noFill/>
        </p:spPr>
        <p:txBody>
          <a:bodyPr wrap="square">
            <a:spAutoFit/>
          </a:bodyPr>
          <a:lstStyle/>
          <a:p>
            <a:pPr algn="l">
              <a:defRPr sz="1000" b="0">
                <a:solidFill>
                  <a:srgbClr val="333333"/>
                </a:solidFill>
                <a:latin typeface="Aptos"/>
              </a:defRPr>
            </a:pPr>
            <a:r>
              <a:t>Verify agent works with zero project context. Must be fully portable</a:t>
            </a:r>
          </a:p>
        </p:txBody>
      </p:sp>
      <p:sp>
        <p:nvSpPr>
          <p:cNvPr id="24" name="Oval 23"/>
          <p:cNvSpPr/>
          <p:nvPr/>
        </p:nvSpPr>
        <p:spPr>
          <a:xfrm>
            <a:off x="548640" y="4791456"/>
            <a:ext cx="228600" cy="228600"/>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Aptos"/>
              </a:defRPr>
            </a:pPr>
            <a:r>
              <a:t>4</a:t>
            </a:r>
          </a:p>
        </p:txBody>
      </p:sp>
      <p:sp>
        <p:nvSpPr>
          <p:cNvPr id="25" name="TextBox 24"/>
          <p:cNvSpPr txBox="1"/>
          <p:nvPr/>
        </p:nvSpPr>
        <p:spPr>
          <a:xfrm>
            <a:off x="914400" y="4791456"/>
            <a:ext cx="1371600" cy="228600"/>
          </a:xfrm>
          <a:prstGeom prst="rect">
            <a:avLst/>
          </a:prstGeom>
          <a:noFill/>
        </p:spPr>
        <p:txBody>
          <a:bodyPr wrap="square">
            <a:spAutoFit/>
          </a:bodyPr>
          <a:lstStyle/>
          <a:p>
            <a:pPr algn="l">
              <a:defRPr sz="1000" b="1">
                <a:solidFill>
                  <a:srgbClr val="00B050"/>
                </a:solidFill>
                <a:latin typeface="Aptos"/>
              </a:defRPr>
            </a:pPr>
            <a:r>
              <a:t>Document</a:t>
            </a:r>
          </a:p>
        </p:txBody>
      </p:sp>
      <p:sp>
        <p:nvSpPr>
          <p:cNvPr id="26" name="TextBox 25"/>
          <p:cNvSpPr txBox="1"/>
          <p:nvPr/>
        </p:nvSpPr>
        <p:spPr>
          <a:xfrm>
            <a:off x="2377440" y="4791456"/>
            <a:ext cx="8961120" cy="228600"/>
          </a:xfrm>
          <a:prstGeom prst="rect">
            <a:avLst/>
          </a:prstGeom>
          <a:noFill/>
        </p:spPr>
        <p:txBody>
          <a:bodyPr wrap="square">
            <a:spAutoFit/>
          </a:bodyPr>
          <a:lstStyle/>
          <a:p>
            <a:pPr algn="l">
              <a:defRPr sz="1000" b="0">
                <a:solidFill>
                  <a:srgbClr val="333333"/>
                </a:solidFill>
                <a:latin typeface="Aptos"/>
              </a:defRPr>
            </a:pPr>
            <a:r>
              <a:t>Purpose, inputs, outputs, usage examples, limitations</a:t>
            </a:r>
          </a:p>
        </p:txBody>
      </p:sp>
      <p:sp>
        <p:nvSpPr>
          <p:cNvPr id="27" name="Rectangle 26"/>
          <p:cNvSpPr/>
          <p:nvPr/>
        </p:nvSpPr>
        <p:spPr>
          <a:xfrm>
            <a:off x="457200" y="5212080"/>
            <a:ext cx="2103120" cy="256032"/>
          </a:xfrm>
          <a:prstGeom prst="rect">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PUBLISHING TO CENTRAL</a:t>
            </a:r>
          </a:p>
        </p:txBody>
      </p:sp>
      <p:sp>
        <p:nvSpPr>
          <p:cNvPr id="28" name="Rounded Rectangle 27"/>
          <p:cNvSpPr/>
          <p:nvPr/>
        </p:nvSpPr>
        <p:spPr>
          <a:xfrm>
            <a:off x="457200" y="5532120"/>
            <a:ext cx="1920240" cy="320040"/>
          </a:xfrm>
          <a:prstGeom prst="roundRect">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550408"/>
            <a:ext cx="1737360" cy="228600"/>
          </a:xfrm>
          <a:prstGeom prst="rect">
            <a:avLst/>
          </a:prstGeom>
          <a:noFill/>
        </p:spPr>
        <p:txBody>
          <a:bodyPr wrap="square">
            <a:spAutoFit/>
          </a:bodyPr>
          <a:lstStyle/>
          <a:p>
            <a:pPr algn="ctr">
              <a:defRPr sz="900" b="1">
                <a:solidFill>
                  <a:srgbClr val="FFFFFF"/>
                </a:solidFill>
                <a:latin typeface="Aptos"/>
              </a:defRPr>
            </a:pPr>
            <a:r>
              <a:t>Submit PR</a:t>
            </a:r>
          </a:p>
        </p:txBody>
      </p:sp>
      <p:sp>
        <p:nvSpPr>
          <p:cNvPr id="30" name="Right Arrow 29"/>
          <p:cNvSpPr/>
          <p:nvPr/>
        </p:nvSpPr>
        <p:spPr>
          <a:xfrm>
            <a:off x="2423160" y="5577840"/>
            <a:ext cx="109728" cy="228600"/>
          </a:xfrm>
          <a:prstGeom prst="rightArrow">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743200" y="5532120"/>
            <a:ext cx="1920240" cy="320040"/>
          </a:xfrm>
          <a:prstGeom prst="round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34640" y="5550408"/>
            <a:ext cx="1737360" cy="228600"/>
          </a:xfrm>
          <a:prstGeom prst="rect">
            <a:avLst/>
          </a:prstGeom>
          <a:noFill/>
        </p:spPr>
        <p:txBody>
          <a:bodyPr wrap="square">
            <a:spAutoFit/>
          </a:bodyPr>
          <a:lstStyle/>
          <a:p>
            <a:pPr algn="ctr">
              <a:defRPr sz="900" b="1">
                <a:solidFill>
                  <a:srgbClr val="FFFFFF"/>
                </a:solidFill>
                <a:latin typeface="Aptos"/>
              </a:defRPr>
            </a:pPr>
            <a:r>
              <a:t>Security scan</a:t>
            </a:r>
          </a:p>
        </p:txBody>
      </p:sp>
      <p:sp>
        <p:nvSpPr>
          <p:cNvPr id="33" name="Right Arrow 32"/>
          <p:cNvSpPr/>
          <p:nvPr/>
        </p:nvSpPr>
        <p:spPr>
          <a:xfrm>
            <a:off x="4709160" y="5577840"/>
            <a:ext cx="109728" cy="228600"/>
          </a:xfrm>
          <a:prstGeom prst="rightArrow">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029200" y="5532120"/>
            <a:ext cx="1920240" cy="320040"/>
          </a:xfrm>
          <a:prstGeom prst="round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20640" y="5550408"/>
            <a:ext cx="1737360" cy="228600"/>
          </a:xfrm>
          <a:prstGeom prst="rect">
            <a:avLst/>
          </a:prstGeom>
          <a:noFill/>
        </p:spPr>
        <p:txBody>
          <a:bodyPr wrap="square">
            <a:spAutoFit/>
          </a:bodyPr>
          <a:lstStyle/>
          <a:p>
            <a:pPr algn="ctr">
              <a:defRPr sz="900" b="1">
                <a:solidFill>
                  <a:srgbClr val="FFFFFF"/>
                </a:solidFill>
                <a:latin typeface="Aptos"/>
              </a:defRPr>
            </a:pPr>
            <a:r>
              <a:t>Peer review</a:t>
            </a:r>
          </a:p>
        </p:txBody>
      </p:sp>
      <p:sp>
        <p:nvSpPr>
          <p:cNvPr id="36" name="Right Arrow 35"/>
          <p:cNvSpPr/>
          <p:nvPr/>
        </p:nvSpPr>
        <p:spPr>
          <a:xfrm>
            <a:off x="6995160" y="5577840"/>
            <a:ext cx="109728" cy="228600"/>
          </a:xfrm>
          <a:prstGeom prst="rightArrow">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315200" y="5532120"/>
            <a:ext cx="1920240" cy="320040"/>
          </a:xfrm>
          <a:prstGeom prst="round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06640" y="5550408"/>
            <a:ext cx="1737360" cy="228600"/>
          </a:xfrm>
          <a:prstGeom prst="rect">
            <a:avLst/>
          </a:prstGeom>
          <a:noFill/>
        </p:spPr>
        <p:txBody>
          <a:bodyPr wrap="square">
            <a:spAutoFit/>
          </a:bodyPr>
          <a:lstStyle/>
          <a:p>
            <a:pPr algn="ctr">
              <a:defRPr sz="900" b="1">
                <a:solidFill>
                  <a:srgbClr val="FFFFFF"/>
                </a:solidFill>
                <a:latin typeface="Aptos"/>
              </a:defRPr>
            </a:pPr>
            <a:r>
              <a:t>Architect approval</a:t>
            </a:r>
          </a:p>
        </p:txBody>
      </p:sp>
      <p:sp>
        <p:nvSpPr>
          <p:cNvPr id="39" name="Right Arrow 38"/>
          <p:cNvSpPr/>
          <p:nvPr/>
        </p:nvSpPr>
        <p:spPr>
          <a:xfrm>
            <a:off x="9281160" y="5577840"/>
            <a:ext cx="109728"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601200" y="5532120"/>
            <a:ext cx="1920240" cy="320040"/>
          </a:xfrm>
          <a:prstGeom prst="round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92640" y="5550408"/>
            <a:ext cx="1737360" cy="228600"/>
          </a:xfrm>
          <a:prstGeom prst="rect">
            <a:avLst/>
          </a:prstGeom>
          <a:noFill/>
        </p:spPr>
        <p:txBody>
          <a:bodyPr wrap="square">
            <a:spAutoFit/>
          </a:bodyPr>
          <a:lstStyle/>
          <a:p>
            <a:pPr algn="ctr">
              <a:defRPr sz="900" b="1">
                <a:solidFill>
                  <a:srgbClr val="FFFFFF"/>
                </a:solidFill>
                <a:latin typeface="Aptos"/>
              </a:defRPr>
            </a:pPr>
            <a:r>
              <a:t>Version + publish</a:t>
            </a:r>
          </a:p>
        </p:txBody>
      </p:sp>
      <p:sp>
        <p:nvSpPr>
          <p:cNvPr id="42" name="TextBox 41"/>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43" name="TextBox 42"/>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08  Agent to Skill Transformation</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Agents compound into organizational skills. Every engagement makes the system smarter.</a:t>
            </a:r>
          </a:p>
        </p:txBody>
      </p:sp>
      <p:sp>
        <p:nvSpPr>
          <p:cNvPr id="4" name="Rounded Rectangle 3"/>
          <p:cNvSpPr/>
          <p:nvPr/>
        </p:nvSpPr>
        <p:spPr>
          <a:xfrm>
            <a:off x="457200" y="1417320"/>
            <a:ext cx="3474720" cy="301752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17320"/>
            <a:ext cx="3474720" cy="45720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81328"/>
            <a:ext cx="3200400" cy="320040"/>
          </a:xfrm>
          <a:prstGeom prst="rect">
            <a:avLst/>
          </a:prstGeom>
          <a:noFill/>
        </p:spPr>
        <p:txBody>
          <a:bodyPr wrap="square">
            <a:spAutoFit/>
          </a:bodyPr>
          <a:lstStyle/>
          <a:p>
            <a:pPr algn="l">
              <a:defRPr sz="1300" b="1">
                <a:solidFill>
                  <a:srgbClr val="FFFFFF"/>
                </a:solidFill>
                <a:latin typeface="Aptos"/>
              </a:defRPr>
            </a:pPr>
            <a:r>
              <a:t>Agents = Capabilities</a:t>
            </a:r>
          </a:p>
        </p:txBody>
      </p:sp>
      <p:sp>
        <p:nvSpPr>
          <p:cNvPr id="7" name="TextBox 6"/>
          <p:cNvSpPr txBox="1"/>
          <p:nvPr/>
        </p:nvSpPr>
        <p:spPr>
          <a:xfrm>
            <a:off x="594360" y="2011680"/>
            <a:ext cx="3200400" cy="731520"/>
          </a:xfrm>
          <a:prstGeom prst="rect">
            <a:avLst/>
          </a:prstGeom>
          <a:noFill/>
        </p:spPr>
        <p:txBody>
          <a:bodyPr wrap="square">
            <a:spAutoFit/>
          </a:bodyPr>
          <a:lstStyle/>
          <a:p>
            <a:pPr>
              <a:spcAft>
                <a:spcPts val="300"/>
              </a:spcAft>
              <a:defRPr sz="1000" b="0">
                <a:solidFill>
                  <a:srgbClr val="333333"/>
                </a:solidFill>
                <a:latin typeface="Aptos"/>
              </a:defRPr>
            </a:pPr>
            <a:r>
              <a:t>Reusable execution engines</a:t>
            </a:r>
          </a:p>
          <a:p>
            <a:pPr>
              <a:spcAft>
                <a:spcPts val="300"/>
              </a:spcAft>
              <a:defRPr sz="1000" b="0">
                <a:solidFill>
                  <a:srgbClr val="333333"/>
                </a:solidFill>
                <a:latin typeface="Aptos"/>
              </a:defRPr>
            </a:pPr>
            <a:r>
              <a:t>that handle specific domains</a:t>
            </a:r>
          </a:p>
          <a:p>
            <a:pPr>
              <a:spcAft>
                <a:spcPts val="300"/>
              </a:spcAft>
              <a:defRPr sz="1000" b="0">
                <a:solidFill>
                  <a:srgbClr val="333333"/>
                </a:solidFill>
                <a:latin typeface="Aptos"/>
              </a:defRPr>
            </a:pPr>
            <a:r>
              <a:t>autonomously</a:t>
            </a:r>
          </a:p>
        </p:txBody>
      </p:sp>
      <p:sp>
        <p:nvSpPr>
          <p:cNvPr id="8" name="TextBox 7"/>
          <p:cNvSpPr txBox="1"/>
          <p:nvPr/>
        </p:nvSpPr>
        <p:spPr>
          <a:xfrm>
            <a:off x="594360" y="2788920"/>
            <a:ext cx="3200400" cy="274320"/>
          </a:xfrm>
          <a:prstGeom prst="rect">
            <a:avLst/>
          </a:prstGeom>
          <a:noFill/>
        </p:spPr>
        <p:txBody>
          <a:bodyPr wrap="square">
            <a:spAutoFit/>
          </a:bodyPr>
          <a:lstStyle/>
          <a:p>
            <a:pPr algn="l">
              <a:defRPr sz="900" b="0">
                <a:solidFill>
                  <a:srgbClr val="333333"/>
                </a:solidFill>
                <a:latin typeface="Aptos"/>
              </a:defRPr>
            </a:pPr>
            <a:r>
              <a:t>  Coder: writes and debugs code</a:t>
            </a:r>
          </a:p>
        </p:txBody>
      </p:sp>
      <p:sp>
        <p:nvSpPr>
          <p:cNvPr id="9" name="TextBox 8"/>
          <p:cNvSpPr txBox="1"/>
          <p:nvPr/>
        </p:nvSpPr>
        <p:spPr>
          <a:xfrm>
            <a:off x="594360" y="3136391"/>
            <a:ext cx="3200400" cy="274320"/>
          </a:xfrm>
          <a:prstGeom prst="rect">
            <a:avLst/>
          </a:prstGeom>
          <a:noFill/>
        </p:spPr>
        <p:txBody>
          <a:bodyPr wrap="square">
            <a:spAutoFit/>
          </a:bodyPr>
          <a:lstStyle/>
          <a:p>
            <a:pPr algn="l">
              <a:defRPr sz="900" b="0">
                <a:solidFill>
                  <a:srgbClr val="333333"/>
                </a:solidFill>
                <a:latin typeface="Aptos"/>
              </a:defRPr>
            </a:pPr>
            <a:r>
              <a:t>  Tester: finds edge cases</a:t>
            </a:r>
          </a:p>
        </p:txBody>
      </p:sp>
      <p:sp>
        <p:nvSpPr>
          <p:cNvPr id="10" name="TextBox 9"/>
          <p:cNvSpPr txBox="1"/>
          <p:nvPr/>
        </p:nvSpPr>
        <p:spPr>
          <a:xfrm>
            <a:off x="594360" y="3483863"/>
            <a:ext cx="3200400" cy="274320"/>
          </a:xfrm>
          <a:prstGeom prst="rect">
            <a:avLst/>
          </a:prstGeom>
          <a:noFill/>
        </p:spPr>
        <p:txBody>
          <a:bodyPr wrap="square">
            <a:spAutoFit/>
          </a:bodyPr>
          <a:lstStyle/>
          <a:p>
            <a:pPr algn="l">
              <a:defRPr sz="900" b="0">
                <a:solidFill>
                  <a:srgbClr val="333333"/>
                </a:solidFill>
                <a:latin typeface="Aptos"/>
              </a:defRPr>
            </a:pPr>
            <a:r>
              <a:t>  GitOps: manages CI/CD</a:t>
            </a:r>
          </a:p>
        </p:txBody>
      </p:sp>
      <p:sp>
        <p:nvSpPr>
          <p:cNvPr id="11" name="TextBox 10"/>
          <p:cNvSpPr txBox="1"/>
          <p:nvPr/>
        </p:nvSpPr>
        <p:spPr>
          <a:xfrm>
            <a:off x="594360" y="3831335"/>
            <a:ext cx="3200400" cy="274320"/>
          </a:xfrm>
          <a:prstGeom prst="rect">
            <a:avLst/>
          </a:prstGeom>
          <a:noFill/>
        </p:spPr>
        <p:txBody>
          <a:bodyPr wrap="square">
            <a:spAutoFit/>
          </a:bodyPr>
          <a:lstStyle/>
          <a:p>
            <a:pPr algn="l">
              <a:defRPr sz="900" b="0">
                <a:solidFill>
                  <a:srgbClr val="333333"/>
                </a:solidFill>
                <a:latin typeface="Aptos"/>
              </a:defRPr>
            </a:pPr>
            <a:r>
              <a:t>  DevRel: generates documentation</a:t>
            </a:r>
          </a:p>
        </p:txBody>
      </p:sp>
      <p:sp>
        <p:nvSpPr>
          <p:cNvPr id="12" name="Rounded Rectangle 11"/>
          <p:cNvSpPr/>
          <p:nvPr/>
        </p:nvSpPr>
        <p:spPr>
          <a:xfrm>
            <a:off x="4206240" y="1417320"/>
            <a:ext cx="3474720" cy="301752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06240" y="1417320"/>
            <a:ext cx="3474720" cy="457200"/>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1481328"/>
            <a:ext cx="3200400" cy="320040"/>
          </a:xfrm>
          <a:prstGeom prst="rect">
            <a:avLst/>
          </a:prstGeom>
          <a:noFill/>
        </p:spPr>
        <p:txBody>
          <a:bodyPr wrap="square">
            <a:spAutoFit/>
          </a:bodyPr>
          <a:lstStyle/>
          <a:p>
            <a:pPr algn="l">
              <a:defRPr sz="1300" b="1">
                <a:solidFill>
                  <a:srgbClr val="FFFFFF"/>
                </a:solidFill>
                <a:latin typeface="Aptos"/>
              </a:defRPr>
            </a:pPr>
            <a:r>
              <a:t>Prompts = Thinking</a:t>
            </a:r>
          </a:p>
        </p:txBody>
      </p:sp>
      <p:sp>
        <p:nvSpPr>
          <p:cNvPr id="15" name="TextBox 14"/>
          <p:cNvSpPr txBox="1"/>
          <p:nvPr/>
        </p:nvSpPr>
        <p:spPr>
          <a:xfrm>
            <a:off x="4343400" y="2011680"/>
            <a:ext cx="3200400" cy="731520"/>
          </a:xfrm>
          <a:prstGeom prst="rect">
            <a:avLst/>
          </a:prstGeom>
          <a:noFill/>
        </p:spPr>
        <p:txBody>
          <a:bodyPr wrap="square">
            <a:spAutoFit/>
          </a:bodyPr>
          <a:lstStyle/>
          <a:p>
            <a:pPr>
              <a:spcAft>
                <a:spcPts val="300"/>
              </a:spcAft>
              <a:defRPr sz="1000" b="0">
                <a:solidFill>
                  <a:srgbClr val="333333"/>
                </a:solidFill>
                <a:latin typeface="Aptos"/>
              </a:defRPr>
            </a:pPr>
            <a:r>
              <a:t>Reusable reasoning patterns</a:t>
            </a:r>
          </a:p>
          <a:p>
            <a:pPr>
              <a:spcAft>
                <a:spcPts val="300"/>
              </a:spcAft>
              <a:defRPr sz="1000" b="0">
                <a:solidFill>
                  <a:srgbClr val="333333"/>
                </a:solidFill>
                <a:latin typeface="Aptos"/>
              </a:defRPr>
            </a:pPr>
            <a:r>
              <a:t>that encode organizational</a:t>
            </a:r>
          </a:p>
          <a:p>
            <a:pPr>
              <a:spcAft>
                <a:spcPts val="300"/>
              </a:spcAft>
              <a:defRPr sz="1000" b="0">
                <a:solidFill>
                  <a:srgbClr val="333333"/>
                </a:solidFill>
                <a:latin typeface="Aptos"/>
              </a:defRPr>
            </a:pPr>
            <a:r>
              <a:t>decision-making</a:t>
            </a:r>
          </a:p>
        </p:txBody>
      </p:sp>
      <p:sp>
        <p:nvSpPr>
          <p:cNvPr id="16" name="TextBox 15"/>
          <p:cNvSpPr txBox="1"/>
          <p:nvPr/>
        </p:nvSpPr>
        <p:spPr>
          <a:xfrm>
            <a:off x="4343400" y="2788920"/>
            <a:ext cx="3200400" cy="274320"/>
          </a:xfrm>
          <a:prstGeom prst="rect">
            <a:avLst/>
          </a:prstGeom>
          <a:noFill/>
        </p:spPr>
        <p:txBody>
          <a:bodyPr wrap="square">
            <a:spAutoFit/>
          </a:bodyPr>
          <a:lstStyle/>
          <a:p>
            <a:pPr algn="l">
              <a:defRPr sz="900" b="0">
                <a:solidFill>
                  <a:srgbClr val="333333"/>
                </a:solidFill>
                <a:latin typeface="Aptos"/>
              </a:defRPr>
            </a:pPr>
            <a:r>
              <a:t>  Architecture decision templates</a:t>
            </a:r>
          </a:p>
        </p:txBody>
      </p:sp>
      <p:sp>
        <p:nvSpPr>
          <p:cNvPr id="17" name="TextBox 16"/>
          <p:cNvSpPr txBox="1"/>
          <p:nvPr/>
        </p:nvSpPr>
        <p:spPr>
          <a:xfrm>
            <a:off x="4343400" y="3136391"/>
            <a:ext cx="3200400" cy="274320"/>
          </a:xfrm>
          <a:prstGeom prst="rect">
            <a:avLst/>
          </a:prstGeom>
          <a:noFill/>
        </p:spPr>
        <p:txBody>
          <a:bodyPr wrap="square">
            <a:spAutoFit/>
          </a:bodyPr>
          <a:lstStyle/>
          <a:p>
            <a:pPr algn="l">
              <a:defRPr sz="900" b="0">
                <a:solidFill>
                  <a:srgbClr val="333333"/>
                </a:solidFill>
                <a:latin typeface="Aptos"/>
              </a:defRPr>
            </a:pPr>
            <a:r>
              <a:t>  Code review criteria</a:t>
            </a:r>
          </a:p>
        </p:txBody>
      </p:sp>
      <p:sp>
        <p:nvSpPr>
          <p:cNvPr id="18" name="TextBox 17"/>
          <p:cNvSpPr txBox="1"/>
          <p:nvPr/>
        </p:nvSpPr>
        <p:spPr>
          <a:xfrm>
            <a:off x="4343400" y="3483863"/>
            <a:ext cx="3200400" cy="274320"/>
          </a:xfrm>
          <a:prstGeom prst="rect">
            <a:avLst/>
          </a:prstGeom>
          <a:noFill/>
        </p:spPr>
        <p:txBody>
          <a:bodyPr wrap="square">
            <a:spAutoFit/>
          </a:bodyPr>
          <a:lstStyle/>
          <a:p>
            <a:pPr algn="l">
              <a:defRPr sz="900" b="0">
                <a:solidFill>
                  <a:srgbClr val="333333"/>
                </a:solidFill>
                <a:latin typeface="Aptos"/>
              </a:defRPr>
            </a:pPr>
            <a:r>
              <a:t>  Security validation checklists</a:t>
            </a:r>
          </a:p>
        </p:txBody>
      </p:sp>
      <p:sp>
        <p:nvSpPr>
          <p:cNvPr id="19" name="TextBox 18"/>
          <p:cNvSpPr txBox="1"/>
          <p:nvPr/>
        </p:nvSpPr>
        <p:spPr>
          <a:xfrm>
            <a:off x="4343400" y="3831335"/>
            <a:ext cx="3200400" cy="274320"/>
          </a:xfrm>
          <a:prstGeom prst="rect">
            <a:avLst/>
          </a:prstGeom>
          <a:noFill/>
        </p:spPr>
        <p:txBody>
          <a:bodyPr wrap="square">
            <a:spAutoFit/>
          </a:bodyPr>
          <a:lstStyle/>
          <a:p>
            <a:pPr algn="l">
              <a:defRPr sz="900" b="0">
                <a:solidFill>
                  <a:srgbClr val="333333"/>
                </a:solidFill>
                <a:latin typeface="Aptos"/>
              </a:defRPr>
            </a:pPr>
            <a:r>
              <a:t>  Routing and handoff logic</a:t>
            </a:r>
          </a:p>
        </p:txBody>
      </p:sp>
      <p:sp>
        <p:nvSpPr>
          <p:cNvPr id="20" name="Rounded Rectangle 19"/>
          <p:cNvSpPr/>
          <p:nvPr/>
        </p:nvSpPr>
        <p:spPr>
          <a:xfrm>
            <a:off x="7955279" y="1417320"/>
            <a:ext cx="3474720" cy="301752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55279" y="1417320"/>
            <a:ext cx="3474720" cy="457200"/>
          </a:xfrm>
          <a:prstGeom prst="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39" y="1481328"/>
            <a:ext cx="3200400" cy="320040"/>
          </a:xfrm>
          <a:prstGeom prst="rect">
            <a:avLst/>
          </a:prstGeom>
          <a:noFill/>
        </p:spPr>
        <p:txBody>
          <a:bodyPr wrap="square">
            <a:spAutoFit/>
          </a:bodyPr>
          <a:lstStyle/>
          <a:p>
            <a:pPr algn="l">
              <a:defRPr sz="1300" b="1">
                <a:solidFill>
                  <a:srgbClr val="FFFFFF"/>
                </a:solidFill>
                <a:latin typeface="Aptos"/>
              </a:defRPr>
            </a:pPr>
            <a:r>
              <a:t>Outputs = Templates</a:t>
            </a:r>
          </a:p>
        </p:txBody>
      </p:sp>
      <p:sp>
        <p:nvSpPr>
          <p:cNvPr id="23" name="TextBox 22"/>
          <p:cNvSpPr txBox="1"/>
          <p:nvPr/>
        </p:nvSpPr>
        <p:spPr>
          <a:xfrm>
            <a:off x="8092439" y="2011680"/>
            <a:ext cx="3200400" cy="731520"/>
          </a:xfrm>
          <a:prstGeom prst="rect">
            <a:avLst/>
          </a:prstGeom>
          <a:noFill/>
        </p:spPr>
        <p:txBody>
          <a:bodyPr wrap="square">
            <a:spAutoFit/>
          </a:bodyPr>
          <a:lstStyle/>
          <a:p>
            <a:pPr>
              <a:spcAft>
                <a:spcPts val="300"/>
              </a:spcAft>
              <a:defRPr sz="1000" b="0">
                <a:solidFill>
                  <a:srgbClr val="333333"/>
                </a:solidFill>
                <a:latin typeface="Aptos"/>
              </a:defRPr>
            </a:pPr>
            <a:r>
              <a:t>Reusable deliverables that</a:t>
            </a:r>
          </a:p>
          <a:p>
            <a:pPr>
              <a:spcAft>
                <a:spcPts val="300"/>
              </a:spcAft>
              <a:defRPr sz="1000" b="0">
                <a:solidFill>
                  <a:srgbClr val="333333"/>
                </a:solidFill>
                <a:latin typeface="Aptos"/>
              </a:defRPr>
            </a:pPr>
            <a:r>
              <a:t>eliminate starting from</a:t>
            </a:r>
          </a:p>
          <a:p>
            <a:pPr>
              <a:spcAft>
                <a:spcPts val="300"/>
              </a:spcAft>
              <a:defRPr sz="1000" b="0">
                <a:solidFill>
                  <a:srgbClr val="333333"/>
                </a:solidFill>
                <a:latin typeface="Aptos"/>
              </a:defRPr>
            </a:pPr>
            <a:r>
              <a:t>blank pages</a:t>
            </a:r>
          </a:p>
        </p:txBody>
      </p:sp>
      <p:sp>
        <p:nvSpPr>
          <p:cNvPr id="24" name="TextBox 23"/>
          <p:cNvSpPr txBox="1"/>
          <p:nvPr/>
        </p:nvSpPr>
        <p:spPr>
          <a:xfrm>
            <a:off x="8092439" y="2788920"/>
            <a:ext cx="3200400" cy="274320"/>
          </a:xfrm>
          <a:prstGeom prst="rect">
            <a:avLst/>
          </a:prstGeom>
          <a:noFill/>
        </p:spPr>
        <p:txBody>
          <a:bodyPr wrap="square">
            <a:spAutoFit/>
          </a:bodyPr>
          <a:lstStyle/>
          <a:p>
            <a:pPr algn="l">
              <a:defRPr sz="900" b="0">
                <a:solidFill>
                  <a:srgbClr val="333333"/>
                </a:solidFill>
                <a:latin typeface="Aptos"/>
              </a:defRPr>
            </a:pPr>
            <a:r>
              <a:t>  IaC templates (Bicep/Terraform)</a:t>
            </a:r>
          </a:p>
        </p:txBody>
      </p:sp>
      <p:sp>
        <p:nvSpPr>
          <p:cNvPr id="25" name="TextBox 24"/>
          <p:cNvSpPr txBox="1"/>
          <p:nvPr/>
        </p:nvSpPr>
        <p:spPr>
          <a:xfrm>
            <a:off x="8092439" y="3136391"/>
            <a:ext cx="3200400" cy="274320"/>
          </a:xfrm>
          <a:prstGeom prst="rect">
            <a:avLst/>
          </a:prstGeom>
          <a:noFill/>
        </p:spPr>
        <p:txBody>
          <a:bodyPr wrap="square">
            <a:spAutoFit/>
          </a:bodyPr>
          <a:lstStyle/>
          <a:p>
            <a:pPr algn="l">
              <a:defRPr sz="900" b="0">
                <a:solidFill>
                  <a:srgbClr val="333333"/>
                </a:solidFill>
                <a:latin typeface="Aptos"/>
              </a:defRPr>
            </a:pPr>
            <a:r>
              <a:t>  API scaffolding patterns</a:t>
            </a:r>
          </a:p>
        </p:txBody>
      </p:sp>
      <p:sp>
        <p:nvSpPr>
          <p:cNvPr id="26" name="TextBox 25"/>
          <p:cNvSpPr txBox="1"/>
          <p:nvPr/>
        </p:nvSpPr>
        <p:spPr>
          <a:xfrm>
            <a:off x="8092439" y="3483863"/>
            <a:ext cx="3200400" cy="274320"/>
          </a:xfrm>
          <a:prstGeom prst="rect">
            <a:avLst/>
          </a:prstGeom>
          <a:noFill/>
        </p:spPr>
        <p:txBody>
          <a:bodyPr wrap="square">
            <a:spAutoFit/>
          </a:bodyPr>
          <a:lstStyle/>
          <a:p>
            <a:pPr algn="l">
              <a:defRPr sz="900" b="0">
                <a:solidFill>
                  <a:srgbClr val="333333"/>
                </a:solidFill>
                <a:latin typeface="Aptos"/>
              </a:defRPr>
            </a:pPr>
            <a:r>
              <a:t>  Test framework setups</a:t>
            </a:r>
          </a:p>
        </p:txBody>
      </p:sp>
      <p:sp>
        <p:nvSpPr>
          <p:cNvPr id="27" name="TextBox 26"/>
          <p:cNvSpPr txBox="1"/>
          <p:nvPr/>
        </p:nvSpPr>
        <p:spPr>
          <a:xfrm>
            <a:off x="8092439" y="3831335"/>
            <a:ext cx="3200400" cy="274320"/>
          </a:xfrm>
          <a:prstGeom prst="rect">
            <a:avLst/>
          </a:prstGeom>
          <a:noFill/>
        </p:spPr>
        <p:txBody>
          <a:bodyPr wrap="square">
            <a:spAutoFit/>
          </a:bodyPr>
          <a:lstStyle/>
          <a:p>
            <a:pPr algn="l">
              <a:defRPr sz="900" b="0">
                <a:solidFill>
                  <a:srgbClr val="333333"/>
                </a:solidFill>
                <a:latin typeface="Aptos"/>
              </a:defRPr>
            </a:pPr>
            <a:r>
              <a:t>  Onboarding documentation</a:t>
            </a:r>
          </a:p>
        </p:txBody>
      </p:sp>
      <p:sp>
        <p:nvSpPr>
          <p:cNvPr id="28" name="Rounded Rectangle 27"/>
          <p:cNvSpPr/>
          <p:nvPr/>
        </p:nvSpPr>
        <p:spPr>
          <a:xfrm>
            <a:off x="457200" y="4663440"/>
            <a:ext cx="10972800" cy="9144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709160"/>
            <a:ext cx="10424160" cy="274320"/>
          </a:xfrm>
          <a:prstGeom prst="rect">
            <a:avLst/>
          </a:prstGeom>
          <a:noFill/>
        </p:spPr>
        <p:txBody>
          <a:bodyPr wrap="square">
            <a:spAutoFit/>
          </a:bodyPr>
          <a:lstStyle/>
          <a:p>
            <a:pPr algn="l">
              <a:defRPr sz="1200" b="1">
                <a:solidFill>
                  <a:srgbClr val="00BCF2"/>
                </a:solidFill>
                <a:latin typeface="Aptos"/>
              </a:defRPr>
            </a:pPr>
            <a:r>
              <a:t>THE COMPOUNDING LOOP</a:t>
            </a:r>
          </a:p>
        </p:txBody>
      </p:sp>
      <p:sp>
        <p:nvSpPr>
          <p:cNvPr id="30" name="Oval 29"/>
          <p:cNvSpPr/>
          <p:nvPr/>
        </p:nvSpPr>
        <p:spPr>
          <a:xfrm>
            <a:off x="914400" y="5074920"/>
            <a:ext cx="365760" cy="36576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Aptos"/>
              </a:defRPr>
            </a:pPr>
            <a:r>
              <a:t>USE</a:t>
            </a:r>
          </a:p>
        </p:txBody>
      </p:sp>
      <p:sp>
        <p:nvSpPr>
          <p:cNvPr id="31" name="Right Arrow 30"/>
          <p:cNvSpPr/>
          <p:nvPr/>
        </p:nvSpPr>
        <p:spPr>
          <a:xfrm>
            <a:off x="1371600" y="5166360"/>
            <a:ext cx="27432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017520" y="5074920"/>
            <a:ext cx="365760" cy="365760"/>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Aptos"/>
              </a:defRPr>
            </a:pPr>
            <a:r>
              <a:t>IMPROVE</a:t>
            </a:r>
          </a:p>
        </p:txBody>
      </p:sp>
      <p:sp>
        <p:nvSpPr>
          <p:cNvPr id="33" name="Right Arrow 32"/>
          <p:cNvSpPr/>
          <p:nvPr/>
        </p:nvSpPr>
        <p:spPr>
          <a:xfrm>
            <a:off x="3474720" y="5166360"/>
            <a:ext cx="274320" cy="228600"/>
          </a:xfrm>
          <a:prstGeom prst="right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120640" y="5074920"/>
            <a:ext cx="365760" cy="36576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Aptos"/>
              </a:defRPr>
            </a:pPr>
            <a:r>
              <a:t>SHARE</a:t>
            </a:r>
          </a:p>
        </p:txBody>
      </p:sp>
      <p:sp>
        <p:nvSpPr>
          <p:cNvPr id="35" name="Right Arrow 34"/>
          <p:cNvSpPr/>
          <p:nvPr/>
        </p:nvSpPr>
        <p:spPr>
          <a:xfrm>
            <a:off x="5577840" y="5166360"/>
            <a:ext cx="274320" cy="228600"/>
          </a:xfrm>
          <a:prstGeom prst="rightArrow">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223759" y="5074920"/>
            <a:ext cx="365760" cy="365760"/>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Aptos"/>
              </a:defRPr>
            </a:pPr>
            <a:r>
              <a:t>REUSE</a:t>
            </a:r>
          </a:p>
        </p:txBody>
      </p:sp>
      <p:sp>
        <p:nvSpPr>
          <p:cNvPr id="37" name="Right Arrow 36"/>
          <p:cNvSpPr/>
          <p:nvPr/>
        </p:nvSpPr>
        <p:spPr>
          <a:xfrm>
            <a:off x="7680959" y="5166360"/>
            <a:ext cx="274320" cy="228600"/>
          </a:xfrm>
          <a:prstGeom prst="rightArrow">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326880" y="5074920"/>
            <a:ext cx="365760" cy="365760"/>
          </a:xfrm>
          <a:prstGeom prst="ellipse">
            <a:avLst/>
          </a:prstGeom>
          <a:solidFill>
            <a:srgbClr val="00BC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00" b="1">
                <a:solidFill>
                  <a:srgbClr val="FFFFFF"/>
                </a:solidFill>
                <a:latin typeface="Aptos"/>
              </a:defRPr>
            </a:pPr>
            <a:r>
              <a:t>SCALE</a:t>
            </a:r>
          </a:p>
        </p:txBody>
      </p:sp>
      <p:sp>
        <p:nvSpPr>
          <p:cNvPr id="39" name="TextBox 38"/>
          <p:cNvSpPr txBox="1"/>
          <p:nvPr/>
        </p:nvSpPr>
        <p:spPr>
          <a:xfrm>
            <a:off x="731520" y="5532120"/>
            <a:ext cx="10424160" cy="228600"/>
          </a:xfrm>
          <a:prstGeom prst="rect">
            <a:avLst/>
          </a:prstGeom>
          <a:noFill/>
        </p:spPr>
        <p:txBody>
          <a:bodyPr wrap="square">
            <a:spAutoFit/>
          </a:bodyPr>
          <a:lstStyle/>
          <a:p>
            <a:pPr algn="l">
              <a:defRPr sz="1000" b="0">
                <a:solidFill>
                  <a:srgbClr val="FFFFFF"/>
                </a:solidFill>
                <a:latin typeface="Aptos"/>
              </a:defRPr>
            </a:pPr>
            <a:r>
              <a:t>Every engagement adds to the system. Skills compound, they don't decay. The 10th project is faster than the 1st.</a:t>
            </a:r>
          </a:p>
        </p:txBody>
      </p:sp>
      <p:sp>
        <p:nvSpPr>
          <p:cNvPr id="40" name="TextBox 39"/>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41" name="TextBox 40"/>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09  Mapping to Accelerate Factory Phases</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Every Factory phase has agent support. No phase starts from scratch. No phase is fully manual.</a:t>
            </a:r>
          </a:p>
        </p:txBody>
      </p:sp>
      <p:sp>
        <p:nvSpPr>
          <p:cNvPr id="4" name="Rounded Rectangle 3"/>
          <p:cNvSpPr/>
          <p:nvPr/>
        </p:nvSpPr>
        <p:spPr>
          <a:xfrm>
            <a:off x="274320" y="1417320"/>
            <a:ext cx="2103120" cy="429768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417320"/>
            <a:ext cx="2103120" cy="45720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81328"/>
            <a:ext cx="1920240" cy="320040"/>
          </a:xfrm>
          <a:prstGeom prst="rect">
            <a:avLst/>
          </a:prstGeom>
          <a:noFill/>
        </p:spPr>
        <p:txBody>
          <a:bodyPr wrap="square">
            <a:spAutoFit/>
          </a:bodyPr>
          <a:lstStyle/>
          <a:p>
            <a:pPr algn="ctr">
              <a:defRPr sz="1400" b="1">
                <a:solidFill>
                  <a:srgbClr val="FFFFFF"/>
                </a:solidFill>
                <a:latin typeface="Aptos"/>
              </a:defRPr>
            </a:pPr>
            <a:r>
              <a:t>INTAKE</a:t>
            </a:r>
          </a:p>
        </p:txBody>
      </p:sp>
      <p:sp>
        <p:nvSpPr>
          <p:cNvPr id="7" name="Rectangle 6"/>
          <p:cNvSpPr/>
          <p:nvPr/>
        </p:nvSpPr>
        <p:spPr>
          <a:xfrm>
            <a:off x="365760" y="1965960"/>
            <a:ext cx="1280160" cy="256032"/>
          </a:xfrm>
          <a:prstGeom prst="rect">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AGENT ACTIONS</a:t>
            </a:r>
          </a:p>
        </p:txBody>
      </p:sp>
      <p:sp>
        <p:nvSpPr>
          <p:cNvPr id="8" name="TextBox 7"/>
          <p:cNvSpPr txBox="1"/>
          <p:nvPr/>
        </p:nvSpPr>
        <p:spPr>
          <a:xfrm>
            <a:off x="365760" y="2286000"/>
            <a:ext cx="1920240" cy="411480"/>
          </a:xfrm>
          <a:prstGeom prst="rect">
            <a:avLst/>
          </a:prstGeom>
          <a:noFill/>
        </p:spPr>
        <p:txBody>
          <a:bodyPr wrap="square">
            <a:spAutoFit/>
          </a:bodyPr>
          <a:lstStyle/>
          <a:p>
            <a:pPr algn="l">
              <a:defRPr sz="900" b="0">
                <a:solidFill>
                  <a:srgbClr val="333333"/>
                </a:solidFill>
                <a:latin typeface="Aptos"/>
              </a:defRPr>
            </a:pPr>
            <a:r>
              <a:t>  Researcher scans requirements</a:t>
            </a:r>
          </a:p>
        </p:txBody>
      </p:sp>
      <p:sp>
        <p:nvSpPr>
          <p:cNvPr id="9" name="TextBox 8"/>
          <p:cNvSpPr txBox="1"/>
          <p:nvPr/>
        </p:nvSpPr>
        <p:spPr>
          <a:xfrm>
            <a:off x="365760" y="2788920"/>
            <a:ext cx="1920240" cy="411480"/>
          </a:xfrm>
          <a:prstGeom prst="rect">
            <a:avLst/>
          </a:prstGeom>
          <a:noFill/>
        </p:spPr>
        <p:txBody>
          <a:bodyPr wrap="square">
            <a:spAutoFit/>
          </a:bodyPr>
          <a:lstStyle/>
          <a:p>
            <a:pPr algn="l">
              <a:defRPr sz="900" b="0">
                <a:solidFill>
                  <a:srgbClr val="333333"/>
                </a:solidFill>
                <a:latin typeface="Aptos"/>
              </a:defRPr>
            </a:pPr>
            <a:r>
              <a:t>  Architect generates scope doc</a:t>
            </a:r>
          </a:p>
        </p:txBody>
      </p:sp>
      <p:sp>
        <p:nvSpPr>
          <p:cNvPr id="10" name="TextBox 9"/>
          <p:cNvSpPr txBox="1"/>
          <p:nvPr/>
        </p:nvSpPr>
        <p:spPr>
          <a:xfrm>
            <a:off x="365760" y="3291839"/>
            <a:ext cx="1920240" cy="411480"/>
          </a:xfrm>
          <a:prstGeom prst="rect">
            <a:avLst/>
          </a:prstGeom>
          <a:noFill/>
        </p:spPr>
        <p:txBody>
          <a:bodyPr wrap="square">
            <a:spAutoFit/>
          </a:bodyPr>
          <a:lstStyle/>
          <a:p>
            <a:pPr algn="l">
              <a:defRPr sz="900" b="0">
                <a:solidFill>
                  <a:srgbClr val="333333"/>
                </a:solidFill>
                <a:latin typeface="Aptos"/>
              </a:defRPr>
            </a:pPr>
            <a:r>
              <a:t>  Auto-identify reusable assets</a:t>
            </a:r>
          </a:p>
        </p:txBody>
      </p:sp>
      <p:sp>
        <p:nvSpPr>
          <p:cNvPr id="11" name="TextBox 10"/>
          <p:cNvSpPr txBox="1"/>
          <p:nvPr/>
        </p:nvSpPr>
        <p:spPr>
          <a:xfrm>
            <a:off x="365760" y="3794760"/>
            <a:ext cx="1920240" cy="411480"/>
          </a:xfrm>
          <a:prstGeom prst="rect">
            <a:avLst/>
          </a:prstGeom>
          <a:noFill/>
        </p:spPr>
        <p:txBody>
          <a:bodyPr wrap="square">
            <a:spAutoFit/>
          </a:bodyPr>
          <a:lstStyle/>
          <a:p>
            <a:pPr algn="l">
              <a:defRPr sz="900" b="0">
                <a:solidFill>
                  <a:srgbClr val="333333"/>
                </a:solidFill>
                <a:latin typeface="Aptos"/>
              </a:defRPr>
            </a:pPr>
            <a:r>
              <a:t>  Select Snap preset for team</a:t>
            </a:r>
          </a:p>
        </p:txBody>
      </p:sp>
      <p:sp>
        <p:nvSpPr>
          <p:cNvPr id="12" name="Rectangle 11"/>
          <p:cNvSpPr/>
          <p:nvPr/>
        </p:nvSpPr>
        <p:spPr>
          <a:xfrm>
            <a:off x="365760" y="4389120"/>
            <a:ext cx="822960" cy="256032"/>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OUTPUT</a:t>
            </a:r>
          </a:p>
        </p:txBody>
      </p:sp>
      <p:sp>
        <p:nvSpPr>
          <p:cNvPr id="13" name="TextBox 12"/>
          <p:cNvSpPr txBox="1"/>
          <p:nvPr/>
        </p:nvSpPr>
        <p:spPr>
          <a:xfrm>
            <a:off x="365760" y="4709160"/>
            <a:ext cx="1920240" cy="731520"/>
          </a:xfrm>
          <a:prstGeom prst="rect">
            <a:avLst/>
          </a:prstGeom>
          <a:noFill/>
        </p:spPr>
        <p:txBody>
          <a:bodyPr wrap="square">
            <a:spAutoFit/>
          </a:bodyPr>
          <a:lstStyle/>
          <a:p>
            <a:pPr>
              <a:spcAft>
                <a:spcPts val="300"/>
              </a:spcAft>
              <a:defRPr sz="900" b="0">
                <a:solidFill>
                  <a:srgbClr val="4A4E66"/>
                </a:solidFill>
                <a:latin typeface="Aptos"/>
              </a:defRPr>
            </a:pPr>
            <a:r>
              <a:t>Output: Scope doc,</a:t>
            </a:r>
          </a:p>
          <a:p>
            <a:pPr>
              <a:spcAft>
                <a:spcPts val="300"/>
              </a:spcAft>
              <a:defRPr sz="900" b="0">
                <a:solidFill>
                  <a:srgbClr val="4A4E66"/>
                </a:solidFill>
                <a:latin typeface="Aptos"/>
              </a:defRPr>
            </a:pPr>
            <a:r>
              <a:t>asset map, Snap selection</a:t>
            </a:r>
          </a:p>
        </p:txBody>
      </p:sp>
      <p:sp>
        <p:nvSpPr>
          <p:cNvPr id="14" name="Right Arrow 13"/>
          <p:cNvSpPr/>
          <p:nvPr/>
        </p:nvSpPr>
        <p:spPr>
          <a:xfrm>
            <a:off x="2423160" y="1554480"/>
            <a:ext cx="13716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606039" y="1417320"/>
            <a:ext cx="2103120" cy="429768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06039" y="1417320"/>
            <a:ext cx="2103120" cy="457200"/>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697479" y="1481328"/>
            <a:ext cx="1920240" cy="320040"/>
          </a:xfrm>
          <a:prstGeom prst="rect">
            <a:avLst/>
          </a:prstGeom>
          <a:noFill/>
        </p:spPr>
        <p:txBody>
          <a:bodyPr wrap="square">
            <a:spAutoFit/>
          </a:bodyPr>
          <a:lstStyle/>
          <a:p>
            <a:pPr algn="ctr">
              <a:defRPr sz="1400" b="1">
                <a:solidFill>
                  <a:srgbClr val="FFFFFF"/>
                </a:solidFill>
                <a:latin typeface="Aptos"/>
              </a:defRPr>
            </a:pPr>
            <a:r>
              <a:t>DESIGN</a:t>
            </a:r>
          </a:p>
        </p:txBody>
      </p:sp>
      <p:sp>
        <p:nvSpPr>
          <p:cNvPr id="18" name="Rectangle 17"/>
          <p:cNvSpPr/>
          <p:nvPr/>
        </p:nvSpPr>
        <p:spPr>
          <a:xfrm>
            <a:off x="2697479" y="1965960"/>
            <a:ext cx="1280160" cy="256032"/>
          </a:xfrm>
          <a:prstGeom prst="rect">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AGENT ACTIONS</a:t>
            </a:r>
          </a:p>
        </p:txBody>
      </p:sp>
      <p:sp>
        <p:nvSpPr>
          <p:cNvPr id="19" name="TextBox 18"/>
          <p:cNvSpPr txBox="1"/>
          <p:nvPr/>
        </p:nvSpPr>
        <p:spPr>
          <a:xfrm>
            <a:off x="2697479" y="2286000"/>
            <a:ext cx="1920240" cy="411480"/>
          </a:xfrm>
          <a:prstGeom prst="rect">
            <a:avLst/>
          </a:prstGeom>
          <a:noFill/>
        </p:spPr>
        <p:txBody>
          <a:bodyPr wrap="square">
            <a:spAutoFit/>
          </a:bodyPr>
          <a:lstStyle/>
          <a:p>
            <a:pPr algn="l">
              <a:defRPr sz="900" b="0">
                <a:solidFill>
                  <a:srgbClr val="333333"/>
                </a:solidFill>
                <a:latin typeface="Aptos"/>
              </a:defRPr>
            </a:pPr>
            <a:r>
              <a:t>  Architect produces ADRs</a:t>
            </a:r>
          </a:p>
        </p:txBody>
      </p:sp>
      <p:sp>
        <p:nvSpPr>
          <p:cNvPr id="20" name="TextBox 19"/>
          <p:cNvSpPr txBox="1"/>
          <p:nvPr/>
        </p:nvSpPr>
        <p:spPr>
          <a:xfrm>
            <a:off x="2697479" y="2788920"/>
            <a:ext cx="1920240" cy="411480"/>
          </a:xfrm>
          <a:prstGeom prst="rect">
            <a:avLst/>
          </a:prstGeom>
          <a:noFill/>
        </p:spPr>
        <p:txBody>
          <a:bodyPr wrap="square">
            <a:spAutoFit/>
          </a:bodyPr>
          <a:lstStyle/>
          <a:p>
            <a:pPr algn="l">
              <a:defRPr sz="900" b="0">
                <a:solidFill>
                  <a:srgbClr val="333333"/>
                </a:solidFill>
                <a:latin typeface="Aptos"/>
              </a:defRPr>
            </a:pPr>
            <a:r>
              <a:t>  Prompter configures agents</a:t>
            </a:r>
          </a:p>
        </p:txBody>
      </p:sp>
      <p:sp>
        <p:nvSpPr>
          <p:cNvPr id="21" name="TextBox 20"/>
          <p:cNvSpPr txBox="1"/>
          <p:nvPr/>
        </p:nvSpPr>
        <p:spPr>
          <a:xfrm>
            <a:off x="2697479" y="3291839"/>
            <a:ext cx="1920240" cy="411480"/>
          </a:xfrm>
          <a:prstGeom prst="rect">
            <a:avLst/>
          </a:prstGeom>
          <a:noFill/>
        </p:spPr>
        <p:txBody>
          <a:bodyPr wrap="square">
            <a:spAutoFit/>
          </a:bodyPr>
          <a:lstStyle/>
          <a:p>
            <a:pPr algn="l">
              <a:defRPr sz="900" b="0">
                <a:solidFill>
                  <a:srgbClr val="333333"/>
                </a:solidFill>
                <a:latin typeface="Aptos"/>
              </a:defRPr>
            </a:pPr>
            <a:r>
              <a:t>  IaC templates from library</a:t>
            </a:r>
          </a:p>
        </p:txBody>
      </p:sp>
      <p:sp>
        <p:nvSpPr>
          <p:cNvPr id="22" name="TextBox 21"/>
          <p:cNvSpPr txBox="1"/>
          <p:nvPr/>
        </p:nvSpPr>
        <p:spPr>
          <a:xfrm>
            <a:off x="2697479" y="3794760"/>
            <a:ext cx="1920240" cy="411480"/>
          </a:xfrm>
          <a:prstGeom prst="rect">
            <a:avLst/>
          </a:prstGeom>
          <a:noFill/>
        </p:spPr>
        <p:txBody>
          <a:bodyPr wrap="square">
            <a:spAutoFit/>
          </a:bodyPr>
          <a:lstStyle/>
          <a:p>
            <a:pPr algn="l">
              <a:defRPr sz="900" b="0">
                <a:solidFill>
                  <a:srgbClr val="333333"/>
                </a:solidFill>
                <a:latin typeface="Aptos"/>
              </a:defRPr>
            </a:pPr>
            <a:r>
              <a:t>  Security patterns applied</a:t>
            </a:r>
          </a:p>
        </p:txBody>
      </p:sp>
      <p:sp>
        <p:nvSpPr>
          <p:cNvPr id="23" name="Rectangle 22"/>
          <p:cNvSpPr/>
          <p:nvPr/>
        </p:nvSpPr>
        <p:spPr>
          <a:xfrm>
            <a:off x="2697479" y="4389120"/>
            <a:ext cx="822960" cy="256032"/>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OUTPUT</a:t>
            </a:r>
          </a:p>
        </p:txBody>
      </p:sp>
      <p:sp>
        <p:nvSpPr>
          <p:cNvPr id="24" name="TextBox 23"/>
          <p:cNvSpPr txBox="1"/>
          <p:nvPr/>
        </p:nvSpPr>
        <p:spPr>
          <a:xfrm>
            <a:off x="2697479" y="4709160"/>
            <a:ext cx="1920240" cy="731520"/>
          </a:xfrm>
          <a:prstGeom prst="rect">
            <a:avLst/>
          </a:prstGeom>
          <a:noFill/>
        </p:spPr>
        <p:txBody>
          <a:bodyPr wrap="square">
            <a:spAutoFit/>
          </a:bodyPr>
          <a:lstStyle/>
          <a:p>
            <a:pPr>
              <a:spcAft>
                <a:spcPts val="300"/>
              </a:spcAft>
              <a:defRPr sz="900" b="0">
                <a:solidFill>
                  <a:srgbClr val="4A4E66"/>
                </a:solidFill>
                <a:latin typeface="Aptos"/>
              </a:defRPr>
            </a:pPr>
            <a:r>
              <a:t>Output: Architecture docs,</a:t>
            </a:r>
          </a:p>
          <a:p>
            <a:pPr>
              <a:spcAft>
                <a:spcPts val="300"/>
              </a:spcAft>
              <a:defRPr sz="900" b="0">
                <a:solidFill>
                  <a:srgbClr val="4A4E66"/>
                </a:solidFill>
                <a:latin typeface="Aptos"/>
              </a:defRPr>
            </a:pPr>
            <a:r>
              <a:t>IaC plan, agent roster</a:t>
            </a:r>
          </a:p>
        </p:txBody>
      </p:sp>
      <p:sp>
        <p:nvSpPr>
          <p:cNvPr id="25" name="Right Arrow 24"/>
          <p:cNvSpPr/>
          <p:nvPr/>
        </p:nvSpPr>
        <p:spPr>
          <a:xfrm>
            <a:off x="4754879" y="1554480"/>
            <a:ext cx="137160" cy="228600"/>
          </a:xfrm>
          <a:prstGeom prst="rightArrow">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937759" y="1417320"/>
            <a:ext cx="2103120" cy="4297680"/>
          </a:xfrm>
          <a:prstGeom prst="roundRect">
            <a:avLst/>
          </a:prstGeom>
          <a:solidFill>
            <a:srgbClr val="F8F8FA"/>
          </a:solidFill>
          <a:ln w="12700">
            <a:solidFill>
              <a:srgbClr val="FE8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937759" y="1417320"/>
            <a:ext cx="2103120" cy="457200"/>
          </a:xfrm>
          <a:prstGeom prst="rect">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199" y="1481328"/>
            <a:ext cx="1920240" cy="320040"/>
          </a:xfrm>
          <a:prstGeom prst="rect">
            <a:avLst/>
          </a:prstGeom>
          <a:noFill/>
        </p:spPr>
        <p:txBody>
          <a:bodyPr wrap="square">
            <a:spAutoFit/>
          </a:bodyPr>
          <a:lstStyle/>
          <a:p>
            <a:pPr algn="ctr">
              <a:defRPr sz="1400" b="1">
                <a:solidFill>
                  <a:srgbClr val="FFFFFF"/>
                </a:solidFill>
                <a:latin typeface="Aptos"/>
              </a:defRPr>
            </a:pPr>
            <a:r>
              <a:t>BUILD</a:t>
            </a:r>
          </a:p>
        </p:txBody>
      </p:sp>
      <p:sp>
        <p:nvSpPr>
          <p:cNvPr id="29" name="Rectangle 28"/>
          <p:cNvSpPr/>
          <p:nvPr/>
        </p:nvSpPr>
        <p:spPr>
          <a:xfrm>
            <a:off x="5029199" y="1965960"/>
            <a:ext cx="1280160" cy="256032"/>
          </a:xfrm>
          <a:prstGeom prst="rect">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AGENT ACTIONS</a:t>
            </a:r>
          </a:p>
        </p:txBody>
      </p:sp>
      <p:sp>
        <p:nvSpPr>
          <p:cNvPr id="30" name="TextBox 29"/>
          <p:cNvSpPr txBox="1"/>
          <p:nvPr/>
        </p:nvSpPr>
        <p:spPr>
          <a:xfrm>
            <a:off x="5029199" y="2286000"/>
            <a:ext cx="1920240" cy="411480"/>
          </a:xfrm>
          <a:prstGeom prst="rect">
            <a:avLst/>
          </a:prstGeom>
          <a:noFill/>
        </p:spPr>
        <p:txBody>
          <a:bodyPr wrap="square">
            <a:spAutoFit/>
          </a:bodyPr>
          <a:lstStyle/>
          <a:p>
            <a:pPr algn="l">
              <a:defRPr sz="900" b="0">
                <a:solidFill>
                  <a:srgbClr val="333333"/>
                </a:solidFill>
                <a:latin typeface="Aptos"/>
              </a:defRPr>
            </a:pPr>
            <a:r>
              <a:t>  Coder implements features</a:t>
            </a:r>
          </a:p>
        </p:txBody>
      </p:sp>
      <p:sp>
        <p:nvSpPr>
          <p:cNvPr id="31" name="TextBox 30"/>
          <p:cNvSpPr txBox="1"/>
          <p:nvPr/>
        </p:nvSpPr>
        <p:spPr>
          <a:xfrm>
            <a:off x="5029199" y="2788920"/>
            <a:ext cx="1920240" cy="411480"/>
          </a:xfrm>
          <a:prstGeom prst="rect">
            <a:avLst/>
          </a:prstGeom>
          <a:noFill/>
        </p:spPr>
        <p:txBody>
          <a:bodyPr wrap="square">
            <a:spAutoFit/>
          </a:bodyPr>
          <a:lstStyle/>
          <a:p>
            <a:pPr algn="l">
              <a:defRPr sz="900" b="0">
                <a:solidFill>
                  <a:srgbClr val="333333"/>
                </a:solidFill>
                <a:latin typeface="Aptos"/>
              </a:defRPr>
            </a:pPr>
            <a:r>
              <a:t>  Tester validates in parallel</a:t>
            </a:r>
          </a:p>
        </p:txBody>
      </p:sp>
      <p:sp>
        <p:nvSpPr>
          <p:cNvPr id="32" name="TextBox 31"/>
          <p:cNvSpPr txBox="1"/>
          <p:nvPr/>
        </p:nvSpPr>
        <p:spPr>
          <a:xfrm>
            <a:off x="5029199" y="3291839"/>
            <a:ext cx="1920240" cy="411480"/>
          </a:xfrm>
          <a:prstGeom prst="rect">
            <a:avLst/>
          </a:prstGeom>
          <a:noFill/>
        </p:spPr>
        <p:txBody>
          <a:bodyPr wrap="square">
            <a:spAutoFit/>
          </a:bodyPr>
          <a:lstStyle/>
          <a:p>
            <a:pPr algn="l">
              <a:defRPr sz="900" b="0">
                <a:solidFill>
                  <a:srgbClr val="333333"/>
                </a:solidFill>
                <a:latin typeface="Aptos"/>
              </a:defRPr>
            </a:pPr>
            <a:r>
              <a:t>  SubSquads execute independently</a:t>
            </a:r>
          </a:p>
        </p:txBody>
      </p:sp>
      <p:sp>
        <p:nvSpPr>
          <p:cNvPr id="33" name="TextBox 32"/>
          <p:cNvSpPr txBox="1"/>
          <p:nvPr/>
        </p:nvSpPr>
        <p:spPr>
          <a:xfrm>
            <a:off x="5029199" y="3794760"/>
            <a:ext cx="1920240" cy="411480"/>
          </a:xfrm>
          <a:prstGeom prst="rect">
            <a:avLst/>
          </a:prstGeom>
          <a:noFill/>
        </p:spPr>
        <p:txBody>
          <a:bodyPr wrap="square">
            <a:spAutoFit/>
          </a:bodyPr>
          <a:lstStyle/>
          <a:p>
            <a:pPr algn="l">
              <a:defRPr sz="900" b="0">
                <a:solidFill>
                  <a:srgbClr val="333333"/>
                </a:solidFill>
                <a:latin typeface="Aptos"/>
              </a:defRPr>
            </a:pPr>
            <a:r>
              <a:t>  Shared agents = consistency</a:t>
            </a:r>
          </a:p>
        </p:txBody>
      </p:sp>
      <p:sp>
        <p:nvSpPr>
          <p:cNvPr id="34" name="Rectangle 33"/>
          <p:cNvSpPr/>
          <p:nvPr/>
        </p:nvSpPr>
        <p:spPr>
          <a:xfrm>
            <a:off x="5029199" y="4389120"/>
            <a:ext cx="822960" cy="256032"/>
          </a:xfrm>
          <a:prstGeom prst="rect">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OUTPUT</a:t>
            </a:r>
          </a:p>
        </p:txBody>
      </p:sp>
      <p:sp>
        <p:nvSpPr>
          <p:cNvPr id="35" name="TextBox 34"/>
          <p:cNvSpPr txBox="1"/>
          <p:nvPr/>
        </p:nvSpPr>
        <p:spPr>
          <a:xfrm>
            <a:off x="5029199" y="4709160"/>
            <a:ext cx="1920240" cy="731520"/>
          </a:xfrm>
          <a:prstGeom prst="rect">
            <a:avLst/>
          </a:prstGeom>
          <a:noFill/>
        </p:spPr>
        <p:txBody>
          <a:bodyPr wrap="square">
            <a:spAutoFit/>
          </a:bodyPr>
          <a:lstStyle/>
          <a:p>
            <a:pPr>
              <a:spcAft>
                <a:spcPts val="300"/>
              </a:spcAft>
              <a:defRPr sz="900" b="0">
                <a:solidFill>
                  <a:srgbClr val="4A4E66"/>
                </a:solidFill>
                <a:latin typeface="Aptos"/>
              </a:defRPr>
            </a:pPr>
            <a:r>
              <a:t>Output: Working code,</a:t>
            </a:r>
          </a:p>
          <a:p>
            <a:pPr>
              <a:spcAft>
                <a:spcPts val="300"/>
              </a:spcAft>
              <a:defRPr sz="900" b="0">
                <a:solidFill>
                  <a:srgbClr val="4A4E66"/>
                </a:solidFill>
                <a:latin typeface="Aptos"/>
              </a:defRPr>
            </a:pPr>
            <a:r>
              <a:t>test suites, CI pipeline</a:t>
            </a:r>
          </a:p>
        </p:txBody>
      </p:sp>
      <p:sp>
        <p:nvSpPr>
          <p:cNvPr id="36" name="Right Arrow 35"/>
          <p:cNvSpPr/>
          <p:nvPr/>
        </p:nvSpPr>
        <p:spPr>
          <a:xfrm>
            <a:off x="7086599" y="1554480"/>
            <a:ext cx="137160" cy="228600"/>
          </a:xfrm>
          <a:prstGeom prst="rightArrow">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269479" y="1417320"/>
            <a:ext cx="2103120" cy="429768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269479" y="1417320"/>
            <a:ext cx="2103120" cy="45720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60919" y="1481328"/>
            <a:ext cx="1920240" cy="320040"/>
          </a:xfrm>
          <a:prstGeom prst="rect">
            <a:avLst/>
          </a:prstGeom>
          <a:noFill/>
        </p:spPr>
        <p:txBody>
          <a:bodyPr wrap="square">
            <a:spAutoFit/>
          </a:bodyPr>
          <a:lstStyle/>
          <a:p>
            <a:pPr algn="ctr">
              <a:defRPr sz="1400" b="1">
                <a:solidFill>
                  <a:srgbClr val="FFFFFF"/>
                </a:solidFill>
                <a:latin typeface="Aptos"/>
              </a:defRPr>
            </a:pPr>
            <a:r>
              <a:t>DEPLOY</a:t>
            </a:r>
          </a:p>
        </p:txBody>
      </p:sp>
      <p:sp>
        <p:nvSpPr>
          <p:cNvPr id="40" name="Rectangle 39"/>
          <p:cNvSpPr/>
          <p:nvPr/>
        </p:nvSpPr>
        <p:spPr>
          <a:xfrm>
            <a:off x="7360919" y="1965960"/>
            <a:ext cx="1280160" cy="256032"/>
          </a:xfrm>
          <a:prstGeom prst="rect">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AGENT ACTIONS</a:t>
            </a:r>
          </a:p>
        </p:txBody>
      </p:sp>
      <p:sp>
        <p:nvSpPr>
          <p:cNvPr id="41" name="TextBox 40"/>
          <p:cNvSpPr txBox="1"/>
          <p:nvPr/>
        </p:nvSpPr>
        <p:spPr>
          <a:xfrm>
            <a:off x="7360919" y="2286000"/>
            <a:ext cx="1920240" cy="411480"/>
          </a:xfrm>
          <a:prstGeom prst="rect">
            <a:avLst/>
          </a:prstGeom>
          <a:noFill/>
        </p:spPr>
        <p:txBody>
          <a:bodyPr wrap="square">
            <a:spAutoFit/>
          </a:bodyPr>
          <a:lstStyle/>
          <a:p>
            <a:pPr algn="l">
              <a:defRPr sz="900" b="0">
                <a:solidFill>
                  <a:srgbClr val="333333"/>
                </a:solidFill>
                <a:latin typeface="Aptos"/>
              </a:defRPr>
            </a:pPr>
            <a:r>
              <a:t>  GitOps manages pipeline</a:t>
            </a:r>
          </a:p>
        </p:txBody>
      </p:sp>
      <p:sp>
        <p:nvSpPr>
          <p:cNvPr id="42" name="TextBox 41"/>
          <p:cNvSpPr txBox="1"/>
          <p:nvPr/>
        </p:nvSpPr>
        <p:spPr>
          <a:xfrm>
            <a:off x="7360919" y="2788920"/>
            <a:ext cx="1920240" cy="411480"/>
          </a:xfrm>
          <a:prstGeom prst="rect">
            <a:avLst/>
          </a:prstGeom>
          <a:noFill/>
        </p:spPr>
        <p:txBody>
          <a:bodyPr wrap="square">
            <a:spAutoFit/>
          </a:bodyPr>
          <a:lstStyle/>
          <a:p>
            <a:pPr algn="l">
              <a:defRPr sz="900" b="0">
                <a:solidFill>
                  <a:srgbClr val="333333"/>
                </a:solidFill>
                <a:latin typeface="Aptos"/>
              </a:defRPr>
            </a:pPr>
            <a:r>
              <a:t>  IaC deploys (zero portal)</a:t>
            </a:r>
          </a:p>
        </p:txBody>
      </p:sp>
      <p:sp>
        <p:nvSpPr>
          <p:cNvPr id="43" name="TextBox 42"/>
          <p:cNvSpPr txBox="1"/>
          <p:nvPr/>
        </p:nvSpPr>
        <p:spPr>
          <a:xfrm>
            <a:off x="7360919" y="3291839"/>
            <a:ext cx="1920240" cy="411480"/>
          </a:xfrm>
          <a:prstGeom prst="rect">
            <a:avLst/>
          </a:prstGeom>
          <a:noFill/>
        </p:spPr>
        <p:txBody>
          <a:bodyPr wrap="square">
            <a:spAutoFit/>
          </a:bodyPr>
          <a:lstStyle/>
          <a:p>
            <a:pPr algn="l">
              <a:defRPr sz="900" b="0">
                <a:solidFill>
                  <a:srgbClr val="333333"/>
                </a:solidFill>
                <a:latin typeface="Aptos"/>
              </a:defRPr>
            </a:pPr>
            <a:r>
              <a:t>  Evaluator checks quality</a:t>
            </a:r>
          </a:p>
        </p:txBody>
      </p:sp>
      <p:sp>
        <p:nvSpPr>
          <p:cNvPr id="44" name="TextBox 43"/>
          <p:cNvSpPr txBox="1"/>
          <p:nvPr/>
        </p:nvSpPr>
        <p:spPr>
          <a:xfrm>
            <a:off x="7360919" y="3794760"/>
            <a:ext cx="1920240" cy="411480"/>
          </a:xfrm>
          <a:prstGeom prst="rect">
            <a:avLst/>
          </a:prstGeom>
          <a:noFill/>
        </p:spPr>
        <p:txBody>
          <a:bodyPr wrap="square">
            <a:spAutoFit/>
          </a:bodyPr>
          <a:lstStyle/>
          <a:p>
            <a:pPr algn="l">
              <a:defRPr sz="900" b="0">
                <a:solidFill>
                  <a:srgbClr val="333333"/>
                </a:solidFill>
                <a:latin typeface="Aptos"/>
              </a:defRPr>
            </a:pPr>
            <a:r>
              <a:t>  Zero manual deploy steps</a:t>
            </a:r>
          </a:p>
        </p:txBody>
      </p:sp>
      <p:sp>
        <p:nvSpPr>
          <p:cNvPr id="45" name="Rectangle 44"/>
          <p:cNvSpPr/>
          <p:nvPr/>
        </p:nvSpPr>
        <p:spPr>
          <a:xfrm>
            <a:off x="7360919" y="4389120"/>
            <a:ext cx="822960" cy="256032"/>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OUTPUT</a:t>
            </a:r>
          </a:p>
        </p:txBody>
      </p:sp>
      <p:sp>
        <p:nvSpPr>
          <p:cNvPr id="46" name="TextBox 45"/>
          <p:cNvSpPr txBox="1"/>
          <p:nvPr/>
        </p:nvSpPr>
        <p:spPr>
          <a:xfrm>
            <a:off x="7360919" y="4709160"/>
            <a:ext cx="1920240" cy="731520"/>
          </a:xfrm>
          <a:prstGeom prst="rect">
            <a:avLst/>
          </a:prstGeom>
          <a:noFill/>
        </p:spPr>
        <p:txBody>
          <a:bodyPr wrap="square">
            <a:spAutoFit/>
          </a:bodyPr>
          <a:lstStyle/>
          <a:p>
            <a:pPr>
              <a:spcAft>
                <a:spcPts val="300"/>
              </a:spcAft>
              <a:defRPr sz="900" b="0">
                <a:solidFill>
                  <a:srgbClr val="4A4E66"/>
                </a:solidFill>
                <a:latin typeface="Aptos"/>
              </a:defRPr>
            </a:pPr>
            <a:r>
              <a:t>Output: Deployed infra,</a:t>
            </a:r>
          </a:p>
          <a:p>
            <a:pPr>
              <a:spcAft>
                <a:spcPts val="300"/>
              </a:spcAft>
              <a:defRPr sz="900" b="0">
                <a:solidFill>
                  <a:srgbClr val="4A4E66"/>
                </a:solidFill>
                <a:latin typeface="Aptos"/>
              </a:defRPr>
            </a:pPr>
            <a:r>
              <a:t>validation report</a:t>
            </a:r>
          </a:p>
        </p:txBody>
      </p:sp>
      <p:sp>
        <p:nvSpPr>
          <p:cNvPr id="47" name="Right Arrow 46"/>
          <p:cNvSpPr/>
          <p:nvPr/>
        </p:nvSpPr>
        <p:spPr>
          <a:xfrm>
            <a:off x="9418319" y="1554480"/>
            <a:ext cx="137160" cy="228600"/>
          </a:xfrm>
          <a:prstGeom prst="right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601200" y="1417320"/>
            <a:ext cx="2103120" cy="429768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601200" y="1417320"/>
            <a:ext cx="2103120" cy="457200"/>
          </a:xfrm>
          <a:prstGeom prst="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92640" y="1481328"/>
            <a:ext cx="1920240" cy="320040"/>
          </a:xfrm>
          <a:prstGeom prst="rect">
            <a:avLst/>
          </a:prstGeom>
          <a:noFill/>
        </p:spPr>
        <p:txBody>
          <a:bodyPr wrap="square">
            <a:spAutoFit/>
          </a:bodyPr>
          <a:lstStyle/>
          <a:p>
            <a:pPr algn="ctr">
              <a:defRPr sz="1400" b="1">
                <a:solidFill>
                  <a:srgbClr val="FFFFFF"/>
                </a:solidFill>
                <a:latin typeface="Aptos"/>
              </a:defRPr>
            </a:pPr>
            <a:r>
              <a:t>HANDOVER</a:t>
            </a:r>
          </a:p>
        </p:txBody>
      </p:sp>
      <p:sp>
        <p:nvSpPr>
          <p:cNvPr id="51" name="Rectangle 50"/>
          <p:cNvSpPr/>
          <p:nvPr/>
        </p:nvSpPr>
        <p:spPr>
          <a:xfrm>
            <a:off x="9692640" y="1965960"/>
            <a:ext cx="1280160" cy="256032"/>
          </a:xfrm>
          <a:prstGeom prst="rect">
            <a:avLst/>
          </a:prstGeom>
          <a:solidFill>
            <a:srgbClr val="4A4E6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AGENT ACTIONS</a:t>
            </a:r>
          </a:p>
        </p:txBody>
      </p:sp>
      <p:sp>
        <p:nvSpPr>
          <p:cNvPr id="52" name="TextBox 51"/>
          <p:cNvSpPr txBox="1"/>
          <p:nvPr/>
        </p:nvSpPr>
        <p:spPr>
          <a:xfrm>
            <a:off x="9692640" y="2286000"/>
            <a:ext cx="1920240" cy="411480"/>
          </a:xfrm>
          <a:prstGeom prst="rect">
            <a:avLst/>
          </a:prstGeom>
          <a:noFill/>
        </p:spPr>
        <p:txBody>
          <a:bodyPr wrap="square">
            <a:spAutoFit/>
          </a:bodyPr>
          <a:lstStyle/>
          <a:p>
            <a:pPr algn="l">
              <a:defRPr sz="900" b="0">
                <a:solidFill>
                  <a:srgbClr val="333333"/>
                </a:solidFill>
                <a:latin typeface="Aptos"/>
              </a:defRPr>
            </a:pPr>
            <a:r>
              <a:t>  DevRel generates all docs</a:t>
            </a:r>
          </a:p>
        </p:txBody>
      </p:sp>
      <p:sp>
        <p:nvSpPr>
          <p:cNvPr id="53" name="TextBox 52"/>
          <p:cNvSpPr txBox="1"/>
          <p:nvPr/>
        </p:nvSpPr>
        <p:spPr>
          <a:xfrm>
            <a:off x="9692640" y="2788920"/>
            <a:ext cx="1920240" cy="411480"/>
          </a:xfrm>
          <a:prstGeom prst="rect">
            <a:avLst/>
          </a:prstGeom>
          <a:noFill/>
        </p:spPr>
        <p:txBody>
          <a:bodyPr wrap="square">
            <a:spAutoFit/>
          </a:bodyPr>
          <a:lstStyle/>
          <a:p>
            <a:pPr algn="l">
              <a:defRPr sz="900" b="0">
                <a:solidFill>
                  <a:srgbClr val="333333"/>
                </a:solidFill>
                <a:latin typeface="Aptos"/>
              </a:defRPr>
            </a:pPr>
            <a:r>
              <a:t>  Scribe writes journal</a:t>
            </a:r>
          </a:p>
        </p:txBody>
      </p:sp>
      <p:sp>
        <p:nvSpPr>
          <p:cNvPr id="54" name="TextBox 53"/>
          <p:cNvSpPr txBox="1"/>
          <p:nvPr/>
        </p:nvSpPr>
        <p:spPr>
          <a:xfrm>
            <a:off x="9692640" y="3291839"/>
            <a:ext cx="1920240" cy="411480"/>
          </a:xfrm>
          <a:prstGeom prst="rect">
            <a:avLst/>
          </a:prstGeom>
          <a:noFill/>
        </p:spPr>
        <p:txBody>
          <a:bodyPr wrap="square">
            <a:spAutoFit/>
          </a:bodyPr>
          <a:lstStyle/>
          <a:p>
            <a:pPr algn="l">
              <a:defRPr sz="900" b="0">
                <a:solidFill>
                  <a:srgbClr val="333333"/>
                </a:solidFill>
                <a:latin typeface="Aptos"/>
              </a:defRPr>
            </a:pPr>
            <a:r>
              <a:t>  Improvements to Central</a:t>
            </a:r>
          </a:p>
        </p:txBody>
      </p:sp>
      <p:sp>
        <p:nvSpPr>
          <p:cNvPr id="55" name="TextBox 54"/>
          <p:cNvSpPr txBox="1"/>
          <p:nvPr/>
        </p:nvSpPr>
        <p:spPr>
          <a:xfrm>
            <a:off x="9692640" y="3794760"/>
            <a:ext cx="1920240" cy="411480"/>
          </a:xfrm>
          <a:prstGeom prst="rect">
            <a:avLst/>
          </a:prstGeom>
          <a:noFill/>
        </p:spPr>
        <p:txBody>
          <a:bodyPr wrap="square">
            <a:spAutoFit/>
          </a:bodyPr>
          <a:lstStyle/>
          <a:p>
            <a:pPr algn="l">
              <a:defRPr sz="900" b="0">
                <a:solidFill>
                  <a:srgbClr val="333333"/>
                </a:solidFill>
                <a:latin typeface="Aptos"/>
              </a:defRPr>
            </a:pPr>
            <a:r>
              <a:t>  Runbook auto-generated</a:t>
            </a:r>
          </a:p>
        </p:txBody>
      </p:sp>
      <p:sp>
        <p:nvSpPr>
          <p:cNvPr id="56" name="Rectangle 55"/>
          <p:cNvSpPr/>
          <p:nvPr/>
        </p:nvSpPr>
        <p:spPr>
          <a:xfrm>
            <a:off x="9692640" y="4389120"/>
            <a:ext cx="822960" cy="256032"/>
          </a:xfrm>
          <a:prstGeom prst="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OUTPUT</a:t>
            </a:r>
          </a:p>
        </p:txBody>
      </p:sp>
      <p:sp>
        <p:nvSpPr>
          <p:cNvPr id="57" name="TextBox 56"/>
          <p:cNvSpPr txBox="1"/>
          <p:nvPr/>
        </p:nvSpPr>
        <p:spPr>
          <a:xfrm>
            <a:off x="9692640" y="4709160"/>
            <a:ext cx="1920240" cy="731520"/>
          </a:xfrm>
          <a:prstGeom prst="rect">
            <a:avLst/>
          </a:prstGeom>
          <a:noFill/>
        </p:spPr>
        <p:txBody>
          <a:bodyPr wrap="square">
            <a:spAutoFit/>
          </a:bodyPr>
          <a:lstStyle/>
          <a:p>
            <a:pPr>
              <a:spcAft>
                <a:spcPts val="300"/>
              </a:spcAft>
              <a:defRPr sz="900" b="0">
                <a:solidFill>
                  <a:srgbClr val="4A4E66"/>
                </a:solidFill>
                <a:latin typeface="Aptos"/>
              </a:defRPr>
            </a:pPr>
            <a:r>
              <a:t>Output: Docs, runbook,</a:t>
            </a:r>
          </a:p>
          <a:p>
            <a:pPr>
              <a:spcAft>
                <a:spcPts val="300"/>
              </a:spcAft>
              <a:defRPr sz="900" b="0">
                <a:solidFill>
                  <a:srgbClr val="4A4E66"/>
                </a:solidFill>
                <a:latin typeface="Aptos"/>
              </a:defRPr>
            </a:pPr>
            <a:r>
              <a:t>Central contributions</a:t>
            </a:r>
          </a:p>
        </p:txBody>
      </p:sp>
      <p:sp>
        <p:nvSpPr>
          <p:cNvPr id="58" name="TextBox 57"/>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59" name="TextBox 58"/>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10-11  Reducing Manual Work + SNAP Capabilities</a:t>
            </a:r>
          </a:p>
        </p:txBody>
      </p:sp>
      <p:sp>
        <p:nvSpPr>
          <p:cNvPr id="3" name="Rectangle 2"/>
          <p:cNvSpPr/>
          <p:nvPr/>
        </p:nvSpPr>
        <p:spPr>
          <a:xfrm>
            <a:off x="274320" y="914400"/>
            <a:ext cx="1645920" cy="256032"/>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REPLACE THIS...</a:t>
            </a:r>
          </a:p>
        </p:txBody>
      </p:sp>
      <p:sp>
        <p:nvSpPr>
          <p:cNvPr id="4" name="Rectangle 3"/>
          <p:cNvSpPr/>
          <p:nvPr/>
        </p:nvSpPr>
        <p:spPr>
          <a:xfrm>
            <a:off x="5943600" y="914400"/>
            <a:ext cx="1371600" cy="256032"/>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...WITH THIS</a:t>
            </a:r>
          </a:p>
        </p:txBody>
      </p:sp>
      <p:sp>
        <p:nvSpPr>
          <p:cNvPr id="5" name="Rectangle 4"/>
          <p:cNvSpPr/>
          <p:nvPr/>
        </p:nvSpPr>
        <p:spPr>
          <a:xfrm>
            <a:off x="5669280" y="914400"/>
            <a:ext cx="27432" cy="3474720"/>
          </a:xfrm>
          <a:prstGeom prst="rect">
            <a:avLst/>
          </a:prstGeom>
          <a:solidFill>
            <a:srgbClr val="D0D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182880" cy="182880"/>
          </a:xfrm>
          <a:prstGeom prst="rect">
            <a:avLst/>
          </a:prstGeom>
          <a:noFill/>
        </p:spPr>
        <p:txBody>
          <a:bodyPr wrap="square">
            <a:spAutoFit/>
          </a:bodyPr>
          <a:lstStyle/>
          <a:p>
            <a:pPr algn="l">
              <a:defRPr sz="1000" b="1">
                <a:solidFill>
                  <a:srgbClr val="EE0000"/>
                </a:solidFill>
                <a:latin typeface="Aptos"/>
              </a:defRPr>
            </a:pPr>
            <a:r>
              <a:t>X</a:t>
            </a:r>
          </a:p>
        </p:txBody>
      </p:sp>
      <p:sp>
        <p:nvSpPr>
          <p:cNvPr id="7" name="TextBox 6"/>
          <p:cNvSpPr txBox="1"/>
          <p:nvPr/>
        </p:nvSpPr>
        <p:spPr>
          <a:xfrm>
            <a:off x="731520" y="1325880"/>
            <a:ext cx="4572000" cy="365760"/>
          </a:xfrm>
          <a:prstGeom prst="rect">
            <a:avLst/>
          </a:prstGeom>
          <a:noFill/>
        </p:spPr>
        <p:txBody>
          <a:bodyPr wrap="square">
            <a:spAutoFit/>
          </a:bodyPr>
          <a:lstStyle/>
          <a:p>
            <a:pPr algn="l">
              <a:defRPr sz="1000" b="0">
                <a:solidFill>
                  <a:srgbClr val="333333"/>
                </a:solidFill>
                <a:latin typeface="Aptos"/>
              </a:defRPr>
            </a:pPr>
            <a:r>
              <a:t>Daily standup meetings</a:t>
            </a:r>
          </a:p>
        </p:txBody>
      </p:sp>
      <p:sp>
        <p:nvSpPr>
          <p:cNvPr id="8" name="TextBox 7"/>
          <p:cNvSpPr txBox="1"/>
          <p:nvPr/>
        </p:nvSpPr>
        <p:spPr>
          <a:xfrm>
            <a:off x="6126480" y="1325880"/>
            <a:ext cx="182880" cy="182880"/>
          </a:xfrm>
          <a:prstGeom prst="rect">
            <a:avLst/>
          </a:prstGeom>
          <a:noFill/>
        </p:spPr>
        <p:txBody>
          <a:bodyPr wrap="square">
            <a:spAutoFit/>
          </a:bodyPr>
          <a:lstStyle/>
          <a:p>
            <a:pPr algn="l">
              <a:defRPr sz="1000" b="1">
                <a:solidFill>
                  <a:srgbClr val="00B050"/>
                </a:solidFill>
                <a:latin typeface="Aptos"/>
              </a:defRPr>
            </a:pPr>
            <a:r>
              <a:t>&gt;</a:t>
            </a:r>
          </a:p>
        </p:txBody>
      </p:sp>
      <p:sp>
        <p:nvSpPr>
          <p:cNvPr id="9" name="TextBox 8"/>
          <p:cNvSpPr txBox="1"/>
          <p:nvPr/>
        </p:nvSpPr>
        <p:spPr>
          <a:xfrm>
            <a:off x="6400800" y="1325880"/>
            <a:ext cx="5029200" cy="365760"/>
          </a:xfrm>
          <a:prstGeom prst="rect">
            <a:avLst/>
          </a:prstGeom>
          <a:noFill/>
        </p:spPr>
        <p:txBody>
          <a:bodyPr wrap="square">
            <a:spAutoFit/>
          </a:bodyPr>
          <a:lstStyle/>
          <a:p>
            <a:pPr algn="l">
              <a:defRPr sz="1000" b="0">
                <a:solidFill>
                  <a:srgbClr val="333333"/>
                </a:solidFill>
                <a:latin typeface="Aptos"/>
              </a:defRPr>
            </a:pPr>
            <a:r>
              <a:t>Agent-generated status from git activity</a:t>
            </a:r>
          </a:p>
        </p:txBody>
      </p:sp>
      <p:sp>
        <p:nvSpPr>
          <p:cNvPr id="10" name="TextBox 9"/>
          <p:cNvSpPr txBox="1"/>
          <p:nvPr/>
        </p:nvSpPr>
        <p:spPr>
          <a:xfrm>
            <a:off x="457200" y="1828800"/>
            <a:ext cx="182880" cy="182880"/>
          </a:xfrm>
          <a:prstGeom prst="rect">
            <a:avLst/>
          </a:prstGeom>
          <a:noFill/>
        </p:spPr>
        <p:txBody>
          <a:bodyPr wrap="square">
            <a:spAutoFit/>
          </a:bodyPr>
          <a:lstStyle/>
          <a:p>
            <a:pPr algn="l">
              <a:defRPr sz="1000" b="1">
                <a:solidFill>
                  <a:srgbClr val="EE0000"/>
                </a:solidFill>
                <a:latin typeface="Aptos"/>
              </a:defRPr>
            </a:pPr>
            <a:r>
              <a:t>X</a:t>
            </a:r>
          </a:p>
        </p:txBody>
      </p:sp>
      <p:sp>
        <p:nvSpPr>
          <p:cNvPr id="11" name="TextBox 10"/>
          <p:cNvSpPr txBox="1"/>
          <p:nvPr/>
        </p:nvSpPr>
        <p:spPr>
          <a:xfrm>
            <a:off x="731520" y="1828800"/>
            <a:ext cx="4572000" cy="365760"/>
          </a:xfrm>
          <a:prstGeom prst="rect">
            <a:avLst/>
          </a:prstGeom>
          <a:noFill/>
        </p:spPr>
        <p:txBody>
          <a:bodyPr wrap="square">
            <a:spAutoFit/>
          </a:bodyPr>
          <a:lstStyle/>
          <a:p>
            <a:pPr algn="l">
              <a:defRPr sz="1000" b="0">
                <a:solidFill>
                  <a:srgbClr val="333333"/>
                </a:solidFill>
                <a:latin typeface="Aptos"/>
              </a:defRPr>
            </a:pPr>
            <a:r>
              <a:t>Weekly status reports</a:t>
            </a:r>
          </a:p>
        </p:txBody>
      </p:sp>
      <p:sp>
        <p:nvSpPr>
          <p:cNvPr id="12" name="TextBox 11"/>
          <p:cNvSpPr txBox="1"/>
          <p:nvPr/>
        </p:nvSpPr>
        <p:spPr>
          <a:xfrm>
            <a:off x="6126480" y="1828800"/>
            <a:ext cx="182880" cy="182880"/>
          </a:xfrm>
          <a:prstGeom prst="rect">
            <a:avLst/>
          </a:prstGeom>
          <a:noFill/>
        </p:spPr>
        <p:txBody>
          <a:bodyPr wrap="square">
            <a:spAutoFit/>
          </a:bodyPr>
          <a:lstStyle/>
          <a:p>
            <a:pPr algn="l">
              <a:defRPr sz="1000" b="1">
                <a:solidFill>
                  <a:srgbClr val="00B050"/>
                </a:solidFill>
                <a:latin typeface="Aptos"/>
              </a:defRPr>
            </a:pPr>
            <a:r>
              <a:t>&gt;</a:t>
            </a:r>
          </a:p>
        </p:txBody>
      </p:sp>
      <p:sp>
        <p:nvSpPr>
          <p:cNvPr id="13" name="TextBox 12"/>
          <p:cNvSpPr txBox="1"/>
          <p:nvPr/>
        </p:nvSpPr>
        <p:spPr>
          <a:xfrm>
            <a:off x="6400800" y="1828800"/>
            <a:ext cx="5029200" cy="365760"/>
          </a:xfrm>
          <a:prstGeom prst="rect">
            <a:avLst/>
          </a:prstGeom>
          <a:noFill/>
        </p:spPr>
        <p:txBody>
          <a:bodyPr wrap="square">
            <a:spAutoFit/>
          </a:bodyPr>
          <a:lstStyle/>
          <a:p>
            <a:pPr algn="l">
              <a:defRPr sz="1000" b="0">
                <a:solidFill>
                  <a:srgbClr val="333333"/>
                </a:solidFill>
                <a:latin typeface="Aptos"/>
              </a:defRPr>
            </a:pPr>
            <a:r>
              <a:t>Automated summary from Scribe (JOURNAL.md)</a:t>
            </a:r>
          </a:p>
        </p:txBody>
      </p:sp>
      <p:sp>
        <p:nvSpPr>
          <p:cNvPr id="14" name="TextBox 13"/>
          <p:cNvSpPr txBox="1"/>
          <p:nvPr/>
        </p:nvSpPr>
        <p:spPr>
          <a:xfrm>
            <a:off x="457200" y="2331720"/>
            <a:ext cx="182880" cy="182880"/>
          </a:xfrm>
          <a:prstGeom prst="rect">
            <a:avLst/>
          </a:prstGeom>
          <a:noFill/>
        </p:spPr>
        <p:txBody>
          <a:bodyPr wrap="square">
            <a:spAutoFit/>
          </a:bodyPr>
          <a:lstStyle/>
          <a:p>
            <a:pPr algn="l">
              <a:defRPr sz="1000" b="1">
                <a:solidFill>
                  <a:srgbClr val="EE0000"/>
                </a:solidFill>
                <a:latin typeface="Aptos"/>
              </a:defRPr>
            </a:pPr>
            <a:r>
              <a:t>X</a:t>
            </a:r>
          </a:p>
        </p:txBody>
      </p:sp>
      <p:sp>
        <p:nvSpPr>
          <p:cNvPr id="15" name="TextBox 14"/>
          <p:cNvSpPr txBox="1"/>
          <p:nvPr/>
        </p:nvSpPr>
        <p:spPr>
          <a:xfrm>
            <a:off x="731520" y="2331720"/>
            <a:ext cx="4572000" cy="365760"/>
          </a:xfrm>
          <a:prstGeom prst="rect">
            <a:avLst/>
          </a:prstGeom>
          <a:noFill/>
        </p:spPr>
        <p:txBody>
          <a:bodyPr wrap="square">
            <a:spAutoFit/>
          </a:bodyPr>
          <a:lstStyle/>
          <a:p>
            <a:pPr algn="l">
              <a:defRPr sz="1000" b="0">
                <a:solidFill>
                  <a:srgbClr val="333333"/>
                </a:solidFill>
                <a:latin typeface="Aptos"/>
              </a:defRPr>
            </a:pPr>
            <a:r>
              <a:t>Architecture reviews</a:t>
            </a:r>
          </a:p>
        </p:txBody>
      </p:sp>
      <p:sp>
        <p:nvSpPr>
          <p:cNvPr id="16" name="TextBox 15"/>
          <p:cNvSpPr txBox="1"/>
          <p:nvPr/>
        </p:nvSpPr>
        <p:spPr>
          <a:xfrm>
            <a:off x="6126480" y="2331720"/>
            <a:ext cx="182880" cy="182880"/>
          </a:xfrm>
          <a:prstGeom prst="rect">
            <a:avLst/>
          </a:prstGeom>
          <a:noFill/>
        </p:spPr>
        <p:txBody>
          <a:bodyPr wrap="square">
            <a:spAutoFit/>
          </a:bodyPr>
          <a:lstStyle/>
          <a:p>
            <a:pPr algn="l">
              <a:defRPr sz="1000" b="1">
                <a:solidFill>
                  <a:srgbClr val="00B050"/>
                </a:solidFill>
                <a:latin typeface="Aptos"/>
              </a:defRPr>
            </a:pPr>
            <a:r>
              <a:t>&gt;</a:t>
            </a:r>
          </a:p>
        </p:txBody>
      </p:sp>
      <p:sp>
        <p:nvSpPr>
          <p:cNvPr id="17" name="TextBox 16"/>
          <p:cNvSpPr txBox="1"/>
          <p:nvPr/>
        </p:nvSpPr>
        <p:spPr>
          <a:xfrm>
            <a:off x="6400800" y="2331720"/>
            <a:ext cx="5029200" cy="365760"/>
          </a:xfrm>
          <a:prstGeom prst="rect">
            <a:avLst/>
          </a:prstGeom>
          <a:noFill/>
        </p:spPr>
        <p:txBody>
          <a:bodyPr wrap="square">
            <a:spAutoFit/>
          </a:bodyPr>
          <a:lstStyle/>
          <a:p>
            <a:pPr algn="l">
              <a:defRPr sz="1000" b="0">
                <a:solidFill>
                  <a:srgbClr val="333333"/>
                </a:solidFill>
                <a:latin typeface="Aptos"/>
              </a:defRPr>
            </a:pPr>
            <a:r>
              <a:t>Architect agent generates ADRs, async PR review</a:t>
            </a:r>
          </a:p>
        </p:txBody>
      </p:sp>
      <p:sp>
        <p:nvSpPr>
          <p:cNvPr id="18" name="TextBox 17"/>
          <p:cNvSpPr txBox="1"/>
          <p:nvPr/>
        </p:nvSpPr>
        <p:spPr>
          <a:xfrm>
            <a:off x="457200" y="2834640"/>
            <a:ext cx="182880" cy="182880"/>
          </a:xfrm>
          <a:prstGeom prst="rect">
            <a:avLst/>
          </a:prstGeom>
          <a:noFill/>
        </p:spPr>
        <p:txBody>
          <a:bodyPr wrap="square">
            <a:spAutoFit/>
          </a:bodyPr>
          <a:lstStyle/>
          <a:p>
            <a:pPr algn="l">
              <a:defRPr sz="1000" b="1">
                <a:solidFill>
                  <a:srgbClr val="EE0000"/>
                </a:solidFill>
                <a:latin typeface="Aptos"/>
              </a:defRPr>
            </a:pPr>
            <a:r>
              <a:t>X</a:t>
            </a:r>
          </a:p>
        </p:txBody>
      </p:sp>
      <p:sp>
        <p:nvSpPr>
          <p:cNvPr id="19" name="TextBox 18"/>
          <p:cNvSpPr txBox="1"/>
          <p:nvPr/>
        </p:nvSpPr>
        <p:spPr>
          <a:xfrm>
            <a:off x="731520" y="2834640"/>
            <a:ext cx="4572000" cy="365760"/>
          </a:xfrm>
          <a:prstGeom prst="rect">
            <a:avLst/>
          </a:prstGeom>
          <a:noFill/>
        </p:spPr>
        <p:txBody>
          <a:bodyPr wrap="square">
            <a:spAutoFit/>
          </a:bodyPr>
          <a:lstStyle/>
          <a:p>
            <a:pPr algn="l">
              <a:defRPr sz="1000" b="0">
                <a:solidFill>
                  <a:srgbClr val="333333"/>
                </a:solidFill>
                <a:latin typeface="Aptos"/>
              </a:defRPr>
            </a:pPr>
            <a:r>
              <a:t>Manual coordination</a:t>
            </a:r>
          </a:p>
        </p:txBody>
      </p:sp>
      <p:sp>
        <p:nvSpPr>
          <p:cNvPr id="20" name="TextBox 19"/>
          <p:cNvSpPr txBox="1"/>
          <p:nvPr/>
        </p:nvSpPr>
        <p:spPr>
          <a:xfrm>
            <a:off x="6126480" y="2834640"/>
            <a:ext cx="182880" cy="182880"/>
          </a:xfrm>
          <a:prstGeom prst="rect">
            <a:avLst/>
          </a:prstGeom>
          <a:noFill/>
        </p:spPr>
        <p:txBody>
          <a:bodyPr wrap="square">
            <a:spAutoFit/>
          </a:bodyPr>
          <a:lstStyle/>
          <a:p>
            <a:pPr algn="l">
              <a:defRPr sz="1000" b="1">
                <a:solidFill>
                  <a:srgbClr val="00B050"/>
                </a:solidFill>
                <a:latin typeface="Aptos"/>
              </a:defRPr>
            </a:pPr>
            <a:r>
              <a:t>&gt;</a:t>
            </a:r>
          </a:p>
        </p:txBody>
      </p:sp>
      <p:sp>
        <p:nvSpPr>
          <p:cNvPr id="21" name="TextBox 20"/>
          <p:cNvSpPr txBox="1"/>
          <p:nvPr/>
        </p:nvSpPr>
        <p:spPr>
          <a:xfrm>
            <a:off x="6400800" y="2834640"/>
            <a:ext cx="5029200" cy="365760"/>
          </a:xfrm>
          <a:prstGeom prst="rect">
            <a:avLst/>
          </a:prstGeom>
          <a:noFill/>
        </p:spPr>
        <p:txBody>
          <a:bodyPr wrap="square">
            <a:spAutoFit/>
          </a:bodyPr>
          <a:lstStyle/>
          <a:p>
            <a:pPr algn="l">
              <a:defRPr sz="1000" b="0">
                <a:solidFill>
                  <a:srgbClr val="333333"/>
                </a:solidFill>
                <a:latin typeface="Aptos"/>
              </a:defRPr>
            </a:pPr>
            <a:r>
              <a:t>Routing rules auto-dispatch to right agent</a:t>
            </a:r>
          </a:p>
        </p:txBody>
      </p:sp>
      <p:sp>
        <p:nvSpPr>
          <p:cNvPr id="22" name="TextBox 21"/>
          <p:cNvSpPr txBox="1"/>
          <p:nvPr/>
        </p:nvSpPr>
        <p:spPr>
          <a:xfrm>
            <a:off x="457200" y="3337560"/>
            <a:ext cx="182880" cy="182880"/>
          </a:xfrm>
          <a:prstGeom prst="rect">
            <a:avLst/>
          </a:prstGeom>
          <a:noFill/>
        </p:spPr>
        <p:txBody>
          <a:bodyPr wrap="square">
            <a:spAutoFit/>
          </a:bodyPr>
          <a:lstStyle/>
          <a:p>
            <a:pPr algn="l">
              <a:defRPr sz="1000" b="1">
                <a:solidFill>
                  <a:srgbClr val="EE0000"/>
                </a:solidFill>
                <a:latin typeface="Aptos"/>
              </a:defRPr>
            </a:pPr>
            <a:r>
              <a:t>X</a:t>
            </a:r>
          </a:p>
        </p:txBody>
      </p:sp>
      <p:sp>
        <p:nvSpPr>
          <p:cNvPr id="23" name="TextBox 22"/>
          <p:cNvSpPr txBox="1"/>
          <p:nvPr/>
        </p:nvSpPr>
        <p:spPr>
          <a:xfrm>
            <a:off x="731520" y="3337560"/>
            <a:ext cx="4572000" cy="365760"/>
          </a:xfrm>
          <a:prstGeom prst="rect">
            <a:avLst/>
          </a:prstGeom>
          <a:noFill/>
        </p:spPr>
        <p:txBody>
          <a:bodyPr wrap="square">
            <a:spAutoFit/>
          </a:bodyPr>
          <a:lstStyle/>
          <a:p>
            <a:pPr algn="l">
              <a:defRPr sz="1000" b="0">
                <a:solidFill>
                  <a:srgbClr val="333333"/>
                </a:solidFill>
                <a:latin typeface="Aptos"/>
              </a:defRPr>
            </a:pPr>
            <a:r>
              <a:t>Knowledge transfer</a:t>
            </a:r>
          </a:p>
        </p:txBody>
      </p:sp>
      <p:sp>
        <p:nvSpPr>
          <p:cNvPr id="24" name="TextBox 23"/>
          <p:cNvSpPr txBox="1"/>
          <p:nvPr/>
        </p:nvSpPr>
        <p:spPr>
          <a:xfrm>
            <a:off x="6126480" y="3337560"/>
            <a:ext cx="182880" cy="182880"/>
          </a:xfrm>
          <a:prstGeom prst="rect">
            <a:avLst/>
          </a:prstGeom>
          <a:noFill/>
        </p:spPr>
        <p:txBody>
          <a:bodyPr wrap="square">
            <a:spAutoFit/>
          </a:bodyPr>
          <a:lstStyle/>
          <a:p>
            <a:pPr algn="l">
              <a:defRPr sz="1000" b="1">
                <a:solidFill>
                  <a:srgbClr val="00B050"/>
                </a:solidFill>
                <a:latin typeface="Aptos"/>
              </a:defRPr>
            </a:pPr>
            <a:r>
              <a:t>&gt;</a:t>
            </a:r>
          </a:p>
        </p:txBody>
      </p:sp>
      <p:sp>
        <p:nvSpPr>
          <p:cNvPr id="25" name="TextBox 24"/>
          <p:cNvSpPr txBox="1"/>
          <p:nvPr/>
        </p:nvSpPr>
        <p:spPr>
          <a:xfrm>
            <a:off x="6400800" y="3337560"/>
            <a:ext cx="5029200" cy="365760"/>
          </a:xfrm>
          <a:prstGeom prst="rect">
            <a:avLst/>
          </a:prstGeom>
          <a:noFill/>
        </p:spPr>
        <p:txBody>
          <a:bodyPr wrap="square">
            <a:spAutoFit/>
          </a:bodyPr>
          <a:lstStyle/>
          <a:p>
            <a:pPr algn="l">
              <a:defRPr sz="1000" b="0">
                <a:solidFill>
                  <a:srgbClr val="333333"/>
                </a:solidFill>
                <a:latin typeface="Aptos"/>
              </a:defRPr>
            </a:pPr>
            <a:r>
              <a:t>DevRel generates onboarding docs automatically</a:t>
            </a:r>
          </a:p>
        </p:txBody>
      </p:sp>
      <p:sp>
        <p:nvSpPr>
          <p:cNvPr id="26" name="Rectangle 25"/>
          <p:cNvSpPr/>
          <p:nvPr/>
        </p:nvSpPr>
        <p:spPr>
          <a:xfrm>
            <a:off x="274320" y="3931920"/>
            <a:ext cx="2286000" cy="256032"/>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SNAP CAPABILITY MODEL</a:t>
            </a:r>
          </a:p>
        </p:txBody>
      </p:sp>
      <p:sp>
        <p:nvSpPr>
          <p:cNvPr id="27" name="TextBox 26"/>
          <p:cNvSpPr txBox="1"/>
          <p:nvPr/>
        </p:nvSpPr>
        <p:spPr>
          <a:xfrm>
            <a:off x="274320" y="4297680"/>
            <a:ext cx="5486400" cy="274320"/>
          </a:xfrm>
          <a:prstGeom prst="rect">
            <a:avLst/>
          </a:prstGeom>
          <a:noFill/>
        </p:spPr>
        <p:txBody>
          <a:bodyPr wrap="square">
            <a:spAutoFit/>
          </a:bodyPr>
          <a:lstStyle/>
          <a:p>
            <a:pPr algn="l">
              <a:defRPr sz="1100" b="0">
                <a:solidFill>
                  <a:srgbClr val="4A4E66"/>
                </a:solidFill>
                <a:latin typeface="Aptos"/>
              </a:defRPr>
            </a:pPr>
            <a:r>
              <a:t>Teams request capabilities, not people. Snap provides agents per capability.</a:t>
            </a:r>
          </a:p>
        </p:txBody>
      </p:sp>
      <p:sp>
        <p:nvSpPr>
          <p:cNvPr id="28" name="Oval 27"/>
          <p:cNvSpPr/>
          <p:nvPr/>
        </p:nvSpPr>
        <p:spPr>
          <a:xfrm>
            <a:off x="274320" y="4681728"/>
            <a:ext cx="274320" cy="274320"/>
          </a:xfrm>
          <a:prstGeom prst="ellipse">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B</a:t>
            </a:r>
          </a:p>
        </p:txBody>
      </p:sp>
      <p:sp>
        <p:nvSpPr>
          <p:cNvPr id="29" name="TextBox 28"/>
          <p:cNvSpPr txBox="1"/>
          <p:nvPr/>
        </p:nvSpPr>
        <p:spPr>
          <a:xfrm>
            <a:off x="640080" y="4663440"/>
            <a:ext cx="1097280" cy="228600"/>
          </a:xfrm>
          <a:prstGeom prst="rect">
            <a:avLst/>
          </a:prstGeom>
          <a:noFill/>
        </p:spPr>
        <p:txBody>
          <a:bodyPr wrap="square">
            <a:spAutoFit/>
          </a:bodyPr>
          <a:lstStyle/>
          <a:p>
            <a:pPr algn="l">
              <a:defRPr sz="1000" b="1">
                <a:solidFill>
                  <a:srgbClr val="0178D4"/>
                </a:solidFill>
                <a:latin typeface="Aptos"/>
              </a:defRPr>
            </a:pPr>
            <a:r>
              <a:t>Backend</a:t>
            </a:r>
          </a:p>
        </p:txBody>
      </p:sp>
      <p:sp>
        <p:nvSpPr>
          <p:cNvPr id="30" name="TextBox 29"/>
          <p:cNvSpPr txBox="1"/>
          <p:nvPr/>
        </p:nvSpPr>
        <p:spPr>
          <a:xfrm>
            <a:off x="1828800" y="4663440"/>
            <a:ext cx="2103120" cy="365760"/>
          </a:xfrm>
          <a:prstGeom prst="rect">
            <a:avLst/>
          </a:prstGeom>
          <a:noFill/>
        </p:spPr>
        <p:txBody>
          <a:bodyPr wrap="square">
            <a:spAutoFit/>
          </a:bodyPr>
          <a:lstStyle/>
          <a:p>
            <a:pPr algn="l">
              <a:defRPr sz="900" b="0">
                <a:solidFill>
                  <a:srgbClr val="333333"/>
                </a:solidFill>
                <a:latin typeface="Aptos"/>
              </a:defRPr>
            </a:pPr>
            <a:r>
              <a:t>API design, server logic</a:t>
            </a:r>
          </a:p>
        </p:txBody>
      </p:sp>
      <p:sp>
        <p:nvSpPr>
          <p:cNvPr id="31" name="Oval 30"/>
          <p:cNvSpPr/>
          <p:nvPr/>
        </p:nvSpPr>
        <p:spPr>
          <a:xfrm>
            <a:off x="4114800" y="4681728"/>
            <a:ext cx="274320" cy="274320"/>
          </a:xfrm>
          <a:prstGeom prst="ellipse">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I</a:t>
            </a:r>
          </a:p>
        </p:txBody>
      </p:sp>
      <p:sp>
        <p:nvSpPr>
          <p:cNvPr id="32" name="TextBox 31"/>
          <p:cNvSpPr txBox="1"/>
          <p:nvPr/>
        </p:nvSpPr>
        <p:spPr>
          <a:xfrm>
            <a:off x="4480560" y="4663440"/>
            <a:ext cx="1097280" cy="228600"/>
          </a:xfrm>
          <a:prstGeom prst="rect">
            <a:avLst/>
          </a:prstGeom>
          <a:noFill/>
        </p:spPr>
        <p:txBody>
          <a:bodyPr wrap="square">
            <a:spAutoFit/>
          </a:bodyPr>
          <a:lstStyle/>
          <a:p>
            <a:pPr algn="l">
              <a:defRPr sz="1000" b="1">
                <a:solidFill>
                  <a:srgbClr val="463668"/>
                </a:solidFill>
                <a:latin typeface="Aptos"/>
              </a:defRPr>
            </a:pPr>
            <a:r>
              <a:t>IaC</a:t>
            </a:r>
          </a:p>
        </p:txBody>
      </p:sp>
      <p:sp>
        <p:nvSpPr>
          <p:cNvPr id="33" name="TextBox 32"/>
          <p:cNvSpPr txBox="1"/>
          <p:nvPr/>
        </p:nvSpPr>
        <p:spPr>
          <a:xfrm>
            <a:off x="5669280" y="4663440"/>
            <a:ext cx="2103120" cy="365760"/>
          </a:xfrm>
          <a:prstGeom prst="rect">
            <a:avLst/>
          </a:prstGeom>
          <a:noFill/>
        </p:spPr>
        <p:txBody>
          <a:bodyPr wrap="square">
            <a:spAutoFit/>
          </a:bodyPr>
          <a:lstStyle/>
          <a:p>
            <a:pPr algn="l">
              <a:defRPr sz="900" b="0">
                <a:solidFill>
                  <a:srgbClr val="333333"/>
                </a:solidFill>
                <a:latin typeface="Aptos"/>
              </a:defRPr>
            </a:pPr>
            <a:r>
              <a:t>Bicep, Terraform, azd</a:t>
            </a:r>
          </a:p>
        </p:txBody>
      </p:sp>
      <p:sp>
        <p:nvSpPr>
          <p:cNvPr id="34" name="Oval 33"/>
          <p:cNvSpPr/>
          <p:nvPr/>
        </p:nvSpPr>
        <p:spPr>
          <a:xfrm>
            <a:off x="7955280" y="4681728"/>
            <a:ext cx="274320" cy="274320"/>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Q</a:t>
            </a:r>
          </a:p>
        </p:txBody>
      </p:sp>
      <p:sp>
        <p:nvSpPr>
          <p:cNvPr id="35" name="TextBox 34"/>
          <p:cNvSpPr txBox="1"/>
          <p:nvPr/>
        </p:nvSpPr>
        <p:spPr>
          <a:xfrm>
            <a:off x="8321040" y="4663440"/>
            <a:ext cx="1097280" cy="228600"/>
          </a:xfrm>
          <a:prstGeom prst="rect">
            <a:avLst/>
          </a:prstGeom>
          <a:noFill/>
        </p:spPr>
        <p:txBody>
          <a:bodyPr wrap="square">
            <a:spAutoFit/>
          </a:bodyPr>
          <a:lstStyle/>
          <a:p>
            <a:pPr algn="l">
              <a:defRPr sz="1000" b="1">
                <a:solidFill>
                  <a:srgbClr val="00B050"/>
                </a:solidFill>
                <a:latin typeface="Aptos"/>
              </a:defRPr>
            </a:pPr>
            <a:r>
              <a:t>QA</a:t>
            </a:r>
          </a:p>
        </p:txBody>
      </p:sp>
      <p:sp>
        <p:nvSpPr>
          <p:cNvPr id="36" name="TextBox 35"/>
          <p:cNvSpPr txBox="1"/>
          <p:nvPr/>
        </p:nvSpPr>
        <p:spPr>
          <a:xfrm>
            <a:off x="9509760" y="4663440"/>
            <a:ext cx="2103120" cy="365760"/>
          </a:xfrm>
          <a:prstGeom prst="rect">
            <a:avLst/>
          </a:prstGeom>
          <a:noFill/>
        </p:spPr>
        <p:txBody>
          <a:bodyPr wrap="square">
            <a:spAutoFit/>
          </a:bodyPr>
          <a:lstStyle/>
          <a:p>
            <a:pPr algn="l">
              <a:defRPr sz="900" b="0">
                <a:solidFill>
                  <a:srgbClr val="333333"/>
                </a:solidFill>
                <a:latin typeface="Aptos"/>
              </a:defRPr>
            </a:pPr>
            <a:r>
              <a:t>Test strategy, automation</a:t>
            </a:r>
          </a:p>
        </p:txBody>
      </p:sp>
      <p:sp>
        <p:nvSpPr>
          <p:cNvPr id="37" name="Oval 36"/>
          <p:cNvSpPr/>
          <p:nvPr/>
        </p:nvSpPr>
        <p:spPr>
          <a:xfrm>
            <a:off x="274320" y="5184647"/>
            <a:ext cx="274320" cy="274320"/>
          </a:xfrm>
          <a:prstGeom prst="ellipse">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A</a:t>
            </a:r>
          </a:p>
        </p:txBody>
      </p:sp>
      <p:sp>
        <p:nvSpPr>
          <p:cNvPr id="38" name="TextBox 37"/>
          <p:cNvSpPr txBox="1"/>
          <p:nvPr/>
        </p:nvSpPr>
        <p:spPr>
          <a:xfrm>
            <a:off x="640080" y="5166359"/>
            <a:ext cx="1097280" cy="228600"/>
          </a:xfrm>
          <a:prstGeom prst="rect">
            <a:avLst/>
          </a:prstGeom>
          <a:noFill/>
        </p:spPr>
        <p:txBody>
          <a:bodyPr wrap="square">
            <a:spAutoFit/>
          </a:bodyPr>
          <a:lstStyle/>
          <a:p>
            <a:pPr algn="l">
              <a:defRPr sz="1000" b="1">
                <a:solidFill>
                  <a:srgbClr val="225B62"/>
                </a:solidFill>
                <a:latin typeface="Aptos"/>
              </a:defRPr>
            </a:pPr>
            <a:r>
              <a:t>AI / ML</a:t>
            </a:r>
          </a:p>
        </p:txBody>
      </p:sp>
      <p:sp>
        <p:nvSpPr>
          <p:cNvPr id="39" name="TextBox 38"/>
          <p:cNvSpPr txBox="1"/>
          <p:nvPr/>
        </p:nvSpPr>
        <p:spPr>
          <a:xfrm>
            <a:off x="1828800" y="5166359"/>
            <a:ext cx="2103120" cy="365760"/>
          </a:xfrm>
          <a:prstGeom prst="rect">
            <a:avLst/>
          </a:prstGeom>
          <a:noFill/>
        </p:spPr>
        <p:txBody>
          <a:bodyPr wrap="square">
            <a:spAutoFit/>
          </a:bodyPr>
          <a:lstStyle/>
          <a:p>
            <a:pPr algn="l">
              <a:defRPr sz="900" b="0">
                <a:solidFill>
                  <a:srgbClr val="333333"/>
                </a:solidFill>
                <a:latin typeface="Aptos"/>
              </a:defRPr>
            </a:pPr>
            <a:r>
              <a:t>Model integration, prompts</a:t>
            </a:r>
          </a:p>
        </p:txBody>
      </p:sp>
      <p:sp>
        <p:nvSpPr>
          <p:cNvPr id="40" name="Oval 39"/>
          <p:cNvSpPr/>
          <p:nvPr/>
        </p:nvSpPr>
        <p:spPr>
          <a:xfrm>
            <a:off x="4114800" y="5184647"/>
            <a:ext cx="274320" cy="274320"/>
          </a:xfrm>
          <a:prstGeom prst="ellipse">
            <a:avLst/>
          </a:prstGeom>
          <a:solidFill>
            <a:srgbClr val="FE8B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D</a:t>
            </a:r>
          </a:p>
        </p:txBody>
      </p:sp>
      <p:sp>
        <p:nvSpPr>
          <p:cNvPr id="41" name="TextBox 40"/>
          <p:cNvSpPr txBox="1"/>
          <p:nvPr/>
        </p:nvSpPr>
        <p:spPr>
          <a:xfrm>
            <a:off x="4480560" y="5166359"/>
            <a:ext cx="1097280" cy="228600"/>
          </a:xfrm>
          <a:prstGeom prst="rect">
            <a:avLst/>
          </a:prstGeom>
          <a:noFill/>
        </p:spPr>
        <p:txBody>
          <a:bodyPr wrap="square">
            <a:spAutoFit/>
          </a:bodyPr>
          <a:lstStyle/>
          <a:p>
            <a:pPr algn="l">
              <a:defRPr sz="1000" b="1">
                <a:solidFill>
                  <a:srgbClr val="FE8B00"/>
                </a:solidFill>
                <a:latin typeface="Aptos"/>
              </a:defRPr>
            </a:pPr>
            <a:r>
              <a:t>DevOps</a:t>
            </a:r>
          </a:p>
        </p:txBody>
      </p:sp>
      <p:sp>
        <p:nvSpPr>
          <p:cNvPr id="42" name="TextBox 41"/>
          <p:cNvSpPr txBox="1"/>
          <p:nvPr/>
        </p:nvSpPr>
        <p:spPr>
          <a:xfrm>
            <a:off x="5669280" y="5166359"/>
            <a:ext cx="2103120" cy="365760"/>
          </a:xfrm>
          <a:prstGeom prst="rect">
            <a:avLst/>
          </a:prstGeom>
          <a:noFill/>
        </p:spPr>
        <p:txBody>
          <a:bodyPr wrap="square">
            <a:spAutoFit/>
          </a:bodyPr>
          <a:lstStyle/>
          <a:p>
            <a:pPr algn="l">
              <a:defRPr sz="900" b="0">
                <a:solidFill>
                  <a:srgbClr val="333333"/>
                </a:solidFill>
                <a:latin typeface="Aptos"/>
              </a:defRPr>
            </a:pPr>
            <a:r>
              <a:t>CI/CD, pipelines, releases</a:t>
            </a:r>
          </a:p>
        </p:txBody>
      </p:sp>
      <p:sp>
        <p:nvSpPr>
          <p:cNvPr id="43" name="Oval 42"/>
          <p:cNvSpPr/>
          <p:nvPr/>
        </p:nvSpPr>
        <p:spPr>
          <a:xfrm>
            <a:off x="7955280" y="5184647"/>
            <a:ext cx="274320" cy="274320"/>
          </a:xfrm>
          <a:prstGeom prst="ellipse">
            <a:avLst/>
          </a:prstGeom>
          <a:solidFill>
            <a:srgbClr val="D83B0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FFFFFF"/>
                </a:solidFill>
                <a:latin typeface="Aptos"/>
              </a:defRPr>
            </a:pPr>
            <a:r>
              <a:t>S</a:t>
            </a:r>
          </a:p>
        </p:txBody>
      </p:sp>
      <p:sp>
        <p:nvSpPr>
          <p:cNvPr id="44" name="TextBox 43"/>
          <p:cNvSpPr txBox="1"/>
          <p:nvPr/>
        </p:nvSpPr>
        <p:spPr>
          <a:xfrm>
            <a:off x="8321040" y="5166359"/>
            <a:ext cx="1097280" cy="228600"/>
          </a:xfrm>
          <a:prstGeom prst="rect">
            <a:avLst/>
          </a:prstGeom>
          <a:noFill/>
        </p:spPr>
        <p:txBody>
          <a:bodyPr wrap="square">
            <a:spAutoFit/>
          </a:bodyPr>
          <a:lstStyle/>
          <a:p>
            <a:pPr algn="l">
              <a:defRPr sz="1000" b="1">
                <a:solidFill>
                  <a:srgbClr val="D83B02"/>
                </a:solidFill>
                <a:latin typeface="Aptos"/>
              </a:defRPr>
            </a:pPr>
            <a:r>
              <a:t>Security</a:t>
            </a:r>
          </a:p>
        </p:txBody>
      </p:sp>
      <p:sp>
        <p:nvSpPr>
          <p:cNvPr id="45" name="TextBox 44"/>
          <p:cNvSpPr txBox="1"/>
          <p:nvPr/>
        </p:nvSpPr>
        <p:spPr>
          <a:xfrm>
            <a:off x="9509760" y="5166359"/>
            <a:ext cx="2103120" cy="365760"/>
          </a:xfrm>
          <a:prstGeom prst="rect">
            <a:avLst/>
          </a:prstGeom>
          <a:noFill/>
        </p:spPr>
        <p:txBody>
          <a:bodyPr wrap="square">
            <a:spAutoFit/>
          </a:bodyPr>
          <a:lstStyle/>
          <a:p>
            <a:pPr algn="l">
              <a:defRPr sz="900" b="0">
                <a:solidFill>
                  <a:srgbClr val="333333"/>
                </a:solidFill>
                <a:latin typeface="Aptos"/>
              </a:defRPr>
            </a:pPr>
            <a:r>
              <a:t>Compliance, scanning</a:t>
            </a:r>
          </a:p>
        </p:txBody>
      </p:sp>
      <p:sp>
        <p:nvSpPr>
          <p:cNvPr id="46" name="TextBox 45"/>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47" name="TextBox 46"/>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12  Governance &amp; Security</a:t>
            </a:r>
          </a:p>
        </p:txBody>
      </p:sp>
      <p:sp>
        <p:nvSpPr>
          <p:cNvPr id="3" name="Rounded Rectangle 2"/>
          <p:cNvSpPr/>
          <p:nvPr/>
        </p:nvSpPr>
        <p:spPr>
          <a:xfrm>
            <a:off x="457200" y="914400"/>
            <a:ext cx="10972800" cy="457200"/>
          </a:xfrm>
          <a:prstGeom prst="roundRect">
            <a:avLst/>
          </a:prstGeom>
          <a:solidFill>
            <a:srgbClr val="FFEDED"/>
          </a:solidFill>
          <a:ln w="12700">
            <a:solidFill>
              <a:srgbClr val="EE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60120"/>
            <a:ext cx="10424160" cy="365760"/>
          </a:xfrm>
          <a:prstGeom prst="rect">
            <a:avLst/>
          </a:prstGeom>
          <a:noFill/>
        </p:spPr>
        <p:txBody>
          <a:bodyPr wrap="square">
            <a:spAutoFit/>
          </a:bodyPr>
          <a:lstStyle/>
          <a:p>
            <a:pPr algn="l">
              <a:defRPr sz="1200" b="1">
                <a:solidFill>
                  <a:srgbClr val="EE0000"/>
                </a:solidFill>
                <a:latin typeface="Aptos"/>
              </a:defRPr>
            </a:pPr>
            <a:r>
              <a:t>NON-NEGOTIABLE: No client-specific or sensitive data in shared agents, Snap presets, or templates.</a:t>
            </a:r>
          </a:p>
        </p:txBody>
      </p:sp>
      <p:sp>
        <p:nvSpPr>
          <p:cNvPr id="5" name="Rounded Rectangle 4"/>
          <p:cNvSpPr/>
          <p:nvPr/>
        </p:nvSpPr>
        <p:spPr>
          <a:xfrm>
            <a:off x="365760" y="1554480"/>
            <a:ext cx="3520440" cy="283464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54480"/>
            <a:ext cx="3520440" cy="45720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18488"/>
            <a:ext cx="3246120" cy="320040"/>
          </a:xfrm>
          <a:prstGeom prst="rect">
            <a:avLst/>
          </a:prstGeom>
          <a:noFill/>
        </p:spPr>
        <p:txBody>
          <a:bodyPr wrap="square">
            <a:spAutoFit/>
          </a:bodyPr>
          <a:lstStyle/>
          <a:p>
            <a:pPr algn="l">
              <a:defRPr sz="1400" b="1">
                <a:solidFill>
                  <a:srgbClr val="FFFFFF"/>
                </a:solidFill>
                <a:latin typeface="Aptos"/>
              </a:defRPr>
            </a:pPr>
            <a:r>
              <a:t>Agent Security</a:t>
            </a:r>
          </a:p>
        </p:txBody>
      </p:sp>
      <p:sp>
        <p:nvSpPr>
          <p:cNvPr id="8" name="TextBox 7"/>
          <p:cNvSpPr txBox="1"/>
          <p:nvPr/>
        </p:nvSpPr>
        <p:spPr>
          <a:xfrm>
            <a:off x="502920" y="2148840"/>
            <a:ext cx="3246120" cy="365760"/>
          </a:xfrm>
          <a:prstGeom prst="rect">
            <a:avLst/>
          </a:prstGeom>
          <a:noFill/>
        </p:spPr>
        <p:txBody>
          <a:bodyPr wrap="square">
            <a:spAutoFit/>
          </a:bodyPr>
          <a:lstStyle/>
          <a:p>
            <a:pPr algn="l">
              <a:defRPr sz="1000" b="0">
                <a:solidFill>
                  <a:srgbClr val="333333"/>
                </a:solidFill>
                <a:latin typeface="Aptos"/>
              </a:defRPr>
            </a:pPr>
            <a:r>
              <a:t>  Security scan before every publish</a:t>
            </a:r>
          </a:p>
        </p:txBody>
      </p:sp>
      <p:sp>
        <p:nvSpPr>
          <p:cNvPr id="9" name="TextBox 8"/>
          <p:cNvSpPr txBox="1"/>
          <p:nvPr/>
        </p:nvSpPr>
        <p:spPr>
          <a:xfrm>
            <a:off x="502920" y="2606040"/>
            <a:ext cx="3246120" cy="365760"/>
          </a:xfrm>
          <a:prstGeom prst="rect">
            <a:avLst/>
          </a:prstGeom>
          <a:noFill/>
        </p:spPr>
        <p:txBody>
          <a:bodyPr wrap="square">
            <a:spAutoFit/>
          </a:bodyPr>
          <a:lstStyle/>
          <a:p>
            <a:pPr algn="l">
              <a:defRPr sz="1000" b="0">
                <a:solidFill>
                  <a:srgbClr val="333333"/>
                </a:solidFill>
                <a:latin typeface="Aptos"/>
              </a:defRPr>
            </a:pPr>
            <a:r>
              <a:t>  No secrets, credentials, or PII</a:t>
            </a:r>
          </a:p>
        </p:txBody>
      </p:sp>
      <p:sp>
        <p:nvSpPr>
          <p:cNvPr id="10" name="TextBox 9"/>
          <p:cNvSpPr txBox="1"/>
          <p:nvPr/>
        </p:nvSpPr>
        <p:spPr>
          <a:xfrm>
            <a:off x="502920" y="3063240"/>
            <a:ext cx="3246120" cy="365760"/>
          </a:xfrm>
          <a:prstGeom prst="rect">
            <a:avLst/>
          </a:prstGeom>
          <a:noFill/>
        </p:spPr>
        <p:txBody>
          <a:bodyPr wrap="square">
            <a:spAutoFit/>
          </a:bodyPr>
          <a:lstStyle/>
          <a:p>
            <a:pPr algn="l">
              <a:defRPr sz="1000" b="0">
                <a:solidFill>
                  <a:srgbClr val="333333"/>
                </a:solidFill>
                <a:latin typeface="Aptos"/>
              </a:defRPr>
            </a:pPr>
            <a:r>
              <a:t>  Isolation test (zero-context run)</a:t>
            </a:r>
          </a:p>
        </p:txBody>
      </p:sp>
      <p:sp>
        <p:nvSpPr>
          <p:cNvPr id="11" name="TextBox 10"/>
          <p:cNvSpPr txBox="1"/>
          <p:nvPr/>
        </p:nvSpPr>
        <p:spPr>
          <a:xfrm>
            <a:off x="502920" y="3520440"/>
            <a:ext cx="3246120" cy="365760"/>
          </a:xfrm>
          <a:prstGeom prst="rect">
            <a:avLst/>
          </a:prstGeom>
          <a:noFill/>
        </p:spPr>
        <p:txBody>
          <a:bodyPr wrap="square">
            <a:spAutoFit/>
          </a:bodyPr>
          <a:lstStyle/>
          <a:p>
            <a:pPr algn="l">
              <a:defRPr sz="1000" b="0">
                <a:solidFill>
                  <a:srgbClr val="333333"/>
                </a:solidFill>
                <a:latin typeface="Aptos"/>
              </a:defRPr>
            </a:pPr>
            <a:r>
              <a:t>  Architect approval required</a:t>
            </a:r>
          </a:p>
        </p:txBody>
      </p:sp>
      <p:sp>
        <p:nvSpPr>
          <p:cNvPr id="12" name="Rounded Rectangle 11"/>
          <p:cNvSpPr/>
          <p:nvPr/>
        </p:nvSpPr>
        <p:spPr>
          <a:xfrm>
            <a:off x="4160520" y="1554480"/>
            <a:ext cx="3520440" cy="283464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1554480"/>
            <a:ext cx="3520440" cy="457200"/>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1618488"/>
            <a:ext cx="3246120" cy="320040"/>
          </a:xfrm>
          <a:prstGeom prst="rect">
            <a:avLst/>
          </a:prstGeom>
          <a:noFill/>
        </p:spPr>
        <p:txBody>
          <a:bodyPr wrap="square">
            <a:spAutoFit/>
          </a:bodyPr>
          <a:lstStyle/>
          <a:p>
            <a:pPr algn="l">
              <a:defRPr sz="1400" b="1">
                <a:solidFill>
                  <a:srgbClr val="FFFFFF"/>
                </a:solidFill>
                <a:latin typeface="Aptos"/>
              </a:defRPr>
            </a:pPr>
            <a:r>
              <a:t>Data Protection</a:t>
            </a:r>
          </a:p>
        </p:txBody>
      </p:sp>
      <p:sp>
        <p:nvSpPr>
          <p:cNvPr id="15" name="TextBox 14"/>
          <p:cNvSpPr txBox="1"/>
          <p:nvPr/>
        </p:nvSpPr>
        <p:spPr>
          <a:xfrm>
            <a:off x="4297680" y="2148840"/>
            <a:ext cx="3246120" cy="365760"/>
          </a:xfrm>
          <a:prstGeom prst="rect">
            <a:avLst/>
          </a:prstGeom>
          <a:noFill/>
        </p:spPr>
        <p:txBody>
          <a:bodyPr wrap="square">
            <a:spAutoFit/>
          </a:bodyPr>
          <a:lstStyle/>
          <a:p>
            <a:pPr algn="l">
              <a:defRPr sz="1000" b="0">
                <a:solidFill>
                  <a:srgbClr val="333333"/>
                </a:solidFill>
                <a:latin typeface="Aptos"/>
              </a:defRPr>
            </a:pPr>
            <a:r>
              <a:t>  Client data stays in SubSquad ONLY</a:t>
            </a:r>
          </a:p>
        </p:txBody>
      </p:sp>
      <p:sp>
        <p:nvSpPr>
          <p:cNvPr id="16" name="TextBox 15"/>
          <p:cNvSpPr txBox="1"/>
          <p:nvPr/>
        </p:nvSpPr>
        <p:spPr>
          <a:xfrm>
            <a:off x="4297680" y="2606040"/>
            <a:ext cx="3246120" cy="365760"/>
          </a:xfrm>
          <a:prstGeom prst="rect">
            <a:avLst/>
          </a:prstGeom>
          <a:noFill/>
        </p:spPr>
        <p:txBody>
          <a:bodyPr wrap="square">
            <a:spAutoFit/>
          </a:bodyPr>
          <a:lstStyle/>
          <a:p>
            <a:pPr algn="l">
              <a:defRPr sz="1000" b="0">
                <a:solidFill>
                  <a:srgbClr val="333333"/>
                </a:solidFill>
                <a:latin typeface="Aptos"/>
              </a:defRPr>
            </a:pPr>
            <a:r>
              <a:t>  Shared agents use template variables</a:t>
            </a:r>
          </a:p>
        </p:txBody>
      </p:sp>
      <p:sp>
        <p:nvSpPr>
          <p:cNvPr id="17" name="TextBox 16"/>
          <p:cNvSpPr txBox="1"/>
          <p:nvPr/>
        </p:nvSpPr>
        <p:spPr>
          <a:xfrm>
            <a:off x="4297680" y="3063240"/>
            <a:ext cx="3246120" cy="365760"/>
          </a:xfrm>
          <a:prstGeom prst="rect">
            <a:avLst/>
          </a:prstGeom>
          <a:noFill/>
        </p:spPr>
        <p:txBody>
          <a:bodyPr wrap="square">
            <a:spAutoFit/>
          </a:bodyPr>
          <a:lstStyle/>
          <a:p>
            <a:pPr algn="l">
              <a:defRPr sz="1000" b="0">
                <a:solidFill>
                  <a:srgbClr val="333333"/>
                </a:solidFill>
                <a:latin typeface="Aptos"/>
              </a:defRPr>
            </a:pPr>
            <a:r>
              <a:t>  Environment vars for all secrets</a:t>
            </a:r>
          </a:p>
        </p:txBody>
      </p:sp>
      <p:sp>
        <p:nvSpPr>
          <p:cNvPr id="18" name="TextBox 17"/>
          <p:cNvSpPr txBox="1"/>
          <p:nvPr/>
        </p:nvSpPr>
        <p:spPr>
          <a:xfrm>
            <a:off x="4297680" y="3520440"/>
            <a:ext cx="3246120" cy="365760"/>
          </a:xfrm>
          <a:prstGeom prst="rect">
            <a:avLst/>
          </a:prstGeom>
          <a:noFill/>
        </p:spPr>
        <p:txBody>
          <a:bodyPr wrap="square">
            <a:spAutoFit/>
          </a:bodyPr>
          <a:lstStyle/>
          <a:p>
            <a:pPr algn="l">
              <a:defRPr sz="1000" b="0">
                <a:solidFill>
                  <a:srgbClr val="333333"/>
                </a:solidFill>
                <a:latin typeface="Aptos"/>
              </a:defRPr>
            </a:pPr>
            <a:r>
              <a:t>  Audit trail on every change</a:t>
            </a:r>
          </a:p>
        </p:txBody>
      </p:sp>
      <p:sp>
        <p:nvSpPr>
          <p:cNvPr id="19" name="Rounded Rectangle 18"/>
          <p:cNvSpPr/>
          <p:nvPr/>
        </p:nvSpPr>
        <p:spPr>
          <a:xfrm>
            <a:off x="7955280" y="1554480"/>
            <a:ext cx="3520440" cy="283464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80" y="1554480"/>
            <a:ext cx="3520440" cy="457200"/>
          </a:xfrm>
          <a:prstGeom prst="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1618488"/>
            <a:ext cx="3246120" cy="320040"/>
          </a:xfrm>
          <a:prstGeom prst="rect">
            <a:avLst/>
          </a:prstGeom>
          <a:noFill/>
        </p:spPr>
        <p:txBody>
          <a:bodyPr wrap="square">
            <a:spAutoFit/>
          </a:bodyPr>
          <a:lstStyle/>
          <a:p>
            <a:pPr algn="l">
              <a:defRPr sz="1400" b="1">
                <a:solidFill>
                  <a:srgbClr val="FFFFFF"/>
                </a:solidFill>
                <a:latin typeface="Aptos"/>
              </a:defRPr>
            </a:pPr>
            <a:r>
              <a:t>Operational Control</a:t>
            </a:r>
          </a:p>
        </p:txBody>
      </p:sp>
      <p:sp>
        <p:nvSpPr>
          <p:cNvPr id="22" name="TextBox 21"/>
          <p:cNvSpPr txBox="1"/>
          <p:nvPr/>
        </p:nvSpPr>
        <p:spPr>
          <a:xfrm>
            <a:off x="8092440" y="2148840"/>
            <a:ext cx="3246120" cy="365760"/>
          </a:xfrm>
          <a:prstGeom prst="rect">
            <a:avLst/>
          </a:prstGeom>
          <a:noFill/>
        </p:spPr>
        <p:txBody>
          <a:bodyPr wrap="square">
            <a:spAutoFit/>
          </a:bodyPr>
          <a:lstStyle/>
          <a:p>
            <a:pPr algn="l">
              <a:defRPr sz="1000" b="0">
                <a:solidFill>
                  <a:srgbClr val="333333"/>
                </a:solidFill>
                <a:latin typeface="Aptos"/>
              </a:defRPr>
            </a:pPr>
            <a:r>
              <a:t>  Version control for all assets</a:t>
            </a:r>
          </a:p>
        </p:txBody>
      </p:sp>
      <p:sp>
        <p:nvSpPr>
          <p:cNvPr id="23" name="TextBox 22"/>
          <p:cNvSpPr txBox="1"/>
          <p:nvPr/>
        </p:nvSpPr>
        <p:spPr>
          <a:xfrm>
            <a:off x="8092440" y="2606040"/>
            <a:ext cx="3246120" cy="365760"/>
          </a:xfrm>
          <a:prstGeom prst="rect">
            <a:avLst/>
          </a:prstGeom>
          <a:noFill/>
        </p:spPr>
        <p:txBody>
          <a:bodyPr wrap="square">
            <a:spAutoFit/>
          </a:bodyPr>
          <a:lstStyle/>
          <a:p>
            <a:pPr algn="l">
              <a:defRPr sz="1000" b="0">
                <a:solidFill>
                  <a:srgbClr val="333333"/>
                </a:solidFill>
                <a:latin typeface="Aptos"/>
              </a:defRPr>
            </a:pPr>
            <a:r>
              <a:t>  PR-based publish workflow</a:t>
            </a:r>
          </a:p>
        </p:txBody>
      </p:sp>
      <p:sp>
        <p:nvSpPr>
          <p:cNvPr id="24" name="TextBox 23"/>
          <p:cNvSpPr txBox="1"/>
          <p:nvPr/>
        </p:nvSpPr>
        <p:spPr>
          <a:xfrm>
            <a:off x="8092440" y="3063240"/>
            <a:ext cx="3246120" cy="365760"/>
          </a:xfrm>
          <a:prstGeom prst="rect">
            <a:avLst/>
          </a:prstGeom>
          <a:noFill/>
        </p:spPr>
        <p:txBody>
          <a:bodyPr wrap="square">
            <a:spAutoFit/>
          </a:bodyPr>
          <a:lstStyle/>
          <a:p>
            <a:pPr algn="l">
              <a:defRPr sz="1000" b="0">
                <a:solidFill>
                  <a:srgbClr val="333333"/>
                </a:solidFill>
                <a:latin typeface="Aptos"/>
              </a:defRPr>
            </a:pPr>
            <a:r>
              <a:t>  Automated compliance pipeline</a:t>
            </a:r>
          </a:p>
        </p:txBody>
      </p:sp>
      <p:sp>
        <p:nvSpPr>
          <p:cNvPr id="25" name="TextBox 24"/>
          <p:cNvSpPr txBox="1"/>
          <p:nvPr/>
        </p:nvSpPr>
        <p:spPr>
          <a:xfrm>
            <a:off x="8092440" y="3520440"/>
            <a:ext cx="3246120" cy="365760"/>
          </a:xfrm>
          <a:prstGeom prst="rect">
            <a:avLst/>
          </a:prstGeom>
          <a:noFill/>
        </p:spPr>
        <p:txBody>
          <a:bodyPr wrap="square">
            <a:spAutoFit/>
          </a:bodyPr>
          <a:lstStyle/>
          <a:p>
            <a:pPr algn="l">
              <a:defRPr sz="1000" b="0">
                <a:solidFill>
                  <a:srgbClr val="333333"/>
                </a:solidFill>
                <a:latin typeface="Aptos"/>
              </a:defRPr>
            </a:pPr>
            <a:r>
              <a:t>  Regular catalog cleanup (90-day)</a:t>
            </a:r>
          </a:p>
        </p:txBody>
      </p:sp>
      <p:sp>
        <p:nvSpPr>
          <p:cNvPr id="26" name="Rectangle 25"/>
          <p:cNvSpPr/>
          <p:nvPr/>
        </p:nvSpPr>
        <p:spPr>
          <a:xfrm>
            <a:off x="457200" y="4663440"/>
            <a:ext cx="1371600" cy="256032"/>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AUDIT TRAIL</a:t>
            </a:r>
          </a:p>
        </p:txBody>
      </p:sp>
      <p:sp>
        <p:nvSpPr>
          <p:cNvPr id="27" name="TextBox 26"/>
          <p:cNvSpPr txBox="1"/>
          <p:nvPr/>
        </p:nvSpPr>
        <p:spPr>
          <a:xfrm>
            <a:off x="457200" y="5029200"/>
            <a:ext cx="1463040" cy="228600"/>
          </a:xfrm>
          <a:prstGeom prst="rect">
            <a:avLst/>
          </a:prstGeom>
          <a:noFill/>
        </p:spPr>
        <p:txBody>
          <a:bodyPr wrap="square">
            <a:spAutoFit/>
          </a:bodyPr>
          <a:lstStyle/>
          <a:p>
            <a:pPr algn="l">
              <a:defRPr sz="1000" b="1">
                <a:solidFill>
                  <a:srgbClr val="00B050"/>
                </a:solidFill>
                <a:latin typeface="Aptos"/>
              </a:defRPr>
            </a:pPr>
            <a:r>
              <a:t>Repo changes</a:t>
            </a:r>
          </a:p>
        </p:txBody>
      </p:sp>
      <p:sp>
        <p:nvSpPr>
          <p:cNvPr id="28" name="TextBox 27"/>
          <p:cNvSpPr txBox="1"/>
          <p:nvPr/>
        </p:nvSpPr>
        <p:spPr>
          <a:xfrm>
            <a:off x="2011680" y="5029200"/>
            <a:ext cx="4023360" cy="228600"/>
          </a:xfrm>
          <a:prstGeom prst="rect">
            <a:avLst/>
          </a:prstGeom>
          <a:noFill/>
        </p:spPr>
        <p:txBody>
          <a:bodyPr wrap="square">
            <a:spAutoFit/>
          </a:bodyPr>
          <a:lstStyle/>
          <a:p>
            <a:pPr algn="l">
              <a:defRPr sz="1000" b="0">
                <a:solidFill>
                  <a:srgbClr val="333333"/>
                </a:solidFill>
                <a:latin typeface="Aptos"/>
              </a:defRPr>
            </a:pPr>
            <a:r>
              <a:t>Every modification tracked in git history</a:t>
            </a:r>
          </a:p>
        </p:txBody>
      </p:sp>
      <p:sp>
        <p:nvSpPr>
          <p:cNvPr id="29" name="TextBox 28"/>
          <p:cNvSpPr txBox="1"/>
          <p:nvPr/>
        </p:nvSpPr>
        <p:spPr>
          <a:xfrm>
            <a:off x="6217920" y="5029200"/>
            <a:ext cx="1463040" cy="228600"/>
          </a:xfrm>
          <a:prstGeom prst="rect">
            <a:avLst/>
          </a:prstGeom>
          <a:noFill/>
        </p:spPr>
        <p:txBody>
          <a:bodyPr wrap="square">
            <a:spAutoFit/>
          </a:bodyPr>
          <a:lstStyle/>
          <a:p>
            <a:pPr algn="l">
              <a:defRPr sz="1000" b="1">
                <a:solidFill>
                  <a:srgbClr val="00B050"/>
                </a:solidFill>
                <a:latin typeface="Aptos"/>
              </a:defRPr>
            </a:pPr>
            <a:r>
              <a:t>Pull requests</a:t>
            </a:r>
          </a:p>
        </p:txBody>
      </p:sp>
      <p:sp>
        <p:nvSpPr>
          <p:cNvPr id="30" name="TextBox 29"/>
          <p:cNvSpPr txBox="1"/>
          <p:nvPr/>
        </p:nvSpPr>
        <p:spPr>
          <a:xfrm>
            <a:off x="7772400" y="5029200"/>
            <a:ext cx="4023360" cy="228600"/>
          </a:xfrm>
          <a:prstGeom prst="rect">
            <a:avLst/>
          </a:prstGeom>
          <a:noFill/>
        </p:spPr>
        <p:txBody>
          <a:bodyPr wrap="square">
            <a:spAutoFit/>
          </a:bodyPr>
          <a:lstStyle/>
          <a:p>
            <a:pPr algn="l">
              <a:defRPr sz="1000" b="0">
                <a:solidFill>
                  <a:srgbClr val="333333"/>
                </a:solidFill>
                <a:latin typeface="Aptos"/>
              </a:defRPr>
            </a:pPr>
            <a:r>
              <a:t>All publish actions require reviewed PRs</a:t>
            </a:r>
          </a:p>
        </p:txBody>
      </p:sp>
      <p:sp>
        <p:nvSpPr>
          <p:cNvPr id="31" name="TextBox 30"/>
          <p:cNvSpPr txBox="1"/>
          <p:nvPr/>
        </p:nvSpPr>
        <p:spPr>
          <a:xfrm>
            <a:off x="457200" y="5394960"/>
            <a:ext cx="1463040" cy="228600"/>
          </a:xfrm>
          <a:prstGeom prst="rect">
            <a:avLst/>
          </a:prstGeom>
          <a:noFill/>
        </p:spPr>
        <p:txBody>
          <a:bodyPr wrap="square">
            <a:spAutoFit/>
          </a:bodyPr>
          <a:lstStyle/>
          <a:p>
            <a:pPr algn="l">
              <a:defRPr sz="1000" b="1">
                <a:solidFill>
                  <a:srgbClr val="00B050"/>
                </a:solidFill>
                <a:latin typeface="Aptos"/>
              </a:defRPr>
            </a:pPr>
            <a:r>
              <a:t>Approvals</a:t>
            </a:r>
          </a:p>
        </p:txBody>
      </p:sp>
      <p:sp>
        <p:nvSpPr>
          <p:cNvPr id="32" name="TextBox 31"/>
          <p:cNvSpPr txBox="1"/>
          <p:nvPr/>
        </p:nvSpPr>
        <p:spPr>
          <a:xfrm>
            <a:off x="2011680" y="5394960"/>
            <a:ext cx="4023360" cy="228600"/>
          </a:xfrm>
          <a:prstGeom prst="rect">
            <a:avLst/>
          </a:prstGeom>
          <a:noFill/>
        </p:spPr>
        <p:txBody>
          <a:bodyPr wrap="square">
            <a:spAutoFit/>
          </a:bodyPr>
          <a:lstStyle/>
          <a:p>
            <a:pPr algn="l">
              <a:defRPr sz="1000" b="0">
                <a:solidFill>
                  <a:srgbClr val="333333"/>
                </a:solidFill>
                <a:latin typeface="Aptos"/>
              </a:defRPr>
            </a:pPr>
            <a:r>
              <a:t>Architect + peer sign-off logged per change</a:t>
            </a:r>
          </a:p>
        </p:txBody>
      </p:sp>
      <p:sp>
        <p:nvSpPr>
          <p:cNvPr id="33" name="TextBox 32"/>
          <p:cNvSpPr txBox="1"/>
          <p:nvPr/>
        </p:nvSpPr>
        <p:spPr>
          <a:xfrm>
            <a:off x="6217920" y="5394960"/>
            <a:ext cx="1463040" cy="228600"/>
          </a:xfrm>
          <a:prstGeom prst="rect">
            <a:avLst/>
          </a:prstGeom>
          <a:noFill/>
        </p:spPr>
        <p:txBody>
          <a:bodyPr wrap="square">
            <a:spAutoFit/>
          </a:bodyPr>
          <a:lstStyle/>
          <a:p>
            <a:pPr algn="l">
              <a:defRPr sz="1000" b="1">
                <a:solidFill>
                  <a:srgbClr val="00B050"/>
                </a:solidFill>
                <a:latin typeface="Aptos"/>
              </a:defRPr>
            </a:pPr>
            <a:r>
              <a:t>Automated scans</a:t>
            </a:r>
          </a:p>
        </p:txBody>
      </p:sp>
      <p:sp>
        <p:nvSpPr>
          <p:cNvPr id="34" name="TextBox 33"/>
          <p:cNvSpPr txBox="1"/>
          <p:nvPr/>
        </p:nvSpPr>
        <p:spPr>
          <a:xfrm>
            <a:off x="7772400" y="5394960"/>
            <a:ext cx="4023360" cy="228600"/>
          </a:xfrm>
          <a:prstGeom prst="rect">
            <a:avLst/>
          </a:prstGeom>
          <a:noFill/>
        </p:spPr>
        <p:txBody>
          <a:bodyPr wrap="square">
            <a:spAutoFit/>
          </a:bodyPr>
          <a:lstStyle/>
          <a:p>
            <a:pPr algn="l">
              <a:defRPr sz="1000" b="0">
                <a:solidFill>
                  <a:srgbClr val="333333"/>
                </a:solidFill>
                <a:latin typeface="Aptos"/>
              </a:defRPr>
            </a:pPr>
            <a:r>
              <a:t>Security pipeline results stored per commit</a:t>
            </a:r>
          </a:p>
        </p:txBody>
      </p:sp>
      <p:sp>
        <p:nvSpPr>
          <p:cNvPr id="35" name="TextBox 34"/>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36" name="TextBox 35"/>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13  Continuous Improvement</a:t>
            </a:r>
          </a:p>
        </p:txBody>
      </p:sp>
      <p:sp>
        <p:nvSpPr>
          <p:cNvPr id="3" name="TextBox 2"/>
          <p:cNvSpPr txBox="1"/>
          <p:nvPr/>
        </p:nvSpPr>
        <p:spPr>
          <a:xfrm>
            <a:off x="457200" y="914400"/>
            <a:ext cx="10972800" cy="320040"/>
          </a:xfrm>
          <a:prstGeom prst="rect">
            <a:avLst/>
          </a:prstGeom>
          <a:noFill/>
        </p:spPr>
        <p:txBody>
          <a:bodyPr wrap="square">
            <a:spAutoFit/>
          </a:bodyPr>
          <a:lstStyle/>
          <a:p>
            <a:pPr algn="l">
              <a:defRPr sz="1300" b="0">
                <a:solidFill>
                  <a:srgbClr val="4A4E66"/>
                </a:solidFill>
                <a:latin typeface="Aptos"/>
              </a:defRPr>
            </a:pPr>
            <a:r>
              <a:t>The system gets smarter with every engagement. Here's how to make that happen systematically.</a:t>
            </a:r>
          </a:p>
        </p:txBody>
      </p:sp>
      <p:sp>
        <p:nvSpPr>
          <p:cNvPr id="4" name="Rounded Rectangle 3"/>
          <p:cNvSpPr/>
          <p:nvPr/>
        </p:nvSpPr>
        <p:spPr>
          <a:xfrm>
            <a:off x="365760" y="1417320"/>
            <a:ext cx="2697480" cy="3291840"/>
          </a:xfrm>
          <a:prstGeom prst="roundRect">
            <a:avLst/>
          </a:prstGeom>
          <a:solidFill>
            <a:srgbClr val="F8F8FA"/>
          </a:solidFill>
          <a:ln w="12700">
            <a:solidFill>
              <a:srgbClr val="01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417320"/>
            <a:ext cx="2697480" cy="594360"/>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44752"/>
            <a:ext cx="2514600" cy="274320"/>
          </a:xfrm>
          <a:prstGeom prst="rect">
            <a:avLst/>
          </a:prstGeom>
          <a:noFill/>
        </p:spPr>
        <p:txBody>
          <a:bodyPr wrap="square">
            <a:spAutoFit/>
          </a:bodyPr>
          <a:lstStyle/>
          <a:p>
            <a:pPr algn="l">
              <a:defRPr sz="1400" b="1">
                <a:solidFill>
                  <a:srgbClr val="FFFFFF"/>
                </a:solidFill>
                <a:latin typeface="Aptos"/>
              </a:defRPr>
            </a:pPr>
            <a:r>
              <a:t>CAPTURE</a:t>
            </a:r>
          </a:p>
        </p:txBody>
      </p:sp>
      <p:sp>
        <p:nvSpPr>
          <p:cNvPr id="7" name="TextBox 6"/>
          <p:cNvSpPr txBox="1"/>
          <p:nvPr/>
        </p:nvSpPr>
        <p:spPr>
          <a:xfrm>
            <a:off x="457200" y="1709928"/>
            <a:ext cx="2514600" cy="228600"/>
          </a:xfrm>
          <a:prstGeom prst="rect">
            <a:avLst/>
          </a:prstGeom>
          <a:noFill/>
        </p:spPr>
        <p:txBody>
          <a:bodyPr wrap="square">
            <a:spAutoFit/>
          </a:bodyPr>
          <a:lstStyle/>
          <a:p>
            <a:pPr algn="l">
              <a:defRPr sz="1000" b="0">
                <a:solidFill>
                  <a:srgbClr val="CCDDFF"/>
                </a:solidFill>
                <a:latin typeface="Aptos"/>
              </a:defRPr>
            </a:pPr>
            <a:r>
              <a:t>During Engagement</a:t>
            </a:r>
          </a:p>
        </p:txBody>
      </p:sp>
      <p:sp>
        <p:nvSpPr>
          <p:cNvPr id="8" name="TextBox 7"/>
          <p:cNvSpPr txBox="1"/>
          <p:nvPr/>
        </p:nvSpPr>
        <p:spPr>
          <a:xfrm>
            <a:off x="457200" y="2194560"/>
            <a:ext cx="2514600" cy="411480"/>
          </a:xfrm>
          <a:prstGeom prst="rect">
            <a:avLst/>
          </a:prstGeom>
          <a:noFill/>
        </p:spPr>
        <p:txBody>
          <a:bodyPr wrap="square">
            <a:spAutoFit/>
          </a:bodyPr>
          <a:lstStyle/>
          <a:p>
            <a:pPr algn="l">
              <a:defRPr sz="1000" b="0">
                <a:solidFill>
                  <a:srgbClr val="333333"/>
                </a:solidFill>
                <a:latin typeface="Aptos"/>
              </a:defRPr>
            </a:pPr>
            <a:r>
              <a:t>  Log decisions in decisions.md</a:t>
            </a:r>
          </a:p>
        </p:txBody>
      </p:sp>
      <p:sp>
        <p:nvSpPr>
          <p:cNvPr id="9" name="TextBox 8"/>
          <p:cNvSpPr txBox="1"/>
          <p:nvPr/>
        </p:nvSpPr>
        <p:spPr>
          <a:xfrm>
            <a:off x="457200" y="2697480"/>
            <a:ext cx="2514600" cy="411480"/>
          </a:xfrm>
          <a:prstGeom prst="rect">
            <a:avLst/>
          </a:prstGeom>
          <a:noFill/>
        </p:spPr>
        <p:txBody>
          <a:bodyPr wrap="square">
            <a:spAutoFit/>
          </a:bodyPr>
          <a:lstStyle/>
          <a:p>
            <a:pPr algn="l">
              <a:defRPr sz="1000" b="0">
                <a:solidFill>
                  <a:srgbClr val="333333"/>
                </a:solidFill>
                <a:latin typeface="Aptos"/>
              </a:defRPr>
            </a:pPr>
            <a:r>
              <a:t>  Record lessons in JOURNAL.md</a:t>
            </a:r>
          </a:p>
        </p:txBody>
      </p:sp>
      <p:sp>
        <p:nvSpPr>
          <p:cNvPr id="10" name="TextBox 9"/>
          <p:cNvSpPr txBox="1"/>
          <p:nvPr/>
        </p:nvSpPr>
        <p:spPr>
          <a:xfrm>
            <a:off x="457200" y="3200400"/>
            <a:ext cx="2514600" cy="411480"/>
          </a:xfrm>
          <a:prstGeom prst="rect">
            <a:avLst/>
          </a:prstGeom>
          <a:noFill/>
        </p:spPr>
        <p:txBody>
          <a:bodyPr wrap="square">
            <a:spAutoFit/>
          </a:bodyPr>
          <a:lstStyle/>
          <a:p>
            <a:pPr algn="l">
              <a:defRPr sz="1000" b="0">
                <a:solidFill>
                  <a:srgbClr val="333333"/>
                </a:solidFill>
                <a:latin typeface="Aptos"/>
              </a:defRPr>
            </a:pPr>
            <a:r>
              <a:t>  Note agent gaps / workarounds</a:t>
            </a:r>
          </a:p>
        </p:txBody>
      </p:sp>
      <p:sp>
        <p:nvSpPr>
          <p:cNvPr id="11" name="TextBox 10"/>
          <p:cNvSpPr txBox="1"/>
          <p:nvPr/>
        </p:nvSpPr>
        <p:spPr>
          <a:xfrm>
            <a:off x="457200" y="3703320"/>
            <a:ext cx="2514600" cy="411480"/>
          </a:xfrm>
          <a:prstGeom prst="rect">
            <a:avLst/>
          </a:prstGeom>
          <a:noFill/>
        </p:spPr>
        <p:txBody>
          <a:bodyPr wrap="square">
            <a:spAutoFit/>
          </a:bodyPr>
          <a:lstStyle/>
          <a:p>
            <a:pPr algn="l">
              <a:defRPr sz="1000" b="0">
                <a:solidFill>
                  <a:srgbClr val="333333"/>
                </a:solidFill>
                <a:latin typeface="Aptos"/>
              </a:defRPr>
            </a:pPr>
            <a:r>
              <a:t>  Track what worked and what didn't</a:t>
            </a:r>
          </a:p>
        </p:txBody>
      </p:sp>
      <p:sp>
        <p:nvSpPr>
          <p:cNvPr id="12" name="Right Arrow 11"/>
          <p:cNvSpPr/>
          <p:nvPr/>
        </p:nvSpPr>
        <p:spPr>
          <a:xfrm>
            <a:off x="3108960" y="1600200"/>
            <a:ext cx="137160" cy="228600"/>
          </a:xfrm>
          <a:prstGeom prst="rightArrow">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246120" y="1417320"/>
            <a:ext cx="2697480" cy="3291840"/>
          </a:xfrm>
          <a:prstGeom prst="roundRect">
            <a:avLst/>
          </a:prstGeom>
          <a:solidFill>
            <a:srgbClr val="F8F8FA"/>
          </a:solidFill>
          <a:ln w="12700">
            <a:solidFill>
              <a:srgbClr val="46366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1417320"/>
            <a:ext cx="2697480" cy="594360"/>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37560" y="1444752"/>
            <a:ext cx="2514600" cy="274320"/>
          </a:xfrm>
          <a:prstGeom prst="rect">
            <a:avLst/>
          </a:prstGeom>
          <a:noFill/>
        </p:spPr>
        <p:txBody>
          <a:bodyPr wrap="square">
            <a:spAutoFit/>
          </a:bodyPr>
          <a:lstStyle/>
          <a:p>
            <a:pPr algn="l">
              <a:defRPr sz="1400" b="1">
                <a:solidFill>
                  <a:srgbClr val="FFFFFF"/>
                </a:solidFill>
                <a:latin typeface="Aptos"/>
              </a:defRPr>
            </a:pPr>
            <a:r>
              <a:t>UPDATE</a:t>
            </a:r>
          </a:p>
        </p:txBody>
      </p:sp>
      <p:sp>
        <p:nvSpPr>
          <p:cNvPr id="16" name="TextBox 15"/>
          <p:cNvSpPr txBox="1"/>
          <p:nvPr/>
        </p:nvSpPr>
        <p:spPr>
          <a:xfrm>
            <a:off x="3337560" y="1709928"/>
            <a:ext cx="2514600" cy="228600"/>
          </a:xfrm>
          <a:prstGeom prst="rect">
            <a:avLst/>
          </a:prstGeom>
          <a:noFill/>
        </p:spPr>
        <p:txBody>
          <a:bodyPr wrap="square">
            <a:spAutoFit/>
          </a:bodyPr>
          <a:lstStyle/>
          <a:p>
            <a:pPr algn="l">
              <a:defRPr sz="1000" b="0">
                <a:solidFill>
                  <a:srgbClr val="CCDDFF"/>
                </a:solidFill>
                <a:latin typeface="Aptos"/>
              </a:defRPr>
            </a:pPr>
            <a:r>
              <a:t>Post-Engagement</a:t>
            </a:r>
          </a:p>
        </p:txBody>
      </p:sp>
      <p:sp>
        <p:nvSpPr>
          <p:cNvPr id="17" name="TextBox 16"/>
          <p:cNvSpPr txBox="1"/>
          <p:nvPr/>
        </p:nvSpPr>
        <p:spPr>
          <a:xfrm>
            <a:off x="3337560" y="2194560"/>
            <a:ext cx="2514600" cy="411480"/>
          </a:xfrm>
          <a:prstGeom prst="rect">
            <a:avLst/>
          </a:prstGeom>
          <a:noFill/>
        </p:spPr>
        <p:txBody>
          <a:bodyPr wrap="square">
            <a:spAutoFit/>
          </a:bodyPr>
          <a:lstStyle/>
          <a:p>
            <a:pPr algn="l">
              <a:defRPr sz="1000" b="0">
                <a:solidFill>
                  <a:srgbClr val="333333"/>
                </a:solidFill>
                <a:latin typeface="Aptos"/>
              </a:defRPr>
            </a:pPr>
            <a:r>
              <a:t>  Submit PRs for agent improvements</a:t>
            </a:r>
          </a:p>
        </p:txBody>
      </p:sp>
      <p:sp>
        <p:nvSpPr>
          <p:cNvPr id="18" name="TextBox 17"/>
          <p:cNvSpPr txBox="1"/>
          <p:nvPr/>
        </p:nvSpPr>
        <p:spPr>
          <a:xfrm>
            <a:off x="3337560" y="2697480"/>
            <a:ext cx="2514600" cy="411480"/>
          </a:xfrm>
          <a:prstGeom prst="rect">
            <a:avLst/>
          </a:prstGeom>
          <a:noFill/>
        </p:spPr>
        <p:txBody>
          <a:bodyPr wrap="square">
            <a:spAutoFit/>
          </a:bodyPr>
          <a:lstStyle/>
          <a:p>
            <a:pPr algn="l">
              <a:defRPr sz="1000" b="0">
                <a:solidFill>
                  <a:srgbClr val="333333"/>
                </a:solidFill>
                <a:latin typeface="Aptos"/>
              </a:defRPr>
            </a:pPr>
            <a:r>
              <a:t>  Update prompts with new patterns</a:t>
            </a:r>
          </a:p>
        </p:txBody>
      </p:sp>
      <p:sp>
        <p:nvSpPr>
          <p:cNvPr id="19" name="TextBox 18"/>
          <p:cNvSpPr txBox="1"/>
          <p:nvPr/>
        </p:nvSpPr>
        <p:spPr>
          <a:xfrm>
            <a:off x="3337560" y="3200400"/>
            <a:ext cx="2514600" cy="411480"/>
          </a:xfrm>
          <a:prstGeom prst="rect">
            <a:avLst/>
          </a:prstGeom>
          <a:noFill/>
        </p:spPr>
        <p:txBody>
          <a:bodyPr wrap="square">
            <a:spAutoFit/>
          </a:bodyPr>
          <a:lstStyle/>
          <a:p>
            <a:pPr algn="l">
              <a:defRPr sz="1000" b="0">
                <a:solidFill>
                  <a:srgbClr val="333333"/>
                </a:solidFill>
                <a:latin typeface="Aptos"/>
              </a:defRPr>
            </a:pPr>
            <a:r>
              <a:t>  Add new IaC / code templates</a:t>
            </a:r>
          </a:p>
        </p:txBody>
      </p:sp>
      <p:sp>
        <p:nvSpPr>
          <p:cNvPr id="20" name="TextBox 19"/>
          <p:cNvSpPr txBox="1"/>
          <p:nvPr/>
        </p:nvSpPr>
        <p:spPr>
          <a:xfrm>
            <a:off x="3337560" y="3703320"/>
            <a:ext cx="2514600" cy="411480"/>
          </a:xfrm>
          <a:prstGeom prst="rect">
            <a:avLst/>
          </a:prstGeom>
          <a:noFill/>
        </p:spPr>
        <p:txBody>
          <a:bodyPr wrap="square">
            <a:spAutoFit/>
          </a:bodyPr>
          <a:lstStyle/>
          <a:p>
            <a:pPr algn="l">
              <a:defRPr sz="1000" b="0">
                <a:solidFill>
                  <a:srgbClr val="333333"/>
                </a:solidFill>
                <a:latin typeface="Aptos"/>
              </a:defRPr>
            </a:pPr>
            <a:r>
              <a:t>  Refine Snap routing rules</a:t>
            </a:r>
          </a:p>
        </p:txBody>
      </p:sp>
      <p:sp>
        <p:nvSpPr>
          <p:cNvPr id="21" name="Right Arrow 20"/>
          <p:cNvSpPr/>
          <p:nvPr/>
        </p:nvSpPr>
        <p:spPr>
          <a:xfrm>
            <a:off x="5989320" y="1600200"/>
            <a:ext cx="137160" cy="228600"/>
          </a:xfrm>
          <a:prstGeom prst="rightArrow">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26480" y="1417320"/>
            <a:ext cx="2697480" cy="3291840"/>
          </a:xfrm>
          <a:prstGeom prst="roundRect">
            <a:avLst/>
          </a:prstGeom>
          <a:solidFill>
            <a:srgbClr val="F8F8FA"/>
          </a:solidFill>
          <a:ln w="127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1417320"/>
            <a:ext cx="2697480" cy="59436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1444752"/>
            <a:ext cx="2514600" cy="274320"/>
          </a:xfrm>
          <a:prstGeom prst="rect">
            <a:avLst/>
          </a:prstGeom>
          <a:noFill/>
        </p:spPr>
        <p:txBody>
          <a:bodyPr wrap="square">
            <a:spAutoFit/>
          </a:bodyPr>
          <a:lstStyle/>
          <a:p>
            <a:pPr algn="l">
              <a:defRPr sz="1400" b="1">
                <a:solidFill>
                  <a:srgbClr val="FFFFFF"/>
                </a:solidFill>
                <a:latin typeface="Aptos"/>
              </a:defRPr>
            </a:pPr>
            <a:r>
              <a:t>VALIDATE</a:t>
            </a:r>
          </a:p>
        </p:txBody>
      </p:sp>
      <p:sp>
        <p:nvSpPr>
          <p:cNvPr id="25" name="TextBox 24"/>
          <p:cNvSpPr txBox="1"/>
          <p:nvPr/>
        </p:nvSpPr>
        <p:spPr>
          <a:xfrm>
            <a:off x="6217920" y="1709928"/>
            <a:ext cx="2514600" cy="228600"/>
          </a:xfrm>
          <a:prstGeom prst="rect">
            <a:avLst/>
          </a:prstGeom>
          <a:noFill/>
        </p:spPr>
        <p:txBody>
          <a:bodyPr wrap="square">
            <a:spAutoFit/>
          </a:bodyPr>
          <a:lstStyle/>
          <a:p>
            <a:pPr algn="l">
              <a:defRPr sz="1000" b="0">
                <a:solidFill>
                  <a:srgbClr val="CCDDFF"/>
                </a:solidFill>
                <a:latin typeface="Aptos"/>
              </a:defRPr>
            </a:pPr>
            <a:r>
              <a:t>Central Review</a:t>
            </a:r>
          </a:p>
        </p:txBody>
      </p:sp>
      <p:sp>
        <p:nvSpPr>
          <p:cNvPr id="26" name="TextBox 25"/>
          <p:cNvSpPr txBox="1"/>
          <p:nvPr/>
        </p:nvSpPr>
        <p:spPr>
          <a:xfrm>
            <a:off x="6217920" y="2194560"/>
            <a:ext cx="2514600" cy="411480"/>
          </a:xfrm>
          <a:prstGeom prst="rect">
            <a:avLst/>
          </a:prstGeom>
          <a:noFill/>
        </p:spPr>
        <p:txBody>
          <a:bodyPr wrap="square">
            <a:spAutoFit/>
          </a:bodyPr>
          <a:lstStyle/>
          <a:p>
            <a:pPr algn="l">
              <a:defRPr sz="1000" b="0">
                <a:solidFill>
                  <a:srgbClr val="333333"/>
                </a:solidFill>
                <a:latin typeface="Aptos"/>
              </a:defRPr>
            </a:pPr>
            <a:r>
              <a:t>  Architect reviews contributions</a:t>
            </a:r>
          </a:p>
        </p:txBody>
      </p:sp>
      <p:sp>
        <p:nvSpPr>
          <p:cNvPr id="27" name="TextBox 26"/>
          <p:cNvSpPr txBox="1"/>
          <p:nvPr/>
        </p:nvSpPr>
        <p:spPr>
          <a:xfrm>
            <a:off x="6217920" y="2697480"/>
            <a:ext cx="2514600" cy="411480"/>
          </a:xfrm>
          <a:prstGeom prst="rect">
            <a:avLst/>
          </a:prstGeom>
          <a:noFill/>
        </p:spPr>
        <p:txBody>
          <a:bodyPr wrap="square">
            <a:spAutoFit/>
          </a:bodyPr>
          <a:lstStyle/>
          <a:p>
            <a:pPr algn="l">
              <a:defRPr sz="1000" b="0">
                <a:solidFill>
                  <a:srgbClr val="333333"/>
                </a:solidFill>
                <a:latin typeface="Aptos"/>
              </a:defRPr>
            </a:pPr>
            <a:r>
              <a:t>  Security scan on all changes</a:t>
            </a:r>
          </a:p>
        </p:txBody>
      </p:sp>
      <p:sp>
        <p:nvSpPr>
          <p:cNvPr id="28" name="TextBox 27"/>
          <p:cNvSpPr txBox="1"/>
          <p:nvPr/>
        </p:nvSpPr>
        <p:spPr>
          <a:xfrm>
            <a:off x="6217920" y="3200400"/>
            <a:ext cx="2514600" cy="411480"/>
          </a:xfrm>
          <a:prstGeom prst="rect">
            <a:avLst/>
          </a:prstGeom>
          <a:noFill/>
        </p:spPr>
        <p:txBody>
          <a:bodyPr wrap="square">
            <a:spAutoFit/>
          </a:bodyPr>
          <a:lstStyle/>
          <a:p>
            <a:pPr algn="l">
              <a:defRPr sz="1000" b="0">
                <a:solidFill>
                  <a:srgbClr val="333333"/>
                </a:solidFill>
                <a:latin typeface="Aptos"/>
              </a:defRPr>
            </a:pPr>
            <a:r>
              <a:t>  Isolation test (no client data)</a:t>
            </a:r>
          </a:p>
        </p:txBody>
      </p:sp>
      <p:sp>
        <p:nvSpPr>
          <p:cNvPr id="29" name="TextBox 28"/>
          <p:cNvSpPr txBox="1"/>
          <p:nvPr/>
        </p:nvSpPr>
        <p:spPr>
          <a:xfrm>
            <a:off x="6217920" y="3703320"/>
            <a:ext cx="2514600" cy="411480"/>
          </a:xfrm>
          <a:prstGeom prst="rect">
            <a:avLst/>
          </a:prstGeom>
          <a:noFill/>
        </p:spPr>
        <p:txBody>
          <a:bodyPr wrap="square">
            <a:spAutoFit/>
          </a:bodyPr>
          <a:lstStyle/>
          <a:p>
            <a:pPr algn="l">
              <a:defRPr sz="1000" b="0">
                <a:solidFill>
                  <a:srgbClr val="333333"/>
                </a:solidFill>
                <a:latin typeface="Aptos"/>
              </a:defRPr>
            </a:pPr>
            <a:r>
              <a:t>  Version and publish updates</a:t>
            </a:r>
          </a:p>
        </p:txBody>
      </p:sp>
      <p:sp>
        <p:nvSpPr>
          <p:cNvPr id="30" name="Right Arrow 29"/>
          <p:cNvSpPr/>
          <p:nvPr/>
        </p:nvSpPr>
        <p:spPr>
          <a:xfrm>
            <a:off x="8869680" y="1600200"/>
            <a:ext cx="137160" cy="228600"/>
          </a:xfrm>
          <a:prstGeom prst="right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06840" y="1417320"/>
            <a:ext cx="2697480" cy="3291840"/>
          </a:xfrm>
          <a:prstGeom prst="roundRect">
            <a:avLst/>
          </a:prstGeom>
          <a:solidFill>
            <a:srgbClr val="F8F8FA"/>
          </a:solidFill>
          <a:ln w="12700">
            <a:solidFill>
              <a:srgbClr val="225B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06840" y="1417320"/>
            <a:ext cx="2697480" cy="594360"/>
          </a:xfrm>
          <a:prstGeom prst="rect">
            <a:avLst/>
          </a:prstGeom>
          <a:solidFill>
            <a:srgbClr val="225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98280" y="1444752"/>
            <a:ext cx="2514600" cy="274320"/>
          </a:xfrm>
          <a:prstGeom prst="rect">
            <a:avLst/>
          </a:prstGeom>
          <a:noFill/>
        </p:spPr>
        <p:txBody>
          <a:bodyPr wrap="square">
            <a:spAutoFit/>
          </a:bodyPr>
          <a:lstStyle/>
          <a:p>
            <a:pPr algn="l">
              <a:defRPr sz="1400" b="1">
                <a:solidFill>
                  <a:srgbClr val="FFFFFF"/>
                </a:solidFill>
                <a:latin typeface="Aptos"/>
              </a:defRPr>
            </a:pPr>
            <a:r>
              <a:t>DISTRIBUTE</a:t>
            </a:r>
          </a:p>
        </p:txBody>
      </p:sp>
      <p:sp>
        <p:nvSpPr>
          <p:cNvPr id="34" name="TextBox 33"/>
          <p:cNvSpPr txBox="1"/>
          <p:nvPr/>
        </p:nvSpPr>
        <p:spPr>
          <a:xfrm>
            <a:off x="9098280" y="1709928"/>
            <a:ext cx="2514600" cy="228600"/>
          </a:xfrm>
          <a:prstGeom prst="rect">
            <a:avLst/>
          </a:prstGeom>
          <a:noFill/>
        </p:spPr>
        <p:txBody>
          <a:bodyPr wrap="square">
            <a:spAutoFit/>
          </a:bodyPr>
          <a:lstStyle/>
          <a:p>
            <a:pPr algn="l">
              <a:defRPr sz="1000" b="0">
                <a:solidFill>
                  <a:srgbClr val="CCDDFF"/>
                </a:solidFill>
                <a:latin typeface="Aptos"/>
              </a:defRPr>
            </a:pPr>
            <a:r>
              <a:t>All Teams Benefit</a:t>
            </a:r>
          </a:p>
        </p:txBody>
      </p:sp>
      <p:sp>
        <p:nvSpPr>
          <p:cNvPr id="35" name="TextBox 34"/>
          <p:cNvSpPr txBox="1"/>
          <p:nvPr/>
        </p:nvSpPr>
        <p:spPr>
          <a:xfrm>
            <a:off x="9098280" y="2194560"/>
            <a:ext cx="2514600" cy="411480"/>
          </a:xfrm>
          <a:prstGeom prst="rect">
            <a:avLst/>
          </a:prstGeom>
          <a:noFill/>
        </p:spPr>
        <p:txBody>
          <a:bodyPr wrap="square">
            <a:spAutoFit/>
          </a:bodyPr>
          <a:lstStyle/>
          <a:p>
            <a:pPr algn="l">
              <a:defRPr sz="1000" b="0">
                <a:solidFill>
                  <a:srgbClr val="333333"/>
                </a:solidFill>
                <a:latin typeface="Aptos"/>
              </a:defRPr>
            </a:pPr>
            <a:r>
              <a:t>  Updated agents available to all</a:t>
            </a:r>
          </a:p>
        </p:txBody>
      </p:sp>
      <p:sp>
        <p:nvSpPr>
          <p:cNvPr id="36" name="TextBox 35"/>
          <p:cNvSpPr txBox="1"/>
          <p:nvPr/>
        </p:nvSpPr>
        <p:spPr>
          <a:xfrm>
            <a:off x="9098280" y="2697480"/>
            <a:ext cx="2514600" cy="411480"/>
          </a:xfrm>
          <a:prstGeom prst="rect">
            <a:avLst/>
          </a:prstGeom>
          <a:noFill/>
        </p:spPr>
        <p:txBody>
          <a:bodyPr wrap="square">
            <a:spAutoFit/>
          </a:bodyPr>
          <a:lstStyle/>
          <a:p>
            <a:pPr algn="l">
              <a:defRPr sz="1000" b="0">
                <a:solidFill>
                  <a:srgbClr val="333333"/>
                </a:solidFill>
                <a:latin typeface="Aptos"/>
              </a:defRPr>
            </a:pPr>
            <a:r>
              <a:t>  New patterns in shared library</a:t>
            </a:r>
          </a:p>
        </p:txBody>
      </p:sp>
      <p:sp>
        <p:nvSpPr>
          <p:cNvPr id="37" name="TextBox 36"/>
          <p:cNvSpPr txBox="1"/>
          <p:nvPr/>
        </p:nvSpPr>
        <p:spPr>
          <a:xfrm>
            <a:off x="9098280" y="3200400"/>
            <a:ext cx="2514600" cy="411480"/>
          </a:xfrm>
          <a:prstGeom prst="rect">
            <a:avLst/>
          </a:prstGeom>
          <a:noFill/>
        </p:spPr>
        <p:txBody>
          <a:bodyPr wrap="square">
            <a:spAutoFit/>
          </a:bodyPr>
          <a:lstStyle/>
          <a:p>
            <a:pPr algn="l">
              <a:defRPr sz="1000" b="0">
                <a:solidFill>
                  <a:srgbClr val="333333"/>
                </a:solidFill>
                <a:latin typeface="Aptos"/>
              </a:defRPr>
            </a:pPr>
            <a:r>
              <a:t>  Improved Snaps for new projects</a:t>
            </a:r>
          </a:p>
        </p:txBody>
      </p:sp>
      <p:sp>
        <p:nvSpPr>
          <p:cNvPr id="38" name="TextBox 37"/>
          <p:cNvSpPr txBox="1"/>
          <p:nvPr/>
        </p:nvSpPr>
        <p:spPr>
          <a:xfrm>
            <a:off x="9098280" y="3703320"/>
            <a:ext cx="2514600" cy="411480"/>
          </a:xfrm>
          <a:prstGeom prst="rect">
            <a:avLst/>
          </a:prstGeom>
          <a:noFill/>
        </p:spPr>
        <p:txBody>
          <a:bodyPr wrap="square">
            <a:spAutoFit/>
          </a:bodyPr>
          <a:lstStyle/>
          <a:p>
            <a:pPr algn="l">
              <a:defRPr sz="1000" b="0">
                <a:solidFill>
                  <a:srgbClr val="333333"/>
                </a:solidFill>
                <a:latin typeface="Aptos"/>
              </a:defRPr>
            </a:pPr>
            <a:r>
              <a:t>  Catalog reflects latest versions</a:t>
            </a:r>
          </a:p>
        </p:txBody>
      </p:sp>
      <p:sp>
        <p:nvSpPr>
          <p:cNvPr id="39" name="Rectangle 38"/>
          <p:cNvSpPr/>
          <p:nvPr/>
        </p:nvSpPr>
        <p:spPr>
          <a:xfrm>
            <a:off x="457200" y="4937760"/>
            <a:ext cx="2103120" cy="256032"/>
          </a:xfrm>
          <a:prstGeom prst="rect">
            <a:avLst/>
          </a:prstGeom>
          <a:solidFill>
            <a:srgbClr val="EE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ANTI-PATTERNS TO AVOID</a:t>
            </a:r>
          </a:p>
        </p:txBody>
      </p:sp>
      <p:sp>
        <p:nvSpPr>
          <p:cNvPr id="40" name="TextBox 39"/>
          <p:cNvSpPr txBox="1"/>
          <p:nvPr/>
        </p:nvSpPr>
        <p:spPr>
          <a:xfrm>
            <a:off x="457200" y="5303520"/>
            <a:ext cx="2011680" cy="228600"/>
          </a:xfrm>
          <a:prstGeom prst="rect">
            <a:avLst/>
          </a:prstGeom>
          <a:noFill/>
        </p:spPr>
        <p:txBody>
          <a:bodyPr wrap="square">
            <a:spAutoFit/>
          </a:bodyPr>
          <a:lstStyle/>
          <a:p>
            <a:pPr algn="l">
              <a:defRPr sz="900" b="1">
                <a:solidFill>
                  <a:srgbClr val="EE0000"/>
                </a:solidFill>
                <a:latin typeface="Aptos"/>
              </a:defRPr>
            </a:pPr>
            <a:r>
              <a:t>X  Rebuilding from scratch</a:t>
            </a:r>
          </a:p>
        </p:txBody>
      </p:sp>
      <p:sp>
        <p:nvSpPr>
          <p:cNvPr id="41" name="TextBox 40"/>
          <p:cNvSpPr txBox="1"/>
          <p:nvPr/>
        </p:nvSpPr>
        <p:spPr>
          <a:xfrm>
            <a:off x="2560320" y="5303520"/>
            <a:ext cx="3474720" cy="228600"/>
          </a:xfrm>
          <a:prstGeom prst="rect">
            <a:avLst/>
          </a:prstGeom>
          <a:noFill/>
        </p:spPr>
        <p:txBody>
          <a:bodyPr wrap="square">
            <a:spAutoFit/>
          </a:bodyPr>
          <a:lstStyle/>
          <a:p>
            <a:pPr algn="l">
              <a:defRPr sz="900" b="0">
                <a:solidFill>
                  <a:srgbClr val="333333"/>
                </a:solidFill>
                <a:latin typeface="Aptos"/>
              </a:defRPr>
            </a:pPr>
            <a:r>
              <a:t>Always check Central first. If it exists, improve it.</a:t>
            </a:r>
          </a:p>
        </p:txBody>
      </p:sp>
      <p:sp>
        <p:nvSpPr>
          <p:cNvPr id="42" name="TextBox 41"/>
          <p:cNvSpPr txBox="1"/>
          <p:nvPr/>
        </p:nvSpPr>
        <p:spPr>
          <a:xfrm>
            <a:off x="6217920" y="5303520"/>
            <a:ext cx="2011680" cy="228600"/>
          </a:xfrm>
          <a:prstGeom prst="rect">
            <a:avLst/>
          </a:prstGeom>
          <a:noFill/>
        </p:spPr>
        <p:txBody>
          <a:bodyPr wrap="square">
            <a:spAutoFit/>
          </a:bodyPr>
          <a:lstStyle/>
          <a:p>
            <a:pPr algn="l">
              <a:defRPr sz="900" b="1">
                <a:solidFill>
                  <a:srgbClr val="EE0000"/>
                </a:solidFill>
                <a:latin typeface="Aptos"/>
              </a:defRPr>
            </a:pPr>
            <a:r>
              <a:t>X  Hoarding improvements</a:t>
            </a:r>
          </a:p>
        </p:txBody>
      </p:sp>
      <p:sp>
        <p:nvSpPr>
          <p:cNvPr id="43" name="TextBox 42"/>
          <p:cNvSpPr txBox="1"/>
          <p:nvPr/>
        </p:nvSpPr>
        <p:spPr>
          <a:xfrm>
            <a:off x="8321040" y="5303520"/>
            <a:ext cx="3474720" cy="228600"/>
          </a:xfrm>
          <a:prstGeom prst="rect">
            <a:avLst/>
          </a:prstGeom>
          <a:noFill/>
        </p:spPr>
        <p:txBody>
          <a:bodyPr wrap="square">
            <a:spAutoFit/>
          </a:bodyPr>
          <a:lstStyle/>
          <a:p>
            <a:pPr algn="l">
              <a:defRPr sz="900" b="0">
                <a:solidFill>
                  <a:srgbClr val="333333"/>
                </a:solidFill>
                <a:latin typeface="Aptos"/>
              </a:defRPr>
            </a:pPr>
            <a:r>
              <a:t>Improvements in SubSquads die with the project. Share them.</a:t>
            </a:r>
          </a:p>
        </p:txBody>
      </p:sp>
      <p:sp>
        <p:nvSpPr>
          <p:cNvPr id="44" name="TextBox 43"/>
          <p:cNvSpPr txBox="1"/>
          <p:nvPr/>
        </p:nvSpPr>
        <p:spPr>
          <a:xfrm>
            <a:off x="457200" y="5623559"/>
            <a:ext cx="2011680" cy="228600"/>
          </a:xfrm>
          <a:prstGeom prst="rect">
            <a:avLst/>
          </a:prstGeom>
          <a:noFill/>
        </p:spPr>
        <p:txBody>
          <a:bodyPr wrap="square">
            <a:spAutoFit/>
          </a:bodyPr>
          <a:lstStyle/>
          <a:p>
            <a:pPr algn="l">
              <a:defRPr sz="900" b="1">
                <a:solidFill>
                  <a:srgbClr val="EE0000"/>
                </a:solidFill>
                <a:latin typeface="Aptos"/>
              </a:defRPr>
            </a:pPr>
            <a:r>
              <a:t>X  Embedding client data</a:t>
            </a:r>
          </a:p>
        </p:txBody>
      </p:sp>
      <p:sp>
        <p:nvSpPr>
          <p:cNvPr id="45" name="TextBox 44"/>
          <p:cNvSpPr txBox="1"/>
          <p:nvPr/>
        </p:nvSpPr>
        <p:spPr>
          <a:xfrm>
            <a:off x="2560320" y="5623559"/>
            <a:ext cx="3474720" cy="228600"/>
          </a:xfrm>
          <a:prstGeom prst="rect">
            <a:avLst/>
          </a:prstGeom>
          <a:noFill/>
        </p:spPr>
        <p:txBody>
          <a:bodyPr wrap="square">
            <a:spAutoFit/>
          </a:bodyPr>
          <a:lstStyle/>
          <a:p>
            <a:pPr algn="l">
              <a:defRPr sz="900" b="0">
                <a:solidFill>
                  <a:srgbClr val="333333"/>
                </a:solidFill>
                <a:latin typeface="Aptos"/>
              </a:defRPr>
            </a:pPr>
            <a:r>
              <a:t>Shared agents must be 100% generic. Use config for specifics.</a:t>
            </a:r>
          </a:p>
        </p:txBody>
      </p:sp>
      <p:sp>
        <p:nvSpPr>
          <p:cNvPr id="46" name="TextBox 45"/>
          <p:cNvSpPr txBox="1"/>
          <p:nvPr/>
        </p:nvSpPr>
        <p:spPr>
          <a:xfrm>
            <a:off x="6217920" y="5623559"/>
            <a:ext cx="2011680" cy="228600"/>
          </a:xfrm>
          <a:prstGeom prst="rect">
            <a:avLst/>
          </a:prstGeom>
          <a:noFill/>
        </p:spPr>
        <p:txBody>
          <a:bodyPr wrap="square">
            <a:spAutoFit/>
          </a:bodyPr>
          <a:lstStyle/>
          <a:p>
            <a:pPr algn="l">
              <a:defRPr sz="900" b="1">
                <a:solidFill>
                  <a:srgbClr val="EE0000"/>
                </a:solidFill>
                <a:latin typeface="Aptos"/>
              </a:defRPr>
            </a:pPr>
            <a:r>
              <a:t>X  Skipping documentation</a:t>
            </a:r>
          </a:p>
        </p:txBody>
      </p:sp>
      <p:sp>
        <p:nvSpPr>
          <p:cNvPr id="47" name="TextBox 46"/>
          <p:cNvSpPr txBox="1"/>
          <p:nvPr/>
        </p:nvSpPr>
        <p:spPr>
          <a:xfrm>
            <a:off x="8321040" y="5623559"/>
            <a:ext cx="3474720" cy="228600"/>
          </a:xfrm>
          <a:prstGeom prst="rect">
            <a:avLst/>
          </a:prstGeom>
          <a:noFill/>
        </p:spPr>
        <p:txBody>
          <a:bodyPr wrap="square">
            <a:spAutoFit/>
          </a:bodyPr>
          <a:lstStyle/>
          <a:p>
            <a:pPr algn="l">
              <a:defRPr sz="900" b="0">
                <a:solidFill>
                  <a:srgbClr val="333333"/>
                </a:solidFill>
                <a:latin typeface="Aptos"/>
              </a:defRPr>
            </a:pPr>
            <a:r>
              <a:t>Undocumented improvements are invisible. Document everything.</a:t>
            </a:r>
          </a:p>
        </p:txBody>
      </p:sp>
      <p:sp>
        <p:nvSpPr>
          <p:cNvPr id="48" name="TextBox 47"/>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49" name="TextBox 48"/>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91440"/>
            <a:ext cx="12192000" cy="566928"/>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600" b="1">
                <a:solidFill>
                  <a:srgbClr val="FFFFFF"/>
                </a:solidFill>
                <a:latin typeface="Aptos Display"/>
              </a:defRPr>
            </a:pPr>
            <a:r>
              <a:t>Quick Reference Card</a:t>
            </a:r>
          </a:p>
        </p:txBody>
      </p:sp>
      <p:sp>
        <p:nvSpPr>
          <p:cNvPr id="3" name="Rectangle 2"/>
          <p:cNvSpPr/>
          <p:nvPr/>
        </p:nvSpPr>
        <p:spPr>
          <a:xfrm>
            <a:off x="457200" y="914400"/>
            <a:ext cx="2103120" cy="256032"/>
          </a:xfrm>
          <a:prstGeom prst="rect">
            <a:avLst/>
          </a:prstGeom>
          <a:solidFill>
            <a:srgbClr val="0178D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ESSENTIAL COMMANDS</a:t>
            </a:r>
          </a:p>
        </p:txBody>
      </p:sp>
      <p:sp>
        <p:nvSpPr>
          <p:cNvPr id="4" name="TextBox 3"/>
          <p:cNvSpPr txBox="1"/>
          <p:nvPr/>
        </p:nvSpPr>
        <p:spPr>
          <a:xfrm>
            <a:off x="640080" y="1280160"/>
            <a:ext cx="5029200" cy="228600"/>
          </a:xfrm>
          <a:prstGeom prst="rect">
            <a:avLst/>
          </a:prstGeom>
          <a:noFill/>
        </p:spPr>
        <p:txBody>
          <a:bodyPr wrap="square">
            <a:spAutoFit/>
          </a:bodyPr>
          <a:lstStyle/>
          <a:p>
            <a:pPr algn="l">
              <a:defRPr sz="1000" b="1">
                <a:solidFill>
                  <a:srgbClr val="0178D4"/>
                </a:solidFill>
                <a:latin typeface="Aptos"/>
              </a:defRPr>
            </a:pPr>
            <a:r>
              <a:t>npx snap-squad-emu list</a:t>
            </a:r>
          </a:p>
        </p:txBody>
      </p:sp>
      <p:sp>
        <p:nvSpPr>
          <p:cNvPr id="5" name="TextBox 4"/>
          <p:cNvSpPr txBox="1"/>
          <p:nvPr/>
        </p:nvSpPr>
        <p:spPr>
          <a:xfrm>
            <a:off x="5943600" y="1280160"/>
            <a:ext cx="5486400" cy="228600"/>
          </a:xfrm>
          <a:prstGeom prst="rect">
            <a:avLst/>
          </a:prstGeom>
          <a:noFill/>
        </p:spPr>
        <p:txBody>
          <a:bodyPr wrap="square">
            <a:spAutoFit/>
          </a:bodyPr>
          <a:lstStyle/>
          <a:p>
            <a:pPr algn="l">
              <a:defRPr sz="1000" b="0">
                <a:solidFill>
                  <a:srgbClr val="333333"/>
                </a:solidFill>
                <a:latin typeface="Aptos"/>
              </a:defRPr>
            </a:pPr>
            <a:r>
              <a:t>See available Snap presets and agents</a:t>
            </a:r>
          </a:p>
        </p:txBody>
      </p:sp>
      <p:sp>
        <p:nvSpPr>
          <p:cNvPr id="6" name="TextBox 5"/>
          <p:cNvSpPr txBox="1"/>
          <p:nvPr/>
        </p:nvSpPr>
        <p:spPr>
          <a:xfrm>
            <a:off x="640080" y="1581912"/>
            <a:ext cx="5029200" cy="228600"/>
          </a:xfrm>
          <a:prstGeom prst="rect">
            <a:avLst/>
          </a:prstGeom>
          <a:noFill/>
        </p:spPr>
        <p:txBody>
          <a:bodyPr wrap="square">
            <a:spAutoFit/>
          </a:bodyPr>
          <a:lstStyle/>
          <a:p>
            <a:pPr algn="l">
              <a:defRPr sz="1000" b="1">
                <a:solidFill>
                  <a:srgbClr val="0178D4"/>
                </a:solidFill>
                <a:latin typeface="Aptos"/>
              </a:defRPr>
            </a:pPr>
            <a:r>
              <a:t>npx snap-squad-emu init --type &lt;preset&gt;</a:t>
            </a:r>
          </a:p>
        </p:txBody>
      </p:sp>
      <p:sp>
        <p:nvSpPr>
          <p:cNvPr id="7" name="TextBox 6"/>
          <p:cNvSpPr txBox="1"/>
          <p:nvPr/>
        </p:nvSpPr>
        <p:spPr>
          <a:xfrm>
            <a:off x="5943600" y="1581912"/>
            <a:ext cx="5486400" cy="228600"/>
          </a:xfrm>
          <a:prstGeom prst="rect">
            <a:avLst/>
          </a:prstGeom>
          <a:noFill/>
        </p:spPr>
        <p:txBody>
          <a:bodyPr wrap="square">
            <a:spAutoFit/>
          </a:bodyPr>
          <a:lstStyle/>
          <a:p>
            <a:pPr algn="l">
              <a:defRPr sz="1000" b="0">
                <a:solidFill>
                  <a:srgbClr val="333333"/>
                </a:solidFill>
                <a:latin typeface="Aptos"/>
              </a:defRPr>
            </a:pPr>
            <a:r>
              <a:t>Initialize SubSquad with preset</a:t>
            </a:r>
          </a:p>
        </p:txBody>
      </p:sp>
      <p:sp>
        <p:nvSpPr>
          <p:cNvPr id="8" name="TextBox 7"/>
          <p:cNvSpPr txBox="1"/>
          <p:nvPr/>
        </p:nvSpPr>
        <p:spPr>
          <a:xfrm>
            <a:off x="640080" y="1883664"/>
            <a:ext cx="5029200" cy="228600"/>
          </a:xfrm>
          <a:prstGeom prst="rect">
            <a:avLst/>
          </a:prstGeom>
          <a:noFill/>
        </p:spPr>
        <p:txBody>
          <a:bodyPr wrap="square">
            <a:spAutoFit/>
          </a:bodyPr>
          <a:lstStyle/>
          <a:p>
            <a:pPr algn="l">
              <a:defRPr sz="1000" b="1">
                <a:solidFill>
                  <a:srgbClr val="0178D4"/>
                </a:solidFill>
                <a:latin typeface="Aptos"/>
              </a:defRPr>
            </a:pPr>
            <a:r>
              <a:t>npx snap-squad-emu init --type &lt;preset&gt; --force</a:t>
            </a:r>
          </a:p>
        </p:txBody>
      </p:sp>
      <p:sp>
        <p:nvSpPr>
          <p:cNvPr id="9" name="TextBox 8"/>
          <p:cNvSpPr txBox="1"/>
          <p:nvPr/>
        </p:nvSpPr>
        <p:spPr>
          <a:xfrm>
            <a:off x="5943600" y="1883664"/>
            <a:ext cx="5486400" cy="228600"/>
          </a:xfrm>
          <a:prstGeom prst="rect">
            <a:avLst/>
          </a:prstGeom>
          <a:noFill/>
        </p:spPr>
        <p:txBody>
          <a:bodyPr wrap="square">
            <a:spAutoFit/>
          </a:bodyPr>
          <a:lstStyle/>
          <a:p>
            <a:pPr algn="l">
              <a:defRPr sz="1000" b="0">
                <a:solidFill>
                  <a:srgbClr val="333333"/>
                </a:solidFill>
                <a:latin typeface="Aptos"/>
              </a:defRPr>
            </a:pPr>
            <a:r>
              <a:t>Reset or switch preset</a:t>
            </a:r>
          </a:p>
        </p:txBody>
      </p:sp>
      <p:sp>
        <p:nvSpPr>
          <p:cNvPr id="10" name="TextBox 9"/>
          <p:cNvSpPr txBox="1"/>
          <p:nvPr/>
        </p:nvSpPr>
        <p:spPr>
          <a:xfrm>
            <a:off x="640080" y="2185415"/>
            <a:ext cx="5029200" cy="228600"/>
          </a:xfrm>
          <a:prstGeom prst="rect">
            <a:avLst/>
          </a:prstGeom>
          <a:noFill/>
        </p:spPr>
        <p:txBody>
          <a:bodyPr wrap="square">
            <a:spAutoFit/>
          </a:bodyPr>
          <a:lstStyle/>
          <a:p>
            <a:pPr algn="l">
              <a:defRPr sz="1000" b="1">
                <a:solidFill>
                  <a:srgbClr val="0178D4"/>
                </a:solidFill>
                <a:latin typeface="Aptos"/>
              </a:defRPr>
            </a:pPr>
            <a:r>
              <a:t>cat .squad/team.md</a:t>
            </a:r>
          </a:p>
        </p:txBody>
      </p:sp>
      <p:sp>
        <p:nvSpPr>
          <p:cNvPr id="11" name="TextBox 10"/>
          <p:cNvSpPr txBox="1"/>
          <p:nvPr/>
        </p:nvSpPr>
        <p:spPr>
          <a:xfrm>
            <a:off x="5943600" y="2185415"/>
            <a:ext cx="5486400" cy="228600"/>
          </a:xfrm>
          <a:prstGeom prst="rect">
            <a:avLst/>
          </a:prstGeom>
          <a:noFill/>
        </p:spPr>
        <p:txBody>
          <a:bodyPr wrap="square">
            <a:spAutoFit/>
          </a:bodyPr>
          <a:lstStyle/>
          <a:p>
            <a:pPr algn="l">
              <a:defRPr sz="1000" b="0">
                <a:solidFill>
                  <a:srgbClr val="333333"/>
                </a:solidFill>
                <a:latin typeface="Aptos"/>
              </a:defRPr>
            </a:pPr>
            <a:r>
              <a:t>View current team roster</a:t>
            </a:r>
          </a:p>
        </p:txBody>
      </p:sp>
      <p:sp>
        <p:nvSpPr>
          <p:cNvPr id="12" name="TextBox 11"/>
          <p:cNvSpPr txBox="1"/>
          <p:nvPr/>
        </p:nvSpPr>
        <p:spPr>
          <a:xfrm>
            <a:off x="640080" y="2487168"/>
            <a:ext cx="5029200" cy="228600"/>
          </a:xfrm>
          <a:prstGeom prst="rect">
            <a:avLst/>
          </a:prstGeom>
          <a:noFill/>
        </p:spPr>
        <p:txBody>
          <a:bodyPr wrap="square">
            <a:spAutoFit/>
          </a:bodyPr>
          <a:lstStyle/>
          <a:p>
            <a:pPr algn="l">
              <a:defRPr sz="1000" b="1">
                <a:solidFill>
                  <a:srgbClr val="0178D4"/>
                </a:solidFill>
                <a:latin typeface="Aptos"/>
              </a:defRPr>
            </a:pPr>
            <a:r>
              <a:t>cat .squad/routing.md</a:t>
            </a:r>
          </a:p>
        </p:txBody>
      </p:sp>
      <p:sp>
        <p:nvSpPr>
          <p:cNvPr id="13" name="TextBox 12"/>
          <p:cNvSpPr txBox="1"/>
          <p:nvPr/>
        </p:nvSpPr>
        <p:spPr>
          <a:xfrm>
            <a:off x="5943600" y="2487168"/>
            <a:ext cx="5486400" cy="228600"/>
          </a:xfrm>
          <a:prstGeom prst="rect">
            <a:avLst/>
          </a:prstGeom>
          <a:noFill/>
        </p:spPr>
        <p:txBody>
          <a:bodyPr wrap="square">
            <a:spAutoFit/>
          </a:bodyPr>
          <a:lstStyle/>
          <a:p>
            <a:pPr algn="l">
              <a:defRPr sz="1000" b="0">
                <a:solidFill>
                  <a:srgbClr val="333333"/>
                </a:solidFill>
                <a:latin typeface="Aptos"/>
              </a:defRPr>
            </a:pPr>
            <a:r>
              <a:t>View work routing rules</a:t>
            </a:r>
          </a:p>
        </p:txBody>
      </p:sp>
      <p:sp>
        <p:nvSpPr>
          <p:cNvPr id="14" name="Rectangle 13"/>
          <p:cNvSpPr/>
          <p:nvPr/>
        </p:nvSpPr>
        <p:spPr>
          <a:xfrm>
            <a:off x="457200" y="2880360"/>
            <a:ext cx="1188720" cy="256032"/>
          </a:xfrm>
          <a:prstGeom prst="rect">
            <a:avLst/>
          </a:prstGeom>
          <a:solidFill>
            <a:srgbClr val="46366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KEY FILES</a:t>
            </a:r>
          </a:p>
        </p:txBody>
      </p:sp>
      <p:sp>
        <p:nvSpPr>
          <p:cNvPr id="15" name="TextBox 14"/>
          <p:cNvSpPr txBox="1"/>
          <p:nvPr/>
        </p:nvSpPr>
        <p:spPr>
          <a:xfrm>
            <a:off x="640080" y="3246120"/>
            <a:ext cx="4114800" cy="228600"/>
          </a:xfrm>
          <a:prstGeom prst="rect">
            <a:avLst/>
          </a:prstGeom>
          <a:noFill/>
        </p:spPr>
        <p:txBody>
          <a:bodyPr wrap="square">
            <a:spAutoFit/>
          </a:bodyPr>
          <a:lstStyle/>
          <a:p>
            <a:pPr algn="l">
              <a:defRPr sz="1000" b="1">
                <a:solidFill>
                  <a:srgbClr val="463668"/>
                </a:solidFill>
                <a:latin typeface="Aptos"/>
              </a:defRPr>
            </a:pPr>
            <a:r>
              <a:t>AGENTS.md</a:t>
            </a:r>
          </a:p>
        </p:txBody>
      </p:sp>
      <p:sp>
        <p:nvSpPr>
          <p:cNvPr id="16" name="TextBox 15"/>
          <p:cNvSpPr txBox="1"/>
          <p:nvPr/>
        </p:nvSpPr>
        <p:spPr>
          <a:xfrm>
            <a:off x="5029200" y="3246120"/>
            <a:ext cx="6400800" cy="228600"/>
          </a:xfrm>
          <a:prstGeom prst="rect">
            <a:avLst/>
          </a:prstGeom>
          <a:noFill/>
        </p:spPr>
        <p:txBody>
          <a:bodyPr wrap="square">
            <a:spAutoFit/>
          </a:bodyPr>
          <a:lstStyle/>
          <a:p>
            <a:pPr algn="l">
              <a:defRPr sz="1000" b="0">
                <a:solidFill>
                  <a:srgbClr val="333333"/>
                </a:solidFill>
                <a:latin typeface="Aptos"/>
              </a:defRPr>
            </a:pPr>
            <a:r>
              <a:t>Operating instructions for all agents</a:t>
            </a:r>
          </a:p>
        </p:txBody>
      </p:sp>
      <p:sp>
        <p:nvSpPr>
          <p:cNvPr id="17" name="TextBox 16"/>
          <p:cNvSpPr txBox="1"/>
          <p:nvPr/>
        </p:nvSpPr>
        <p:spPr>
          <a:xfrm>
            <a:off x="640080" y="3520439"/>
            <a:ext cx="4114800" cy="228600"/>
          </a:xfrm>
          <a:prstGeom prst="rect">
            <a:avLst/>
          </a:prstGeom>
          <a:noFill/>
        </p:spPr>
        <p:txBody>
          <a:bodyPr wrap="square">
            <a:spAutoFit/>
          </a:bodyPr>
          <a:lstStyle/>
          <a:p>
            <a:pPr algn="l">
              <a:defRPr sz="1000" b="1">
                <a:solidFill>
                  <a:srgbClr val="463668"/>
                </a:solidFill>
                <a:latin typeface="Aptos"/>
              </a:defRPr>
            </a:pPr>
            <a:r>
              <a:t>CLAUDE.md</a:t>
            </a:r>
          </a:p>
        </p:txBody>
      </p:sp>
      <p:sp>
        <p:nvSpPr>
          <p:cNvPr id="18" name="TextBox 17"/>
          <p:cNvSpPr txBox="1"/>
          <p:nvPr/>
        </p:nvSpPr>
        <p:spPr>
          <a:xfrm>
            <a:off x="5029200" y="3520439"/>
            <a:ext cx="6400800" cy="228600"/>
          </a:xfrm>
          <a:prstGeom prst="rect">
            <a:avLst/>
          </a:prstGeom>
          <a:noFill/>
        </p:spPr>
        <p:txBody>
          <a:bodyPr wrap="square">
            <a:spAutoFit/>
          </a:bodyPr>
          <a:lstStyle/>
          <a:p>
            <a:pPr algn="l">
              <a:defRPr sz="1000" b="0">
                <a:solidFill>
                  <a:srgbClr val="333333"/>
                </a:solidFill>
                <a:latin typeface="Aptos"/>
              </a:defRPr>
            </a:pPr>
            <a:r>
              <a:t>Session memory and project context</a:t>
            </a:r>
          </a:p>
        </p:txBody>
      </p:sp>
      <p:sp>
        <p:nvSpPr>
          <p:cNvPr id="19" name="TextBox 18"/>
          <p:cNvSpPr txBox="1"/>
          <p:nvPr/>
        </p:nvSpPr>
        <p:spPr>
          <a:xfrm>
            <a:off x="640080" y="3794759"/>
            <a:ext cx="4114800" cy="228600"/>
          </a:xfrm>
          <a:prstGeom prst="rect">
            <a:avLst/>
          </a:prstGeom>
          <a:noFill/>
        </p:spPr>
        <p:txBody>
          <a:bodyPr wrap="square">
            <a:spAutoFit/>
          </a:bodyPr>
          <a:lstStyle/>
          <a:p>
            <a:pPr algn="l">
              <a:defRPr sz="1000" b="1">
                <a:solidFill>
                  <a:srgbClr val="463668"/>
                </a:solidFill>
                <a:latin typeface="Aptos"/>
              </a:defRPr>
            </a:pPr>
            <a:r>
              <a:t>.squad/team.md</a:t>
            </a:r>
          </a:p>
        </p:txBody>
      </p:sp>
      <p:sp>
        <p:nvSpPr>
          <p:cNvPr id="20" name="TextBox 19"/>
          <p:cNvSpPr txBox="1"/>
          <p:nvPr/>
        </p:nvSpPr>
        <p:spPr>
          <a:xfrm>
            <a:off x="5029200" y="3794759"/>
            <a:ext cx="6400800" cy="228600"/>
          </a:xfrm>
          <a:prstGeom prst="rect">
            <a:avLst/>
          </a:prstGeom>
          <a:noFill/>
        </p:spPr>
        <p:txBody>
          <a:bodyPr wrap="square">
            <a:spAutoFit/>
          </a:bodyPr>
          <a:lstStyle/>
          <a:p>
            <a:pPr algn="l">
              <a:defRPr sz="1000" b="0">
                <a:solidFill>
                  <a:srgbClr val="333333"/>
                </a:solidFill>
                <a:latin typeface="Aptos"/>
              </a:defRPr>
            </a:pPr>
            <a:r>
              <a:t>Team roster and project metadata</a:t>
            </a:r>
          </a:p>
        </p:txBody>
      </p:sp>
      <p:sp>
        <p:nvSpPr>
          <p:cNvPr id="21" name="TextBox 20"/>
          <p:cNvSpPr txBox="1"/>
          <p:nvPr/>
        </p:nvSpPr>
        <p:spPr>
          <a:xfrm>
            <a:off x="640080" y="4069079"/>
            <a:ext cx="4114800" cy="228600"/>
          </a:xfrm>
          <a:prstGeom prst="rect">
            <a:avLst/>
          </a:prstGeom>
          <a:noFill/>
        </p:spPr>
        <p:txBody>
          <a:bodyPr wrap="square">
            <a:spAutoFit/>
          </a:bodyPr>
          <a:lstStyle/>
          <a:p>
            <a:pPr algn="l">
              <a:defRPr sz="1000" b="1">
                <a:solidFill>
                  <a:srgbClr val="463668"/>
                </a:solidFill>
                <a:latin typeface="Aptos"/>
              </a:defRPr>
            </a:pPr>
            <a:r>
              <a:t>.squad/routing.md</a:t>
            </a:r>
          </a:p>
        </p:txBody>
      </p:sp>
      <p:sp>
        <p:nvSpPr>
          <p:cNvPr id="22" name="TextBox 21"/>
          <p:cNvSpPr txBox="1"/>
          <p:nvPr/>
        </p:nvSpPr>
        <p:spPr>
          <a:xfrm>
            <a:off x="5029200" y="4069079"/>
            <a:ext cx="6400800" cy="228600"/>
          </a:xfrm>
          <a:prstGeom prst="rect">
            <a:avLst/>
          </a:prstGeom>
          <a:noFill/>
        </p:spPr>
        <p:txBody>
          <a:bodyPr wrap="square">
            <a:spAutoFit/>
          </a:bodyPr>
          <a:lstStyle/>
          <a:p>
            <a:pPr algn="l">
              <a:defRPr sz="1000" b="0">
                <a:solidFill>
                  <a:srgbClr val="333333"/>
                </a:solidFill>
                <a:latin typeface="Aptos"/>
              </a:defRPr>
            </a:pPr>
            <a:r>
              <a:t>Work type to agent mapping</a:t>
            </a:r>
          </a:p>
        </p:txBody>
      </p:sp>
      <p:sp>
        <p:nvSpPr>
          <p:cNvPr id="23" name="TextBox 22"/>
          <p:cNvSpPr txBox="1"/>
          <p:nvPr/>
        </p:nvSpPr>
        <p:spPr>
          <a:xfrm>
            <a:off x="640080" y="4343400"/>
            <a:ext cx="4114800" cy="228600"/>
          </a:xfrm>
          <a:prstGeom prst="rect">
            <a:avLst/>
          </a:prstGeom>
          <a:noFill/>
        </p:spPr>
        <p:txBody>
          <a:bodyPr wrap="square">
            <a:spAutoFit/>
          </a:bodyPr>
          <a:lstStyle/>
          <a:p>
            <a:pPr algn="l">
              <a:defRPr sz="1000" b="1">
                <a:solidFill>
                  <a:srgbClr val="463668"/>
                </a:solidFill>
                <a:latin typeface="Aptos"/>
              </a:defRPr>
            </a:pPr>
            <a:r>
              <a:t>.squad/decisions.md</a:t>
            </a:r>
          </a:p>
        </p:txBody>
      </p:sp>
      <p:sp>
        <p:nvSpPr>
          <p:cNvPr id="24" name="TextBox 23"/>
          <p:cNvSpPr txBox="1"/>
          <p:nvPr/>
        </p:nvSpPr>
        <p:spPr>
          <a:xfrm>
            <a:off x="5029200" y="4343400"/>
            <a:ext cx="6400800" cy="228600"/>
          </a:xfrm>
          <a:prstGeom prst="rect">
            <a:avLst/>
          </a:prstGeom>
          <a:noFill/>
        </p:spPr>
        <p:txBody>
          <a:bodyPr wrap="square">
            <a:spAutoFit/>
          </a:bodyPr>
          <a:lstStyle/>
          <a:p>
            <a:pPr algn="l">
              <a:defRPr sz="1000" b="0">
                <a:solidFill>
                  <a:srgbClr val="333333"/>
                </a:solidFill>
                <a:latin typeface="Aptos"/>
              </a:defRPr>
            </a:pPr>
            <a:r>
              <a:t>Active design decisions</a:t>
            </a:r>
          </a:p>
        </p:txBody>
      </p:sp>
      <p:sp>
        <p:nvSpPr>
          <p:cNvPr id="25" name="TextBox 24"/>
          <p:cNvSpPr txBox="1"/>
          <p:nvPr/>
        </p:nvSpPr>
        <p:spPr>
          <a:xfrm>
            <a:off x="640080" y="4617720"/>
            <a:ext cx="4114800" cy="228600"/>
          </a:xfrm>
          <a:prstGeom prst="rect">
            <a:avLst/>
          </a:prstGeom>
          <a:noFill/>
        </p:spPr>
        <p:txBody>
          <a:bodyPr wrap="square">
            <a:spAutoFit/>
          </a:bodyPr>
          <a:lstStyle/>
          <a:p>
            <a:pPr algn="l">
              <a:defRPr sz="1000" b="1">
                <a:solidFill>
                  <a:srgbClr val="463668"/>
                </a:solidFill>
                <a:latin typeface="Aptos"/>
              </a:defRPr>
            </a:pPr>
            <a:r>
              <a:t>.squad/agents/&lt;name&gt;/charter.md</a:t>
            </a:r>
          </a:p>
        </p:txBody>
      </p:sp>
      <p:sp>
        <p:nvSpPr>
          <p:cNvPr id="26" name="TextBox 25"/>
          <p:cNvSpPr txBox="1"/>
          <p:nvPr/>
        </p:nvSpPr>
        <p:spPr>
          <a:xfrm>
            <a:off x="5029200" y="4617720"/>
            <a:ext cx="6400800" cy="228600"/>
          </a:xfrm>
          <a:prstGeom prst="rect">
            <a:avLst/>
          </a:prstGeom>
          <a:noFill/>
        </p:spPr>
        <p:txBody>
          <a:bodyPr wrap="square">
            <a:spAutoFit/>
          </a:bodyPr>
          <a:lstStyle/>
          <a:p>
            <a:pPr algn="l">
              <a:defRPr sz="1000" b="0">
                <a:solidFill>
                  <a:srgbClr val="333333"/>
                </a:solidFill>
                <a:latin typeface="Aptos"/>
              </a:defRPr>
            </a:pPr>
            <a:r>
              <a:t>Individual agent charter</a:t>
            </a:r>
          </a:p>
        </p:txBody>
      </p:sp>
      <p:sp>
        <p:nvSpPr>
          <p:cNvPr id="27" name="TextBox 26"/>
          <p:cNvSpPr txBox="1"/>
          <p:nvPr/>
        </p:nvSpPr>
        <p:spPr>
          <a:xfrm>
            <a:off x="640080" y="4892040"/>
            <a:ext cx="4114800" cy="228600"/>
          </a:xfrm>
          <a:prstGeom prst="rect">
            <a:avLst/>
          </a:prstGeom>
          <a:noFill/>
        </p:spPr>
        <p:txBody>
          <a:bodyPr wrap="square">
            <a:spAutoFit/>
          </a:bodyPr>
          <a:lstStyle/>
          <a:p>
            <a:pPr algn="l">
              <a:defRPr sz="1000" b="1">
                <a:solidFill>
                  <a:srgbClr val="463668"/>
                </a:solidFill>
                <a:latin typeface="Aptos"/>
              </a:defRPr>
            </a:pPr>
            <a:r>
              <a:t>JOURNAL.md</a:t>
            </a:r>
          </a:p>
        </p:txBody>
      </p:sp>
      <p:sp>
        <p:nvSpPr>
          <p:cNvPr id="28" name="TextBox 27"/>
          <p:cNvSpPr txBox="1"/>
          <p:nvPr/>
        </p:nvSpPr>
        <p:spPr>
          <a:xfrm>
            <a:off x="5029200" y="4892040"/>
            <a:ext cx="6400800" cy="228600"/>
          </a:xfrm>
          <a:prstGeom prst="rect">
            <a:avLst/>
          </a:prstGeom>
          <a:noFill/>
        </p:spPr>
        <p:txBody>
          <a:bodyPr wrap="square">
            <a:spAutoFit/>
          </a:bodyPr>
          <a:lstStyle/>
          <a:p>
            <a:pPr algn="l">
              <a:defRPr sz="1000" b="0">
                <a:solidFill>
                  <a:srgbClr val="333333"/>
                </a:solidFill>
                <a:latin typeface="Aptos"/>
              </a:defRPr>
            </a:pPr>
            <a:r>
              <a:t>Build history and milestones</a:t>
            </a:r>
          </a:p>
        </p:txBody>
      </p:sp>
      <p:sp>
        <p:nvSpPr>
          <p:cNvPr id="29" name="Rectangle 28"/>
          <p:cNvSpPr/>
          <p:nvPr/>
        </p:nvSpPr>
        <p:spPr>
          <a:xfrm>
            <a:off x="457200" y="5212080"/>
            <a:ext cx="2286000" cy="256032"/>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1600" rIns="101600"/>
          <a:lstStyle/>
          <a:p>
            <a:pPr algn="ctr">
              <a:defRPr sz="1000" b="1">
                <a:solidFill>
                  <a:srgbClr val="FFFFFF"/>
                </a:solidFill>
                <a:latin typeface="Aptos"/>
              </a:defRPr>
            </a:pPr>
            <a:r>
              <a:t>BEFORE EVERY ENGAGEMENT</a:t>
            </a:r>
          </a:p>
        </p:txBody>
      </p:sp>
      <p:sp>
        <p:nvSpPr>
          <p:cNvPr id="30" name="TextBox 29"/>
          <p:cNvSpPr txBox="1"/>
          <p:nvPr/>
        </p:nvSpPr>
        <p:spPr>
          <a:xfrm>
            <a:off x="640080" y="5532120"/>
            <a:ext cx="2560320" cy="228600"/>
          </a:xfrm>
          <a:prstGeom prst="rect">
            <a:avLst/>
          </a:prstGeom>
          <a:noFill/>
        </p:spPr>
        <p:txBody>
          <a:bodyPr wrap="square">
            <a:spAutoFit/>
          </a:bodyPr>
          <a:lstStyle/>
          <a:p>
            <a:pPr algn="l">
              <a:defRPr sz="1000" b="0">
                <a:solidFill>
                  <a:srgbClr val="333333"/>
                </a:solidFill>
                <a:latin typeface="Aptos"/>
              </a:defRPr>
            </a:pPr>
            <a:r>
              <a:t>  Search Central registry</a:t>
            </a:r>
          </a:p>
        </p:txBody>
      </p:sp>
      <p:sp>
        <p:nvSpPr>
          <p:cNvPr id="31" name="TextBox 30"/>
          <p:cNvSpPr txBox="1"/>
          <p:nvPr/>
        </p:nvSpPr>
        <p:spPr>
          <a:xfrm>
            <a:off x="3383280" y="5532120"/>
            <a:ext cx="2560320" cy="228600"/>
          </a:xfrm>
          <a:prstGeom prst="rect">
            <a:avLst/>
          </a:prstGeom>
          <a:noFill/>
        </p:spPr>
        <p:txBody>
          <a:bodyPr wrap="square">
            <a:spAutoFit/>
          </a:bodyPr>
          <a:lstStyle/>
          <a:p>
            <a:pPr algn="l">
              <a:defRPr sz="1000" b="0">
                <a:solidFill>
                  <a:srgbClr val="333333"/>
                </a:solidFill>
                <a:latin typeface="Aptos"/>
              </a:defRPr>
            </a:pPr>
            <a:r>
              <a:t>  Select Snap preset</a:t>
            </a:r>
          </a:p>
        </p:txBody>
      </p:sp>
      <p:sp>
        <p:nvSpPr>
          <p:cNvPr id="32" name="TextBox 31"/>
          <p:cNvSpPr txBox="1"/>
          <p:nvPr/>
        </p:nvSpPr>
        <p:spPr>
          <a:xfrm>
            <a:off x="6126480" y="5532120"/>
            <a:ext cx="2560320" cy="228600"/>
          </a:xfrm>
          <a:prstGeom prst="rect">
            <a:avLst/>
          </a:prstGeom>
          <a:noFill/>
        </p:spPr>
        <p:txBody>
          <a:bodyPr wrap="square">
            <a:spAutoFit/>
          </a:bodyPr>
          <a:lstStyle/>
          <a:p>
            <a:pPr algn="l">
              <a:defRPr sz="1000" b="0">
                <a:solidFill>
                  <a:srgbClr val="333333"/>
                </a:solidFill>
                <a:latin typeface="Aptos"/>
              </a:defRPr>
            </a:pPr>
            <a:r>
              <a:t>  Configure (don't modify)</a:t>
            </a:r>
          </a:p>
        </p:txBody>
      </p:sp>
      <p:sp>
        <p:nvSpPr>
          <p:cNvPr id="33" name="TextBox 32"/>
          <p:cNvSpPr txBox="1"/>
          <p:nvPr/>
        </p:nvSpPr>
        <p:spPr>
          <a:xfrm>
            <a:off x="8869680" y="5532120"/>
            <a:ext cx="2560320" cy="228600"/>
          </a:xfrm>
          <a:prstGeom prst="rect">
            <a:avLst/>
          </a:prstGeom>
          <a:noFill/>
        </p:spPr>
        <p:txBody>
          <a:bodyPr wrap="square">
            <a:spAutoFit/>
          </a:bodyPr>
          <a:lstStyle/>
          <a:p>
            <a:pPr algn="l">
              <a:defRPr sz="1000" b="0">
                <a:solidFill>
                  <a:srgbClr val="333333"/>
                </a:solidFill>
                <a:latin typeface="Aptos"/>
              </a:defRPr>
            </a:pPr>
            <a:r>
              <a:t>  Contribute back at end</a:t>
            </a:r>
          </a:p>
        </p:txBody>
      </p:sp>
      <p:sp>
        <p:nvSpPr>
          <p:cNvPr id="34" name="TextBox 33"/>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35" name="TextBox 34"/>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914400"/>
            <a:ext cx="10058400" cy="457200"/>
          </a:xfrm>
          <a:prstGeom prst="rect">
            <a:avLst/>
          </a:prstGeom>
          <a:noFill/>
        </p:spPr>
        <p:txBody>
          <a:bodyPr wrap="square">
            <a:spAutoFit/>
          </a:bodyPr>
          <a:lstStyle/>
          <a:p>
            <a:pPr algn="l">
              <a:defRPr sz="1800" b="0">
                <a:solidFill>
                  <a:srgbClr val="FFFFFF"/>
                </a:solidFill>
                <a:latin typeface="Segoe Sans Display Semibold"/>
              </a:defRPr>
            </a:pPr>
            <a:r>
              <a:t>Microsoft Accelerated Factory</a:t>
            </a:r>
          </a:p>
        </p:txBody>
      </p:sp>
      <p:sp>
        <p:nvSpPr>
          <p:cNvPr id="3" name="TextBox 2"/>
          <p:cNvSpPr txBox="1"/>
          <p:nvPr/>
        </p:nvSpPr>
        <p:spPr>
          <a:xfrm>
            <a:off x="731520" y="1645920"/>
            <a:ext cx="10058400" cy="640080"/>
          </a:xfrm>
          <a:prstGeom prst="rect">
            <a:avLst/>
          </a:prstGeom>
          <a:noFill/>
        </p:spPr>
        <p:txBody>
          <a:bodyPr wrap="square">
            <a:spAutoFit/>
          </a:bodyPr>
          <a:lstStyle/>
          <a:p>
            <a:pPr algn="l">
              <a:defRPr sz="4400" b="1">
                <a:solidFill>
                  <a:srgbClr val="FFFFFF"/>
                </a:solidFill>
                <a:latin typeface="Aptos Display"/>
              </a:defRPr>
            </a:pPr>
            <a:r>
              <a:t>Start Using This Runbook</a:t>
            </a:r>
          </a:p>
        </p:txBody>
      </p:sp>
      <p:sp>
        <p:nvSpPr>
          <p:cNvPr id="4" name="Oval 3"/>
          <p:cNvSpPr/>
          <p:nvPr/>
        </p:nvSpPr>
        <p:spPr>
          <a:xfrm>
            <a:off x="731520" y="2560320"/>
            <a:ext cx="365760" cy="365760"/>
          </a:xfrm>
          <a:prstGeom prst="ellipse">
            <a:avLst/>
          </a:prstGeom>
          <a:solidFill>
            <a:srgbClr val="CCE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Aptos"/>
              </a:defRPr>
            </a:pPr>
            <a:r>
              <a:t>01</a:t>
            </a:r>
          </a:p>
        </p:txBody>
      </p:sp>
      <p:sp>
        <p:nvSpPr>
          <p:cNvPr id="5" name="TextBox 4"/>
          <p:cNvSpPr txBox="1"/>
          <p:nvPr/>
        </p:nvSpPr>
        <p:spPr>
          <a:xfrm>
            <a:off x="1280160" y="2560320"/>
            <a:ext cx="9144000" cy="274320"/>
          </a:xfrm>
          <a:prstGeom prst="rect">
            <a:avLst/>
          </a:prstGeom>
          <a:noFill/>
        </p:spPr>
        <p:txBody>
          <a:bodyPr wrap="square">
            <a:spAutoFit/>
          </a:bodyPr>
          <a:lstStyle/>
          <a:p>
            <a:pPr algn="l">
              <a:defRPr sz="1600" b="1">
                <a:solidFill>
                  <a:srgbClr val="FFFFFF"/>
                </a:solidFill>
                <a:latin typeface="Aptos"/>
              </a:defRPr>
            </a:pPr>
            <a:r>
              <a:t>Search First</a:t>
            </a:r>
          </a:p>
        </p:txBody>
      </p:sp>
      <p:sp>
        <p:nvSpPr>
          <p:cNvPr id="6" name="TextBox 5"/>
          <p:cNvSpPr txBox="1"/>
          <p:nvPr/>
        </p:nvSpPr>
        <p:spPr>
          <a:xfrm>
            <a:off x="1280160" y="2834640"/>
            <a:ext cx="9144000" cy="274320"/>
          </a:xfrm>
          <a:prstGeom prst="rect">
            <a:avLst/>
          </a:prstGeom>
          <a:noFill/>
        </p:spPr>
        <p:txBody>
          <a:bodyPr wrap="square">
            <a:spAutoFit/>
          </a:bodyPr>
          <a:lstStyle/>
          <a:p>
            <a:pPr algn="l">
              <a:defRPr sz="1100" b="0">
                <a:solidFill>
                  <a:srgbClr val="90B8E0"/>
                </a:solidFill>
                <a:latin typeface="Aptos"/>
              </a:defRPr>
            </a:pPr>
            <a:r>
              <a:t>Check Central Squad registry before creating anything new</a:t>
            </a:r>
          </a:p>
        </p:txBody>
      </p:sp>
      <p:sp>
        <p:nvSpPr>
          <p:cNvPr id="7" name="Oval 6"/>
          <p:cNvSpPr/>
          <p:nvPr/>
        </p:nvSpPr>
        <p:spPr>
          <a:xfrm>
            <a:off x="731520" y="3200400"/>
            <a:ext cx="365760" cy="365760"/>
          </a:xfrm>
          <a:prstGeom prst="ellipse">
            <a:avLst/>
          </a:prstGeom>
          <a:solidFill>
            <a:srgbClr val="CCE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Aptos"/>
              </a:defRPr>
            </a:pPr>
            <a:r>
              <a:t>02</a:t>
            </a:r>
          </a:p>
        </p:txBody>
      </p:sp>
      <p:sp>
        <p:nvSpPr>
          <p:cNvPr id="8" name="TextBox 7"/>
          <p:cNvSpPr txBox="1"/>
          <p:nvPr/>
        </p:nvSpPr>
        <p:spPr>
          <a:xfrm>
            <a:off x="1280160" y="3200400"/>
            <a:ext cx="9144000" cy="274320"/>
          </a:xfrm>
          <a:prstGeom prst="rect">
            <a:avLst/>
          </a:prstGeom>
          <a:noFill/>
        </p:spPr>
        <p:txBody>
          <a:bodyPr wrap="square">
            <a:spAutoFit/>
          </a:bodyPr>
          <a:lstStyle/>
          <a:p>
            <a:pPr algn="l">
              <a:defRPr sz="1600" b="1">
                <a:solidFill>
                  <a:srgbClr val="FFFFFF"/>
                </a:solidFill>
                <a:latin typeface="Aptos"/>
              </a:defRPr>
            </a:pPr>
            <a:r>
              <a:t>Use Snap Presets</a:t>
            </a:r>
          </a:p>
        </p:txBody>
      </p:sp>
      <p:sp>
        <p:nvSpPr>
          <p:cNvPr id="9" name="TextBox 8"/>
          <p:cNvSpPr txBox="1"/>
          <p:nvPr/>
        </p:nvSpPr>
        <p:spPr>
          <a:xfrm>
            <a:off x="1280160" y="3474720"/>
            <a:ext cx="9144000" cy="274320"/>
          </a:xfrm>
          <a:prstGeom prst="rect">
            <a:avLst/>
          </a:prstGeom>
          <a:noFill/>
        </p:spPr>
        <p:txBody>
          <a:bodyPr wrap="square">
            <a:spAutoFit/>
          </a:bodyPr>
          <a:lstStyle/>
          <a:p>
            <a:pPr algn="l">
              <a:defRPr sz="1100" b="0">
                <a:solidFill>
                  <a:srgbClr val="90B8E0"/>
                </a:solidFill>
                <a:latin typeface="Aptos"/>
              </a:defRPr>
            </a:pPr>
            <a:r>
              <a:t>One command initializes your entire team with agents and routing</a:t>
            </a:r>
          </a:p>
        </p:txBody>
      </p:sp>
      <p:sp>
        <p:nvSpPr>
          <p:cNvPr id="10" name="Oval 9"/>
          <p:cNvSpPr/>
          <p:nvPr/>
        </p:nvSpPr>
        <p:spPr>
          <a:xfrm>
            <a:off x="731520" y="3840479"/>
            <a:ext cx="365760" cy="365760"/>
          </a:xfrm>
          <a:prstGeom prst="ellipse">
            <a:avLst/>
          </a:prstGeom>
          <a:solidFill>
            <a:srgbClr val="CCE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Aptos"/>
              </a:defRPr>
            </a:pPr>
            <a:r>
              <a:t>03</a:t>
            </a:r>
          </a:p>
        </p:txBody>
      </p:sp>
      <p:sp>
        <p:nvSpPr>
          <p:cNvPr id="11" name="TextBox 10"/>
          <p:cNvSpPr txBox="1"/>
          <p:nvPr/>
        </p:nvSpPr>
        <p:spPr>
          <a:xfrm>
            <a:off x="1280160" y="3840479"/>
            <a:ext cx="9144000" cy="274320"/>
          </a:xfrm>
          <a:prstGeom prst="rect">
            <a:avLst/>
          </a:prstGeom>
          <a:noFill/>
        </p:spPr>
        <p:txBody>
          <a:bodyPr wrap="square">
            <a:spAutoFit/>
          </a:bodyPr>
          <a:lstStyle/>
          <a:p>
            <a:pPr algn="l">
              <a:defRPr sz="1600" b="1">
                <a:solidFill>
                  <a:srgbClr val="FFFFFF"/>
                </a:solidFill>
                <a:latin typeface="Aptos"/>
              </a:defRPr>
            </a:pPr>
            <a:r>
              <a:t>Configure, Don't Modify</a:t>
            </a:r>
          </a:p>
        </p:txBody>
      </p:sp>
      <p:sp>
        <p:nvSpPr>
          <p:cNvPr id="12" name="TextBox 11"/>
          <p:cNvSpPr txBox="1"/>
          <p:nvPr/>
        </p:nvSpPr>
        <p:spPr>
          <a:xfrm>
            <a:off x="1280160" y="4114799"/>
            <a:ext cx="9144000" cy="274320"/>
          </a:xfrm>
          <a:prstGeom prst="rect">
            <a:avLst/>
          </a:prstGeom>
          <a:noFill/>
        </p:spPr>
        <p:txBody>
          <a:bodyPr wrap="square">
            <a:spAutoFit/>
          </a:bodyPr>
          <a:lstStyle/>
          <a:p>
            <a:pPr algn="l">
              <a:defRPr sz="1100" b="0">
                <a:solidFill>
                  <a:srgbClr val="90B8E0"/>
                </a:solidFill>
                <a:latin typeface="Aptos"/>
              </a:defRPr>
            </a:pPr>
            <a:r>
              <a:t>Project-specific inputs only. Never change shared agent logic</a:t>
            </a:r>
          </a:p>
        </p:txBody>
      </p:sp>
      <p:sp>
        <p:nvSpPr>
          <p:cNvPr id="13" name="Oval 12"/>
          <p:cNvSpPr/>
          <p:nvPr/>
        </p:nvSpPr>
        <p:spPr>
          <a:xfrm>
            <a:off x="731520" y="4480559"/>
            <a:ext cx="365760" cy="365760"/>
          </a:xfrm>
          <a:prstGeom prst="ellipse">
            <a:avLst/>
          </a:prstGeom>
          <a:solidFill>
            <a:srgbClr val="CCE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Aptos"/>
              </a:defRPr>
            </a:pPr>
            <a:r>
              <a:t>04</a:t>
            </a:r>
          </a:p>
        </p:txBody>
      </p:sp>
      <p:sp>
        <p:nvSpPr>
          <p:cNvPr id="14" name="TextBox 13"/>
          <p:cNvSpPr txBox="1"/>
          <p:nvPr/>
        </p:nvSpPr>
        <p:spPr>
          <a:xfrm>
            <a:off x="1280160" y="4480559"/>
            <a:ext cx="9144000" cy="274320"/>
          </a:xfrm>
          <a:prstGeom prst="rect">
            <a:avLst/>
          </a:prstGeom>
          <a:noFill/>
        </p:spPr>
        <p:txBody>
          <a:bodyPr wrap="square">
            <a:spAutoFit/>
          </a:bodyPr>
          <a:lstStyle/>
          <a:p>
            <a:pPr algn="l">
              <a:defRPr sz="1600" b="1">
                <a:solidFill>
                  <a:srgbClr val="FFFFFF"/>
                </a:solidFill>
                <a:latin typeface="Aptos"/>
              </a:defRPr>
            </a:pPr>
            <a:r>
              <a:t>Contribute Back</a:t>
            </a:r>
          </a:p>
        </p:txBody>
      </p:sp>
      <p:sp>
        <p:nvSpPr>
          <p:cNvPr id="15" name="TextBox 14"/>
          <p:cNvSpPr txBox="1"/>
          <p:nvPr/>
        </p:nvSpPr>
        <p:spPr>
          <a:xfrm>
            <a:off x="1280160" y="4754879"/>
            <a:ext cx="9144000" cy="274320"/>
          </a:xfrm>
          <a:prstGeom prst="rect">
            <a:avLst/>
          </a:prstGeom>
          <a:noFill/>
        </p:spPr>
        <p:txBody>
          <a:bodyPr wrap="square">
            <a:spAutoFit/>
          </a:bodyPr>
          <a:lstStyle/>
          <a:p>
            <a:pPr algn="l">
              <a:defRPr sz="1100" b="0">
                <a:solidFill>
                  <a:srgbClr val="90B8E0"/>
                </a:solidFill>
                <a:latin typeface="Aptos"/>
              </a:defRPr>
            </a:pPr>
            <a:r>
              <a:t>Every improvement you make should benefit every team</a:t>
            </a:r>
          </a:p>
        </p:txBody>
      </p:sp>
      <p:sp>
        <p:nvSpPr>
          <p:cNvPr id="16" name="Oval 15"/>
          <p:cNvSpPr/>
          <p:nvPr/>
        </p:nvSpPr>
        <p:spPr>
          <a:xfrm>
            <a:off x="731520" y="5120640"/>
            <a:ext cx="365760" cy="365760"/>
          </a:xfrm>
          <a:prstGeom prst="ellipse">
            <a:avLst/>
          </a:prstGeom>
          <a:solidFill>
            <a:srgbClr val="CCE5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200" b="1">
                <a:solidFill>
                  <a:srgbClr val="FFFFFF"/>
                </a:solidFill>
                <a:latin typeface="Aptos"/>
              </a:defRPr>
            </a:pPr>
            <a:r>
              <a:t>05</a:t>
            </a:r>
          </a:p>
        </p:txBody>
      </p:sp>
      <p:sp>
        <p:nvSpPr>
          <p:cNvPr id="17" name="TextBox 16"/>
          <p:cNvSpPr txBox="1"/>
          <p:nvPr/>
        </p:nvSpPr>
        <p:spPr>
          <a:xfrm>
            <a:off x="1280160" y="5120640"/>
            <a:ext cx="9144000" cy="274320"/>
          </a:xfrm>
          <a:prstGeom prst="rect">
            <a:avLst/>
          </a:prstGeom>
          <a:noFill/>
        </p:spPr>
        <p:txBody>
          <a:bodyPr wrap="square">
            <a:spAutoFit/>
          </a:bodyPr>
          <a:lstStyle/>
          <a:p>
            <a:pPr algn="l">
              <a:defRPr sz="1600" b="1">
                <a:solidFill>
                  <a:srgbClr val="FFFFFF"/>
                </a:solidFill>
                <a:latin typeface="Aptos"/>
              </a:defRPr>
            </a:pPr>
            <a:r>
              <a:t>Compound Skills</a:t>
            </a:r>
          </a:p>
        </p:txBody>
      </p:sp>
      <p:sp>
        <p:nvSpPr>
          <p:cNvPr id="18" name="TextBox 17"/>
          <p:cNvSpPr txBox="1"/>
          <p:nvPr/>
        </p:nvSpPr>
        <p:spPr>
          <a:xfrm>
            <a:off x="1280160" y="5394960"/>
            <a:ext cx="9144000" cy="274320"/>
          </a:xfrm>
          <a:prstGeom prst="rect">
            <a:avLst/>
          </a:prstGeom>
          <a:noFill/>
        </p:spPr>
        <p:txBody>
          <a:bodyPr wrap="square">
            <a:spAutoFit/>
          </a:bodyPr>
          <a:lstStyle/>
          <a:p>
            <a:pPr algn="l">
              <a:defRPr sz="1100" b="0">
                <a:solidFill>
                  <a:srgbClr val="90B8E0"/>
                </a:solidFill>
                <a:latin typeface="Aptos"/>
              </a:defRPr>
            </a:pPr>
            <a:r>
              <a:t>The system gets smarter with every engagement. Make it count</a:t>
            </a:r>
          </a:p>
        </p:txBody>
      </p:sp>
      <p:sp>
        <p:nvSpPr>
          <p:cNvPr id="19" name="TextBox 18"/>
          <p:cNvSpPr txBox="1"/>
          <p:nvPr/>
        </p:nvSpPr>
        <p:spPr>
          <a:xfrm>
            <a:off x="731520" y="5669280"/>
            <a:ext cx="10058400" cy="320040"/>
          </a:xfrm>
          <a:prstGeom prst="rect">
            <a:avLst/>
          </a:prstGeom>
          <a:noFill/>
        </p:spPr>
        <p:txBody>
          <a:bodyPr wrap="square">
            <a:spAutoFit/>
          </a:bodyPr>
          <a:lstStyle/>
          <a:p>
            <a:pPr algn="l">
              <a:defRPr sz="1400" b="1">
                <a:solidFill>
                  <a:srgbClr val="CCE5FF"/>
                </a:solidFill>
                <a:latin typeface="Aptos"/>
              </a:defRPr>
            </a:pPr>
            <a:r>
              <a:t>Reuse is the default. Creating is the exception. Every engagement makes us smarter.</a:t>
            </a:r>
          </a:p>
        </p:txBody>
      </p:sp>
      <p:sp>
        <p:nvSpPr>
          <p:cNvPr id="20" name="TextBox 19"/>
          <p:cNvSpPr txBox="1"/>
          <p:nvPr/>
        </p:nvSpPr>
        <p:spPr>
          <a:xfrm>
            <a:off x="274320" y="6263640"/>
            <a:ext cx="9144000" cy="274320"/>
          </a:xfrm>
          <a:prstGeom prst="rect">
            <a:avLst/>
          </a:prstGeom>
          <a:noFill/>
        </p:spPr>
        <p:txBody>
          <a:bodyPr wrap="square">
            <a:spAutoFit/>
          </a:bodyPr>
          <a:lstStyle/>
          <a:p>
            <a:pPr algn="l">
              <a:defRPr sz="800" b="0">
                <a:solidFill>
                  <a:srgbClr val="666666"/>
                </a:solidFill>
                <a:latin typeface="Aptos"/>
              </a:defRPr>
            </a:pPr>
            <a:r>
              <a:t>CONFIDENTIAL  |  Microsoft Accelerate Factory  |  Snap Model Operations Runbook</a:t>
            </a:r>
          </a:p>
        </p:txBody>
      </p:sp>
      <p:sp>
        <p:nvSpPr>
          <p:cNvPr id="21" name="TextBox 20"/>
          <p:cNvSpPr txBox="1"/>
          <p:nvPr/>
        </p:nvSpPr>
        <p:spPr>
          <a:xfrm>
            <a:off x="10515600" y="6263640"/>
            <a:ext cx="1371600" cy="274320"/>
          </a:xfrm>
          <a:prstGeom prst="rect">
            <a:avLst/>
          </a:prstGeom>
          <a:noFill/>
        </p:spPr>
        <p:txBody>
          <a:bodyPr wrap="square">
            <a:spAutoFit/>
          </a:bodyPr>
          <a:lstStyle/>
          <a:p>
            <a:pPr algn="r">
              <a:defRPr sz="800" b="0">
                <a:solidFill>
                  <a:srgbClr val="666666"/>
                </a:solidFill>
                <a:latin typeface="Aptos"/>
              </a:defRPr>
            </a:pPr>
            <a:r>
              <a:t>15 / 15</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FY24 Global Customer Success">
  <a:themeElements>
    <a:clrScheme name="GCS">
      <a:dk1>
        <a:srgbClr val="1A1A1A"/>
      </a:dk1>
      <a:lt1>
        <a:srgbClr val="FFFFFF"/>
      </a:lt1>
      <a:dk2>
        <a:srgbClr val="2A446F"/>
      </a:dk2>
      <a:lt2>
        <a:srgbClr val="F2F2F2"/>
      </a:lt2>
      <a:accent1>
        <a:srgbClr val="D83B02"/>
      </a:accent1>
      <a:accent2>
        <a:srgbClr val="0178D4"/>
      </a:accent2>
      <a:accent3>
        <a:srgbClr val="FE8B00"/>
      </a:accent3>
      <a:accent4>
        <a:srgbClr val="00BCF2"/>
      </a:accent4>
      <a:accent5>
        <a:srgbClr val="463668"/>
      </a:accent5>
      <a:accent6>
        <a:srgbClr val="225B62"/>
      </a:accent6>
      <a:hlink>
        <a:srgbClr val="00BCF2"/>
      </a:hlink>
      <a:folHlink>
        <a:srgbClr val="274B47"/>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E3795941-59EF-4171-B17A-5159030DBA48}" vid="{3A2A1809-9A9C-4605-B72D-992B45BBB6B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31d963b9-1180-4647-93d7-d11aa08e2421" xsi:nil="true"/>
    <lcf76f155ced4ddcb4097134ff3c332f xmlns="f3541473-4e72-4c17-b1a6-32770bb766bd">
      <Terms xmlns="http://schemas.microsoft.com/office/infopath/2007/PartnerControls"/>
    </lcf76f155ced4ddcb4097134ff3c332f>
    <PrimeCorrectedByUser xmlns="31d963b9-1180-4647-93d7-d11aa08e2421" xsi:nil="true"/>
    <PrimeClassificationStatus xmlns="31d963b9-1180-4647-93d7-d11aa08e2421" xsi:nil="true"/>
    <Buckets xmlns="f3541473-4e72-4c17-b1a6-32770bb766bd" xsi:nil="true"/>
    <PrimeClassificationStatusDetails xmlns="31d963b9-1180-4647-93d7-d11aa08e2421" xsi:nil="true"/>
    <PrimeLastClassified xmlns="31d963b9-1180-4647-93d7-d11aa08e2421" xsi:nil="true"/>
    <Comments xmlns="f3541473-4e72-4c17-b1a6-32770bb766bd" xsi:nil="true"/>
    <ApprovedBy xmlns="f3541473-4e72-4c17-b1a6-32770bb766bd" xsi:nil="true"/>
    <ToBeMigrated_x003f_0 xmlns="f3541473-4e72-4c17-b1a6-32770bb766bd">true</ToBeMigrated_x003f_0>
    <ContentCategory xmlns="f3541473-4e72-4c17-b1a6-32770bb766bd" xsi:nil="true"/>
    <ToBeMigrated_x003f_ xmlns="f3541473-4e72-4c17-b1a6-32770bb766bd">true</ToBeMigrated_x003f_>
    <MigrationStatus xmlns="f3541473-4e72-4c17-b1a6-32770bb766bd" xsi:nil="true"/>
    <MigrationApproved xmlns="f3541473-4e72-4c17-b1a6-32770bb766bd">true</MigrationApprove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4F5606B695A84A87B74917185224FA" ma:contentTypeVersion="35" ma:contentTypeDescription="Create a new document." ma:contentTypeScope="" ma:versionID="780f07036e1844f54aa521de4e75515b">
  <xsd:schema xmlns:xsd="http://www.w3.org/2001/XMLSchema" xmlns:xs="http://www.w3.org/2001/XMLSchema" xmlns:p="http://schemas.microsoft.com/office/2006/metadata/properties" xmlns:ns1="http://schemas.microsoft.com/sharepoint/v3" xmlns:ns2="f3541473-4e72-4c17-b1a6-32770bb766bd" xmlns:ns3="31d963b9-1180-4647-93d7-d11aa08e2421" targetNamespace="http://schemas.microsoft.com/office/2006/metadata/properties" ma:root="true" ma:fieldsID="5f4092ba07087a62a5026b82b14c4bf7" ns1:_="" ns2:_="" ns3:_="">
    <xsd:import namespace="http://schemas.microsoft.com/sharepoint/v3"/>
    <xsd:import namespace="f3541473-4e72-4c17-b1a6-32770bb766bd"/>
    <xsd:import namespace="31d963b9-1180-4647-93d7-d11aa08e242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3:SharedWithUsers" minOccurs="0"/>
                <xsd:element ref="ns3:SharedWithDetails" minOccurs="0"/>
                <xsd:element ref="ns1:_ip_UnifiedCompliancePolicyProperties" minOccurs="0"/>
                <xsd:element ref="ns1:_ip_UnifiedCompliancePolicyUIAction" minOccurs="0"/>
                <xsd:element ref="ns2:MediaServiceSearchProperties" minOccurs="0"/>
                <xsd:element ref="ns2:MediaServiceDateTaken" minOccurs="0"/>
                <xsd:element ref="ns2:MediaLengthInSeconds" minOccurs="0"/>
                <xsd:element ref="ns2:MediaServiceDocTags" minOccurs="0"/>
                <xsd:element ref="ns2:lcf76f155ced4ddcb4097134ff3c332f" minOccurs="0"/>
                <xsd:element ref="ns3:TaxCatchAll" minOccurs="0"/>
                <xsd:element ref="ns2:MediaServiceObjectDetectorVersions" minOccurs="0"/>
                <xsd:element ref="ns2:TranslatedLang" minOccurs="0"/>
                <xsd:element ref="ns2:MediaServiceBillingMetadata" minOccurs="0"/>
                <xsd:element ref="ns3:PrimeClassificationStatus" minOccurs="0"/>
                <xsd:element ref="ns3:PrimeClassificationStatusDetails" minOccurs="0"/>
                <xsd:element ref="ns3:PrimeLastClassified" minOccurs="0"/>
                <xsd:element ref="ns3:PrimeCorrectedByUser" minOccurs="0"/>
                <xsd:element ref="ns2:Buckets" minOccurs="0"/>
                <xsd:element ref="ns2:MediaServiceLocation" minOccurs="0"/>
                <xsd:element ref="ns2:Comments" minOccurs="0"/>
                <xsd:element ref="ns2:ToBeMigrated_x003f_" minOccurs="0"/>
                <xsd:element ref="ns2:ToBeMigrated_x003f_0" minOccurs="0"/>
                <xsd:element ref="ns2:ApprovedBy" minOccurs="0"/>
                <xsd:element ref="ns2:MigrationApproved" minOccurs="0"/>
                <xsd:element ref="ns2:MigrationStatus" minOccurs="0"/>
                <xsd:element ref="ns2:Content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3541473-4e72-4c17-b1a6-32770bb766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ocTags" ma:index="20" nillable="true" ma:displayName="MediaServiceDocTags" ma:hidden="true" ma:internalName="MediaServiceDocTags" ma:readOnly="true">
      <xsd:simpleType>
        <xsd:restriction base="dms:Note"/>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TranslatedLang" ma:index="25" nillable="true" ma:displayName="TranslatedLang" ma:hidden="true" ma:internalName="TranslatedLang"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Text"/>
      </xsd:simpleType>
    </xsd:element>
    <xsd:element name="Buckets" ma:index="31" nillable="true" ma:displayName="Buckets" ma:description="Describes the content and where it sits within Seismic" ma:format="Dropdown" ma:internalName="Buckets">
      <xsd:complexType>
        <xsd:complexContent>
          <xsd:extension base="dms:MultiChoice">
            <xsd:sequence>
              <xsd:element name="Value" maxOccurs="unbounded" minOccurs="0" nillable="true">
                <xsd:simpleType>
                  <xsd:restriction base="dms:Choice">
                    <xsd:enumeration value="Customer"/>
                    <xsd:enumeration value="Field"/>
                    <xsd:enumeration value="Partner"/>
                    <xsd:enumeration value="Intake Nomination"/>
                    <xsd:enumeration value="RACI"/>
                  </xsd:restriction>
                </xsd:simpleType>
              </xsd:element>
            </xsd:sequence>
          </xsd:extension>
        </xsd:complexContent>
      </xsd:complexType>
    </xsd:element>
    <xsd:element name="MediaServiceLocation" ma:index="32" nillable="true" ma:displayName="Location" ma:description="" ma:indexed="true" ma:internalName="MediaServiceLocation" ma:readOnly="true">
      <xsd:simpleType>
        <xsd:restriction base="dms:Text"/>
      </xsd:simpleType>
    </xsd:element>
    <xsd:element name="Comments" ma:index="33" nillable="true" ma:displayName="Comments" ma:format="Dropdown" ma:internalName="Comments">
      <xsd:simpleType>
        <xsd:restriction base="dms:Text">
          <xsd:maxLength value="255"/>
        </xsd:restriction>
      </xsd:simpleType>
    </xsd:element>
    <xsd:element name="ToBeMigrated_x003f_" ma:index="34" nillable="true" ma:displayName="To Be Migrated?" ma:default="1" ma:description="Indicates whether this folder or content is intended to be migrated to the new SharePoint location. Set to Yes only after reviewing relevance, ownership, and usefulness." ma:format="Dropdown" ma:internalName="ToBeMigrated_x003f_">
      <xsd:simpleType>
        <xsd:restriction base="dms:Boolean"/>
      </xsd:simpleType>
    </xsd:element>
    <xsd:element name="ToBeMigrated_x003f_0" ma:index="35" nillable="true" ma:displayName="To Be Migrated?" ma:default="1" ma:description="Indicates whether this folder or content is intended to be migrated to the new SharePoint location. Set to Yes only after reviewing relevance, ownership, and usefulness." ma:format="Dropdown" ma:internalName="ToBeMigrated_x003f_0">
      <xsd:simpleType>
        <xsd:restriction base="dms:Boolean"/>
      </xsd:simpleType>
    </xsd:element>
    <xsd:element name="ApprovedBy" ma:index="36" nillable="true" ma:displayName="Approved By" ma:description="Identifies the individual who approved the migration of this content to the new SharePoint location. Used for audit and accountability purposes." ma:format="Dropdown" ma:internalName="ApprovedBy">
      <xsd:simpleType>
        <xsd:restriction base="dms:Text">
          <xsd:maxLength value="255"/>
        </xsd:restriction>
      </xsd:simpleType>
    </xsd:element>
    <xsd:element name="MigrationApproved" ma:index="37" nillable="true" ma:displayName="Migration Approved" ma:default="1" ma:description="Shows the approval decision for migrating this content. Content should be migrated only when the status is set to Approved." ma:format="Dropdown" ma:internalName="MigrationApproved">
      <xsd:simpleType>
        <xsd:restriction base="dms:Boolean"/>
      </xsd:simpleType>
    </xsd:element>
    <xsd:element name="MigrationStatus" ma:index="38" nillable="true" ma:displayName="Migration Status" ma:description="Tracks the current state of the migration activity for this content, from planning through completion or exception handling." ma:format="Dropdown" ma:internalName="MigrationStatus">
      <xsd:simpleType>
        <xsd:restriction base="dms:Text">
          <xsd:maxLength value="255"/>
        </xsd:restriction>
      </xsd:simpleType>
    </xsd:element>
    <xsd:element name="ContentCategory" ma:index="39" nillable="true" ma:displayName="Content Category" ma:description="Classifies the business nature of the content to support migration decisions, prioritization, and future governance." ma:format="Dropdown" ma:internalName="ContentCategory">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d963b9-1180-4647-93d7-d11aa08e242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200b8a8-7722-4866-9ef1-0499ba3ec9e1}" ma:internalName="TaxCatchAll" ma:showField="CatchAllData" ma:web="31d963b9-1180-4647-93d7-d11aa08e2421">
      <xsd:complexType>
        <xsd:complexContent>
          <xsd:extension base="dms:MultiChoiceLookup">
            <xsd:sequence>
              <xsd:element name="Value" type="dms:Lookup" maxOccurs="unbounded" minOccurs="0" nillable="true"/>
            </xsd:sequence>
          </xsd:extension>
        </xsd:complexContent>
      </xsd:complexType>
    </xsd:element>
    <xsd:element name="PrimeClassificationStatus" ma:index="27" nillable="true" ma:displayName="Processing status" ma:internalName="PrimeClassificationStatus">
      <xsd:simpleType>
        <xsd:restriction base="dms:Text"/>
      </xsd:simpleType>
    </xsd:element>
    <xsd:element name="PrimeClassificationStatusDetails" ma:index="28" nillable="true" ma:displayName="Processing details" ma:internalName="PrimeClassificationStatusDetails">
      <xsd:simpleType>
        <xsd:restriction base="dms:Note">
          <xsd:maxLength value="255"/>
        </xsd:restriction>
      </xsd:simpleType>
    </xsd:element>
    <xsd:element name="PrimeLastClassified" ma:index="29" nillable="true" ma:displayName="Processed" ma:internalName="PrimeLastClassified">
      <xsd:simpleType>
        <xsd:restriction base="dms:DateTime"/>
      </xsd:simpleType>
    </xsd:element>
    <xsd:element name="PrimeCorrectedByUser" ma:index="30" nillable="true" ma:displayName="Corrected" ma:internalName="PrimeCorrectedByUser">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55CB52-33A3-4B47-8C1D-0EE24875E3DC}">
  <ds:schemaRefs>
    <ds:schemaRef ds:uri="http://schemas.microsoft.com/sharepoint/v3"/>
    <ds:schemaRef ds:uri="http://purl.org/dc/dcmitype/"/>
    <ds:schemaRef ds:uri="http://purl.org/dc/terms/"/>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31d963b9-1180-4647-93d7-d11aa08e2421"/>
    <ds:schemaRef ds:uri="f3541473-4e72-4c17-b1a6-32770bb766bd"/>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3998B09E-68DE-4B62-A34E-BB5B738ECC36}">
  <ds:schemaRefs>
    <ds:schemaRef ds:uri="http://schemas.microsoft.com/sharepoint/v3/contenttype/forms"/>
  </ds:schemaRefs>
</ds:datastoreItem>
</file>

<file path=customXml/itemProps3.xml><?xml version="1.0" encoding="utf-8"?>
<ds:datastoreItem xmlns:ds="http://schemas.openxmlformats.org/officeDocument/2006/customXml" ds:itemID="{3D7418BF-5125-468A-8024-F23D251B58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3541473-4e72-4c17-b1a6-32770bb766bd"/>
    <ds:schemaRef ds:uri="31d963b9-1180-4647-93d7-d11aa08e24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6953</TotalTime>
  <Words>15713</Words>
  <Application>Microsoft Office PowerPoint</Application>
  <PresentationFormat>Widescreen</PresentationFormat>
  <Paragraphs>4452</Paragraphs>
  <Slides>56</Slides>
  <Notes>48</Notes>
  <HiddenSlides>0</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56</vt:i4>
      </vt:variant>
    </vt:vector>
  </HeadingPairs>
  <TitlesOfParts>
    <vt:vector size="70" baseType="lpstr">
      <vt:lpstr>Aptos</vt:lpstr>
      <vt:lpstr>Aptos Display</vt:lpstr>
      <vt:lpstr>Aptos Narrow</vt:lpstr>
      <vt:lpstr>Arial</vt:lpstr>
      <vt:lpstr>Arial,Sans-Serif</vt:lpstr>
      <vt:lpstr>Calibri</vt:lpstr>
      <vt:lpstr>Segoe Sans Display Semibold</vt:lpstr>
      <vt:lpstr>Segoe Sans Text</vt:lpstr>
      <vt:lpstr>Segoe UI</vt:lpstr>
      <vt:lpstr>Segoe UI Semibold</vt:lpstr>
      <vt:lpstr>Wingdings</vt:lpstr>
      <vt:lpstr>FY24 Global Customer Success</vt:lpstr>
      <vt:lpstr>1_Office Theme</vt:lpstr>
      <vt:lpstr>3_office theme</vt:lpstr>
      <vt:lpstr>Accounts Status – Area LATAM (MCSA)  Reporting Period – 04/03/2026 – 04/09/2026    Date : April 10, 2026 Generated By: Mani Kunda</vt:lpstr>
      <vt:lpstr>PowerPoint Presentation</vt:lpstr>
      <vt:lpstr>LATAM (MCSA) Nominations – Help required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Appendix</vt:lpstr>
      <vt:lpstr>LATAM (MCSA) Nominations – Stage 2 (1/2)</vt:lpstr>
      <vt:lpstr>LATAM (MCSA) Nominations – Stage 2 (2/2)</vt:lpstr>
      <vt:lpstr>LATAM (MCSA) Nominations – Stage 3</vt:lpstr>
      <vt:lpstr>LATAM (MCSA) Nominations – Stage 4 (1/2)</vt:lpstr>
      <vt:lpstr>LATAM (MCSA) Nominations – Stage 4 (2/2)</vt:lpstr>
      <vt:lpstr>LATAM (MCSA) Nominations – Stage 1</vt:lpstr>
      <vt:lpstr>LATAM (MCSA) Nominations – Deferred</vt:lpstr>
      <vt:lpstr>LATAM (MCSA) Nominations – Deferred</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Scope Sign off</dc:title>
  <dc:creator>Ancy Alexander (International Supplier)</dc:creator>
  <cp:keywords>CMF;</cp:keywords>
  <cp:lastModifiedBy>Misa Breton (International Supplier)</cp:lastModifiedBy>
  <cp:revision>45</cp:revision>
  <dcterms:created xsi:type="dcterms:W3CDTF">2024-07-26T14:11:23Z</dcterms:created>
  <dcterms:modified xsi:type="dcterms:W3CDTF">2026-04-10T13:35:33Z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0x010100CC4F5606B695A84A87B74917185224FA</vt:lpwstr>
  </property>
  <property fmtid="{D5CDD505-2E9C-101B-9397-08002B2CF9AE}" pid="3" name="_dlc_DocIdItemGuid">
    <vt:lpwstr>36da67c7-b504-4aea-865b-0e87cedc899d</vt:lpwstr>
  </property>
  <property fmtid="{D5CDD505-2E9C-101B-9397-08002B2CF9AE}" pid="4" name="MediaServiceImageTags">
    <vt:lpwstr/>
  </property>
</Properties>
</file>